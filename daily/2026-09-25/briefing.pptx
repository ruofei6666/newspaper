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news.cn/politics/leaders/20260925/9cf2a7ba302648b2a63473a3c00b607a/c.html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news.cn/politics/leaders/20260925/9cf2a7ba302648b2a63473a3c00b607a/c.html" TargetMode="External"/><Relationship Id="rId3" Type="http://schemas.openxmlformats.org/officeDocument/2006/relationships/hyperlink" Target="https://www.fmprc.gov.cn/zyxw/202609/t20260925_12031243.shtml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news.cn/politics/leaders/20260925/e38e418516be4961855388d58c111bea/c.html" TargetMode="External"/><Relationship Id="rId3" Type="http://schemas.openxmlformats.org/officeDocument/2006/relationships/hyperlink" Target="https://www.zaobao.com.sg/news/world/story20260925-9736490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news.cn/tech/20260925/3082422d9ae842e69c044fa634ff6092/c.html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finance.yahoo.com/technology/ai/articles/elon-musk-aims-double-colossus-060447907.html" TargetMode="External"/><Relationship Id="rId3" Type="http://schemas.openxmlformats.org/officeDocument/2006/relationships/hyperlink" Target="http://zj.news.cn/20260925/ab85b919b25c49388267711a80daa644/c.html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://zj.news.cn/20260925/ab85b919b25c49388267711a80daa644/c.html" TargetMode="External"/><Relationship Id="rId3" Type="http://schemas.openxmlformats.org/officeDocument/2006/relationships/hyperlink" Target="https://wccftech.com/apple-iphones-run-llms-14b-active-parameters-macs-1-6-trillion-ai-models/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2918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7F4EF"/>
                </a:solidFill>
                <a:latin typeface="Cambria"/>
                <a:ea typeface="宋体"/>
                <a:cs typeface="宋体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1920" y="256032"/>
            <a:ext cx="56692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9C2B6"/>
                </a:solidFill>
                <a:latin typeface="Calibri"/>
                <a:ea typeface="微软雅黑"/>
                <a:cs typeface="微软雅黑"/>
              </a:rPr>
              <a:t>第004期  ·  2026年9月25日  ·  星期五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256032"/>
            <a:ext cx="1353312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微软雅黑"/>
                <a:cs typeface="微软雅黑"/>
              </a:rPr>
              <a:t>晨刊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66928"/>
            <a:ext cx="11183112" cy="203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03504"/>
            <a:ext cx="11183112" cy="9525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804672"/>
            <a:ext cx="5943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C2B6"/>
                </a:solidFill>
                <a:latin typeface="Calibri"/>
                <a:ea typeface="微软雅黑"/>
                <a:cs typeface="微软雅黑"/>
              </a:rPr>
              <a:t>●  THE MORNING DISPATCH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804672"/>
            <a:ext cx="4187952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9C2B6"/>
                </a:solidFill>
                <a:latin typeface="Calibri"/>
                <a:ea typeface="微软雅黑"/>
                <a:cs typeface="微软雅黑"/>
              </a:rPr>
              <a:t>ASIA / SHANGHAI　昨日新闻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115568"/>
            <a:ext cx="11183112" cy="2794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170432"/>
            <a:ext cx="11183112" cy="1143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298448"/>
            <a:ext cx="11183112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41E3A"/>
                </a:solidFill>
                <a:latin typeface="Calibri"/>
                <a:ea typeface="微软雅黑"/>
                <a:cs typeface="微软雅黑"/>
              </a:rPr>
              <a:t>第零零四期  ·  二零二六年九月二十五日  ·  星期五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627632"/>
            <a:ext cx="11183112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F7F4EF"/>
                </a:solidFill>
                <a:latin typeface="Cambria"/>
                <a:ea typeface="宋体"/>
                <a:cs typeface="宋体"/>
              </a:rPr>
              <a:t>每日时政科技简报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697480"/>
            <a:ext cx="11183112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C9C2B6"/>
                </a:solidFill>
                <a:latin typeface="Calibri"/>
                <a:ea typeface="微软雅黑"/>
                <a:cs typeface="微软雅黑"/>
              </a:rPr>
              <a:t>只收录该日发生或该日首发的稿件。会谈详稿在黎明见报，天眼在贵州满十岁。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246120"/>
            <a:ext cx="3557016" cy="1572768"/>
          </a:xfrm>
          <a:prstGeom prst="rect">
            <a:avLst/>
          </a:prstGeom>
          <a:solidFill>
            <a:srgbClr val="242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" y="3374136"/>
            <a:ext cx="3191256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800" b="1" i="0">
                <a:solidFill>
                  <a:srgbClr val="C41E3A"/>
                </a:solidFill>
                <a:latin typeface="Cambria"/>
                <a:ea typeface="宋体"/>
                <a:cs typeface="宋体"/>
              </a:rPr>
              <a:t>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4123944"/>
            <a:ext cx="3191256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7F4EF"/>
                </a:solidFill>
                <a:latin typeface="Calibri"/>
                <a:ea typeface="微软雅黑"/>
                <a:cs typeface="微软雅黑"/>
              </a:rPr>
              <a:t>时政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4416552"/>
            <a:ext cx="3191256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9C2B6"/>
                </a:solidFill>
                <a:latin typeface="Calibri"/>
                <a:ea typeface="微软雅黑"/>
                <a:cs typeface="微软雅黑"/>
              </a:rPr>
              <a:t>会谈 · 国宴 · 霍尔木兹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15968" y="3246120"/>
            <a:ext cx="3557016" cy="1572768"/>
          </a:xfrm>
          <a:prstGeom prst="rect">
            <a:avLst/>
          </a:prstGeom>
          <a:solidFill>
            <a:srgbClr val="242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17136" y="3374136"/>
            <a:ext cx="3191256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800" b="1" i="0">
                <a:solidFill>
                  <a:srgbClr val="C41E3A"/>
                </a:solidFill>
                <a:latin typeface="Cambria"/>
                <a:ea typeface="宋体"/>
                <a:cs typeface="宋体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17136" y="4123944"/>
            <a:ext cx="3191256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7F4EF"/>
                </a:solidFill>
                <a:latin typeface="Calibri"/>
                <a:ea typeface="微软雅黑"/>
                <a:cs typeface="微软雅黑"/>
              </a:rPr>
              <a:t>科技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17136" y="4416552"/>
            <a:ext cx="3191256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9C2B6"/>
                </a:solidFill>
                <a:latin typeface="Calibri"/>
                <a:ea typeface="微软雅黑"/>
                <a:cs typeface="微软雅黑"/>
              </a:rPr>
              <a:t>天眼 · 算力 · 星座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29016" y="3246120"/>
            <a:ext cx="3557016" cy="1572768"/>
          </a:xfrm>
          <a:prstGeom prst="rect">
            <a:avLst/>
          </a:prstGeom>
          <a:solidFill>
            <a:srgbClr val="242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30184" y="3374136"/>
            <a:ext cx="3191256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800" b="1" i="0">
                <a:solidFill>
                  <a:srgbClr val="C41E3A"/>
                </a:solidFill>
                <a:latin typeface="Cambria"/>
                <a:ea typeface="宋体"/>
                <a:cs typeface="宋体"/>
              </a:rPr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0184" y="4123944"/>
            <a:ext cx="3191256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7F4EF"/>
                </a:solidFill>
                <a:latin typeface="Calibri"/>
                <a:ea typeface="微软雅黑"/>
                <a:cs typeface="微软雅黑"/>
              </a:rPr>
              <a:t>合计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0184" y="4416552"/>
            <a:ext cx="3191256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9C2B6"/>
                </a:solidFill>
                <a:latin typeface="Calibri"/>
                <a:ea typeface="微软雅黑"/>
                <a:cs typeface="微软雅黑"/>
              </a:rPr>
              <a:t>周五沪时首发可核验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5010912"/>
            <a:ext cx="11183112" cy="1234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7F4EF"/>
                </a:solidFill>
                <a:latin typeface="Calibri"/>
                <a:ea typeface="微软雅黑"/>
                <a:cs typeface="微软雅黑"/>
              </a:rPr>
              <a:t>今日主线：新华社把白宫会谈从开场写成可引用的详稿，国宴祝酒辞同日公布；霍尔木兹出现七日复航方案，油价应声回落。科技栏一边清点 FAST 十年脉冲星账本，一边记下马斯克的扩卡日程和杭州启动的「太空之弦」。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510528"/>
            <a:ext cx="73152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47A"/>
                </a:solidFill>
                <a:latin typeface="Calibri"/>
                <a:ea typeface="微软雅黑"/>
                <a:cs typeface="微软雅黑"/>
              </a:rPr>
              <a:t>每日时政科技简报 · 第004期 · 只收 2026-09-25 沪时首发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9760" y="6510528"/>
            <a:ext cx="2176272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47A"/>
                </a:solidFill>
                <a:latin typeface="Calibri"/>
                <a:ea typeface="微软雅黑"/>
                <a:cs typeface="微软雅黑"/>
              </a:rPr>
              <a:t>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2918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Cambria"/>
                <a:ea typeface="宋体"/>
                <a:cs typeface="宋体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1920" y="256032"/>
            <a:ext cx="56692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微软雅黑"/>
                <a:cs typeface="微软雅黑"/>
              </a:rPr>
              <a:t>第004期  ·  2026年9月25日  ·  星期五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256032"/>
            <a:ext cx="1353312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微软雅黑"/>
                <a:cs typeface="微软雅黑"/>
              </a:rPr>
              <a:t>晨刊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66928"/>
            <a:ext cx="11183112" cy="203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03504"/>
            <a:ext cx="11183112" cy="952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786384"/>
            <a:ext cx="128016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00" b="1" i="0">
                <a:solidFill>
                  <a:srgbClr val="C41E3A"/>
                </a:solidFill>
                <a:latin typeface="Cambria"/>
                <a:ea typeface="宋体"/>
                <a:cs typeface="宋体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896112"/>
            <a:ext cx="97840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宋体"/>
                <a:cs typeface="宋体"/>
              </a:rPr>
              <a:t>时政开篇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481328"/>
            <a:ext cx="97840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A5568"/>
                </a:solidFill>
                <a:latin typeface="Calibri"/>
                <a:ea typeface="微软雅黑"/>
                <a:cs typeface="微软雅黑"/>
              </a:rPr>
              <a:t>华盛顿的会谈发生在周四上午，北京的电讯到周五凌晨四点才写完。国宴的祝酒辞要再等六个小时。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084831"/>
            <a:ext cx="11183112" cy="1417320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194560"/>
            <a:ext cx="1828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微软雅黑"/>
                <a:cs typeface="微软雅黑"/>
              </a:rPr>
              <a:t>引　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468880"/>
            <a:ext cx="1078992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Cambria"/>
                <a:ea typeface="宋体"/>
                <a:cs typeface="宋体"/>
              </a:rPr>
              <a:t>“我们要把这一愿景转化为行动，朝着合作为主、竞争有度、分歧可控、和平可期的方向努力。”——习近平，据新华社华盛顿电，25日04:11见网。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703320"/>
            <a:ext cx="3557016" cy="2468880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3822191"/>
            <a:ext cx="3191256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C41E3A"/>
                </a:solidFill>
                <a:latin typeface="Cambria"/>
                <a:ea typeface="宋体"/>
                <a:cs typeface="宋体"/>
              </a:rPr>
              <a:t>04:11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4480560"/>
            <a:ext cx="3191256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4A5568"/>
                </a:solidFill>
                <a:latin typeface="Calibri"/>
                <a:ea typeface="微软雅黑"/>
                <a:cs typeface="微软雅黑"/>
              </a:rPr>
              <a:t>会谈详稿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4828032"/>
            <a:ext cx="3191256" cy="1143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微软雅黑"/>
                <a:cs typeface="微软雅黑"/>
              </a:rPr>
              <a:t>新华社首发白宫会谈全文口径，24日刊未收。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15968" y="3703320"/>
            <a:ext cx="3557016" cy="2468880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17136" y="3822191"/>
            <a:ext cx="3191256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C41E3A"/>
                </a:solidFill>
                <a:latin typeface="Cambria"/>
                <a:ea typeface="宋体"/>
                <a:cs typeface="宋体"/>
              </a:rPr>
              <a:t>10:17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17136" y="4480560"/>
            <a:ext cx="3191256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4A5568"/>
                </a:solidFill>
                <a:latin typeface="Calibri"/>
                <a:ea typeface="微软雅黑"/>
                <a:cs typeface="微软雅黑"/>
              </a:rPr>
              <a:t>祝酒辞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17136" y="4828032"/>
            <a:ext cx="3191256" cy="1143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微软雅黑"/>
                <a:cs typeface="微软雅黑"/>
              </a:rPr>
              <a:t>外交部公布国宴全文：两个目标「完全可以相互成就」。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29016" y="3703320"/>
            <a:ext cx="3557016" cy="2468880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30184" y="3822191"/>
            <a:ext cx="3191256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C41E3A"/>
                </a:solidFill>
                <a:latin typeface="Cambria"/>
                <a:ea typeface="宋体"/>
                <a:cs typeface="宋体"/>
              </a:rPr>
              <a:t>-1%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0184" y="4480560"/>
            <a:ext cx="3191256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4A5568"/>
                </a:solidFill>
                <a:latin typeface="Calibri"/>
                <a:ea typeface="微软雅黑"/>
                <a:cs typeface="微软雅黑"/>
              </a:rPr>
              <a:t>油价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0184" y="4828032"/>
            <a:ext cx="3191256" cy="1143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微软雅黑"/>
                <a:cs typeface="微软雅黑"/>
              </a:rPr>
              <a:t>伊朗七日复航方案见报，周五国际油价下跌逾1%。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10528"/>
            <a:ext cx="73152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47A"/>
                </a:solidFill>
                <a:latin typeface="Calibri"/>
                <a:ea typeface="微软雅黑"/>
                <a:cs typeface="微软雅黑"/>
              </a:rPr>
              <a:t>每日时政科技简报 · 第004期 · 只收 2026-09-25 沪时首发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09760" y="6510528"/>
            <a:ext cx="2176272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47A"/>
                </a:solidFill>
                <a:latin typeface="Calibri"/>
                <a:ea typeface="微软雅黑"/>
                <a:cs typeface="微软雅黑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2918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Cambria"/>
                <a:ea typeface="宋体"/>
                <a:cs typeface="宋体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1920" y="256032"/>
            <a:ext cx="56692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微软雅黑"/>
                <a:cs typeface="微软雅黑"/>
              </a:rPr>
              <a:t>第004期  ·  2026年9月25日  ·  星期五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256032"/>
            <a:ext cx="1353312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微软雅黑"/>
                <a:cs typeface="微软雅黑"/>
              </a:rPr>
              <a:t>晨刊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66928"/>
            <a:ext cx="11183112" cy="203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03504"/>
            <a:ext cx="11183112" cy="952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786384"/>
            <a:ext cx="11183112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微软雅黑"/>
                <a:cs typeface="微软雅黑"/>
              </a:rPr>
              <a:t>01　外交 · 华盛顿 / 北京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042415"/>
            <a:ext cx="11183112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宋体"/>
                <a:cs typeface="宋体"/>
              </a:rPr>
              <a:t>白宫会谈详稿见报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09344"/>
            <a:ext cx="111831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
                  <a:srgbClr val="4A5568"/>
                </a:solidFill>
                <a:latin typeface="Calibri"/>
                <a:ea typeface="微软雅黑"/>
                <a:cs typeface="微软雅黑"/>
              </a:rPr>
              <a:t>来源：新华社　·　</a:t>
            </a:r>
            <a:r>
              <a:rPr sz="1300" b="0" i="1">
                <a:solidFill>
                  <a:srgbClr val="C41E3A"/>
                </a:solidFill>
                <a:latin typeface="Calibri"/>
                <a:ea typeface="微软雅黑"/>
                <a:cs typeface="微软雅黑"/>
                <a:hlinkClick r:id="rId2"/>
              </a:rPr>
              <a:t>news.cn/politics/leaders/20260925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011680"/>
            <a:ext cx="7178040" cy="4160520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176272"/>
            <a:ext cx="6720840" cy="2331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Calibri"/>
                <a:ea typeface="微软雅黑"/>
                <a:cs typeface="微软雅黑"/>
              </a:rPr>
              <a:t>新华社25日04:11首发详稿。习近平称半年内互访前所未有，要把五月商定的建设性战略稳定「转化为行动」，方向是合作为主、竞争有度、分歧可控、和平可期；望美方慎重处理台湾问题。双方谈及中东、乌克兰、朝鲜半岛，并确认相互支持今年亚太经合组织会议与二十国集团峰会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4617720"/>
            <a:ext cx="6720840" cy="9525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4736592"/>
            <a:ext cx="672084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微软雅黑"/>
                <a:cs typeface="微软雅黑"/>
              </a:rPr>
              <a:t>为何重要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4974336"/>
            <a:ext cx="6720840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A5568"/>
                </a:solidFill>
                <a:latin typeface="Calibri"/>
                <a:ea typeface="微软雅黑"/>
                <a:cs typeface="微软雅黑"/>
              </a:rPr>
              <a:t>24日刊只记下开场，本期才有可引用的中方正式会谈文本。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09560" y="2011680"/>
            <a:ext cx="3776472" cy="1261872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92440" y="2103120"/>
            <a:ext cx="34290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C41E3A"/>
                </a:solidFill>
                <a:latin typeface="Cambria"/>
                <a:ea typeface="宋体"/>
                <a:cs typeface="宋体"/>
              </a:rPr>
              <a:t>04:11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40" y="2788920"/>
            <a:ext cx="34290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4A5568"/>
                </a:solidFill>
                <a:latin typeface="Calibri"/>
                <a:ea typeface="微软雅黑"/>
                <a:cs typeface="微软雅黑"/>
              </a:rPr>
              <a:t>新华社见网时刻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09560" y="3419856"/>
            <a:ext cx="3776472" cy="1261872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92440" y="3511296"/>
            <a:ext cx="34290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C41E3A"/>
                </a:solidFill>
                <a:latin typeface="Cambria"/>
                <a:ea typeface="宋体"/>
                <a:cs typeface="宋体"/>
              </a:rPr>
              <a:t>APEC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2440" y="4187952"/>
            <a:ext cx="3429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微软雅黑"/>
                <a:cs typeface="微软雅黑"/>
              </a:rPr>
              <a:t>相互支持今年峰会与G20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09560" y="4828032"/>
            <a:ext cx="3776472" cy="1344168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92440" y="4937760"/>
            <a:ext cx="34290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C41E3A"/>
                </a:solidFill>
                <a:latin typeface="Cambria"/>
                <a:ea typeface="宋体"/>
                <a:cs typeface="宋体"/>
              </a:rPr>
              <a:t>台湾问题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5486400"/>
            <a:ext cx="3429000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微软雅黑"/>
                <a:cs typeface="微软雅黑"/>
              </a:rPr>
              <a:t>望美方坚持反对「台独」，慎重处理。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10528"/>
            <a:ext cx="73152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47A"/>
                </a:solidFill>
                <a:latin typeface="Calibri"/>
                <a:ea typeface="微软雅黑"/>
                <a:cs typeface="微软雅黑"/>
              </a:rPr>
              <a:t>每日时政科技简报 · 第004期 · 只收 2026-09-25 沪时首发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60" y="6510528"/>
            <a:ext cx="2176272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47A"/>
                </a:solidFill>
                <a:latin typeface="Calibri"/>
                <a:ea typeface="微软雅黑"/>
                <a:cs typeface="微软雅黑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2918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Cambria"/>
                <a:ea typeface="宋体"/>
                <a:cs typeface="宋体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1920" y="256032"/>
            <a:ext cx="56692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微软雅黑"/>
                <a:cs typeface="微软雅黑"/>
              </a:rPr>
              <a:t>第004期  ·  2026年9月25日  ·  星期五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256032"/>
            <a:ext cx="1353312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微软雅黑"/>
                <a:cs typeface="微软雅黑"/>
              </a:rPr>
              <a:t>晨刊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66928"/>
            <a:ext cx="11183112" cy="203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03504"/>
            <a:ext cx="11183112" cy="952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768096"/>
            <a:ext cx="11183112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宋体"/>
                <a:cs typeface="宋体"/>
              </a:rPr>
              <a:t>双栏对照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43584"/>
            <a:ext cx="11183112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微软雅黑"/>
                <a:cs typeface="微软雅黑"/>
              </a:rPr>
              <a:t>一边把磋商抬到元首对表，一边把互访写成可引用的祝酒辞。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645920"/>
            <a:ext cx="5330952" cy="4526280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792224"/>
            <a:ext cx="4873752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微软雅黑"/>
                <a:cs typeface="微软雅黑"/>
              </a:rPr>
              <a:t>经贸 · 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066543"/>
            <a:ext cx="4873752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宋体"/>
                <a:cs typeface="宋体"/>
              </a:rPr>
              <a:t>经贸新联合安排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2871216"/>
            <a:ext cx="4873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4A5568"/>
                </a:solidFill>
                <a:latin typeface="Calibri"/>
                <a:ea typeface="微软雅黑"/>
                <a:cs typeface="微软雅黑"/>
              </a:rPr>
              <a:t>来源：新华社 / 联合早报　·　</a:t>
            </a:r>
            <a:r>
              <a:rPr sz="1200" b="0" i="1">
                <a:solidFill>
                  <a:srgbClr val="C41E3A"/>
                </a:solidFill>
                <a:latin typeface="Calibri"/>
                <a:ea typeface="微软雅黑"/>
                <a:cs typeface="微软雅黑"/>
                <a:hlinkClick r:id="rId2"/>
              </a:rPr>
              <a:t>原文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3163824"/>
            <a:ext cx="4873752" cy="1554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微软雅黑"/>
                <a:cs typeface="微软雅黑"/>
              </a:rPr>
              <a:t>习近平说，双方经贸团队新一轮磋商「达成了一份新的联合安排」，对产业界、老百姓和全球经济都是好消息；合作需拉长合作清单、压缩问题清单。特朗普称要继续对话、达成更好协议。公开稿仍未公布税率与执行时间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8952" y="4828032"/>
            <a:ext cx="4873752" cy="9525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" y="4937760"/>
            <a:ext cx="4873752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微软雅黑"/>
                <a:cs typeface="微软雅黑"/>
              </a:rPr>
              <a:t>为何重要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" y="5157216"/>
            <a:ext cx="4873752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微软雅黑"/>
                <a:cs typeface="微软雅黑"/>
              </a:rPr>
              <a:t>工作层磋商被抬到元首对表，文本缺口说明落实仍在路上。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5080" y="1645920"/>
            <a:ext cx="5330952" cy="4526280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11112" y="1792224"/>
            <a:ext cx="4873752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微软雅黑"/>
                <a:cs typeface="微软雅黑"/>
              </a:rPr>
              <a:t>礼宾 · 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11112" y="2066543"/>
            <a:ext cx="4873752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宋体"/>
                <a:cs typeface="宋体"/>
              </a:rPr>
              <a:t>国宴祝酒辞全文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11112" y="2871216"/>
            <a:ext cx="4873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4A5568"/>
                </a:solidFill>
                <a:latin typeface="Calibri"/>
                <a:ea typeface="微软雅黑"/>
                <a:cs typeface="微软雅黑"/>
              </a:rPr>
              <a:t>来源：外交部 / 新华社　·　</a:t>
            </a:r>
            <a:r>
              <a:rPr sz="1200" b="0" i="1">
                <a:solidFill>
                  <a:srgbClr val="C41E3A"/>
                </a:solidFill>
                <a:latin typeface="Calibri"/>
                <a:ea typeface="微软雅黑"/>
                <a:cs typeface="微软雅黑"/>
                <a:hlinkClick r:id="rId3"/>
              </a:rPr>
              <a:t>原文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11112" y="3163824"/>
            <a:ext cx="4873752" cy="1554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微软雅黑"/>
                <a:cs typeface="微软雅黑"/>
              </a:rPr>
              <a:t>25日10时见报。习近平在欢迎宴会上以中秋致意，回顾贸易、驼峰航线、乒乓外交与治沙故事，称美方「再次伟大」与中国式现代化「完全可以相互成就」，并说当天会谈丰富了建设性战略稳定的内涵。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11112" y="4828032"/>
            <a:ext cx="4873752" cy="9525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11112" y="4937760"/>
            <a:ext cx="4873752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微软雅黑"/>
                <a:cs typeface="微软雅黑"/>
              </a:rPr>
              <a:t>为何重要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11112" y="5157216"/>
            <a:ext cx="4873752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微软雅黑"/>
                <a:cs typeface="微软雅黑"/>
              </a:rPr>
              <a:t>把互访从议程写成面向两国社会的公开政治表述。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10528"/>
            <a:ext cx="73152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47A"/>
                </a:solidFill>
                <a:latin typeface="Calibri"/>
                <a:ea typeface="微软雅黑"/>
                <a:cs typeface="微软雅黑"/>
              </a:rPr>
              <a:t>每日时政科技简报 · 第004期 · 只收 2026-09-25 沪时首发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09760" y="6510528"/>
            <a:ext cx="2176272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47A"/>
                </a:solidFill>
                <a:latin typeface="Calibri"/>
                <a:ea typeface="微软雅黑"/>
                <a:cs typeface="微软雅黑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2918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Cambria"/>
                <a:ea typeface="宋体"/>
                <a:cs typeface="宋体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1920" y="256032"/>
            <a:ext cx="56692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微软雅黑"/>
                <a:cs typeface="微软雅黑"/>
              </a:rPr>
              <a:t>第004期  ·  2026年9月25日  ·  星期五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256032"/>
            <a:ext cx="1353312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微软雅黑"/>
                <a:cs typeface="微软雅黑"/>
              </a:rPr>
              <a:t>晨刊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66928"/>
            <a:ext cx="11183112" cy="203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03504"/>
            <a:ext cx="11183112" cy="952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768096"/>
            <a:ext cx="11183112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宋体"/>
                <a:cs typeface="宋体"/>
              </a:rPr>
              <a:t>收官一日与海峡方案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43584"/>
            <a:ext cx="11183112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微软雅黑"/>
                <a:cs typeface="微软雅黑"/>
              </a:rPr>
              <a:t>档案馆只有一句电讯；纽约把霍尔木兹写成七日时间表。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645920"/>
            <a:ext cx="5029200" cy="4526280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792224"/>
            <a:ext cx="461772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微软雅黑"/>
                <a:cs typeface="微软雅黑"/>
              </a:rPr>
              <a:t>04　行程 · 华盛顿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066543"/>
            <a:ext cx="461772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宋体"/>
                <a:cs typeface="宋体"/>
              </a:rPr>
              <a:t>参观国家档案馆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871216"/>
            <a:ext cx="46177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1">
                <a:solidFill>
                  <a:srgbClr val="4A5568"/>
                </a:solidFill>
                <a:latin typeface="Calibri"/>
                <a:ea typeface="微软雅黑"/>
                <a:cs typeface="微软雅黑"/>
              </a:rPr>
              <a:t>来源：新华社　·　</a:t>
            </a:r>
            <a:r>
              <a:rPr sz="1200" b="0" i="1">
                <a:solidFill>
                  <a:srgbClr val="C41E3A"/>
                </a:solidFill>
                <a:latin typeface="Calibri"/>
                <a:ea typeface="微软雅黑"/>
                <a:cs typeface="微软雅黑"/>
                <a:hlinkClick r:id="rId2"/>
              </a:rPr>
              <a:t>news.cn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3145536"/>
            <a:ext cx="4617720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微软雅黑"/>
                <a:cs typeface="微软雅黑"/>
              </a:rPr>
              <a:t>当地时间25日上午，习近平和彭丽媛在特朗普夫妇陪同下参观美国国家档案馆。新华社23:56电讯仅此一句。茶叙新定位与结束访问通稿均在26日凌晨见报，本期不收。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4663440"/>
            <a:ext cx="4617720" cy="9525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4773168"/>
            <a:ext cx="461772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微软雅黑"/>
                <a:cs typeface="微软雅黑"/>
              </a:rPr>
              <a:t>为何重要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4992624"/>
            <a:ext cx="461772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微软雅黑"/>
                <a:cs typeface="微软雅黑"/>
              </a:rPr>
              <a:t>这是访美最后一日公开行程的当日权威记录，详稿要等下一期。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60720" y="1645920"/>
            <a:ext cx="5925312" cy="3246120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89320" y="1773936"/>
            <a:ext cx="553212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微软雅黑"/>
                <a:cs typeface="微软雅黑"/>
              </a:rPr>
              <a:t>05　国际 · 纽约 / 油市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89320" y="2029968"/>
            <a:ext cx="553212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宋体"/>
                <a:cs typeface="宋体"/>
              </a:rPr>
              <a:t>伊朗提七日复航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89320" y="2633472"/>
            <a:ext cx="55321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1">
                <a:solidFill>
                  <a:srgbClr val="4A5568"/>
                </a:solidFill>
                <a:latin typeface="Calibri"/>
                <a:ea typeface="微软雅黑"/>
                <a:cs typeface="微软雅黑"/>
              </a:rPr>
              <a:t>来源：联合早报 / 路透 / 彭博　·　</a:t>
            </a:r>
            <a:r>
              <a:rPr sz="1200" b="0" i="1">
                <a:solidFill>
                  <a:srgbClr val="C41E3A"/>
                </a:solidFill>
                <a:latin typeface="Calibri"/>
                <a:ea typeface="微软雅黑"/>
                <a:cs typeface="微软雅黑"/>
                <a:hlinkClick r:id="rId3"/>
              </a:rPr>
              <a:t>zaobao.com.sg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89320" y="2889504"/>
            <a:ext cx="553212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微软雅黑"/>
                <a:cs typeface="微软雅黑"/>
              </a:rPr>
              <a:t>路透称伊朗外长提出各战线七日停火、解封港口与资金后于第七天重开霍尔木兹；卡塔尔斡旋。白宫官员称美方「并不需要谈判」。油价25日跌逾1%。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89320" y="4041648"/>
            <a:ext cx="5532120" cy="9525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89320" y="4151376"/>
            <a:ext cx="553212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微软雅黑"/>
                <a:cs typeface="微软雅黑"/>
              </a:rPr>
              <a:t>为何重要　海峡通航与油价直接挂钩，美伊各自要价说明窗口仍窄。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760720" y="5029200"/>
            <a:ext cx="5925312" cy="1143000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89320" y="5120640"/>
            <a:ext cx="146304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C41E3A"/>
                </a:solidFill>
                <a:latin typeface="Cambria"/>
                <a:ea typeface="宋体"/>
                <a:cs typeface="宋体"/>
              </a:rPr>
              <a:t>50–49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5193792"/>
            <a:ext cx="3977639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Calibri"/>
                <a:ea typeface="微软雅黑"/>
                <a:cs typeface="微软雅黑"/>
              </a:rPr>
              <a:t>参议院否决限制对伊作战案。周四表决未通过，附见于25日综合稿，不单独立项。胡塞续袭延布，法国宣布派人防护。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510528"/>
            <a:ext cx="73152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47A"/>
                </a:solidFill>
                <a:latin typeface="Calibri"/>
                <a:ea typeface="微软雅黑"/>
                <a:cs typeface="微软雅黑"/>
              </a:rPr>
              <a:t>每日时政科技简报 · 第004期 · 只收 2026-09-25 沪时首发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9760" y="6510528"/>
            <a:ext cx="2176272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47A"/>
                </a:solidFill>
                <a:latin typeface="Calibri"/>
                <a:ea typeface="微软雅黑"/>
                <a:cs typeface="微软雅黑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2918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Cambria"/>
                <a:ea typeface="宋体"/>
                <a:cs typeface="宋体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1920" y="256032"/>
            <a:ext cx="56692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微软雅黑"/>
                <a:cs typeface="微软雅黑"/>
              </a:rPr>
              <a:t>第004期  ·  2026年9月25日  ·  星期五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256032"/>
            <a:ext cx="1353312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微软雅黑"/>
                <a:cs typeface="微软雅黑"/>
              </a:rPr>
              <a:t>晨刊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66928"/>
            <a:ext cx="11183112" cy="203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03504"/>
            <a:ext cx="11183112" cy="952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786384"/>
            <a:ext cx="128016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00" b="1" i="0">
                <a:solidFill>
                  <a:srgbClr val="C41E3A"/>
                </a:solidFill>
                <a:latin typeface="Cambria"/>
                <a:ea typeface="宋体"/>
                <a:cs typeface="宋体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896112"/>
            <a:ext cx="97840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宋体"/>
                <a:cs typeface="宋体"/>
              </a:rPr>
              <a:t>科技开篇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417320"/>
            <a:ext cx="978408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A5568"/>
                </a:solidFill>
                <a:latin typeface="Calibri"/>
                <a:ea typeface="微软雅黑"/>
                <a:cs typeface="微软雅黑"/>
              </a:rPr>
              <a:t>贵州的巨镜满十岁，交出1300颗脉冲星。孟菲斯把扩卡写成月份批次。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920240"/>
            <a:ext cx="2651760" cy="2011680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" y="2011680"/>
            <a:ext cx="2395728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C41E3A"/>
                </a:solidFill>
                <a:latin typeface="Cambria"/>
                <a:ea typeface="宋体"/>
                <a:cs typeface="宋体"/>
              </a:rPr>
              <a:t>1300+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" y="2596896"/>
            <a:ext cx="2395728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1A1A"/>
                </a:solidFill>
                <a:latin typeface="Calibri"/>
                <a:ea typeface="微软雅黑"/>
                <a:cs typeface="微软雅黑"/>
              </a:rPr>
              <a:t>脉冲星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" y="2907792"/>
            <a:ext cx="2395728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微软雅黑"/>
                <a:cs typeface="微软雅黑"/>
              </a:rPr>
              <a:t>FAST十年发现量超过同期其他望远镜总和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46704" y="1920240"/>
            <a:ext cx="2651760" cy="2011680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93008" y="2011680"/>
            <a:ext cx="2395728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C41E3A"/>
                </a:solidFill>
                <a:latin typeface="Cambria"/>
                <a:ea typeface="宋体"/>
                <a:cs typeface="宋体"/>
              </a:rPr>
              <a:t>66万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93008" y="2596896"/>
            <a:ext cx="2395728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1A1A"/>
                </a:solidFill>
                <a:latin typeface="Calibri"/>
                <a:ea typeface="微软雅黑"/>
                <a:cs typeface="微软雅黑"/>
              </a:rPr>
              <a:t>GB300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93008" y="2907792"/>
            <a:ext cx="2395728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微软雅黑"/>
                <a:cs typeface="微软雅黑"/>
              </a:rPr>
              <a:t>马斯克称年底前再上三批，每批22万块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0488" y="1920240"/>
            <a:ext cx="2651760" cy="2011680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36792" y="2011680"/>
            <a:ext cx="2395728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C41E3A"/>
                </a:solidFill>
                <a:latin typeface="Cambria"/>
                <a:ea typeface="宋体"/>
                <a:cs typeface="宋体"/>
              </a:rPr>
              <a:t>千星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36792" y="2596896"/>
            <a:ext cx="2395728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1A1A"/>
                </a:solidFill>
                <a:latin typeface="Calibri"/>
                <a:ea typeface="微软雅黑"/>
                <a:cs typeface="微软雅黑"/>
              </a:rPr>
              <a:t>太空之弦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2907792"/>
            <a:ext cx="2395728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微软雅黑"/>
                <a:cs typeface="微软雅黑"/>
              </a:rPr>
              <a:t>地卫二与东方星链25日启动在轨算力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34272" y="1920240"/>
            <a:ext cx="2651760" cy="2011680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0576" y="2011680"/>
            <a:ext cx="2395728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C41E3A"/>
                </a:solidFill>
                <a:latin typeface="Cambria"/>
                <a:ea typeface="宋体"/>
                <a:cs typeface="宋体"/>
              </a:rPr>
              <a:t>14B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0576" y="2596896"/>
            <a:ext cx="2395728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1A1A"/>
                </a:solidFill>
                <a:latin typeface="Calibri"/>
                <a:ea typeface="微软雅黑"/>
                <a:cs typeface="微软雅黑"/>
              </a:rPr>
              <a:t>端侧模型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0576" y="2907792"/>
            <a:ext cx="2395728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微软雅黑"/>
                <a:cs typeface="微软雅黑"/>
              </a:rPr>
              <a:t>行业稿称苹果给出16GB手机可跑上限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4114800"/>
            <a:ext cx="11183112" cy="2057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" y="4224528"/>
            <a:ext cx="10744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微软雅黑"/>
                <a:cs typeface="微软雅黑"/>
              </a:rPr>
              <a:t>编辑观察 · 排除清单与缺口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" y="4535424"/>
            <a:ext cx="1074420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7F4EF"/>
                </a:solidFill>
                <a:latin typeface="Calibri"/>
                <a:ea typeface="微软雅黑"/>
                <a:cs typeface="微软雅黑"/>
              </a:rPr>
              <a:t>未混入：白宫欢迎仪式与会谈开场（24日刊）、谷歌捕日者TPU（24日刊）、Gemini 4后训练（24日刊）、真武V900（22日）、昇腾950上市（17–19日）、OpenAI Jalapeño（6月24日）。韩正联大讲话仍无全文；贺信、茶叙新定位、结束访问稿均在26日凌晨见报。外交部25日休会。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510528"/>
            <a:ext cx="73152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47A"/>
                </a:solidFill>
                <a:latin typeface="Calibri"/>
                <a:ea typeface="微软雅黑"/>
                <a:cs typeface="微软雅黑"/>
              </a:rPr>
              <a:t>每日时政科技简报 · 第004期 · 只收 2026-09-25 沪时首发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09760" y="6510528"/>
            <a:ext cx="2176272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47A"/>
                </a:solidFill>
                <a:latin typeface="Calibri"/>
                <a:ea typeface="微软雅黑"/>
                <a:cs typeface="微软雅黑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2918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Cambria"/>
                <a:ea typeface="宋体"/>
                <a:cs typeface="宋体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1920" y="256032"/>
            <a:ext cx="56692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微软雅黑"/>
                <a:cs typeface="微软雅黑"/>
              </a:rPr>
              <a:t>第004期  ·  2026年9月25日  ·  星期五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256032"/>
            <a:ext cx="1353312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微软雅黑"/>
                <a:cs typeface="微软雅黑"/>
              </a:rPr>
              <a:t>晨刊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66928"/>
            <a:ext cx="11183112" cy="203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03504"/>
            <a:ext cx="11183112" cy="952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768096"/>
            <a:ext cx="11183112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宋体"/>
                <a:cs typeface="宋体"/>
              </a:rPr>
              <a:t>十年巨眼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43584"/>
            <a:ext cx="11183112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微软雅黑"/>
                <a:cs typeface="微软雅黑"/>
              </a:rPr>
              <a:t>纪念日碰上特稿，把「世界第一」改写成可核对的样本库。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645920"/>
            <a:ext cx="3246120" cy="4526280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011680"/>
            <a:ext cx="2834640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600" b="1" i="0">
                <a:solidFill>
                  <a:srgbClr val="C41E3A"/>
                </a:solidFill>
                <a:latin typeface="Cambria"/>
                <a:ea typeface="宋体"/>
                <a:cs typeface="宋体"/>
              </a:rPr>
              <a:t>1300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3474720"/>
            <a:ext cx="28346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A1A1A"/>
                </a:solidFill>
                <a:latin typeface="Cambria"/>
                <a:ea typeface="宋体"/>
                <a:cs typeface="宋体"/>
              </a:rPr>
              <a:t>颗脉冲星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3931920"/>
            <a:ext cx="283464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微软雅黑"/>
                <a:cs typeface="微软雅黑"/>
              </a:rPr>
              <a:t>超过同一时期国际其他望远镜发现数量的总和。中性氢巡天样本 15.6 万。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77639" y="1645920"/>
            <a:ext cx="7708392" cy="4526280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40" y="1792224"/>
            <a:ext cx="731520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微软雅黑"/>
                <a:cs typeface="微软雅黑"/>
              </a:rPr>
              <a:t>06　科学 · 平塘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2048256"/>
            <a:ext cx="73152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宋体"/>
                <a:cs typeface="宋体"/>
              </a:rPr>
              <a:t>「中国天眼」落成十年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2670048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1">
                <a:solidFill>
                  <a:srgbClr val="4A5568"/>
                </a:solidFill>
                <a:latin typeface="Calibri"/>
                <a:ea typeface="微软雅黑"/>
                <a:cs typeface="微软雅黑"/>
              </a:rPr>
              <a:t>来源：新华社　·　</a:t>
            </a:r>
            <a:r>
              <a:rPr sz="1200" b="0" i="1">
                <a:solidFill>
                  <a:srgbClr val="C41E3A"/>
                </a:solidFill>
                <a:latin typeface="Calibri"/>
                <a:ea typeface="微软雅黑"/>
                <a:cs typeface="微软雅黑"/>
                <a:hlinkClick r:id="rId2"/>
              </a:rPr>
              <a:t>news.cn/tech/20260925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2999232"/>
            <a:ext cx="7315200" cy="1691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Calibri"/>
                <a:ea typeface="微软雅黑"/>
                <a:cs typeface="微软雅黑"/>
              </a:rPr>
              <a:t>9月25日是FAST落成十周年。新华社特稿称累计发现脉冲星超1300颗；中性氢巡天已有15.6万个星系样本，近邻宇宙中性氢密度测量精度升至0.6%。二期拟建以巨镜为中心、中型镜环绕的混合口径干涉阵列。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06240" y="4828032"/>
            <a:ext cx="7315200" cy="9525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06240" y="4956048"/>
            <a:ext cx="73152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微软雅黑"/>
                <a:cs typeface="微软雅黑"/>
              </a:rPr>
              <a:t>为何重要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5193792"/>
            <a:ext cx="73152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A5568"/>
                </a:solidFill>
                <a:latin typeface="Calibri"/>
                <a:ea typeface="微软雅黑"/>
                <a:cs typeface="微软雅黑"/>
              </a:rPr>
              <a:t>把一台仪器的十年答卷写成可核对的观测账本，而不是纪念口号。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10528"/>
            <a:ext cx="73152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47A"/>
                </a:solidFill>
                <a:latin typeface="Calibri"/>
                <a:ea typeface="微软雅黑"/>
                <a:cs typeface="微软雅黑"/>
              </a:rPr>
              <a:t>每日时政科技简报 · 第004期 · 只收 2026-09-25 沪时首发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0" y="6510528"/>
            <a:ext cx="2176272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47A"/>
                </a:solidFill>
                <a:latin typeface="Calibri"/>
                <a:ea typeface="微软雅黑"/>
                <a:cs typeface="微软雅黑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2918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Cambria"/>
                <a:ea typeface="宋体"/>
                <a:cs typeface="宋体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1920" y="256032"/>
            <a:ext cx="56692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微软雅黑"/>
                <a:cs typeface="微软雅黑"/>
              </a:rPr>
              <a:t>第004期  ·  2026年9月25日  ·  星期五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256032"/>
            <a:ext cx="1353312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微软雅黑"/>
                <a:cs typeface="微软雅黑"/>
              </a:rPr>
              <a:t>晨刊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66928"/>
            <a:ext cx="11183112" cy="203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03504"/>
            <a:ext cx="11183112" cy="952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768096"/>
            <a:ext cx="11183112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宋体"/>
                <a:cs typeface="宋体"/>
              </a:rPr>
              <a:t>地上扩卡，天上组网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43584"/>
            <a:ext cx="11183112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微软雅黑"/>
                <a:cs typeface="微软雅黑"/>
              </a:rPr>
              <a:t>一边把百万卡拆成11月和12月，一边把算力写进发射合同。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645920"/>
            <a:ext cx="5330952" cy="4526280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792224"/>
            <a:ext cx="4873752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微软雅黑"/>
                <a:cs typeface="微软雅黑"/>
              </a:rPr>
              <a:t>07　算力 · 孟菲斯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048256"/>
            <a:ext cx="4873752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宋体"/>
                <a:cs typeface="宋体"/>
              </a:rPr>
              <a:t>Colossus再扩66万卡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2852928"/>
            <a:ext cx="4873752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1">
                <a:solidFill>
                  <a:srgbClr val="4A5568"/>
                </a:solidFill>
                <a:latin typeface="Calibri"/>
                <a:ea typeface="微软雅黑"/>
                <a:cs typeface="微软雅黑"/>
              </a:rPr>
              <a:t>来源：彭博社　·　</a:t>
            </a:r>
            <a:r>
              <a:rPr sz="1200" b="0" i="1">
                <a:solidFill>
                  <a:srgbClr val="C41E3A"/>
                </a:solidFill>
                <a:latin typeface="Calibri"/>
                <a:ea typeface="微软雅黑"/>
                <a:cs typeface="微软雅黑"/>
                <a:hlinkClick r:id="rId2"/>
              </a:rPr>
              <a:t>原文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3127248"/>
            <a:ext cx="4873752" cy="1554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微软雅黑"/>
                <a:cs typeface="微软雅黑"/>
              </a:rPr>
              <a:t>马斯克25日在X称，Colossus 2现有11万块GB200、44万块GB300；下周再上22万块GB300，11月再上22万，若顺利12月底再上22万。彭博称这是孟菲斯集群迄今最细的扩容日程。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8952" y="4773168"/>
            <a:ext cx="4873752" cy="9525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" y="4901184"/>
            <a:ext cx="4873752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微软雅黑"/>
                <a:cs typeface="微软雅黑"/>
              </a:rPr>
              <a:t>为何重要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" y="5120640"/>
            <a:ext cx="4873752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微软雅黑"/>
                <a:cs typeface="微软雅黑"/>
              </a:rPr>
              <a:t>把「百万卡」从口号拆成可核对的月份批次，也暴露交换机组网上限。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5080" y="1645920"/>
            <a:ext cx="5330952" cy="4526280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11112" y="1792224"/>
            <a:ext cx="4873752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微软雅黑"/>
                <a:cs typeface="微软雅黑"/>
              </a:rPr>
              <a:t>08　航天 · 杭州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11112" y="2048256"/>
            <a:ext cx="4873752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宋体"/>
                <a:cs typeface="宋体"/>
              </a:rPr>
              <a:t>太空之弦星座启动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11112" y="2852928"/>
            <a:ext cx="4873752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1">
                <a:solidFill>
                  <a:srgbClr val="4A5568"/>
                </a:solidFill>
                <a:latin typeface="Calibri"/>
                <a:ea typeface="微软雅黑"/>
                <a:cs typeface="微软雅黑"/>
              </a:rPr>
              <a:t>来源：新华社　·　</a:t>
            </a:r>
            <a:r>
              <a:rPr sz="1200" b="0" i="1">
                <a:solidFill>
                  <a:srgbClr val="C41E3A"/>
                </a:solidFill>
                <a:latin typeface="Calibri"/>
                <a:ea typeface="微软雅黑"/>
                <a:cs typeface="微软雅黑"/>
                <a:hlinkClick r:id="rId3"/>
              </a:rPr>
              <a:t>原文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11112" y="3127248"/>
            <a:ext cx="4873752" cy="1554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微软雅黑"/>
                <a:cs typeface="微软雅黑"/>
              </a:rPr>
              <a:t>25日数贸会期间，地卫二与东方星链联合首发「太空之弦」计算星座及新一代AI计算卫星，规划千星级分布式在轨算力网络，并与火箭、芯片、云厂商签署研制与发射合作。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11112" y="4773168"/>
            <a:ext cx="4873752" cy="9525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11112" y="4901184"/>
            <a:ext cx="4873752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微软雅黑"/>
                <a:cs typeface="微软雅黑"/>
              </a:rPr>
              <a:t>为何重要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11112" y="5120640"/>
            <a:ext cx="4873752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微软雅黑"/>
                <a:cs typeface="微软雅黑"/>
              </a:rPr>
              <a:t>把「天感天算」从概念推到可签约的星座启动，与地面超算竞赛并行。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10528"/>
            <a:ext cx="73152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47A"/>
                </a:solidFill>
                <a:latin typeface="Calibri"/>
                <a:ea typeface="微软雅黑"/>
                <a:cs typeface="微软雅黑"/>
              </a:rPr>
              <a:t>每日时政科技简报 · 第004期 · 只收 2026-09-25 沪时首发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09760" y="6510528"/>
            <a:ext cx="2176272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47A"/>
                </a:solidFill>
                <a:latin typeface="Calibri"/>
                <a:ea typeface="微软雅黑"/>
                <a:cs typeface="微软雅黑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2918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Cambria"/>
                <a:ea typeface="宋体"/>
                <a:cs typeface="宋体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1920" y="256032"/>
            <a:ext cx="56692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微软雅黑"/>
                <a:cs typeface="微软雅黑"/>
              </a:rPr>
              <a:t>第004期  ·  2026年9月25日  ·  星期五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256032"/>
            <a:ext cx="1353312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微软雅黑"/>
                <a:cs typeface="微软雅黑"/>
              </a:rPr>
              <a:t>晨刊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66928"/>
            <a:ext cx="11183112" cy="203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03504"/>
            <a:ext cx="11183112" cy="952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768096"/>
            <a:ext cx="11183112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宋体"/>
                <a:cs typeface="宋体"/>
              </a:rPr>
              <a:t>路口预演与端侧账本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43584"/>
            <a:ext cx="11183112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微软雅黑"/>
                <a:cs typeface="微软雅黑"/>
              </a:rPr>
              <a:t>卫星若只停在发射台上，还要看绿波方案；苹果对照表仍缺官网原稿。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609344"/>
            <a:ext cx="5486400" cy="2880360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719072"/>
            <a:ext cx="507492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微软雅黑"/>
                <a:cs typeface="微软雅黑"/>
              </a:rPr>
              <a:t>09　应用 · 杭州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1938528"/>
            <a:ext cx="507492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宋体"/>
                <a:cs typeface="宋体"/>
              </a:rPr>
              <a:t>交通大模型MUMO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523744"/>
            <a:ext cx="50749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1">
                <a:solidFill>
                  <a:srgbClr val="4A5568"/>
                </a:solidFill>
                <a:latin typeface="Calibri"/>
                <a:ea typeface="微软雅黑"/>
                <a:cs typeface="微软雅黑"/>
              </a:rPr>
              <a:t>来源：新华社　·　</a:t>
            </a:r>
            <a:r>
              <a:rPr sz="1200" b="0" i="1">
                <a:solidFill>
                  <a:srgbClr val="C41E3A"/>
                </a:solidFill>
                <a:latin typeface="Calibri"/>
                <a:ea typeface="微软雅黑"/>
                <a:cs typeface="微软雅黑"/>
                <a:hlinkClick r:id="rId2"/>
              </a:rPr>
              <a:t>zj.news.cn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2761488"/>
            <a:ext cx="5074920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Calibri"/>
                <a:ea typeface="微软雅黑"/>
                <a:cs typeface="微软雅黑"/>
              </a:rPr>
              <a:t>新华社25日杭州电：每日互动发布交通大模型MUMO，把卫星影像与地面交通数据拼成可预演的交通流仿真，用于绿波方案比较。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3767328"/>
            <a:ext cx="507492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微软雅黑"/>
                <a:cs typeface="微软雅黑"/>
              </a:rPr>
              <a:t>为何重要　太空算力若落不到路口信号灯上就还是展品。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609344"/>
            <a:ext cx="5468112" cy="2880360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719072"/>
            <a:ext cx="50292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微软雅黑"/>
                <a:cs typeface="微软雅黑"/>
              </a:rPr>
              <a:t>10　终端 · 行业稿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1938528"/>
            <a:ext cx="502920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宋体"/>
                <a:cs typeface="宋体"/>
              </a:rPr>
              <a:t>苹果端侧对照表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523744"/>
            <a:ext cx="50292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1">
                <a:solidFill>
                  <a:srgbClr val="4A5568"/>
                </a:solidFill>
                <a:latin typeface="Calibri"/>
                <a:ea typeface="微软雅黑"/>
                <a:cs typeface="微软雅黑"/>
              </a:rPr>
              <a:t>来源：Wccftech　·　</a:t>
            </a:r>
            <a:r>
              <a:rPr sz="1200" b="0" i="1">
                <a:solidFill>
                  <a:srgbClr val="C41E3A"/>
                </a:solidFill>
                <a:latin typeface="Calibri"/>
                <a:ea typeface="微软雅黑"/>
                <a:cs typeface="微软雅黑"/>
                <a:hlinkClick r:id="rId3"/>
              </a:rPr>
              <a:t>wccftech.com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761488"/>
            <a:ext cx="5029200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Calibri"/>
                <a:ea typeface="微软雅黑"/>
                <a:cs typeface="微软雅黑"/>
              </a:rPr>
              <a:t>Wccftech 25日报道：16GB统一内存的iPhone/iPad可跑140亿活跃参数；Mac Studio集群号称可容纳超1.6万亿。官方未发新闻稿。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767328"/>
            <a:ext cx="502920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微软雅黑"/>
                <a:cs typeface="微软雅黑"/>
              </a:rPr>
              <a:t>为何重要　写成可比较的内存账本，但仍缺苹果官网核验。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4645152"/>
            <a:ext cx="11183112" cy="1554480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4736592"/>
            <a:ext cx="107442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微软雅黑"/>
                <a:cs typeface="微软雅黑"/>
              </a:rPr>
              <a:t>信息不足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4937760"/>
            <a:ext cx="107442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A1A1A"/>
                </a:solidFill>
                <a:latin typeface="Cambria"/>
                <a:ea typeface="宋体"/>
                <a:cs typeface="宋体"/>
              </a:rPr>
              <a:t>纽约两场，北京未写完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5358384"/>
            <a:ext cx="10744200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微软雅黑"/>
                <a:cs typeface="微软雅黑"/>
              </a:rPr>
              <a:t>韩正联大讲话仍无权威全文。全球发展倡议五周年贺信、白宫茶叙「尊重、公平、对等」新表述、结束对美国事访问通稿，均在26日凌晨见报，本期不入账。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10528"/>
            <a:ext cx="73152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47A"/>
                </a:solidFill>
                <a:latin typeface="Calibri"/>
                <a:ea typeface="微软雅黑"/>
                <a:cs typeface="微软雅黑"/>
              </a:rPr>
              <a:t>每日时政科技简报 · 第004期 · 只收 2026-09-25 沪时首发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09760" y="6510528"/>
            <a:ext cx="2176272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47A"/>
                </a:solidFill>
                <a:latin typeface="Calibri"/>
                <a:ea typeface="微软雅黑"/>
                <a:cs typeface="微软雅黑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2918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7F4EF"/>
                </a:solidFill>
                <a:latin typeface="Cambria"/>
                <a:ea typeface="宋体"/>
                <a:cs typeface="宋体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1920" y="256032"/>
            <a:ext cx="56692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9C2B6"/>
                </a:solidFill>
                <a:latin typeface="Calibri"/>
                <a:ea typeface="微软雅黑"/>
                <a:cs typeface="微软雅黑"/>
              </a:rPr>
              <a:t>第004期  ·  2026年9月25日  ·  星期五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256032"/>
            <a:ext cx="1353312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微软雅黑"/>
                <a:cs typeface="微软雅黑"/>
              </a:rPr>
              <a:t>晨刊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66928"/>
            <a:ext cx="11183112" cy="203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03504"/>
            <a:ext cx="11183112" cy="9525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804672"/>
            <a:ext cx="594360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C2B6"/>
                </a:solidFill>
                <a:latin typeface="Calibri"/>
                <a:ea typeface="微软雅黑"/>
                <a:cs typeface="微软雅黑"/>
              </a:rPr>
              <a:t>THE EVENING LEDGER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804672"/>
            <a:ext cx="4005072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9C2B6"/>
                </a:solidFill>
                <a:latin typeface="Calibri"/>
                <a:ea typeface="微软雅黑"/>
                <a:cs typeface="微软雅黑"/>
              </a:rPr>
              <a:t>第004期 · 收束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183112" cy="2794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152144"/>
            <a:ext cx="11183112" cy="1143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280160"/>
            <a:ext cx="11183112" cy="6583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7F4EF"/>
                </a:solidFill>
                <a:latin typeface="Cambria"/>
                <a:ea typeface="宋体"/>
                <a:cs typeface="宋体"/>
              </a:rPr>
              <a:t>十条周五，四条留给黎明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975104"/>
            <a:ext cx="11183112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7F4EF"/>
                </a:solidFill>
                <a:latin typeface="Cambria"/>
                <a:ea typeface="宋体"/>
                <a:cs typeface="宋体"/>
              </a:rPr>
              <a:t>会谈终于有了可引用的中方文本，国宴把两个目标写成相互成就。霍尔木兹出现七日方案，却还没有白宫的点头。天眼用1300颗脉冲星给自己过生日；算力竞赛同时写在孟菲斯的批次表和杭州的发射合同上。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108960"/>
            <a:ext cx="5486400" cy="2606040"/>
          </a:xfrm>
          <a:prstGeom prst="rect">
            <a:avLst/>
          </a:prstGeom>
          <a:solidFill>
            <a:srgbClr val="242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3218688"/>
            <a:ext cx="50749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41E3A"/>
                </a:solidFill>
                <a:latin typeface="Calibri"/>
                <a:ea typeface="微软雅黑"/>
                <a:cs typeface="微软雅黑"/>
              </a:rPr>
              <a:t>时政五条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3547872"/>
            <a:ext cx="5074920" cy="2011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7F4EF"/>
                </a:solidFill>
                <a:latin typeface="Calibri"/>
                <a:ea typeface="微软雅黑"/>
                <a:cs typeface="微软雅黑"/>
              </a:rPr>
              <a:t>1  白宫会谈详稿见报
2  经贸新联合安排
3  国宴祝酒辞全文
4  参观国家档案馆
5  伊朗提七日复航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9632" y="3108960"/>
            <a:ext cx="5486400" cy="2606040"/>
          </a:xfrm>
          <a:prstGeom prst="rect">
            <a:avLst/>
          </a:prstGeom>
          <a:solidFill>
            <a:srgbClr val="242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9088" y="3218688"/>
            <a:ext cx="50749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41E3A"/>
                </a:solidFill>
                <a:latin typeface="Calibri"/>
                <a:ea typeface="微软雅黑"/>
                <a:cs typeface="微软雅黑"/>
              </a:rPr>
              <a:t>科技五条 · 缺口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3547872"/>
            <a:ext cx="5074920" cy="2011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7F4EF"/>
                </a:solidFill>
                <a:latin typeface="Calibri"/>
                <a:ea typeface="微软雅黑"/>
                <a:cs typeface="微软雅黑"/>
              </a:rPr>
              <a:t>1  FAST落成十年账本
2  Colossus 2扩容时间表
3  「太空之弦」星座启动
4  交通大模型MUMO
5  苹果端侧对照表（行业稿）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833872"/>
            <a:ext cx="11183112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9C2B6"/>
                </a:solidFill>
                <a:latin typeface="Calibri"/>
                <a:ea typeface="微软雅黑"/>
                <a:cs typeface="微软雅黑"/>
              </a:rPr>
              <a:t>日期窗口：Asia/Shanghai 2026-09-25 00:00 至 2026-09-26 00:00。交叉来源：新华社、外交部、人民日报、联合早报、路透、彭博、Wccftech。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236208"/>
            <a:ext cx="11183112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微软雅黑"/>
                <a:cs typeface="微软雅黑"/>
              </a:rPr>
              <a:t>每日时政科技简报 · 第004期 · 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10528"/>
            <a:ext cx="73152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47A"/>
                </a:solidFill>
                <a:latin typeface="Calibri"/>
                <a:ea typeface="微软雅黑"/>
                <a:cs typeface="微软雅黑"/>
              </a:rPr>
              <a:t>每日时政科技简报 · 第004期 · 只收 2026-09-25 沪时首发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0" y="6510528"/>
            <a:ext cx="2176272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47A"/>
                </a:solidFill>
                <a:latin typeface="Calibri"/>
                <a:ea typeface="微软雅黑"/>
                <a:cs typeface="微软雅黑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