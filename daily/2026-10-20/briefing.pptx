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01168"/>
            <a:ext cx="3840480" cy="292608"/>
          </a:xfrm>
          <a:prstGeom prst="rect">
            <a:avLst/>
          </a:prstGeom>
          <a:noFill/>
        </p:spPr>
        <p:txBody>
          <a:bodyPr wrap="square" anchor="t"/>
          <a:lstStyle/>
          <a:p>
            <a:pPr algn="l">
              <a:spcAft>
                <a:spcPts val="200"/>
              </a:spcAft>
            </a:pPr>
            <a:r>
              <a:rPr sz="1400" b="1" i="0">
                <a:solidFill>
                  <a:srgbClr val="F7F4EF"/>
                </a:solidFill>
                <a:latin typeface="Cambria"/>
                <a:ea typeface="宋体"/>
              </a:rPr>
              <a:t>每日时政科技简报</a:t>
            </a:r>
          </a:p>
        </p:txBody>
      </p:sp>
      <p:sp>
        <p:nvSpPr>
          <p:cNvPr id="4" name="TextBox 3"/>
          <p:cNvSpPr txBox="1"/>
          <p:nvPr/>
        </p:nvSpPr>
        <p:spPr>
          <a:xfrm>
            <a:off x="4572000" y="201168"/>
            <a:ext cx="4937760" cy="292608"/>
          </a:xfrm>
          <a:prstGeom prst="rect">
            <a:avLst/>
          </a:prstGeom>
          <a:noFill/>
        </p:spPr>
        <p:txBody>
          <a:bodyPr wrap="square" anchor="t"/>
          <a:lstStyle/>
          <a:p>
            <a:pPr algn="ctr">
              <a:spcAft>
                <a:spcPts val="200"/>
              </a:spcAft>
            </a:pPr>
            <a:r>
              <a:rPr sz="1200" b="0" i="0">
                <a:solidFill>
                  <a:srgbClr val="C9C2B6"/>
                </a:solidFill>
                <a:latin typeface="Calibri"/>
                <a:ea typeface="微软雅黑"/>
              </a:rPr>
              <a:t>第029期  ·  2026年10月20日  ·  星期二</a:t>
            </a:r>
          </a:p>
        </p:txBody>
      </p:sp>
      <p:sp>
        <p:nvSpPr>
          <p:cNvPr id="5" name="TextBox 4"/>
          <p:cNvSpPr txBox="1"/>
          <p:nvPr/>
        </p:nvSpPr>
        <p:spPr>
          <a:xfrm>
            <a:off x="10149840" y="201168"/>
            <a:ext cx="1554480" cy="292608"/>
          </a:xfrm>
          <a:prstGeom prst="rect">
            <a:avLst/>
          </a:prstGeom>
          <a:noFill/>
        </p:spPr>
        <p:txBody>
          <a:bodyPr wrap="square" anchor="t"/>
          <a:lstStyle/>
          <a:p>
            <a:pPr algn="r">
              <a:spcAft>
                <a:spcPts val="200"/>
              </a:spcAft>
            </a:pPr>
            <a:r>
              <a:rPr sz="1300" b="1" i="0">
                <a:solidFill>
                  <a:srgbClr val="C41E3A"/>
                </a:solidFill>
                <a:latin typeface="Calibri"/>
                <a:ea typeface="微软雅黑"/>
              </a:rPr>
              <a:t>晨刊</a:t>
            </a:r>
          </a:p>
        </p:txBody>
      </p:sp>
      <p:sp>
        <p:nvSpPr>
          <p:cNvPr id="6" name="Rectangle 5"/>
          <p:cNvSpPr/>
          <p:nvPr/>
        </p:nvSpPr>
        <p:spPr>
          <a:xfrm>
            <a:off x="457200" y="493776"/>
            <a:ext cx="11277295" cy="20320"/>
          </a:xfrm>
          <a:prstGeom prst="rect">
            <a:avLst/>
          </a:prstGeom>
          <a:solidFill>
            <a:srgbClr val="C41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530352"/>
            <a:ext cx="11277295" cy="9525"/>
          </a:xfrm>
          <a:prstGeom prst="rect">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713232"/>
            <a:ext cx="5943600" cy="256032"/>
          </a:xfrm>
          <a:prstGeom prst="rect">
            <a:avLst/>
          </a:prstGeom>
          <a:noFill/>
        </p:spPr>
        <p:txBody>
          <a:bodyPr wrap="square" anchor="t"/>
          <a:lstStyle/>
          <a:p>
            <a:pPr algn="l">
              <a:spcAft>
                <a:spcPts val="200"/>
              </a:spcAft>
            </a:pPr>
            <a:r>
              <a:rPr sz="1100" b="1" i="0">
                <a:solidFill>
                  <a:srgbClr val="C9C2B6"/>
                </a:solidFill>
                <a:latin typeface="Calibri"/>
                <a:ea typeface="微软雅黑"/>
              </a:rPr>
              <a:t>●  THE MORNING DISPATCH</a:t>
            </a:r>
          </a:p>
        </p:txBody>
      </p:sp>
      <p:sp>
        <p:nvSpPr>
          <p:cNvPr id="9" name="TextBox 8"/>
          <p:cNvSpPr txBox="1"/>
          <p:nvPr/>
        </p:nvSpPr>
        <p:spPr>
          <a:xfrm>
            <a:off x="7498079" y="713232"/>
            <a:ext cx="4206240" cy="256032"/>
          </a:xfrm>
          <a:prstGeom prst="rect">
            <a:avLst/>
          </a:prstGeom>
          <a:noFill/>
        </p:spPr>
        <p:txBody>
          <a:bodyPr wrap="square" anchor="t"/>
          <a:lstStyle/>
          <a:p>
            <a:pPr algn="r">
              <a:spcAft>
                <a:spcPts val="200"/>
              </a:spcAft>
            </a:pPr>
            <a:r>
              <a:rPr sz="1100" b="0" i="0">
                <a:solidFill>
                  <a:srgbClr val="C9C2B6"/>
                </a:solidFill>
                <a:latin typeface="Calibri"/>
                <a:ea typeface="微软雅黑"/>
              </a:rPr>
              <a:t>ASIA / SHANGHAI　昨日新闻</a:t>
            </a:r>
          </a:p>
        </p:txBody>
      </p:sp>
      <p:sp>
        <p:nvSpPr>
          <p:cNvPr id="10" name="Rectangle 9"/>
          <p:cNvSpPr/>
          <p:nvPr/>
        </p:nvSpPr>
        <p:spPr>
          <a:xfrm>
            <a:off x="457200" y="1024128"/>
            <a:ext cx="11277295" cy="27940"/>
          </a:xfrm>
          <a:prstGeom prst="rect">
            <a:avLst/>
          </a:prstGeom>
          <a:solidFill>
            <a:srgbClr val="C41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078992"/>
            <a:ext cx="11277295" cy="11430"/>
          </a:xfrm>
          <a:prstGeom prst="rect">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1261872"/>
            <a:ext cx="11247120" cy="292608"/>
          </a:xfrm>
          <a:prstGeom prst="rect">
            <a:avLst/>
          </a:prstGeom>
          <a:noFill/>
        </p:spPr>
        <p:txBody>
          <a:bodyPr wrap="square" anchor="t"/>
          <a:lstStyle/>
          <a:p>
            <a:pPr algn="l">
              <a:spcAft>
                <a:spcPts val="200"/>
              </a:spcAft>
            </a:pPr>
            <a:r>
              <a:rPr sz="1400" b="1" i="0">
                <a:solidFill>
                  <a:srgbClr val="C41E3A"/>
                </a:solidFill>
                <a:latin typeface="Calibri"/>
                <a:ea typeface="微软雅黑"/>
              </a:rPr>
              <a:t>第零贰玖期  ·  二零二六年十月二十日  ·  星期二</a:t>
            </a:r>
          </a:p>
        </p:txBody>
      </p:sp>
      <p:sp>
        <p:nvSpPr>
          <p:cNvPr id="13" name="TextBox 12"/>
          <p:cNvSpPr txBox="1"/>
          <p:nvPr/>
        </p:nvSpPr>
        <p:spPr>
          <a:xfrm>
            <a:off x="457200" y="1572768"/>
            <a:ext cx="11247120" cy="1051560"/>
          </a:xfrm>
          <a:prstGeom prst="rect">
            <a:avLst/>
          </a:prstGeom>
          <a:noFill/>
        </p:spPr>
        <p:txBody>
          <a:bodyPr wrap="square" anchor="t"/>
          <a:lstStyle/>
          <a:p>
            <a:pPr algn="l">
              <a:spcAft>
                <a:spcPts val="200"/>
              </a:spcAft>
            </a:pPr>
            <a:r>
              <a:rPr sz="4800" b="1" i="0">
                <a:solidFill>
                  <a:srgbClr val="F7F4EF"/>
                </a:solidFill>
                <a:latin typeface="Cambria"/>
                <a:ea typeface="宋体"/>
              </a:rPr>
              <a:t>每日时政科技简报</a:t>
            </a:r>
          </a:p>
        </p:txBody>
      </p:sp>
      <p:sp>
        <p:nvSpPr>
          <p:cNvPr id="14" name="TextBox 13"/>
          <p:cNvSpPr txBox="1"/>
          <p:nvPr/>
        </p:nvSpPr>
        <p:spPr>
          <a:xfrm>
            <a:off x="457200" y="2651760"/>
            <a:ext cx="11247120" cy="640080"/>
          </a:xfrm>
          <a:prstGeom prst="rect">
            <a:avLst/>
          </a:prstGeom>
          <a:noFill/>
        </p:spPr>
        <p:txBody>
          <a:bodyPr wrap="square" anchor="t"/>
          <a:lstStyle/>
          <a:p>
            <a:pPr algn="l">
              <a:spcAft>
                <a:spcPts val="200"/>
              </a:spcAft>
            </a:pPr>
            <a:r>
              <a:rPr sz="1600" b="0" i="0">
                <a:solidFill>
                  <a:srgbClr val="C9C2B6"/>
                </a:solidFill>
                <a:latin typeface="Calibri"/>
                <a:ea typeface="微软雅黑"/>
              </a:rPr>
              <a:t>只收录该日发生或该日首发的稿件。杜尚别写下联合公报，圣彼得堡接下定期会晤。谷歌把TPU写进PyTorch，H3把取样船送往火卫一。</a:t>
            </a:r>
          </a:p>
        </p:txBody>
      </p:sp>
      <p:sp>
        <p:nvSpPr>
          <p:cNvPr id="15" name="Rounded Rectangle 14"/>
          <p:cNvSpPr/>
          <p:nvPr/>
        </p:nvSpPr>
        <p:spPr>
          <a:xfrm>
            <a:off x="457200" y="3474720"/>
            <a:ext cx="3566160" cy="1691640"/>
          </a:xfrm>
          <a:prstGeom prst="roundRect">
            <a:avLst>
              <a:gd name="adj" fmla="val 6000"/>
            </a:avLst>
          </a:prstGeom>
          <a:solidFill>
            <a:srgbClr val="242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3584448"/>
            <a:ext cx="3200400" cy="868680"/>
          </a:xfrm>
          <a:prstGeom prst="rect">
            <a:avLst/>
          </a:prstGeom>
          <a:noFill/>
        </p:spPr>
        <p:txBody>
          <a:bodyPr wrap="square" anchor="t"/>
          <a:lstStyle/>
          <a:p>
            <a:pPr algn="l">
              <a:spcAft>
                <a:spcPts val="200"/>
              </a:spcAft>
            </a:pPr>
            <a:r>
              <a:rPr sz="4800" b="1" i="0">
                <a:solidFill>
                  <a:srgbClr val="C41E3A"/>
                </a:solidFill>
                <a:latin typeface="Cambria"/>
                <a:ea typeface="宋体"/>
              </a:rPr>
              <a:t>06</a:t>
            </a:r>
          </a:p>
        </p:txBody>
      </p:sp>
      <p:sp>
        <p:nvSpPr>
          <p:cNvPr id="17" name="TextBox 16"/>
          <p:cNvSpPr txBox="1"/>
          <p:nvPr/>
        </p:nvSpPr>
        <p:spPr>
          <a:xfrm>
            <a:off x="658368" y="4434840"/>
            <a:ext cx="3200400" cy="292608"/>
          </a:xfrm>
          <a:prstGeom prst="rect">
            <a:avLst/>
          </a:prstGeom>
          <a:noFill/>
        </p:spPr>
        <p:txBody>
          <a:bodyPr wrap="square" anchor="t"/>
          <a:lstStyle/>
          <a:p>
            <a:pPr algn="l">
              <a:spcAft>
                <a:spcPts val="200"/>
              </a:spcAft>
            </a:pPr>
            <a:r>
              <a:rPr sz="1800" b="1" i="0">
                <a:solidFill>
                  <a:srgbClr val="F7F4EF"/>
                </a:solidFill>
                <a:latin typeface="Calibri"/>
                <a:ea typeface="微软雅黑"/>
              </a:rPr>
              <a:t>时政</a:t>
            </a:r>
          </a:p>
        </p:txBody>
      </p:sp>
      <p:sp>
        <p:nvSpPr>
          <p:cNvPr id="18" name="TextBox 17"/>
          <p:cNvSpPr txBox="1"/>
          <p:nvPr/>
        </p:nvSpPr>
        <p:spPr>
          <a:xfrm>
            <a:off x="658368" y="4736592"/>
            <a:ext cx="3200400" cy="292608"/>
          </a:xfrm>
          <a:prstGeom prst="rect">
            <a:avLst/>
          </a:prstGeom>
          <a:noFill/>
        </p:spPr>
        <p:txBody>
          <a:bodyPr wrap="square" anchor="t"/>
          <a:lstStyle/>
          <a:p>
            <a:pPr algn="l">
              <a:spcAft>
                <a:spcPts val="200"/>
              </a:spcAft>
            </a:pPr>
            <a:r>
              <a:rPr sz="1300" b="0" i="0">
                <a:solidFill>
                  <a:srgbClr val="C9C2B6"/>
                </a:solidFill>
                <a:latin typeface="Calibri"/>
                <a:ea typeface="微软雅黑"/>
              </a:rPr>
              <a:t>上合 · 内需 · 海峡</a:t>
            </a:r>
          </a:p>
        </p:txBody>
      </p:sp>
      <p:sp>
        <p:nvSpPr>
          <p:cNvPr id="19" name="Rounded Rectangle 18"/>
          <p:cNvSpPr/>
          <p:nvPr/>
        </p:nvSpPr>
        <p:spPr>
          <a:xfrm>
            <a:off x="4279392" y="3474720"/>
            <a:ext cx="3566160" cy="1691640"/>
          </a:xfrm>
          <a:prstGeom prst="roundRect">
            <a:avLst>
              <a:gd name="adj" fmla="val 6000"/>
            </a:avLst>
          </a:prstGeom>
          <a:solidFill>
            <a:srgbClr val="242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80560" y="3584448"/>
            <a:ext cx="3200400" cy="868680"/>
          </a:xfrm>
          <a:prstGeom prst="rect">
            <a:avLst/>
          </a:prstGeom>
          <a:noFill/>
        </p:spPr>
        <p:txBody>
          <a:bodyPr wrap="square" anchor="t"/>
          <a:lstStyle/>
          <a:p>
            <a:pPr algn="l">
              <a:spcAft>
                <a:spcPts val="200"/>
              </a:spcAft>
            </a:pPr>
            <a:r>
              <a:rPr sz="4800" b="1" i="0">
                <a:solidFill>
                  <a:srgbClr val="C41E3A"/>
                </a:solidFill>
                <a:latin typeface="Cambria"/>
                <a:ea typeface="宋体"/>
              </a:rPr>
              <a:t>06</a:t>
            </a:r>
          </a:p>
        </p:txBody>
      </p:sp>
      <p:sp>
        <p:nvSpPr>
          <p:cNvPr id="21" name="TextBox 20"/>
          <p:cNvSpPr txBox="1"/>
          <p:nvPr/>
        </p:nvSpPr>
        <p:spPr>
          <a:xfrm>
            <a:off x="4480560" y="4434840"/>
            <a:ext cx="3200400" cy="292608"/>
          </a:xfrm>
          <a:prstGeom prst="rect">
            <a:avLst/>
          </a:prstGeom>
          <a:noFill/>
        </p:spPr>
        <p:txBody>
          <a:bodyPr wrap="square" anchor="t"/>
          <a:lstStyle/>
          <a:p>
            <a:pPr algn="l">
              <a:spcAft>
                <a:spcPts val="200"/>
              </a:spcAft>
            </a:pPr>
            <a:r>
              <a:rPr sz="1800" b="1" i="0">
                <a:solidFill>
                  <a:srgbClr val="F7F4EF"/>
                </a:solidFill>
                <a:latin typeface="Calibri"/>
                <a:ea typeface="微软雅黑"/>
              </a:rPr>
              <a:t>科技</a:t>
            </a:r>
          </a:p>
        </p:txBody>
      </p:sp>
      <p:sp>
        <p:nvSpPr>
          <p:cNvPr id="22" name="TextBox 21"/>
          <p:cNvSpPr txBox="1"/>
          <p:nvPr/>
        </p:nvSpPr>
        <p:spPr>
          <a:xfrm>
            <a:off x="4480560" y="4736592"/>
            <a:ext cx="3200400" cy="292608"/>
          </a:xfrm>
          <a:prstGeom prst="rect">
            <a:avLst/>
          </a:prstGeom>
          <a:noFill/>
        </p:spPr>
        <p:txBody>
          <a:bodyPr wrap="square" anchor="t"/>
          <a:lstStyle/>
          <a:p>
            <a:pPr algn="l">
              <a:spcAft>
                <a:spcPts val="200"/>
              </a:spcAft>
            </a:pPr>
            <a:r>
              <a:rPr sz="1300" b="0" i="0">
                <a:solidFill>
                  <a:srgbClr val="C9C2B6"/>
                </a:solidFill>
                <a:latin typeface="Calibri"/>
                <a:ea typeface="微软雅黑"/>
              </a:rPr>
              <a:t>TPU · 发射 · 神经</a:t>
            </a:r>
          </a:p>
        </p:txBody>
      </p:sp>
      <p:sp>
        <p:nvSpPr>
          <p:cNvPr id="23" name="Rounded Rectangle 22"/>
          <p:cNvSpPr/>
          <p:nvPr/>
        </p:nvSpPr>
        <p:spPr>
          <a:xfrm>
            <a:off x="8101584" y="3474720"/>
            <a:ext cx="3566160" cy="1691640"/>
          </a:xfrm>
          <a:prstGeom prst="roundRect">
            <a:avLst>
              <a:gd name="adj" fmla="val 6000"/>
            </a:avLst>
          </a:prstGeom>
          <a:solidFill>
            <a:srgbClr val="242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302752" y="3584448"/>
            <a:ext cx="3200400" cy="868680"/>
          </a:xfrm>
          <a:prstGeom prst="rect">
            <a:avLst/>
          </a:prstGeom>
          <a:noFill/>
        </p:spPr>
        <p:txBody>
          <a:bodyPr wrap="square" anchor="t"/>
          <a:lstStyle/>
          <a:p>
            <a:pPr algn="l">
              <a:spcAft>
                <a:spcPts val="200"/>
              </a:spcAft>
            </a:pPr>
            <a:r>
              <a:rPr sz="4800" b="1" i="0">
                <a:solidFill>
                  <a:srgbClr val="C41E3A"/>
                </a:solidFill>
                <a:latin typeface="Cambria"/>
                <a:ea typeface="宋体"/>
              </a:rPr>
              <a:t>12</a:t>
            </a:r>
          </a:p>
        </p:txBody>
      </p:sp>
      <p:sp>
        <p:nvSpPr>
          <p:cNvPr id="25" name="TextBox 24"/>
          <p:cNvSpPr txBox="1"/>
          <p:nvPr/>
        </p:nvSpPr>
        <p:spPr>
          <a:xfrm>
            <a:off x="8302752" y="4434840"/>
            <a:ext cx="3200400" cy="292608"/>
          </a:xfrm>
          <a:prstGeom prst="rect">
            <a:avLst/>
          </a:prstGeom>
          <a:noFill/>
        </p:spPr>
        <p:txBody>
          <a:bodyPr wrap="square" anchor="t"/>
          <a:lstStyle/>
          <a:p>
            <a:pPr algn="l">
              <a:spcAft>
                <a:spcPts val="200"/>
              </a:spcAft>
            </a:pPr>
            <a:r>
              <a:rPr sz="1800" b="1" i="0">
                <a:solidFill>
                  <a:srgbClr val="F7F4EF"/>
                </a:solidFill>
                <a:latin typeface="Calibri"/>
                <a:ea typeface="微软雅黑"/>
              </a:rPr>
              <a:t>合计</a:t>
            </a:r>
          </a:p>
        </p:txBody>
      </p:sp>
      <p:sp>
        <p:nvSpPr>
          <p:cNvPr id="26" name="TextBox 25"/>
          <p:cNvSpPr txBox="1"/>
          <p:nvPr/>
        </p:nvSpPr>
        <p:spPr>
          <a:xfrm>
            <a:off x="8302752" y="4736592"/>
            <a:ext cx="3200400" cy="292608"/>
          </a:xfrm>
          <a:prstGeom prst="rect">
            <a:avLst/>
          </a:prstGeom>
          <a:noFill/>
        </p:spPr>
        <p:txBody>
          <a:bodyPr wrap="square" anchor="t"/>
          <a:lstStyle/>
          <a:p>
            <a:pPr algn="l">
              <a:spcAft>
                <a:spcPts val="200"/>
              </a:spcAft>
            </a:pPr>
            <a:r>
              <a:rPr sz="1300" b="0" i="0">
                <a:solidFill>
                  <a:srgbClr val="C9C2B6"/>
                </a:solidFill>
                <a:latin typeface="Calibri"/>
                <a:ea typeface="微软雅黑"/>
              </a:rPr>
              <a:t>周二沪时首发可核验</a:t>
            </a:r>
          </a:p>
        </p:txBody>
      </p:sp>
      <p:sp>
        <p:nvSpPr>
          <p:cNvPr id="27" name="TextBox 26"/>
          <p:cNvSpPr txBox="1"/>
          <p:nvPr/>
        </p:nvSpPr>
        <p:spPr>
          <a:xfrm>
            <a:off x="457200" y="5349240"/>
            <a:ext cx="11247120" cy="1051560"/>
          </a:xfrm>
          <a:prstGeom prst="rect">
            <a:avLst/>
          </a:prstGeom>
          <a:noFill/>
        </p:spPr>
        <p:txBody>
          <a:bodyPr wrap="square" anchor="t"/>
          <a:lstStyle/>
          <a:p>
            <a:pPr algn="l">
              <a:spcAft>
                <a:spcPts val="200"/>
              </a:spcAft>
            </a:pPr>
            <a:r>
              <a:rPr sz="1400" b="0" i="0">
                <a:solidFill>
                  <a:srgbClr val="F7F4EF"/>
                </a:solidFill>
                <a:latin typeface="Calibri"/>
                <a:ea typeface="微软雅黑"/>
              </a:rPr>
              <a:t>今日主线：李强在上合总理会谈「道」与「术」，晚间飞抵圣彼得堡。发改委与工信部同日交账。革命卫队称两艘油轮触雷。TorchTPU开源，MMX入轨。</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01168"/>
            <a:ext cx="3840480" cy="292608"/>
          </a:xfrm>
          <a:prstGeom prst="rect">
            <a:avLst/>
          </a:prstGeom>
          <a:noFill/>
        </p:spPr>
        <p:txBody>
          <a:bodyPr wrap="square" anchor="t"/>
          <a:lstStyle/>
          <a:p>
            <a:pPr algn="l">
              <a:spcAft>
                <a:spcPts val="200"/>
              </a:spcAft>
            </a:pPr>
            <a:r>
              <a:rPr sz="1400" b="1" i="0">
                <a:solidFill>
                  <a:srgbClr val="1A1A1A"/>
                </a:solidFill>
                <a:latin typeface="Cambria"/>
                <a:ea typeface="宋体"/>
              </a:rPr>
              <a:t>每日时政科技简报</a:t>
            </a:r>
          </a:p>
        </p:txBody>
      </p:sp>
      <p:sp>
        <p:nvSpPr>
          <p:cNvPr id="4" name="TextBox 3"/>
          <p:cNvSpPr txBox="1"/>
          <p:nvPr/>
        </p:nvSpPr>
        <p:spPr>
          <a:xfrm>
            <a:off x="4572000" y="201168"/>
            <a:ext cx="4937760" cy="292608"/>
          </a:xfrm>
          <a:prstGeom prst="rect">
            <a:avLst/>
          </a:prstGeom>
          <a:noFill/>
        </p:spPr>
        <p:txBody>
          <a:bodyPr wrap="square" anchor="t"/>
          <a:lstStyle/>
          <a:p>
            <a:pPr algn="ctr">
              <a:spcAft>
                <a:spcPts val="200"/>
              </a:spcAft>
            </a:pPr>
            <a:r>
              <a:rPr sz="1200" b="0" i="0">
                <a:solidFill>
                  <a:srgbClr val="4A5568"/>
                </a:solidFill>
                <a:latin typeface="Calibri"/>
                <a:ea typeface="微软雅黑"/>
              </a:rPr>
              <a:t>第029期  ·  2026年10月20日  ·  星期二</a:t>
            </a:r>
          </a:p>
        </p:txBody>
      </p:sp>
      <p:sp>
        <p:nvSpPr>
          <p:cNvPr id="5" name="TextBox 4"/>
          <p:cNvSpPr txBox="1"/>
          <p:nvPr/>
        </p:nvSpPr>
        <p:spPr>
          <a:xfrm>
            <a:off x="10149840" y="201168"/>
            <a:ext cx="1554480" cy="292608"/>
          </a:xfrm>
          <a:prstGeom prst="rect">
            <a:avLst/>
          </a:prstGeom>
          <a:noFill/>
        </p:spPr>
        <p:txBody>
          <a:bodyPr wrap="square" anchor="t"/>
          <a:lstStyle/>
          <a:p>
            <a:pPr algn="r">
              <a:spcAft>
                <a:spcPts val="200"/>
              </a:spcAft>
            </a:pPr>
            <a:r>
              <a:rPr sz="1300" b="1" i="0">
                <a:solidFill>
                  <a:srgbClr val="C41E3A"/>
                </a:solidFill>
                <a:latin typeface="Calibri"/>
                <a:ea typeface="微软雅黑"/>
              </a:rPr>
              <a:t>晨刊</a:t>
            </a:r>
          </a:p>
        </p:txBody>
      </p:sp>
      <p:sp>
        <p:nvSpPr>
          <p:cNvPr id="6" name="Rectangle 5"/>
          <p:cNvSpPr/>
          <p:nvPr/>
        </p:nvSpPr>
        <p:spPr>
          <a:xfrm>
            <a:off x="457200" y="493776"/>
            <a:ext cx="11277295" cy="20320"/>
          </a:xfrm>
          <a:prstGeom prst="rect">
            <a:avLst/>
          </a:prstGeom>
          <a:solidFill>
            <a:srgbClr val="C41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530352"/>
            <a:ext cx="11277295" cy="9525"/>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713232"/>
            <a:ext cx="2011680" cy="777240"/>
          </a:xfrm>
          <a:prstGeom prst="rect">
            <a:avLst/>
          </a:prstGeom>
          <a:noFill/>
        </p:spPr>
        <p:txBody>
          <a:bodyPr wrap="square" anchor="t"/>
          <a:lstStyle/>
          <a:p>
            <a:pPr algn="l">
              <a:spcAft>
                <a:spcPts val="200"/>
              </a:spcAft>
            </a:pPr>
            <a:r>
              <a:rPr sz="5600" b="1" i="0">
                <a:solidFill>
                  <a:srgbClr val="C41E3A"/>
                </a:solidFill>
                <a:latin typeface="Cambria"/>
                <a:ea typeface="宋体"/>
              </a:rPr>
              <a:t>01</a:t>
            </a:r>
          </a:p>
        </p:txBody>
      </p:sp>
      <p:sp>
        <p:nvSpPr>
          <p:cNvPr id="9" name="TextBox 8"/>
          <p:cNvSpPr txBox="1"/>
          <p:nvPr/>
        </p:nvSpPr>
        <p:spPr>
          <a:xfrm>
            <a:off x="2194560" y="841248"/>
            <a:ext cx="9509760" cy="640080"/>
          </a:xfrm>
          <a:prstGeom prst="rect">
            <a:avLst/>
          </a:prstGeom>
          <a:noFill/>
        </p:spPr>
        <p:txBody>
          <a:bodyPr wrap="square" anchor="t"/>
          <a:lstStyle/>
          <a:p>
            <a:pPr algn="l">
              <a:spcAft>
                <a:spcPts val="200"/>
              </a:spcAft>
            </a:pPr>
            <a:r>
              <a:rPr sz="3600" b="1" i="0">
                <a:solidFill>
                  <a:srgbClr val="1A1A1A"/>
                </a:solidFill>
                <a:latin typeface="Cambria"/>
                <a:ea typeface="宋体"/>
              </a:rPr>
              <a:t>时政开篇</a:t>
            </a:r>
          </a:p>
        </p:txBody>
      </p:sp>
      <p:sp>
        <p:nvSpPr>
          <p:cNvPr id="10" name="TextBox 9"/>
          <p:cNvSpPr txBox="1"/>
          <p:nvPr/>
        </p:nvSpPr>
        <p:spPr>
          <a:xfrm>
            <a:off x="2194560" y="1481328"/>
            <a:ext cx="9509760" cy="502920"/>
          </a:xfrm>
          <a:prstGeom prst="rect">
            <a:avLst/>
          </a:prstGeom>
          <a:noFill/>
        </p:spPr>
        <p:txBody>
          <a:bodyPr wrap="square" anchor="t"/>
          <a:lstStyle/>
          <a:p>
            <a:pPr algn="l">
              <a:spcAft>
                <a:spcPts val="200"/>
              </a:spcAft>
            </a:pPr>
            <a:r>
              <a:rPr sz="1500" b="0" i="0">
                <a:solidFill>
                  <a:srgbClr val="4A5568"/>
                </a:solidFill>
                <a:latin typeface="Calibri"/>
                <a:ea typeface="微软雅黑"/>
              </a:rPr>
              <a:t>总理层把比什凯克峰会改写成联合公报，再把中亚多边日程接到对俄双边会晤。北京同日交出扩内需与工业账，霍尔木兹则公开承认布雷。</a:t>
            </a:r>
          </a:p>
        </p:txBody>
      </p:sp>
      <p:sp>
        <p:nvSpPr>
          <p:cNvPr id="11" name="Rounded Rectangle 10"/>
          <p:cNvSpPr/>
          <p:nvPr/>
        </p:nvSpPr>
        <p:spPr>
          <a:xfrm>
            <a:off x="457200" y="2103120"/>
            <a:ext cx="11277295" cy="1325880"/>
          </a:xfrm>
          <a:prstGeom prst="roundRect">
            <a:avLst>
              <a:gd name="adj" fmla="val 6000"/>
            </a:avLst>
          </a:prstGeom>
          <a:solidFill>
            <a:srgbClr val="FFFCF7"/>
          </a:solidFill>
          <a:ln w="12700">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6656" y="2212848"/>
            <a:ext cx="10789920" cy="256032"/>
          </a:xfrm>
          <a:prstGeom prst="rect">
            <a:avLst/>
          </a:prstGeom>
          <a:noFill/>
        </p:spPr>
        <p:txBody>
          <a:bodyPr wrap="square" anchor="t"/>
          <a:lstStyle/>
          <a:p>
            <a:pPr algn="l">
              <a:spcAft>
                <a:spcPts val="200"/>
              </a:spcAft>
            </a:pPr>
            <a:r>
              <a:rPr sz="1200" b="1" i="0">
                <a:solidFill>
                  <a:srgbClr val="C41E3A"/>
                </a:solidFill>
                <a:latin typeface="Calibri"/>
                <a:ea typeface="微软雅黑"/>
              </a:rPr>
              <a:t>刊头摘句 · 杜尚别</a:t>
            </a:r>
          </a:p>
        </p:txBody>
      </p:sp>
      <p:sp>
        <p:nvSpPr>
          <p:cNvPr id="13" name="TextBox 12"/>
          <p:cNvSpPr txBox="1"/>
          <p:nvPr/>
        </p:nvSpPr>
        <p:spPr>
          <a:xfrm>
            <a:off x="676656" y="2487168"/>
            <a:ext cx="10789920" cy="777240"/>
          </a:xfrm>
          <a:prstGeom prst="rect">
            <a:avLst/>
          </a:prstGeom>
          <a:noFill/>
        </p:spPr>
        <p:txBody>
          <a:bodyPr wrap="square" anchor="t"/>
          <a:lstStyle/>
          <a:p>
            <a:pPr algn="l">
              <a:spcAft>
                <a:spcPts val="200"/>
              </a:spcAft>
            </a:pPr>
            <a:r>
              <a:rPr sz="1600" b="1" i="0">
                <a:solidFill>
                  <a:srgbClr val="1A1A1A"/>
                </a:solidFill>
                <a:latin typeface="Cambria"/>
                <a:ea typeface="宋体"/>
              </a:rPr>
              <a:t>「这既需要我们在『道』的层面更好凝聚共识，又需要在『术』的层面更好采取行动。」——李强，上合总理会</a:t>
            </a:r>
          </a:p>
        </p:txBody>
      </p:sp>
      <p:sp>
        <p:nvSpPr>
          <p:cNvPr id="14" name="Rounded Rectangle 13"/>
          <p:cNvSpPr/>
          <p:nvPr/>
        </p:nvSpPr>
        <p:spPr>
          <a:xfrm>
            <a:off x="457200" y="3611880"/>
            <a:ext cx="3566160" cy="2606040"/>
          </a:xfrm>
          <a:prstGeom prst="roundRect">
            <a:avLst>
              <a:gd name="adj" fmla="val 6000"/>
            </a:avLst>
          </a:prstGeom>
          <a:solidFill>
            <a:srgbClr val="FFFCF7"/>
          </a:solidFill>
          <a:ln w="12700">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 y="3749039"/>
            <a:ext cx="3200400" cy="777240"/>
          </a:xfrm>
          <a:prstGeom prst="rect">
            <a:avLst/>
          </a:prstGeom>
          <a:noFill/>
        </p:spPr>
        <p:txBody>
          <a:bodyPr wrap="square" anchor="t"/>
          <a:lstStyle/>
          <a:p>
            <a:pPr algn="l">
              <a:spcAft>
                <a:spcPts val="200"/>
              </a:spcAft>
            </a:pPr>
            <a:r>
              <a:rPr sz="3600" b="1" i="0">
                <a:solidFill>
                  <a:srgbClr val="C41E3A"/>
                </a:solidFill>
                <a:latin typeface="Cambria"/>
                <a:ea typeface="宋体"/>
              </a:rPr>
              <a:t>1000</a:t>
            </a:r>
          </a:p>
        </p:txBody>
      </p:sp>
      <p:sp>
        <p:nvSpPr>
          <p:cNvPr id="16" name="TextBox 15"/>
          <p:cNvSpPr txBox="1"/>
          <p:nvPr/>
        </p:nvSpPr>
        <p:spPr>
          <a:xfrm>
            <a:off x="658368" y="4526280"/>
            <a:ext cx="3200400" cy="292608"/>
          </a:xfrm>
          <a:prstGeom prst="rect">
            <a:avLst/>
          </a:prstGeom>
          <a:noFill/>
        </p:spPr>
        <p:txBody>
          <a:bodyPr wrap="square" anchor="t"/>
          <a:lstStyle/>
          <a:p>
            <a:pPr algn="l">
              <a:spcAft>
                <a:spcPts val="200"/>
              </a:spcAft>
            </a:pPr>
            <a:r>
              <a:rPr sz="1400" b="1" i="0">
                <a:solidFill>
                  <a:srgbClr val="4A5568"/>
                </a:solidFill>
                <a:latin typeface="Calibri"/>
                <a:ea typeface="微软雅黑"/>
              </a:rPr>
              <a:t>名医务进修</a:t>
            </a:r>
          </a:p>
        </p:txBody>
      </p:sp>
      <p:sp>
        <p:nvSpPr>
          <p:cNvPr id="17" name="TextBox 16"/>
          <p:cNvSpPr txBox="1"/>
          <p:nvPr/>
        </p:nvSpPr>
        <p:spPr>
          <a:xfrm>
            <a:off x="658368" y="4864608"/>
            <a:ext cx="3200400" cy="1097280"/>
          </a:xfrm>
          <a:prstGeom prst="rect">
            <a:avLst/>
          </a:prstGeom>
          <a:noFill/>
        </p:spPr>
        <p:txBody>
          <a:bodyPr wrap="square" anchor="t"/>
          <a:lstStyle/>
          <a:p>
            <a:pPr algn="l">
              <a:spcAft>
                <a:spcPts val="200"/>
              </a:spcAft>
            </a:pPr>
            <a:r>
              <a:rPr sz="1300" b="0" i="0">
                <a:solidFill>
                  <a:srgbClr val="1A1A1A"/>
                </a:solidFill>
                <a:latin typeface="Calibri"/>
                <a:ea typeface="微软雅黑"/>
              </a:rPr>
              <a:t>中方承诺资助上合组织国家医务人员来华进修。</a:t>
            </a:r>
          </a:p>
        </p:txBody>
      </p:sp>
      <p:sp>
        <p:nvSpPr>
          <p:cNvPr id="18" name="Rounded Rectangle 17"/>
          <p:cNvSpPr/>
          <p:nvPr/>
        </p:nvSpPr>
        <p:spPr>
          <a:xfrm>
            <a:off x="4279392" y="3611880"/>
            <a:ext cx="3566160" cy="2606040"/>
          </a:xfrm>
          <a:prstGeom prst="roundRect">
            <a:avLst>
              <a:gd name="adj" fmla="val 6000"/>
            </a:avLst>
          </a:prstGeom>
          <a:solidFill>
            <a:srgbClr val="FFFCF7"/>
          </a:solidFill>
          <a:ln w="12700">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480560" y="3749039"/>
            <a:ext cx="3200400" cy="777240"/>
          </a:xfrm>
          <a:prstGeom prst="rect">
            <a:avLst/>
          </a:prstGeom>
          <a:noFill/>
        </p:spPr>
        <p:txBody>
          <a:bodyPr wrap="square" anchor="t"/>
          <a:lstStyle/>
          <a:p>
            <a:pPr algn="l">
              <a:spcAft>
                <a:spcPts val="200"/>
              </a:spcAft>
            </a:pPr>
            <a:r>
              <a:rPr sz="3600" b="1" i="0">
                <a:solidFill>
                  <a:srgbClr val="C41E3A"/>
                </a:solidFill>
                <a:latin typeface="Cambria"/>
                <a:ea typeface="宋体"/>
              </a:rPr>
              <a:t>35%</a:t>
            </a:r>
          </a:p>
        </p:txBody>
      </p:sp>
      <p:sp>
        <p:nvSpPr>
          <p:cNvPr id="20" name="TextBox 19"/>
          <p:cNvSpPr txBox="1"/>
          <p:nvPr/>
        </p:nvSpPr>
        <p:spPr>
          <a:xfrm>
            <a:off x="4480560" y="4526280"/>
            <a:ext cx="3200400" cy="292608"/>
          </a:xfrm>
          <a:prstGeom prst="rect">
            <a:avLst/>
          </a:prstGeom>
          <a:noFill/>
        </p:spPr>
        <p:txBody>
          <a:bodyPr wrap="square" anchor="t"/>
          <a:lstStyle/>
          <a:p>
            <a:pPr algn="l">
              <a:spcAft>
                <a:spcPts val="200"/>
              </a:spcAft>
            </a:pPr>
            <a:r>
              <a:rPr sz="1400" b="1" i="0">
                <a:solidFill>
                  <a:srgbClr val="4A5568"/>
                </a:solidFill>
                <a:latin typeface="Calibri"/>
                <a:ea typeface="微软雅黑"/>
              </a:rPr>
              <a:t>工业贡献率</a:t>
            </a:r>
          </a:p>
        </p:txBody>
      </p:sp>
      <p:sp>
        <p:nvSpPr>
          <p:cNvPr id="21" name="TextBox 20"/>
          <p:cNvSpPr txBox="1"/>
          <p:nvPr/>
        </p:nvSpPr>
        <p:spPr>
          <a:xfrm>
            <a:off x="4480560" y="4864608"/>
            <a:ext cx="3200400" cy="1097280"/>
          </a:xfrm>
          <a:prstGeom prst="rect">
            <a:avLst/>
          </a:prstGeom>
          <a:noFill/>
        </p:spPr>
        <p:txBody>
          <a:bodyPr wrap="square" anchor="t"/>
          <a:lstStyle/>
          <a:p>
            <a:pPr algn="l">
              <a:spcAft>
                <a:spcPts val="200"/>
              </a:spcAft>
            </a:pPr>
            <a:r>
              <a:rPr sz="1300" b="0" i="0">
                <a:solidFill>
                  <a:srgbClr val="1A1A1A"/>
                </a:solidFill>
                <a:latin typeface="Calibri"/>
                <a:ea typeface="微软雅黑"/>
              </a:rPr>
              <a:t>工信部称前三季度工业对经济增长贡献率仍约三成五。</a:t>
            </a:r>
          </a:p>
        </p:txBody>
      </p:sp>
      <p:sp>
        <p:nvSpPr>
          <p:cNvPr id="22" name="Rounded Rectangle 21"/>
          <p:cNvSpPr/>
          <p:nvPr/>
        </p:nvSpPr>
        <p:spPr>
          <a:xfrm>
            <a:off x="8101584" y="3611880"/>
            <a:ext cx="3566160" cy="2606040"/>
          </a:xfrm>
          <a:prstGeom prst="roundRect">
            <a:avLst>
              <a:gd name="adj" fmla="val 6000"/>
            </a:avLst>
          </a:prstGeom>
          <a:solidFill>
            <a:srgbClr val="FFFCF7"/>
          </a:solidFill>
          <a:ln w="12700">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02752" y="3749039"/>
            <a:ext cx="3200400" cy="777240"/>
          </a:xfrm>
          <a:prstGeom prst="rect">
            <a:avLst/>
          </a:prstGeom>
          <a:noFill/>
        </p:spPr>
        <p:txBody>
          <a:bodyPr wrap="square" anchor="t"/>
          <a:lstStyle/>
          <a:p>
            <a:pPr algn="l">
              <a:spcAft>
                <a:spcPts val="200"/>
              </a:spcAft>
            </a:pPr>
            <a:r>
              <a:rPr sz="3600" b="1" i="0">
                <a:solidFill>
                  <a:srgbClr val="C41E3A"/>
                </a:solidFill>
                <a:latin typeface="Cambria"/>
                <a:ea typeface="宋体"/>
              </a:rPr>
              <a:t>2艘</a:t>
            </a:r>
          </a:p>
        </p:txBody>
      </p:sp>
      <p:sp>
        <p:nvSpPr>
          <p:cNvPr id="24" name="TextBox 23"/>
          <p:cNvSpPr txBox="1"/>
          <p:nvPr/>
        </p:nvSpPr>
        <p:spPr>
          <a:xfrm>
            <a:off x="8302752" y="4526280"/>
            <a:ext cx="3200400" cy="292608"/>
          </a:xfrm>
          <a:prstGeom prst="rect">
            <a:avLst/>
          </a:prstGeom>
          <a:noFill/>
        </p:spPr>
        <p:txBody>
          <a:bodyPr wrap="square" anchor="t"/>
          <a:lstStyle/>
          <a:p>
            <a:pPr algn="l">
              <a:spcAft>
                <a:spcPts val="200"/>
              </a:spcAft>
            </a:pPr>
            <a:r>
              <a:rPr sz="1400" b="1" i="0">
                <a:solidFill>
                  <a:srgbClr val="4A5568"/>
                </a:solidFill>
                <a:latin typeface="Calibri"/>
                <a:ea typeface="微软雅黑"/>
              </a:rPr>
              <a:t>海峡触雷</a:t>
            </a:r>
          </a:p>
        </p:txBody>
      </p:sp>
      <p:sp>
        <p:nvSpPr>
          <p:cNvPr id="25" name="TextBox 24"/>
          <p:cNvSpPr txBox="1"/>
          <p:nvPr/>
        </p:nvSpPr>
        <p:spPr>
          <a:xfrm>
            <a:off x="8302752" y="4864608"/>
            <a:ext cx="3200400" cy="1097280"/>
          </a:xfrm>
          <a:prstGeom prst="rect">
            <a:avLst/>
          </a:prstGeom>
          <a:noFill/>
        </p:spPr>
        <p:txBody>
          <a:bodyPr wrap="square" anchor="t"/>
          <a:lstStyle/>
          <a:p>
            <a:pPr algn="l">
              <a:spcAft>
                <a:spcPts val="200"/>
              </a:spcAft>
            </a:pPr>
            <a:r>
              <a:rPr sz="1300" b="0" i="0">
                <a:solidFill>
                  <a:srgbClr val="1A1A1A"/>
                </a:solidFill>
                <a:latin typeface="Calibri"/>
                <a:ea typeface="微软雅黑"/>
              </a:rPr>
              <a:t>革命卫队称南侧「非法」航线两艘油轮触雷起火。</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01168"/>
            <a:ext cx="3840480" cy="292608"/>
          </a:xfrm>
          <a:prstGeom prst="rect">
            <a:avLst/>
          </a:prstGeom>
          <a:noFill/>
        </p:spPr>
        <p:txBody>
          <a:bodyPr wrap="square" anchor="t"/>
          <a:lstStyle/>
          <a:p>
            <a:pPr algn="l">
              <a:spcAft>
                <a:spcPts val="200"/>
              </a:spcAft>
            </a:pPr>
            <a:r>
              <a:rPr sz="1400" b="1" i="0">
                <a:solidFill>
                  <a:srgbClr val="1A1A1A"/>
                </a:solidFill>
                <a:latin typeface="Cambria"/>
                <a:ea typeface="宋体"/>
              </a:rPr>
              <a:t>每日时政科技简报</a:t>
            </a:r>
          </a:p>
        </p:txBody>
      </p:sp>
      <p:sp>
        <p:nvSpPr>
          <p:cNvPr id="4" name="TextBox 3"/>
          <p:cNvSpPr txBox="1"/>
          <p:nvPr/>
        </p:nvSpPr>
        <p:spPr>
          <a:xfrm>
            <a:off x="4572000" y="201168"/>
            <a:ext cx="4937760" cy="292608"/>
          </a:xfrm>
          <a:prstGeom prst="rect">
            <a:avLst/>
          </a:prstGeom>
          <a:noFill/>
        </p:spPr>
        <p:txBody>
          <a:bodyPr wrap="square" anchor="t"/>
          <a:lstStyle/>
          <a:p>
            <a:pPr algn="ctr">
              <a:spcAft>
                <a:spcPts val="200"/>
              </a:spcAft>
            </a:pPr>
            <a:r>
              <a:rPr sz="1200" b="0" i="0">
                <a:solidFill>
                  <a:srgbClr val="4A5568"/>
                </a:solidFill>
                <a:latin typeface="Calibri"/>
                <a:ea typeface="微软雅黑"/>
              </a:rPr>
              <a:t>第029期  ·  2026年10月20日  ·  星期二</a:t>
            </a:r>
          </a:p>
        </p:txBody>
      </p:sp>
      <p:sp>
        <p:nvSpPr>
          <p:cNvPr id="5" name="TextBox 4"/>
          <p:cNvSpPr txBox="1"/>
          <p:nvPr/>
        </p:nvSpPr>
        <p:spPr>
          <a:xfrm>
            <a:off x="10149840" y="201168"/>
            <a:ext cx="1554480" cy="292608"/>
          </a:xfrm>
          <a:prstGeom prst="rect">
            <a:avLst/>
          </a:prstGeom>
          <a:noFill/>
        </p:spPr>
        <p:txBody>
          <a:bodyPr wrap="square" anchor="t"/>
          <a:lstStyle/>
          <a:p>
            <a:pPr algn="r">
              <a:spcAft>
                <a:spcPts val="200"/>
              </a:spcAft>
            </a:pPr>
            <a:r>
              <a:rPr sz="1300" b="1" i="0">
                <a:solidFill>
                  <a:srgbClr val="C41E3A"/>
                </a:solidFill>
                <a:latin typeface="Calibri"/>
                <a:ea typeface="微软雅黑"/>
              </a:rPr>
              <a:t>晨刊</a:t>
            </a:r>
          </a:p>
        </p:txBody>
      </p:sp>
      <p:sp>
        <p:nvSpPr>
          <p:cNvPr id="6" name="Rectangle 5"/>
          <p:cNvSpPr/>
          <p:nvPr/>
        </p:nvSpPr>
        <p:spPr>
          <a:xfrm>
            <a:off x="457200" y="493776"/>
            <a:ext cx="11277295" cy="20320"/>
          </a:xfrm>
          <a:prstGeom prst="rect">
            <a:avLst/>
          </a:prstGeom>
          <a:solidFill>
            <a:srgbClr val="C41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530352"/>
            <a:ext cx="11277295" cy="9525"/>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8368"/>
            <a:ext cx="11247120" cy="566928"/>
          </a:xfrm>
          <a:prstGeom prst="rect">
            <a:avLst/>
          </a:prstGeom>
          <a:noFill/>
        </p:spPr>
        <p:txBody>
          <a:bodyPr wrap="square" anchor="t"/>
          <a:lstStyle/>
          <a:p>
            <a:pPr algn="l">
              <a:spcAft>
                <a:spcPts val="200"/>
              </a:spcAft>
            </a:pPr>
            <a:r>
              <a:rPr sz="2800" b="1" i="0">
                <a:solidFill>
                  <a:srgbClr val="1A1A1A"/>
                </a:solidFill>
                <a:latin typeface="Cambria"/>
                <a:ea typeface="宋体"/>
              </a:rPr>
              <a:t>上合公报</a:t>
            </a:r>
          </a:p>
        </p:txBody>
      </p:sp>
      <p:sp>
        <p:nvSpPr>
          <p:cNvPr id="9" name="Rounded Rectangle 8"/>
          <p:cNvSpPr/>
          <p:nvPr/>
        </p:nvSpPr>
        <p:spPr>
          <a:xfrm>
            <a:off x="457200" y="1417320"/>
            <a:ext cx="11277295" cy="4983480"/>
          </a:xfrm>
          <a:prstGeom prst="roundRect">
            <a:avLst>
              <a:gd name="adj" fmla="val 6000"/>
            </a:avLst>
          </a:prstGeom>
          <a:solidFill>
            <a:srgbClr val="FFFCF7"/>
          </a:solidFill>
          <a:ln w="12700">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1691640"/>
            <a:ext cx="1828800" cy="914400"/>
          </a:xfrm>
          <a:prstGeom prst="rect">
            <a:avLst/>
          </a:prstGeom>
          <a:noFill/>
        </p:spPr>
        <p:txBody>
          <a:bodyPr wrap="square" anchor="t"/>
          <a:lstStyle/>
          <a:p>
            <a:pPr algn="l">
              <a:spcAft>
                <a:spcPts val="200"/>
              </a:spcAft>
            </a:pPr>
            <a:r>
              <a:rPr sz="5400" b="1" i="0">
                <a:solidFill>
                  <a:srgbClr val="C41E3A"/>
                </a:solidFill>
                <a:latin typeface="Cambria"/>
                <a:ea typeface="宋体"/>
              </a:rPr>
              <a:t>01</a:t>
            </a:r>
          </a:p>
        </p:txBody>
      </p:sp>
      <p:sp>
        <p:nvSpPr>
          <p:cNvPr id="11" name="TextBox 10"/>
          <p:cNvSpPr txBox="1"/>
          <p:nvPr/>
        </p:nvSpPr>
        <p:spPr>
          <a:xfrm>
            <a:off x="658368" y="2606040"/>
            <a:ext cx="1874519" cy="640080"/>
          </a:xfrm>
          <a:prstGeom prst="rect">
            <a:avLst/>
          </a:prstGeom>
          <a:noFill/>
        </p:spPr>
        <p:txBody>
          <a:bodyPr wrap="square" anchor="t"/>
          <a:lstStyle/>
          <a:p>
            <a:pPr algn="l">
              <a:spcAft>
                <a:spcPts val="200"/>
              </a:spcAft>
            </a:pPr>
            <a:r>
              <a:rPr sz="1400" b="1" i="0">
                <a:solidFill>
                  <a:srgbClr val="4A5568"/>
                </a:solidFill>
                <a:latin typeface="Calibri"/>
                <a:ea typeface="微软雅黑"/>
              </a:rPr>
              <a:t>外交 · 杜尚别</a:t>
            </a:r>
          </a:p>
        </p:txBody>
      </p:sp>
      <p:sp>
        <p:nvSpPr>
          <p:cNvPr id="12" name="TextBox 11"/>
          <p:cNvSpPr txBox="1"/>
          <p:nvPr/>
        </p:nvSpPr>
        <p:spPr>
          <a:xfrm>
            <a:off x="2788920" y="1627632"/>
            <a:ext cx="8503920" cy="237744"/>
          </a:xfrm>
          <a:prstGeom prst="rect">
            <a:avLst/>
          </a:prstGeom>
          <a:noFill/>
        </p:spPr>
        <p:txBody>
          <a:bodyPr wrap="square" anchor="t"/>
          <a:lstStyle/>
          <a:p>
            <a:pPr algn="l">
              <a:spcAft>
                <a:spcPts val="200"/>
              </a:spcAft>
            </a:pPr>
            <a:r>
              <a:rPr sz="1200" b="1" i="0">
                <a:solidFill>
                  <a:srgbClr val="C41E3A"/>
                </a:solidFill>
                <a:latin typeface="Calibri"/>
                <a:ea typeface="微软雅黑"/>
              </a:rPr>
              <a:t>上合总理会 · 20日18:47</a:t>
            </a:r>
          </a:p>
        </p:txBody>
      </p:sp>
      <p:sp>
        <p:nvSpPr>
          <p:cNvPr id="13" name="TextBox 12"/>
          <p:cNvSpPr txBox="1"/>
          <p:nvPr/>
        </p:nvSpPr>
        <p:spPr>
          <a:xfrm>
            <a:off x="2788920" y="1901952"/>
            <a:ext cx="8503920" cy="1051560"/>
          </a:xfrm>
          <a:prstGeom prst="rect">
            <a:avLst/>
          </a:prstGeom>
          <a:noFill/>
        </p:spPr>
        <p:txBody>
          <a:bodyPr wrap="square" anchor="t"/>
          <a:lstStyle/>
          <a:p>
            <a:pPr algn="l">
              <a:spcAft>
                <a:spcPts val="200"/>
              </a:spcAft>
            </a:pPr>
            <a:r>
              <a:rPr sz="3200" b="1" i="0">
                <a:solidFill>
                  <a:srgbClr val="1A1A1A"/>
                </a:solidFill>
                <a:latin typeface="Cambria"/>
                <a:ea typeface="宋体"/>
              </a:rPr>
              <a:t>上合总理会签署联合公报</a:t>
            </a:r>
          </a:p>
        </p:txBody>
      </p:sp>
      <p:sp>
        <p:nvSpPr>
          <p:cNvPr id="14" name="TextBox 13"/>
          <p:cNvSpPr txBox="1"/>
          <p:nvPr/>
        </p:nvSpPr>
        <p:spPr>
          <a:xfrm>
            <a:off x="2788920" y="2999232"/>
            <a:ext cx="8503920" cy="292608"/>
          </a:xfrm>
          <a:prstGeom prst="rect">
            <a:avLst/>
          </a:prstGeom>
          <a:noFill/>
        </p:spPr>
        <p:txBody>
          <a:bodyPr wrap="square" anchor="t"/>
          <a:lstStyle/>
          <a:p>
            <a:pPr algn="l">
              <a:spcAft>
                <a:spcPts val="200"/>
              </a:spcAft>
            </a:pPr>
            <a:r>
              <a:rPr sz="1200" b="0" i="1">
                <a:solidFill>
                  <a:srgbClr val="4A5568"/>
                </a:solidFill>
                <a:latin typeface="Calibri"/>
                <a:ea typeface="微软雅黑"/>
              </a:rPr>
              <a:t>来源：新华社 / 外交部</a:t>
            </a:r>
          </a:p>
        </p:txBody>
      </p:sp>
      <p:sp>
        <p:nvSpPr>
          <p:cNvPr id="15" name="TextBox 14"/>
          <p:cNvSpPr txBox="1"/>
          <p:nvPr/>
        </p:nvSpPr>
        <p:spPr>
          <a:xfrm>
            <a:off x="2788920" y="3328416"/>
            <a:ext cx="8503920" cy="1325880"/>
          </a:xfrm>
          <a:prstGeom prst="rect">
            <a:avLst/>
          </a:prstGeom>
          <a:noFill/>
        </p:spPr>
        <p:txBody>
          <a:bodyPr wrap="square" anchor="t"/>
          <a:lstStyle/>
          <a:p>
            <a:pPr algn="l">
              <a:spcAft>
                <a:spcPts val="200"/>
              </a:spcAft>
            </a:pPr>
            <a:r>
              <a:rPr sz="1500" b="0" i="0">
                <a:solidFill>
                  <a:srgbClr val="1A1A1A"/>
                </a:solidFill>
                <a:latin typeface="Calibri"/>
                <a:ea typeface="微软雅黑"/>
              </a:rPr>
              <a:t>李强20日在杜尚别出席上合总理会第二十五次会议，谈「道」「术」两端，承诺尽快完成「四个安全中心」建章立制并资助1000名医务人员来华进修。会后签署联合公报，批准贸易投资、工业、互联互通文件，呼吁改革全球治理、反对单边强制措施。</a:t>
            </a:r>
          </a:p>
        </p:txBody>
      </p:sp>
      <p:sp>
        <p:nvSpPr>
          <p:cNvPr id="16" name="Rectangle 15"/>
          <p:cNvSpPr/>
          <p:nvPr/>
        </p:nvSpPr>
        <p:spPr>
          <a:xfrm>
            <a:off x="2788920" y="5349240"/>
            <a:ext cx="8503920" cy="11430"/>
          </a:xfrm>
          <a:prstGeom prst="rect">
            <a:avLst/>
          </a:prstGeom>
          <a:solidFill>
            <a:srgbClr val="D6C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88920" y="5404104"/>
            <a:ext cx="8503920" cy="201168"/>
          </a:xfrm>
          <a:prstGeom prst="rect">
            <a:avLst/>
          </a:prstGeom>
          <a:noFill/>
        </p:spPr>
        <p:txBody>
          <a:bodyPr wrap="square" anchor="t"/>
          <a:lstStyle/>
          <a:p>
            <a:pPr algn="l">
              <a:spcAft>
                <a:spcPts val="200"/>
              </a:spcAft>
            </a:pPr>
            <a:r>
              <a:rPr sz="1200" b="1" i="0">
                <a:solidFill>
                  <a:srgbClr val="C41E3A"/>
                </a:solidFill>
                <a:latin typeface="Calibri"/>
                <a:ea typeface="微软雅黑"/>
              </a:rPr>
              <a:t>为何重要</a:t>
            </a:r>
          </a:p>
        </p:txBody>
      </p:sp>
      <p:sp>
        <p:nvSpPr>
          <p:cNvPr id="18" name="TextBox 17"/>
          <p:cNvSpPr txBox="1"/>
          <p:nvPr/>
        </p:nvSpPr>
        <p:spPr>
          <a:xfrm>
            <a:off x="2788920" y="5586984"/>
            <a:ext cx="8503920" cy="502920"/>
          </a:xfrm>
          <a:prstGeom prst="rect">
            <a:avLst/>
          </a:prstGeom>
          <a:noFill/>
        </p:spPr>
        <p:txBody>
          <a:bodyPr wrap="square" anchor="t"/>
          <a:lstStyle/>
          <a:p>
            <a:pPr algn="l">
              <a:spcAft>
                <a:spcPts val="200"/>
              </a:spcAft>
            </a:pPr>
            <a:r>
              <a:rPr sz="1400" b="0" i="0">
                <a:solidFill>
                  <a:srgbClr val="4A5568"/>
                </a:solidFill>
                <a:latin typeface="Calibri"/>
                <a:ea typeface="微软雅黑"/>
              </a:rPr>
              <a:t>把9月比什凯克峰会的政治共识改写成可执行的总理层文件，并首次写下医务人员培训的量化承诺。</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01168"/>
            <a:ext cx="3840480" cy="292608"/>
          </a:xfrm>
          <a:prstGeom prst="rect">
            <a:avLst/>
          </a:prstGeom>
          <a:noFill/>
        </p:spPr>
        <p:txBody>
          <a:bodyPr wrap="square" anchor="t"/>
          <a:lstStyle/>
          <a:p>
            <a:pPr algn="l">
              <a:spcAft>
                <a:spcPts val="200"/>
              </a:spcAft>
            </a:pPr>
            <a:r>
              <a:rPr sz="1400" b="1" i="0">
                <a:solidFill>
                  <a:srgbClr val="1A1A1A"/>
                </a:solidFill>
                <a:latin typeface="Cambria"/>
                <a:ea typeface="宋体"/>
              </a:rPr>
              <a:t>每日时政科技简报</a:t>
            </a:r>
          </a:p>
        </p:txBody>
      </p:sp>
      <p:sp>
        <p:nvSpPr>
          <p:cNvPr id="4" name="TextBox 3"/>
          <p:cNvSpPr txBox="1"/>
          <p:nvPr/>
        </p:nvSpPr>
        <p:spPr>
          <a:xfrm>
            <a:off x="4572000" y="201168"/>
            <a:ext cx="4937760" cy="292608"/>
          </a:xfrm>
          <a:prstGeom prst="rect">
            <a:avLst/>
          </a:prstGeom>
          <a:noFill/>
        </p:spPr>
        <p:txBody>
          <a:bodyPr wrap="square" anchor="t"/>
          <a:lstStyle/>
          <a:p>
            <a:pPr algn="ctr">
              <a:spcAft>
                <a:spcPts val="200"/>
              </a:spcAft>
            </a:pPr>
            <a:r>
              <a:rPr sz="1200" b="0" i="0">
                <a:solidFill>
                  <a:srgbClr val="4A5568"/>
                </a:solidFill>
                <a:latin typeface="Calibri"/>
                <a:ea typeface="微软雅黑"/>
              </a:rPr>
              <a:t>第029期  ·  2026年10月20日  ·  星期二</a:t>
            </a:r>
          </a:p>
        </p:txBody>
      </p:sp>
      <p:sp>
        <p:nvSpPr>
          <p:cNvPr id="5" name="TextBox 4"/>
          <p:cNvSpPr txBox="1"/>
          <p:nvPr/>
        </p:nvSpPr>
        <p:spPr>
          <a:xfrm>
            <a:off x="10149840" y="201168"/>
            <a:ext cx="1554480" cy="292608"/>
          </a:xfrm>
          <a:prstGeom prst="rect">
            <a:avLst/>
          </a:prstGeom>
          <a:noFill/>
        </p:spPr>
        <p:txBody>
          <a:bodyPr wrap="square" anchor="t"/>
          <a:lstStyle/>
          <a:p>
            <a:pPr algn="r">
              <a:spcAft>
                <a:spcPts val="200"/>
              </a:spcAft>
            </a:pPr>
            <a:r>
              <a:rPr sz="1300" b="1" i="0">
                <a:solidFill>
                  <a:srgbClr val="C41E3A"/>
                </a:solidFill>
                <a:latin typeface="Calibri"/>
                <a:ea typeface="微软雅黑"/>
              </a:rPr>
              <a:t>晨刊</a:t>
            </a:r>
          </a:p>
        </p:txBody>
      </p:sp>
      <p:sp>
        <p:nvSpPr>
          <p:cNvPr id="6" name="Rectangle 5"/>
          <p:cNvSpPr/>
          <p:nvPr/>
        </p:nvSpPr>
        <p:spPr>
          <a:xfrm>
            <a:off x="457200" y="493776"/>
            <a:ext cx="11277295" cy="20320"/>
          </a:xfrm>
          <a:prstGeom prst="rect">
            <a:avLst/>
          </a:prstGeom>
          <a:solidFill>
            <a:srgbClr val="C41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530352"/>
            <a:ext cx="11277295" cy="9525"/>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40080"/>
            <a:ext cx="11247120" cy="530352"/>
          </a:xfrm>
          <a:prstGeom prst="rect">
            <a:avLst/>
          </a:prstGeom>
          <a:noFill/>
        </p:spPr>
        <p:txBody>
          <a:bodyPr wrap="square" anchor="t"/>
          <a:lstStyle/>
          <a:p>
            <a:pPr algn="l">
              <a:spcAft>
                <a:spcPts val="200"/>
              </a:spcAft>
            </a:pPr>
            <a:r>
              <a:rPr sz="2800" b="1" i="0">
                <a:solidFill>
                  <a:srgbClr val="1A1A1A"/>
                </a:solidFill>
                <a:latin typeface="Cambria"/>
                <a:ea typeface="宋体"/>
              </a:rPr>
              <a:t>杜尚别收官，圣彼得堡接下</a:t>
            </a:r>
          </a:p>
        </p:txBody>
      </p:sp>
      <p:sp>
        <p:nvSpPr>
          <p:cNvPr id="9" name="TextBox 8"/>
          <p:cNvSpPr txBox="1"/>
          <p:nvPr/>
        </p:nvSpPr>
        <p:spPr>
          <a:xfrm>
            <a:off x="457200" y="1188720"/>
            <a:ext cx="11247120" cy="256032"/>
          </a:xfrm>
          <a:prstGeom prst="rect">
            <a:avLst/>
          </a:prstGeom>
          <a:noFill/>
        </p:spPr>
        <p:txBody>
          <a:bodyPr wrap="square" anchor="t"/>
          <a:lstStyle/>
          <a:p>
            <a:pPr algn="l">
              <a:spcAft>
                <a:spcPts val="200"/>
              </a:spcAft>
            </a:pPr>
            <a:r>
              <a:rPr sz="1400" b="0" i="0">
                <a:solidFill>
                  <a:srgbClr val="4A5568"/>
                </a:solidFill>
                <a:latin typeface="Calibri"/>
                <a:ea typeface="微软雅黑"/>
              </a:rPr>
              <a:t>一栏是中俄总理定期会晤的抵达急电，一栏是王毅欧亚之行的官方收口。</a:t>
            </a:r>
          </a:p>
        </p:txBody>
      </p:sp>
      <p:sp>
        <p:nvSpPr>
          <p:cNvPr id="10" name="Rounded Rectangle 9"/>
          <p:cNvSpPr/>
          <p:nvPr/>
        </p:nvSpPr>
        <p:spPr>
          <a:xfrm>
            <a:off x="457200" y="1517904"/>
            <a:ext cx="5486400" cy="4864608"/>
          </a:xfrm>
          <a:prstGeom prst="roundRect">
            <a:avLst>
              <a:gd name="adj" fmla="val 6000"/>
            </a:avLst>
          </a:prstGeom>
          <a:solidFill>
            <a:srgbClr val="FFFCF7"/>
          </a:solidFill>
          <a:ln w="12700">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664208"/>
            <a:ext cx="5084064" cy="237744"/>
          </a:xfrm>
          <a:prstGeom prst="rect">
            <a:avLst/>
          </a:prstGeom>
          <a:noFill/>
        </p:spPr>
        <p:txBody>
          <a:bodyPr wrap="square" anchor="t"/>
          <a:lstStyle/>
          <a:p>
            <a:pPr algn="l">
              <a:spcAft>
                <a:spcPts val="200"/>
              </a:spcAft>
            </a:pPr>
            <a:r>
              <a:rPr sz="1200" b="1" i="0">
                <a:solidFill>
                  <a:srgbClr val="C41E3A"/>
                </a:solidFill>
                <a:latin typeface="Calibri"/>
                <a:ea typeface="微软雅黑"/>
              </a:rPr>
              <a:t>02　外交 · 圣彼得堡</a:t>
            </a:r>
          </a:p>
        </p:txBody>
      </p:sp>
      <p:sp>
        <p:nvSpPr>
          <p:cNvPr id="12" name="TextBox 11"/>
          <p:cNvSpPr txBox="1"/>
          <p:nvPr/>
        </p:nvSpPr>
        <p:spPr>
          <a:xfrm>
            <a:off x="658368" y="1883664"/>
            <a:ext cx="5084064" cy="1170432"/>
          </a:xfrm>
          <a:prstGeom prst="rect">
            <a:avLst/>
          </a:prstGeom>
          <a:noFill/>
        </p:spPr>
        <p:txBody>
          <a:bodyPr wrap="square" anchor="t"/>
          <a:lstStyle/>
          <a:p>
            <a:pPr algn="l">
              <a:spcAft>
                <a:spcPts val="200"/>
              </a:spcAft>
            </a:pPr>
            <a:r>
              <a:rPr sz="2600" b="1" i="0">
                <a:solidFill>
                  <a:srgbClr val="1A1A1A"/>
                </a:solidFill>
                <a:latin typeface="Cambria"/>
                <a:ea typeface="宋体"/>
              </a:rPr>
              <a:t>李强抵圣彼得堡</a:t>
            </a:r>
          </a:p>
        </p:txBody>
      </p:sp>
      <p:sp>
        <p:nvSpPr>
          <p:cNvPr id="13" name="TextBox 12"/>
          <p:cNvSpPr txBox="1"/>
          <p:nvPr/>
        </p:nvSpPr>
        <p:spPr>
          <a:xfrm>
            <a:off x="658368" y="3072384"/>
            <a:ext cx="5084064" cy="274320"/>
          </a:xfrm>
          <a:prstGeom prst="rect">
            <a:avLst/>
          </a:prstGeom>
          <a:noFill/>
        </p:spPr>
        <p:txBody>
          <a:bodyPr wrap="square" anchor="t"/>
          <a:lstStyle/>
          <a:p>
            <a:pPr algn="l">
              <a:spcAft>
                <a:spcPts val="200"/>
              </a:spcAft>
            </a:pPr>
            <a:r>
              <a:rPr sz="1200" b="0" i="1">
                <a:solidFill>
                  <a:srgbClr val="4A5568"/>
                </a:solidFill>
                <a:latin typeface="Calibri"/>
                <a:ea typeface="微软雅黑"/>
              </a:rPr>
              <a:t>来源：新华社英文急电</a:t>
            </a:r>
          </a:p>
        </p:txBody>
      </p:sp>
      <p:sp>
        <p:nvSpPr>
          <p:cNvPr id="14" name="TextBox 13"/>
          <p:cNvSpPr txBox="1"/>
          <p:nvPr/>
        </p:nvSpPr>
        <p:spPr>
          <a:xfrm>
            <a:off x="658368" y="3346704"/>
            <a:ext cx="5084064" cy="1051560"/>
          </a:xfrm>
          <a:prstGeom prst="rect">
            <a:avLst/>
          </a:prstGeom>
          <a:noFill/>
        </p:spPr>
        <p:txBody>
          <a:bodyPr wrap="square" anchor="t"/>
          <a:lstStyle/>
          <a:p>
            <a:pPr algn="l">
              <a:spcAft>
                <a:spcPts val="200"/>
              </a:spcAft>
            </a:pPr>
            <a:r>
              <a:rPr sz="1400" b="0" i="0">
                <a:solidFill>
                  <a:srgbClr val="1A1A1A"/>
                </a:solidFill>
                <a:latin typeface="Calibri"/>
                <a:ea typeface="微软雅黑"/>
              </a:rPr>
              <a:t>结束访塔并出席上合总理会后，李强当地时间20日晚抵达圣彼得堡普尔科沃机场，将举行中俄总理第三十一次定期会晤。英文急电20日23:45首发；中文详稿见报时间为21日00:42，本条只记抵达。</a:t>
            </a:r>
          </a:p>
        </p:txBody>
      </p:sp>
      <p:sp>
        <p:nvSpPr>
          <p:cNvPr id="15" name="Rectangle 14"/>
          <p:cNvSpPr/>
          <p:nvPr/>
        </p:nvSpPr>
        <p:spPr>
          <a:xfrm>
            <a:off x="658368" y="5541264"/>
            <a:ext cx="5084064" cy="11430"/>
          </a:xfrm>
          <a:prstGeom prst="rect">
            <a:avLst/>
          </a:prstGeom>
          <a:solidFill>
            <a:srgbClr val="D6C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5596128"/>
            <a:ext cx="5084064" cy="201168"/>
          </a:xfrm>
          <a:prstGeom prst="rect">
            <a:avLst/>
          </a:prstGeom>
          <a:noFill/>
        </p:spPr>
        <p:txBody>
          <a:bodyPr wrap="square" anchor="t"/>
          <a:lstStyle/>
          <a:p>
            <a:pPr algn="l">
              <a:spcAft>
                <a:spcPts val="200"/>
              </a:spcAft>
            </a:pPr>
            <a:r>
              <a:rPr sz="1200" b="1" i="0">
                <a:solidFill>
                  <a:srgbClr val="C41E3A"/>
                </a:solidFill>
                <a:latin typeface="Calibri"/>
                <a:ea typeface="微软雅黑"/>
              </a:rPr>
              <a:t>为何重要</a:t>
            </a:r>
          </a:p>
        </p:txBody>
      </p:sp>
      <p:sp>
        <p:nvSpPr>
          <p:cNvPr id="17" name="TextBox 16"/>
          <p:cNvSpPr txBox="1"/>
          <p:nvPr/>
        </p:nvSpPr>
        <p:spPr>
          <a:xfrm>
            <a:off x="658368" y="5779008"/>
            <a:ext cx="5084064" cy="502920"/>
          </a:xfrm>
          <a:prstGeom prst="rect">
            <a:avLst/>
          </a:prstGeom>
          <a:noFill/>
        </p:spPr>
        <p:txBody>
          <a:bodyPr wrap="square" anchor="t"/>
          <a:lstStyle/>
          <a:p>
            <a:pPr algn="l">
              <a:spcAft>
                <a:spcPts val="200"/>
              </a:spcAft>
            </a:pPr>
            <a:r>
              <a:rPr sz="1300" b="0" i="0">
                <a:solidFill>
                  <a:srgbClr val="4A5568"/>
                </a:solidFill>
                <a:latin typeface="Calibri"/>
                <a:ea typeface="微软雅黑"/>
              </a:rPr>
              <a:t>把中亚多边日程接到对俄双边定期会晤，是十五五开局年中俄总理机制的一次现场兑现。</a:t>
            </a:r>
          </a:p>
        </p:txBody>
      </p:sp>
      <p:sp>
        <p:nvSpPr>
          <p:cNvPr id="18" name="Rounded Rectangle 17"/>
          <p:cNvSpPr/>
          <p:nvPr/>
        </p:nvSpPr>
        <p:spPr>
          <a:xfrm>
            <a:off x="6245352" y="1517904"/>
            <a:ext cx="5486400" cy="4864608"/>
          </a:xfrm>
          <a:prstGeom prst="roundRect">
            <a:avLst>
              <a:gd name="adj" fmla="val 6000"/>
            </a:avLst>
          </a:prstGeom>
          <a:solidFill>
            <a:srgbClr val="FFFCF7"/>
          </a:solidFill>
          <a:ln w="12700">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46520" y="1664208"/>
            <a:ext cx="5084064" cy="237744"/>
          </a:xfrm>
          <a:prstGeom prst="rect">
            <a:avLst/>
          </a:prstGeom>
          <a:noFill/>
        </p:spPr>
        <p:txBody>
          <a:bodyPr wrap="square" anchor="t"/>
          <a:lstStyle/>
          <a:p>
            <a:pPr algn="l">
              <a:spcAft>
                <a:spcPts val="200"/>
              </a:spcAft>
            </a:pPr>
            <a:r>
              <a:rPr sz="1200" b="1" i="0">
                <a:solidFill>
                  <a:srgbClr val="C41E3A"/>
                </a:solidFill>
                <a:latin typeface="Calibri"/>
                <a:ea typeface="微软雅黑"/>
              </a:rPr>
              <a:t>03　外交 · 北京</a:t>
            </a:r>
          </a:p>
        </p:txBody>
      </p:sp>
      <p:sp>
        <p:nvSpPr>
          <p:cNvPr id="20" name="TextBox 19"/>
          <p:cNvSpPr txBox="1"/>
          <p:nvPr/>
        </p:nvSpPr>
        <p:spPr>
          <a:xfrm>
            <a:off x="6446520" y="1883664"/>
            <a:ext cx="5084064" cy="1170432"/>
          </a:xfrm>
          <a:prstGeom prst="rect">
            <a:avLst/>
          </a:prstGeom>
          <a:noFill/>
        </p:spPr>
        <p:txBody>
          <a:bodyPr wrap="square" anchor="t"/>
          <a:lstStyle/>
          <a:p>
            <a:pPr algn="l">
              <a:spcAft>
                <a:spcPts val="200"/>
              </a:spcAft>
            </a:pPr>
            <a:r>
              <a:rPr sz="2600" b="1" i="0">
                <a:solidFill>
                  <a:srgbClr val="1A1A1A"/>
                </a:solidFill>
                <a:latin typeface="Cambria"/>
                <a:ea typeface="宋体"/>
              </a:rPr>
              <a:t>王毅欧亚之行收官</a:t>
            </a:r>
          </a:p>
        </p:txBody>
      </p:sp>
      <p:sp>
        <p:nvSpPr>
          <p:cNvPr id="21" name="TextBox 20"/>
          <p:cNvSpPr txBox="1"/>
          <p:nvPr/>
        </p:nvSpPr>
        <p:spPr>
          <a:xfrm>
            <a:off x="6446520" y="3072384"/>
            <a:ext cx="5084064" cy="274320"/>
          </a:xfrm>
          <a:prstGeom prst="rect">
            <a:avLst/>
          </a:prstGeom>
          <a:noFill/>
        </p:spPr>
        <p:txBody>
          <a:bodyPr wrap="square" anchor="t"/>
          <a:lstStyle/>
          <a:p>
            <a:pPr algn="l">
              <a:spcAft>
                <a:spcPts val="200"/>
              </a:spcAft>
            </a:pPr>
            <a:r>
              <a:rPr sz="1200" b="0" i="1">
                <a:solidFill>
                  <a:srgbClr val="4A5568"/>
                </a:solidFill>
                <a:latin typeface="Calibri"/>
                <a:ea typeface="微软雅黑"/>
              </a:rPr>
              <a:t>来源：外交部例行记者会</a:t>
            </a:r>
          </a:p>
        </p:txBody>
      </p:sp>
      <p:sp>
        <p:nvSpPr>
          <p:cNvPr id="22" name="TextBox 21"/>
          <p:cNvSpPr txBox="1"/>
          <p:nvPr/>
        </p:nvSpPr>
        <p:spPr>
          <a:xfrm>
            <a:off x="6446520" y="3346704"/>
            <a:ext cx="5084064" cy="1051560"/>
          </a:xfrm>
          <a:prstGeom prst="rect">
            <a:avLst/>
          </a:prstGeom>
          <a:noFill/>
        </p:spPr>
        <p:txBody>
          <a:bodyPr wrap="square" anchor="t"/>
          <a:lstStyle/>
          <a:p>
            <a:pPr algn="l">
              <a:spcAft>
                <a:spcPts val="200"/>
              </a:spcAft>
            </a:pPr>
            <a:r>
              <a:rPr sz="1400" b="0" i="0">
                <a:solidFill>
                  <a:srgbClr val="1A1A1A"/>
                </a:solidFill>
                <a:latin typeface="Calibri"/>
                <a:ea typeface="微软雅黑"/>
              </a:rPr>
              <a:t>毛宁20日总结王毅14–20日亚信峰会及四国之行，核心是「信任、友谊、合作、伙伴」。中欧经贸分歧可对话；美方停用深度求索遭反对政治化；中美俄三边会晤「暂无信息」。国际调解院成立一年，创始国48个。</a:t>
            </a:r>
          </a:p>
        </p:txBody>
      </p:sp>
      <p:sp>
        <p:nvSpPr>
          <p:cNvPr id="23" name="Rectangle 22"/>
          <p:cNvSpPr/>
          <p:nvPr/>
        </p:nvSpPr>
        <p:spPr>
          <a:xfrm>
            <a:off x="6446520" y="5541264"/>
            <a:ext cx="5084064" cy="11430"/>
          </a:xfrm>
          <a:prstGeom prst="rect">
            <a:avLst/>
          </a:prstGeom>
          <a:solidFill>
            <a:srgbClr val="D6C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46520" y="5596128"/>
            <a:ext cx="5084064" cy="201168"/>
          </a:xfrm>
          <a:prstGeom prst="rect">
            <a:avLst/>
          </a:prstGeom>
          <a:noFill/>
        </p:spPr>
        <p:txBody>
          <a:bodyPr wrap="square" anchor="t"/>
          <a:lstStyle/>
          <a:p>
            <a:pPr algn="l">
              <a:spcAft>
                <a:spcPts val="200"/>
              </a:spcAft>
            </a:pPr>
            <a:r>
              <a:rPr sz="1200" b="1" i="0">
                <a:solidFill>
                  <a:srgbClr val="C41E3A"/>
                </a:solidFill>
                <a:latin typeface="Calibri"/>
                <a:ea typeface="微软雅黑"/>
              </a:rPr>
              <a:t>为何重要</a:t>
            </a:r>
          </a:p>
        </p:txBody>
      </p:sp>
      <p:sp>
        <p:nvSpPr>
          <p:cNvPr id="25" name="TextBox 24"/>
          <p:cNvSpPr txBox="1"/>
          <p:nvPr/>
        </p:nvSpPr>
        <p:spPr>
          <a:xfrm>
            <a:off x="6446520" y="5779008"/>
            <a:ext cx="5084064" cy="502920"/>
          </a:xfrm>
          <a:prstGeom prst="rect">
            <a:avLst/>
          </a:prstGeom>
          <a:noFill/>
        </p:spPr>
        <p:txBody>
          <a:bodyPr wrap="square" anchor="t"/>
          <a:lstStyle/>
          <a:p>
            <a:pPr algn="l">
              <a:spcAft>
                <a:spcPts val="200"/>
              </a:spcAft>
            </a:pPr>
            <a:r>
              <a:rPr sz="1300" b="0" i="0">
                <a:solidFill>
                  <a:srgbClr val="4A5568"/>
                </a:solidFill>
                <a:latin typeface="Calibri"/>
                <a:ea typeface="微软雅黑"/>
              </a:rPr>
              <a:t>欧亚四国访问收成官方总结，同时把中欧经贸摩擦、DeepSeek禁令和三边会晤写成可引用的外交口径。</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01168"/>
            <a:ext cx="3840480" cy="292608"/>
          </a:xfrm>
          <a:prstGeom prst="rect">
            <a:avLst/>
          </a:prstGeom>
          <a:noFill/>
        </p:spPr>
        <p:txBody>
          <a:bodyPr wrap="square" anchor="t"/>
          <a:lstStyle/>
          <a:p>
            <a:pPr algn="l">
              <a:spcAft>
                <a:spcPts val="200"/>
              </a:spcAft>
            </a:pPr>
            <a:r>
              <a:rPr sz="1400" b="1" i="0">
                <a:solidFill>
                  <a:srgbClr val="1A1A1A"/>
                </a:solidFill>
                <a:latin typeface="Cambria"/>
                <a:ea typeface="宋体"/>
              </a:rPr>
              <a:t>每日时政科技简报</a:t>
            </a:r>
          </a:p>
        </p:txBody>
      </p:sp>
      <p:sp>
        <p:nvSpPr>
          <p:cNvPr id="4" name="TextBox 3"/>
          <p:cNvSpPr txBox="1"/>
          <p:nvPr/>
        </p:nvSpPr>
        <p:spPr>
          <a:xfrm>
            <a:off x="4572000" y="201168"/>
            <a:ext cx="4937760" cy="292608"/>
          </a:xfrm>
          <a:prstGeom prst="rect">
            <a:avLst/>
          </a:prstGeom>
          <a:noFill/>
        </p:spPr>
        <p:txBody>
          <a:bodyPr wrap="square" anchor="t"/>
          <a:lstStyle/>
          <a:p>
            <a:pPr algn="ctr">
              <a:spcAft>
                <a:spcPts val="200"/>
              </a:spcAft>
            </a:pPr>
            <a:r>
              <a:rPr sz="1200" b="0" i="0">
                <a:solidFill>
                  <a:srgbClr val="4A5568"/>
                </a:solidFill>
                <a:latin typeface="Calibri"/>
                <a:ea typeface="微软雅黑"/>
              </a:rPr>
              <a:t>第029期  ·  2026年10月20日  ·  星期二</a:t>
            </a:r>
          </a:p>
        </p:txBody>
      </p:sp>
      <p:sp>
        <p:nvSpPr>
          <p:cNvPr id="5" name="TextBox 4"/>
          <p:cNvSpPr txBox="1"/>
          <p:nvPr/>
        </p:nvSpPr>
        <p:spPr>
          <a:xfrm>
            <a:off x="10149840" y="201168"/>
            <a:ext cx="1554480" cy="292608"/>
          </a:xfrm>
          <a:prstGeom prst="rect">
            <a:avLst/>
          </a:prstGeom>
          <a:noFill/>
        </p:spPr>
        <p:txBody>
          <a:bodyPr wrap="square" anchor="t"/>
          <a:lstStyle/>
          <a:p>
            <a:pPr algn="r">
              <a:spcAft>
                <a:spcPts val="200"/>
              </a:spcAft>
            </a:pPr>
            <a:r>
              <a:rPr sz="1300" b="1" i="0">
                <a:solidFill>
                  <a:srgbClr val="C41E3A"/>
                </a:solidFill>
                <a:latin typeface="Calibri"/>
                <a:ea typeface="微软雅黑"/>
              </a:rPr>
              <a:t>晨刊</a:t>
            </a:r>
          </a:p>
        </p:txBody>
      </p:sp>
      <p:sp>
        <p:nvSpPr>
          <p:cNvPr id="6" name="Rectangle 5"/>
          <p:cNvSpPr/>
          <p:nvPr/>
        </p:nvSpPr>
        <p:spPr>
          <a:xfrm>
            <a:off x="457200" y="493776"/>
            <a:ext cx="11277295" cy="20320"/>
          </a:xfrm>
          <a:prstGeom prst="rect">
            <a:avLst/>
          </a:prstGeom>
          <a:solidFill>
            <a:srgbClr val="C41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530352"/>
            <a:ext cx="11277295" cy="9525"/>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40080"/>
            <a:ext cx="11247120" cy="530352"/>
          </a:xfrm>
          <a:prstGeom prst="rect">
            <a:avLst/>
          </a:prstGeom>
          <a:noFill/>
        </p:spPr>
        <p:txBody>
          <a:bodyPr wrap="square" anchor="t"/>
          <a:lstStyle/>
          <a:p>
            <a:pPr algn="l">
              <a:spcAft>
                <a:spcPts val="200"/>
              </a:spcAft>
            </a:pPr>
            <a:r>
              <a:rPr sz="2800" b="1" i="0">
                <a:solidFill>
                  <a:srgbClr val="1A1A1A"/>
                </a:solidFill>
                <a:latin typeface="Cambria"/>
                <a:ea typeface="宋体"/>
              </a:rPr>
              <a:t>北京同日交出两本账</a:t>
            </a:r>
          </a:p>
        </p:txBody>
      </p:sp>
      <p:sp>
        <p:nvSpPr>
          <p:cNvPr id="9" name="TextBox 8"/>
          <p:cNvSpPr txBox="1"/>
          <p:nvPr/>
        </p:nvSpPr>
        <p:spPr>
          <a:xfrm>
            <a:off x="457200" y="1188720"/>
            <a:ext cx="11247120" cy="256032"/>
          </a:xfrm>
          <a:prstGeom prst="rect">
            <a:avLst/>
          </a:prstGeom>
          <a:noFill/>
        </p:spPr>
        <p:txBody>
          <a:bodyPr wrap="square" anchor="t"/>
          <a:lstStyle/>
          <a:p>
            <a:pPr algn="l">
              <a:spcAft>
                <a:spcPts val="200"/>
              </a:spcAft>
            </a:pPr>
            <a:r>
              <a:rPr sz="1400" b="0" i="0">
                <a:solidFill>
                  <a:srgbClr val="4A5568"/>
                </a:solidFill>
                <a:latin typeface="Calibri"/>
                <a:ea typeface="微软雅黑"/>
              </a:rPr>
              <a:t>发改委写扩内需三条路径，工信部把工业贡献率与智能算力一并核账。</a:t>
            </a:r>
          </a:p>
        </p:txBody>
      </p:sp>
      <p:sp>
        <p:nvSpPr>
          <p:cNvPr id="10" name="Rounded Rectangle 9"/>
          <p:cNvSpPr/>
          <p:nvPr/>
        </p:nvSpPr>
        <p:spPr>
          <a:xfrm>
            <a:off x="457200" y="1517904"/>
            <a:ext cx="5486400" cy="4864608"/>
          </a:xfrm>
          <a:prstGeom prst="roundRect">
            <a:avLst>
              <a:gd name="adj" fmla="val 6000"/>
            </a:avLst>
          </a:prstGeom>
          <a:solidFill>
            <a:srgbClr val="FFFCF7"/>
          </a:solidFill>
          <a:ln w="12700">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664208"/>
            <a:ext cx="5084064" cy="237744"/>
          </a:xfrm>
          <a:prstGeom prst="rect">
            <a:avLst/>
          </a:prstGeom>
          <a:noFill/>
        </p:spPr>
        <p:txBody>
          <a:bodyPr wrap="square" anchor="t"/>
          <a:lstStyle/>
          <a:p>
            <a:pPr algn="l">
              <a:spcAft>
                <a:spcPts val="200"/>
              </a:spcAft>
            </a:pPr>
            <a:r>
              <a:rPr sz="1200" b="1" i="0">
                <a:solidFill>
                  <a:srgbClr val="C41E3A"/>
                </a:solidFill>
                <a:latin typeface="Calibri"/>
                <a:ea typeface="微软雅黑"/>
              </a:rPr>
              <a:t>04　宏观 · 北京</a:t>
            </a:r>
          </a:p>
        </p:txBody>
      </p:sp>
      <p:sp>
        <p:nvSpPr>
          <p:cNvPr id="12" name="TextBox 11"/>
          <p:cNvSpPr txBox="1"/>
          <p:nvPr/>
        </p:nvSpPr>
        <p:spPr>
          <a:xfrm>
            <a:off x="658368" y="1883664"/>
            <a:ext cx="5084064" cy="1170432"/>
          </a:xfrm>
          <a:prstGeom prst="rect">
            <a:avLst/>
          </a:prstGeom>
          <a:noFill/>
        </p:spPr>
        <p:txBody>
          <a:bodyPr wrap="square" anchor="t"/>
          <a:lstStyle/>
          <a:p>
            <a:pPr algn="l">
              <a:spcAft>
                <a:spcPts val="200"/>
              </a:spcAft>
            </a:pPr>
            <a:r>
              <a:rPr sz="2600" b="1" i="0">
                <a:solidFill>
                  <a:srgbClr val="1A1A1A"/>
                </a:solidFill>
                <a:latin typeface="Cambria"/>
                <a:ea typeface="宋体"/>
              </a:rPr>
              <a:t>扩内需拟从三方面发力</a:t>
            </a:r>
          </a:p>
        </p:txBody>
      </p:sp>
      <p:sp>
        <p:nvSpPr>
          <p:cNvPr id="13" name="TextBox 12"/>
          <p:cNvSpPr txBox="1"/>
          <p:nvPr/>
        </p:nvSpPr>
        <p:spPr>
          <a:xfrm>
            <a:off x="658368" y="3072384"/>
            <a:ext cx="5084064" cy="274320"/>
          </a:xfrm>
          <a:prstGeom prst="rect">
            <a:avLst/>
          </a:prstGeom>
          <a:noFill/>
        </p:spPr>
        <p:txBody>
          <a:bodyPr wrap="square" anchor="t"/>
          <a:lstStyle/>
          <a:p>
            <a:pPr algn="l">
              <a:spcAft>
                <a:spcPts val="200"/>
              </a:spcAft>
            </a:pPr>
            <a:r>
              <a:rPr sz="1200" b="0" i="1">
                <a:solidFill>
                  <a:srgbClr val="4A5568"/>
                </a:solidFill>
                <a:latin typeface="Calibri"/>
                <a:ea typeface="微软雅黑"/>
              </a:rPr>
              <a:t>来源：国家发展改革委 / 新华社</a:t>
            </a:r>
          </a:p>
        </p:txBody>
      </p:sp>
      <p:sp>
        <p:nvSpPr>
          <p:cNvPr id="14" name="TextBox 13"/>
          <p:cNvSpPr txBox="1"/>
          <p:nvPr/>
        </p:nvSpPr>
        <p:spPr>
          <a:xfrm>
            <a:off x="658368" y="3346704"/>
            <a:ext cx="5084064" cy="1051560"/>
          </a:xfrm>
          <a:prstGeom prst="rect">
            <a:avLst/>
          </a:prstGeom>
          <a:noFill/>
        </p:spPr>
        <p:txBody>
          <a:bodyPr wrap="square" anchor="t"/>
          <a:lstStyle/>
          <a:p>
            <a:pPr algn="l">
              <a:spcAft>
                <a:spcPts val="200"/>
              </a:spcAft>
            </a:pPr>
            <a:r>
              <a:rPr sz="1400" b="0" i="0">
                <a:solidFill>
                  <a:srgbClr val="1A1A1A"/>
                </a:solidFill>
                <a:latin typeface="Calibri"/>
                <a:ea typeface="微软雅黑"/>
              </a:rPr>
              <a:t>发改委左刚20日说，扩内需将从三方面发力：提振消费，提高公共服务支出并促进新能源车与智能产品；扩大有效投资，协同「十五五」109项重大工程与「六张网」；出台全国统一大市场建设条例。</a:t>
            </a:r>
          </a:p>
        </p:txBody>
      </p:sp>
      <p:sp>
        <p:nvSpPr>
          <p:cNvPr id="15" name="Rectangle 14"/>
          <p:cNvSpPr/>
          <p:nvPr/>
        </p:nvSpPr>
        <p:spPr>
          <a:xfrm>
            <a:off x="658368" y="5541264"/>
            <a:ext cx="5084064" cy="11430"/>
          </a:xfrm>
          <a:prstGeom prst="rect">
            <a:avLst/>
          </a:prstGeom>
          <a:solidFill>
            <a:srgbClr val="D6C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5596128"/>
            <a:ext cx="5084064" cy="201168"/>
          </a:xfrm>
          <a:prstGeom prst="rect">
            <a:avLst/>
          </a:prstGeom>
          <a:noFill/>
        </p:spPr>
        <p:txBody>
          <a:bodyPr wrap="square" anchor="t"/>
          <a:lstStyle/>
          <a:p>
            <a:pPr algn="l">
              <a:spcAft>
                <a:spcPts val="200"/>
              </a:spcAft>
            </a:pPr>
            <a:r>
              <a:rPr sz="1200" b="1" i="0">
                <a:solidFill>
                  <a:srgbClr val="C41E3A"/>
                </a:solidFill>
                <a:latin typeface="Calibri"/>
                <a:ea typeface="微软雅黑"/>
              </a:rPr>
              <a:t>为何重要</a:t>
            </a:r>
          </a:p>
        </p:txBody>
      </p:sp>
      <p:sp>
        <p:nvSpPr>
          <p:cNvPr id="17" name="TextBox 16"/>
          <p:cNvSpPr txBox="1"/>
          <p:nvPr/>
        </p:nvSpPr>
        <p:spPr>
          <a:xfrm>
            <a:off x="658368" y="5779008"/>
            <a:ext cx="5084064" cy="502920"/>
          </a:xfrm>
          <a:prstGeom prst="rect">
            <a:avLst/>
          </a:prstGeom>
          <a:noFill/>
        </p:spPr>
        <p:txBody>
          <a:bodyPr wrap="square" anchor="t"/>
          <a:lstStyle/>
          <a:p>
            <a:pPr algn="l">
              <a:spcAft>
                <a:spcPts val="200"/>
              </a:spcAft>
            </a:pPr>
            <a:r>
              <a:rPr sz="1300" b="0" i="0">
                <a:solidFill>
                  <a:srgbClr val="4A5568"/>
                </a:solidFill>
                <a:latin typeface="Calibri"/>
                <a:ea typeface="微软雅黑"/>
              </a:rPr>
              <a:t>这是假期后首场发改委发布会，把扩内需从原则改写成三条可核对的政策路径。</a:t>
            </a:r>
          </a:p>
        </p:txBody>
      </p:sp>
      <p:sp>
        <p:nvSpPr>
          <p:cNvPr id="18" name="Rounded Rectangle 17"/>
          <p:cNvSpPr/>
          <p:nvPr/>
        </p:nvSpPr>
        <p:spPr>
          <a:xfrm>
            <a:off x="6245352" y="1517904"/>
            <a:ext cx="5486400" cy="4864608"/>
          </a:xfrm>
          <a:prstGeom prst="roundRect">
            <a:avLst>
              <a:gd name="adj" fmla="val 6000"/>
            </a:avLst>
          </a:prstGeom>
          <a:solidFill>
            <a:srgbClr val="FFFCF7"/>
          </a:solidFill>
          <a:ln w="12700">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46520" y="1664208"/>
            <a:ext cx="5084064" cy="237744"/>
          </a:xfrm>
          <a:prstGeom prst="rect">
            <a:avLst/>
          </a:prstGeom>
          <a:noFill/>
        </p:spPr>
        <p:txBody>
          <a:bodyPr wrap="square" anchor="t"/>
          <a:lstStyle/>
          <a:p>
            <a:pPr algn="l">
              <a:spcAft>
                <a:spcPts val="200"/>
              </a:spcAft>
            </a:pPr>
            <a:r>
              <a:rPr sz="1200" b="1" i="0">
                <a:solidFill>
                  <a:srgbClr val="C41E3A"/>
                </a:solidFill>
                <a:latin typeface="Calibri"/>
                <a:ea typeface="微软雅黑"/>
              </a:rPr>
              <a:t>05　工业 · 北京</a:t>
            </a:r>
          </a:p>
        </p:txBody>
      </p:sp>
      <p:sp>
        <p:nvSpPr>
          <p:cNvPr id="20" name="TextBox 19"/>
          <p:cNvSpPr txBox="1"/>
          <p:nvPr/>
        </p:nvSpPr>
        <p:spPr>
          <a:xfrm>
            <a:off x="6446520" y="1883664"/>
            <a:ext cx="5084064" cy="1170432"/>
          </a:xfrm>
          <a:prstGeom prst="rect">
            <a:avLst/>
          </a:prstGeom>
          <a:noFill/>
        </p:spPr>
        <p:txBody>
          <a:bodyPr wrap="square" anchor="t"/>
          <a:lstStyle/>
          <a:p>
            <a:pPr algn="l">
              <a:spcAft>
                <a:spcPts val="200"/>
              </a:spcAft>
            </a:pPr>
            <a:r>
              <a:rPr sz="2600" b="1" i="0">
                <a:solidFill>
                  <a:srgbClr val="1A1A1A"/>
                </a:solidFill>
                <a:latin typeface="Cambria"/>
                <a:ea typeface="宋体"/>
              </a:rPr>
              <a:t>工业贡献率仍约三成五</a:t>
            </a:r>
          </a:p>
        </p:txBody>
      </p:sp>
      <p:sp>
        <p:nvSpPr>
          <p:cNvPr id="21" name="TextBox 20"/>
          <p:cNvSpPr txBox="1"/>
          <p:nvPr/>
        </p:nvSpPr>
        <p:spPr>
          <a:xfrm>
            <a:off x="6446520" y="3072384"/>
            <a:ext cx="5084064" cy="274320"/>
          </a:xfrm>
          <a:prstGeom prst="rect">
            <a:avLst/>
          </a:prstGeom>
          <a:noFill/>
        </p:spPr>
        <p:txBody>
          <a:bodyPr wrap="square" anchor="t"/>
          <a:lstStyle/>
          <a:p>
            <a:pPr algn="l">
              <a:spcAft>
                <a:spcPts val="200"/>
              </a:spcAft>
            </a:pPr>
            <a:r>
              <a:rPr sz="1200" b="0" i="1">
                <a:solidFill>
                  <a:srgbClr val="4A5568"/>
                </a:solidFill>
                <a:latin typeface="Calibri"/>
                <a:ea typeface="微软雅黑"/>
              </a:rPr>
              <a:t>来源：工业和信息化部 / 国新办</a:t>
            </a:r>
          </a:p>
        </p:txBody>
      </p:sp>
      <p:sp>
        <p:nvSpPr>
          <p:cNvPr id="22" name="TextBox 21"/>
          <p:cNvSpPr txBox="1"/>
          <p:nvPr/>
        </p:nvSpPr>
        <p:spPr>
          <a:xfrm>
            <a:off x="6446520" y="3346704"/>
            <a:ext cx="5084064" cy="1051560"/>
          </a:xfrm>
          <a:prstGeom prst="rect">
            <a:avLst/>
          </a:prstGeom>
          <a:noFill/>
        </p:spPr>
        <p:txBody>
          <a:bodyPr wrap="square" anchor="t"/>
          <a:lstStyle/>
          <a:p>
            <a:pPr algn="l">
              <a:spcAft>
                <a:spcPts val="200"/>
              </a:spcAft>
            </a:pPr>
            <a:r>
              <a:rPr sz="1400" b="0" i="0">
                <a:solidFill>
                  <a:srgbClr val="1A1A1A"/>
                </a:solidFill>
                <a:latin typeface="Calibri"/>
                <a:ea typeface="微软雅黑"/>
              </a:rPr>
              <a:t>王卫明20日称，前三季度规上工业增加值同比增5.3%，工业对经济增长贡献率约35%；高技术制造业增14.3%。累计建成先进级智能工厂1.3万余家；截至9月底智能算力2592EFLOPS、同比增146%。</a:t>
            </a:r>
          </a:p>
        </p:txBody>
      </p:sp>
      <p:sp>
        <p:nvSpPr>
          <p:cNvPr id="23" name="Rectangle 22"/>
          <p:cNvSpPr/>
          <p:nvPr/>
        </p:nvSpPr>
        <p:spPr>
          <a:xfrm>
            <a:off x="6446520" y="5541264"/>
            <a:ext cx="5084064" cy="11430"/>
          </a:xfrm>
          <a:prstGeom prst="rect">
            <a:avLst/>
          </a:prstGeom>
          <a:solidFill>
            <a:srgbClr val="D6C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46520" y="5596128"/>
            <a:ext cx="5084064" cy="201168"/>
          </a:xfrm>
          <a:prstGeom prst="rect">
            <a:avLst/>
          </a:prstGeom>
          <a:noFill/>
        </p:spPr>
        <p:txBody>
          <a:bodyPr wrap="square" anchor="t"/>
          <a:lstStyle/>
          <a:p>
            <a:pPr algn="l">
              <a:spcAft>
                <a:spcPts val="200"/>
              </a:spcAft>
            </a:pPr>
            <a:r>
              <a:rPr sz="1200" b="1" i="0">
                <a:solidFill>
                  <a:srgbClr val="C41E3A"/>
                </a:solidFill>
                <a:latin typeface="Calibri"/>
                <a:ea typeface="微软雅黑"/>
              </a:rPr>
              <a:t>为何重要</a:t>
            </a:r>
          </a:p>
        </p:txBody>
      </p:sp>
      <p:sp>
        <p:nvSpPr>
          <p:cNvPr id="25" name="TextBox 24"/>
          <p:cNvSpPr txBox="1"/>
          <p:nvPr/>
        </p:nvSpPr>
        <p:spPr>
          <a:xfrm>
            <a:off x="6446520" y="5779008"/>
            <a:ext cx="5084064" cy="502920"/>
          </a:xfrm>
          <a:prstGeom prst="rect">
            <a:avLst/>
          </a:prstGeom>
          <a:noFill/>
        </p:spPr>
        <p:txBody>
          <a:bodyPr wrap="square" anchor="t"/>
          <a:lstStyle/>
          <a:p>
            <a:pPr algn="l">
              <a:spcAft>
                <a:spcPts val="200"/>
              </a:spcAft>
            </a:pPr>
            <a:r>
              <a:rPr sz="1300" b="0" i="0">
                <a:solidFill>
                  <a:srgbClr val="4A5568"/>
                </a:solidFill>
                <a:latin typeface="Calibri"/>
                <a:ea typeface="微软雅黑"/>
              </a:rPr>
              <a:t>把统计局19日的工业数字改写成工信系统的结构账本，并首次交出智能工厂与智能算力的季度核账。</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01168"/>
            <a:ext cx="3840480" cy="292608"/>
          </a:xfrm>
          <a:prstGeom prst="rect">
            <a:avLst/>
          </a:prstGeom>
          <a:noFill/>
        </p:spPr>
        <p:txBody>
          <a:bodyPr wrap="square" anchor="t"/>
          <a:lstStyle/>
          <a:p>
            <a:pPr algn="l">
              <a:spcAft>
                <a:spcPts val="200"/>
              </a:spcAft>
            </a:pPr>
            <a:r>
              <a:rPr sz="1400" b="1" i="0">
                <a:solidFill>
                  <a:srgbClr val="1A1A1A"/>
                </a:solidFill>
                <a:latin typeface="Cambria"/>
                <a:ea typeface="宋体"/>
              </a:rPr>
              <a:t>每日时政科技简报</a:t>
            </a:r>
          </a:p>
        </p:txBody>
      </p:sp>
      <p:sp>
        <p:nvSpPr>
          <p:cNvPr id="4" name="TextBox 3"/>
          <p:cNvSpPr txBox="1"/>
          <p:nvPr/>
        </p:nvSpPr>
        <p:spPr>
          <a:xfrm>
            <a:off x="4572000" y="201168"/>
            <a:ext cx="4937760" cy="292608"/>
          </a:xfrm>
          <a:prstGeom prst="rect">
            <a:avLst/>
          </a:prstGeom>
          <a:noFill/>
        </p:spPr>
        <p:txBody>
          <a:bodyPr wrap="square" anchor="t"/>
          <a:lstStyle/>
          <a:p>
            <a:pPr algn="ctr">
              <a:spcAft>
                <a:spcPts val="200"/>
              </a:spcAft>
            </a:pPr>
            <a:r>
              <a:rPr sz="1200" b="0" i="0">
                <a:solidFill>
                  <a:srgbClr val="4A5568"/>
                </a:solidFill>
                <a:latin typeface="Calibri"/>
                <a:ea typeface="微软雅黑"/>
              </a:rPr>
              <a:t>第029期  ·  2026年10月20日  ·  星期二</a:t>
            </a:r>
          </a:p>
        </p:txBody>
      </p:sp>
      <p:sp>
        <p:nvSpPr>
          <p:cNvPr id="5" name="TextBox 4"/>
          <p:cNvSpPr txBox="1"/>
          <p:nvPr/>
        </p:nvSpPr>
        <p:spPr>
          <a:xfrm>
            <a:off x="10149840" y="201168"/>
            <a:ext cx="1554480" cy="292608"/>
          </a:xfrm>
          <a:prstGeom prst="rect">
            <a:avLst/>
          </a:prstGeom>
          <a:noFill/>
        </p:spPr>
        <p:txBody>
          <a:bodyPr wrap="square" anchor="t"/>
          <a:lstStyle/>
          <a:p>
            <a:pPr algn="r">
              <a:spcAft>
                <a:spcPts val="200"/>
              </a:spcAft>
            </a:pPr>
            <a:r>
              <a:rPr sz="1300" b="1" i="0">
                <a:solidFill>
                  <a:srgbClr val="C41E3A"/>
                </a:solidFill>
                <a:latin typeface="Calibri"/>
                <a:ea typeface="微软雅黑"/>
              </a:rPr>
              <a:t>晨刊</a:t>
            </a:r>
          </a:p>
        </p:txBody>
      </p:sp>
      <p:sp>
        <p:nvSpPr>
          <p:cNvPr id="6" name="Rectangle 5"/>
          <p:cNvSpPr/>
          <p:nvPr/>
        </p:nvSpPr>
        <p:spPr>
          <a:xfrm>
            <a:off x="457200" y="493776"/>
            <a:ext cx="11277295" cy="20320"/>
          </a:xfrm>
          <a:prstGeom prst="rect">
            <a:avLst/>
          </a:prstGeom>
          <a:solidFill>
            <a:srgbClr val="C41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530352"/>
            <a:ext cx="11277295" cy="9525"/>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8368"/>
            <a:ext cx="11247120" cy="566928"/>
          </a:xfrm>
          <a:prstGeom prst="rect">
            <a:avLst/>
          </a:prstGeom>
          <a:noFill/>
        </p:spPr>
        <p:txBody>
          <a:bodyPr wrap="square" anchor="t"/>
          <a:lstStyle/>
          <a:p>
            <a:pPr algn="l">
              <a:spcAft>
                <a:spcPts val="200"/>
              </a:spcAft>
            </a:pPr>
            <a:r>
              <a:rPr sz="2800" b="1" i="0">
                <a:solidFill>
                  <a:srgbClr val="1A1A1A"/>
                </a:solidFill>
                <a:latin typeface="Cambria"/>
                <a:ea typeface="宋体"/>
              </a:rPr>
              <a:t>海峡触雷</a:t>
            </a:r>
          </a:p>
        </p:txBody>
      </p:sp>
      <p:sp>
        <p:nvSpPr>
          <p:cNvPr id="9" name="Rounded Rectangle 8"/>
          <p:cNvSpPr/>
          <p:nvPr/>
        </p:nvSpPr>
        <p:spPr>
          <a:xfrm>
            <a:off x="457200" y="1417320"/>
            <a:ext cx="11277295" cy="4983480"/>
          </a:xfrm>
          <a:prstGeom prst="roundRect">
            <a:avLst>
              <a:gd name="adj" fmla="val 6000"/>
            </a:avLst>
          </a:prstGeom>
          <a:solidFill>
            <a:srgbClr val="FFFCF7"/>
          </a:solidFill>
          <a:ln w="12700">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1691640"/>
            <a:ext cx="1828800" cy="914400"/>
          </a:xfrm>
          <a:prstGeom prst="rect">
            <a:avLst/>
          </a:prstGeom>
          <a:noFill/>
        </p:spPr>
        <p:txBody>
          <a:bodyPr wrap="square" anchor="t"/>
          <a:lstStyle/>
          <a:p>
            <a:pPr algn="l">
              <a:spcAft>
                <a:spcPts val="200"/>
              </a:spcAft>
            </a:pPr>
            <a:r>
              <a:rPr sz="5400" b="1" i="0">
                <a:solidFill>
                  <a:srgbClr val="C41E3A"/>
                </a:solidFill>
                <a:latin typeface="Cambria"/>
                <a:ea typeface="宋体"/>
              </a:rPr>
              <a:t>06</a:t>
            </a:r>
          </a:p>
        </p:txBody>
      </p:sp>
      <p:sp>
        <p:nvSpPr>
          <p:cNvPr id="11" name="TextBox 10"/>
          <p:cNvSpPr txBox="1"/>
          <p:nvPr/>
        </p:nvSpPr>
        <p:spPr>
          <a:xfrm>
            <a:off x="658368" y="2606040"/>
            <a:ext cx="1874519" cy="640080"/>
          </a:xfrm>
          <a:prstGeom prst="rect">
            <a:avLst/>
          </a:prstGeom>
          <a:noFill/>
        </p:spPr>
        <p:txBody>
          <a:bodyPr wrap="square" anchor="t"/>
          <a:lstStyle/>
          <a:p>
            <a:pPr algn="l">
              <a:spcAft>
                <a:spcPts val="200"/>
              </a:spcAft>
            </a:pPr>
            <a:r>
              <a:rPr sz="1400" b="1" i="0">
                <a:solidFill>
                  <a:srgbClr val="4A5568"/>
                </a:solidFill>
                <a:latin typeface="Calibri"/>
                <a:ea typeface="微软雅黑"/>
              </a:rPr>
              <a:t>中东 · 德黑兰</a:t>
            </a:r>
          </a:p>
        </p:txBody>
      </p:sp>
      <p:sp>
        <p:nvSpPr>
          <p:cNvPr id="12" name="TextBox 11"/>
          <p:cNvSpPr txBox="1"/>
          <p:nvPr/>
        </p:nvSpPr>
        <p:spPr>
          <a:xfrm>
            <a:off x="2788920" y="1627632"/>
            <a:ext cx="8503920" cy="237744"/>
          </a:xfrm>
          <a:prstGeom prst="rect">
            <a:avLst/>
          </a:prstGeom>
          <a:noFill/>
        </p:spPr>
        <p:txBody>
          <a:bodyPr wrap="square" anchor="t"/>
          <a:lstStyle/>
          <a:p>
            <a:pPr algn="l">
              <a:spcAft>
                <a:spcPts val="200"/>
              </a:spcAft>
            </a:pPr>
            <a:r>
              <a:rPr sz="1200" b="1" i="0">
                <a:solidFill>
                  <a:srgbClr val="C41E3A"/>
                </a:solidFill>
                <a:latin typeface="Calibri"/>
                <a:ea typeface="微软雅黑"/>
              </a:rPr>
              <a:t>霍尔木兹 · 20日20:42</a:t>
            </a:r>
          </a:p>
        </p:txBody>
      </p:sp>
      <p:sp>
        <p:nvSpPr>
          <p:cNvPr id="13" name="TextBox 12"/>
          <p:cNvSpPr txBox="1"/>
          <p:nvPr/>
        </p:nvSpPr>
        <p:spPr>
          <a:xfrm>
            <a:off x="2788920" y="1901952"/>
            <a:ext cx="8503920" cy="1051560"/>
          </a:xfrm>
          <a:prstGeom prst="rect">
            <a:avLst/>
          </a:prstGeom>
          <a:noFill/>
        </p:spPr>
        <p:txBody>
          <a:bodyPr wrap="square" anchor="t"/>
          <a:lstStyle/>
          <a:p>
            <a:pPr algn="l">
              <a:spcAft>
                <a:spcPts val="200"/>
              </a:spcAft>
            </a:pPr>
            <a:r>
              <a:rPr sz="3200" b="1" i="0">
                <a:solidFill>
                  <a:srgbClr val="1A1A1A"/>
                </a:solidFill>
                <a:latin typeface="Cambria"/>
                <a:ea typeface="宋体"/>
              </a:rPr>
              <a:t>两艘油轮在海峡触雷</a:t>
            </a:r>
          </a:p>
        </p:txBody>
      </p:sp>
      <p:sp>
        <p:nvSpPr>
          <p:cNvPr id="14" name="TextBox 13"/>
          <p:cNvSpPr txBox="1"/>
          <p:nvPr/>
        </p:nvSpPr>
        <p:spPr>
          <a:xfrm>
            <a:off x="2788920" y="2999232"/>
            <a:ext cx="8503920" cy="292608"/>
          </a:xfrm>
          <a:prstGeom prst="rect">
            <a:avLst/>
          </a:prstGeom>
          <a:noFill/>
        </p:spPr>
        <p:txBody>
          <a:bodyPr wrap="square" anchor="t"/>
          <a:lstStyle/>
          <a:p>
            <a:pPr algn="l">
              <a:spcAft>
                <a:spcPts val="200"/>
              </a:spcAft>
            </a:pPr>
            <a:r>
              <a:rPr sz="1200" b="0" i="1">
                <a:solidFill>
                  <a:srgbClr val="4A5568"/>
                </a:solidFill>
                <a:latin typeface="Calibri"/>
                <a:ea typeface="微软雅黑"/>
              </a:rPr>
              <a:t>来源：新华社 / 赛帕新闻</a:t>
            </a:r>
          </a:p>
        </p:txBody>
      </p:sp>
      <p:sp>
        <p:nvSpPr>
          <p:cNvPr id="15" name="TextBox 14"/>
          <p:cNvSpPr txBox="1"/>
          <p:nvPr/>
        </p:nvSpPr>
        <p:spPr>
          <a:xfrm>
            <a:off x="2788920" y="3328416"/>
            <a:ext cx="8503920" cy="1325880"/>
          </a:xfrm>
          <a:prstGeom prst="rect">
            <a:avLst/>
          </a:prstGeom>
          <a:noFill/>
        </p:spPr>
        <p:txBody>
          <a:bodyPr wrap="square" anchor="t"/>
          <a:lstStyle/>
          <a:p>
            <a:pPr algn="l">
              <a:spcAft>
                <a:spcPts val="200"/>
              </a:spcAft>
            </a:pPr>
            <a:r>
              <a:rPr sz="1500" b="0" i="0">
                <a:solidFill>
                  <a:srgbClr val="1A1A1A"/>
                </a:solidFill>
                <a:latin typeface="Calibri"/>
                <a:ea typeface="微软雅黑"/>
              </a:rPr>
              <a:t>革命卫队20日称，两艘「违规」油轮经霍尔木兹南侧「非法」航线时触碰其海军水雷，爆炸起火并停航。声明警告穿越布雷区将焚毁资产，并称19日夜在海峡上空击落一架美军MQ-9，为近数月第54架。</a:t>
            </a:r>
          </a:p>
        </p:txBody>
      </p:sp>
      <p:sp>
        <p:nvSpPr>
          <p:cNvPr id="16" name="Rectangle 15"/>
          <p:cNvSpPr/>
          <p:nvPr/>
        </p:nvSpPr>
        <p:spPr>
          <a:xfrm>
            <a:off x="2788920" y="5349240"/>
            <a:ext cx="8503920" cy="11430"/>
          </a:xfrm>
          <a:prstGeom prst="rect">
            <a:avLst/>
          </a:prstGeom>
          <a:solidFill>
            <a:srgbClr val="D6C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88920" y="5404104"/>
            <a:ext cx="8503920" cy="201168"/>
          </a:xfrm>
          <a:prstGeom prst="rect">
            <a:avLst/>
          </a:prstGeom>
          <a:noFill/>
        </p:spPr>
        <p:txBody>
          <a:bodyPr wrap="square" anchor="t"/>
          <a:lstStyle/>
          <a:p>
            <a:pPr algn="l">
              <a:spcAft>
                <a:spcPts val="200"/>
              </a:spcAft>
            </a:pPr>
            <a:r>
              <a:rPr sz="1200" b="1" i="0">
                <a:solidFill>
                  <a:srgbClr val="C41E3A"/>
                </a:solidFill>
                <a:latin typeface="Calibri"/>
                <a:ea typeface="微软雅黑"/>
              </a:rPr>
              <a:t>为何重要</a:t>
            </a:r>
          </a:p>
        </p:txBody>
      </p:sp>
      <p:sp>
        <p:nvSpPr>
          <p:cNvPr id="18" name="TextBox 17"/>
          <p:cNvSpPr txBox="1"/>
          <p:nvPr/>
        </p:nvSpPr>
        <p:spPr>
          <a:xfrm>
            <a:off x="2788920" y="5586984"/>
            <a:ext cx="8503920" cy="502920"/>
          </a:xfrm>
          <a:prstGeom prst="rect">
            <a:avLst/>
          </a:prstGeom>
          <a:noFill/>
        </p:spPr>
        <p:txBody>
          <a:bodyPr wrap="square" anchor="t"/>
          <a:lstStyle/>
          <a:p>
            <a:pPr algn="l">
              <a:spcAft>
                <a:spcPts val="200"/>
              </a:spcAft>
            </a:pPr>
            <a:r>
              <a:rPr sz="1400" b="0" i="0">
                <a:solidFill>
                  <a:srgbClr val="4A5568"/>
                </a:solidFill>
                <a:latin typeface="Calibri"/>
                <a:ea typeface="微软雅黑"/>
              </a:rPr>
              <a:t>海峡封锁从「导弹/触雷」争议推进到公开承认布雷并造成两艘起火，航运风险再抬升。</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01168"/>
            <a:ext cx="3840480" cy="292608"/>
          </a:xfrm>
          <a:prstGeom prst="rect">
            <a:avLst/>
          </a:prstGeom>
          <a:noFill/>
        </p:spPr>
        <p:txBody>
          <a:bodyPr wrap="square" anchor="t"/>
          <a:lstStyle/>
          <a:p>
            <a:pPr algn="l">
              <a:spcAft>
                <a:spcPts val="200"/>
              </a:spcAft>
            </a:pPr>
            <a:r>
              <a:rPr sz="1400" b="1" i="0">
                <a:solidFill>
                  <a:srgbClr val="1A1A1A"/>
                </a:solidFill>
                <a:latin typeface="Cambria"/>
                <a:ea typeface="宋体"/>
              </a:rPr>
              <a:t>每日时政科技简报</a:t>
            </a:r>
          </a:p>
        </p:txBody>
      </p:sp>
      <p:sp>
        <p:nvSpPr>
          <p:cNvPr id="4" name="TextBox 3"/>
          <p:cNvSpPr txBox="1"/>
          <p:nvPr/>
        </p:nvSpPr>
        <p:spPr>
          <a:xfrm>
            <a:off x="4572000" y="201168"/>
            <a:ext cx="4937760" cy="292608"/>
          </a:xfrm>
          <a:prstGeom prst="rect">
            <a:avLst/>
          </a:prstGeom>
          <a:noFill/>
        </p:spPr>
        <p:txBody>
          <a:bodyPr wrap="square" anchor="t"/>
          <a:lstStyle/>
          <a:p>
            <a:pPr algn="ctr">
              <a:spcAft>
                <a:spcPts val="200"/>
              </a:spcAft>
            </a:pPr>
            <a:r>
              <a:rPr sz="1200" b="0" i="0">
                <a:solidFill>
                  <a:srgbClr val="4A5568"/>
                </a:solidFill>
                <a:latin typeface="Calibri"/>
                <a:ea typeface="微软雅黑"/>
              </a:rPr>
              <a:t>第029期  ·  2026年10月20日  ·  星期二</a:t>
            </a:r>
          </a:p>
        </p:txBody>
      </p:sp>
      <p:sp>
        <p:nvSpPr>
          <p:cNvPr id="5" name="TextBox 4"/>
          <p:cNvSpPr txBox="1"/>
          <p:nvPr/>
        </p:nvSpPr>
        <p:spPr>
          <a:xfrm>
            <a:off x="10149840" y="201168"/>
            <a:ext cx="1554480" cy="292608"/>
          </a:xfrm>
          <a:prstGeom prst="rect">
            <a:avLst/>
          </a:prstGeom>
          <a:noFill/>
        </p:spPr>
        <p:txBody>
          <a:bodyPr wrap="square" anchor="t"/>
          <a:lstStyle/>
          <a:p>
            <a:pPr algn="r">
              <a:spcAft>
                <a:spcPts val="200"/>
              </a:spcAft>
            </a:pPr>
            <a:r>
              <a:rPr sz="1300" b="1" i="0">
                <a:solidFill>
                  <a:srgbClr val="C41E3A"/>
                </a:solidFill>
                <a:latin typeface="Calibri"/>
                <a:ea typeface="微软雅黑"/>
              </a:rPr>
              <a:t>晨刊</a:t>
            </a:r>
          </a:p>
        </p:txBody>
      </p:sp>
      <p:sp>
        <p:nvSpPr>
          <p:cNvPr id="6" name="Rectangle 5"/>
          <p:cNvSpPr/>
          <p:nvPr/>
        </p:nvSpPr>
        <p:spPr>
          <a:xfrm>
            <a:off x="457200" y="493776"/>
            <a:ext cx="11277295" cy="20320"/>
          </a:xfrm>
          <a:prstGeom prst="rect">
            <a:avLst/>
          </a:prstGeom>
          <a:solidFill>
            <a:srgbClr val="C41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530352"/>
            <a:ext cx="11277295" cy="9525"/>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713232"/>
            <a:ext cx="2011680" cy="777240"/>
          </a:xfrm>
          <a:prstGeom prst="rect">
            <a:avLst/>
          </a:prstGeom>
          <a:noFill/>
        </p:spPr>
        <p:txBody>
          <a:bodyPr wrap="square" anchor="t"/>
          <a:lstStyle/>
          <a:p>
            <a:pPr algn="l">
              <a:spcAft>
                <a:spcPts val="200"/>
              </a:spcAft>
            </a:pPr>
            <a:r>
              <a:rPr sz="5600" b="1" i="0">
                <a:solidFill>
                  <a:srgbClr val="C41E3A"/>
                </a:solidFill>
                <a:latin typeface="Cambria"/>
                <a:ea typeface="宋体"/>
              </a:rPr>
              <a:t>02</a:t>
            </a:r>
          </a:p>
        </p:txBody>
      </p:sp>
      <p:sp>
        <p:nvSpPr>
          <p:cNvPr id="9" name="TextBox 8"/>
          <p:cNvSpPr txBox="1"/>
          <p:nvPr/>
        </p:nvSpPr>
        <p:spPr>
          <a:xfrm>
            <a:off x="2194560" y="841248"/>
            <a:ext cx="9509760" cy="640080"/>
          </a:xfrm>
          <a:prstGeom prst="rect">
            <a:avLst/>
          </a:prstGeom>
          <a:noFill/>
        </p:spPr>
        <p:txBody>
          <a:bodyPr wrap="square" anchor="t"/>
          <a:lstStyle/>
          <a:p>
            <a:pPr algn="l">
              <a:spcAft>
                <a:spcPts val="200"/>
              </a:spcAft>
            </a:pPr>
            <a:r>
              <a:rPr sz="3600" b="1" i="0">
                <a:solidFill>
                  <a:srgbClr val="1A1A1A"/>
                </a:solidFill>
                <a:latin typeface="Cambria"/>
                <a:ea typeface="宋体"/>
              </a:rPr>
              <a:t>科技开篇</a:t>
            </a:r>
          </a:p>
        </p:txBody>
      </p:sp>
      <p:sp>
        <p:nvSpPr>
          <p:cNvPr id="10" name="TextBox 9"/>
          <p:cNvSpPr txBox="1"/>
          <p:nvPr/>
        </p:nvSpPr>
        <p:spPr>
          <a:xfrm>
            <a:off x="2194560" y="1481328"/>
            <a:ext cx="9509760" cy="502920"/>
          </a:xfrm>
          <a:prstGeom prst="rect">
            <a:avLst/>
          </a:prstGeom>
          <a:noFill/>
        </p:spPr>
        <p:txBody>
          <a:bodyPr wrap="square" anchor="t"/>
          <a:lstStyle/>
          <a:p>
            <a:pPr algn="l">
              <a:spcAft>
                <a:spcPts val="200"/>
              </a:spcAft>
            </a:pPr>
            <a:r>
              <a:rPr sz="1500" b="0" i="0">
                <a:solidFill>
                  <a:srgbClr val="4A5568"/>
                </a:solidFill>
                <a:latin typeface="Calibri"/>
                <a:ea typeface="微软雅黑"/>
              </a:rPr>
              <a:t>PyTorch大会把TPU写成一条配置。种子岛把取样船送往火卫一，佛罗里达把32个载荷送进中倾角轨道。南京把帕金森写成胆固醇通路。</a:t>
            </a:r>
          </a:p>
        </p:txBody>
      </p:sp>
      <p:sp>
        <p:nvSpPr>
          <p:cNvPr id="11" name="Rounded Rectangle 10"/>
          <p:cNvSpPr/>
          <p:nvPr/>
        </p:nvSpPr>
        <p:spPr>
          <a:xfrm>
            <a:off x="457200" y="2194560"/>
            <a:ext cx="2670048" cy="2331720"/>
          </a:xfrm>
          <a:prstGeom prst="roundRect">
            <a:avLst>
              <a:gd name="adj" fmla="val 6000"/>
            </a:avLst>
          </a:prstGeom>
          <a:solidFill>
            <a:srgbClr val="FFFCF7"/>
          </a:solidFill>
          <a:ln w="12700">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3504" y="2304288"/>
            <a:ext cx="2414016" cy="640080"/>
          </a:xfrm>
          <a:prstGeom prst="rect">
            <a:avLst/>
          </a:prstGeom>
          <a:noFill/>
        </p:spPr>
        <p:txBody>
          <a:bodyPr wrap="square" anchor="t"/>
          <a:lstStyle/>
          <a:p>
            <a:pPr algn="l">
              <a:spcAft>
                <a:spcPts val="200"/>
              </a:spcAft>
            </a:pPr>
            <a:r>
              <a:rPr sz="2800" b="1" i="0">
                <a:solidFill>
                  <a:srgbClr val="C41E3A"/>
                </a:solidFill>
                <a:latin typeface="Cambria"/>
                <a:ea typeface="宋体"/>
              </a:rPr>
              <a:t>8192</a:t>
            </a:r>
          </a:p>
        </p:txBody>
      </p:sp>
      <p:sp>
        <p:nvSpPr>
          <p:cNvPr id="13" name="TextBox 12"/>
          <p:cNvSpPr txBox="1"/>
          <p:nvPr/>
        </p:nvSpPr>
        <p:spPr>
          <a:xfrm>
            <a:off x="603504" y="2944368"/>
            <a:ext cx="2414016" cy="292608"/>
          </a:xfrm>
          <a:prstGeom prst="rect">
            <a:avLst/>
          </a:prstGeom>
          <a:noFill/>
        </p:spPr>
        <p:txBody>
          <a:bodyPr wrap="square" anchor="t"/>
          <a:lstStyle/>
          <a:p>
            <a:pPr algn="l">
              <a:spcAft>
                <a:spcPts val="200"/>
              </a:spcAft>
            </a:pPr>
            <a:r>
              <a:rPr sz="1400" b="1" i="0">
                <a:solidFill>
                  <a:srgbClr val="1A1A1A"/>
                </a:solidFill>
                <a:latin typeface="Calibri"/>
                <a:ea typeface="微软雅黑"/>
              </a:rPr>
              <a:t>颗Ironwood</a:t>
            </a:r>
          </a:p>
        </p:txBody>
      </p:sp>
      <p:sp>
        <p:nvSpPr>
          <p:cNvPr id="14" name="TextBox 13"/>
          <p:cNvSpPr txBox="1"/>
          <p:nvPr/>
        </p:nvSpPr>
        <p:spPr>
          <a:xfrm>
            <a:off x="603504" y="3255264"/>
            <a:ext cx="2414016" cy="1051560"/>
          </a:xfrm>
          <a:prstGeom prst="rect">
            <a:avLst/>
          </a:prstGeom>
          <a:noFill/>
        </p:spPr>
        <p:txBody>
          <a:bodyPr wrap="square" anchor="t"/>
          <a:lstStyle/>
          <a:p>
            <a:pPr algn="l">
              <a:spcAft>
                <a:spcPts val="200"/>
              </a:spcAft>
            </a:pPr>
            <a:r>
              <a:rPr sz="1300" b="0" i="0">
                <a:solidFill>
                  <a:srgbClr val="4A5568"/>
                </a:solidFill>
                <a:latin typeface="Calibri"/>
                <a:ea typeface="微软雅黑"/>
              </a:rPr>
              <a:t>TorchTitan称训练规模已验证到这一量级。</a:t>
            </a:r>
          </a:p>
        </p:txBody>
      </p:sp>
      <p:sp>
        <p:nvSpPr>
          <p:cNvPr id="15" name="Rounded Rectangle 14"/>
          <p:cNvSpPr/>
          <p:nvPr/>
        </p:nvSpPr>
        <p:spPr>
          <a:xfrm>
            <a:off x="3328416" y="2194560"/>
            <a:ext cx="2670048" cy="2331720"/>
          </a:xfrm>
          <a:prstGeom prst="roundRect">
            <a:avLst>
              <a:gd name="adj" fmla="val 6000"/>
            </a:avLst>
          </a:prstGeom>
          <a:solidFill>
            <a:srgbClr val="FFFCF7"/>
          </a:solidFill>
          <a:ln w="12700">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74720" y="2304288"/>
            <a:ext cx="2414016" cy="640080"/>
          </a:xfrm>
          <a:prstGeom prst="rect">
            <a:avLst/>
          </a:prstGeom>
          <a:noFill/>
        </p:spPr>
        <p:txBody>
          <a:bodyPr wrap="square" anchor="t"/>
          <a:lstStyle/>
          <a:p>
            <a:pPr algn="l">
              <a:spcAft>
                <a:spcPts val="200"/>
              </a:spcAft>
            </a:pPr>
            <a:r>
              <a:rPr sz="2800" b="1" i="0">
                <a:solidFill>
                  <a:srgbClr val="C41E3A"/>
                </a:solidFill>
                <a:latin typeface="Cambria"/>
                <a:ea typeface="宋体"/>
              </a:rPr>
              <a:t>71分</a:t>
            </a:r>
          </a:p>
        </p:txBody>
      </p:sp>
      <p:sp>
        <p:nvSpPr>
          <p:cNvPr id="17" name="TextBox 16"/>
          <p:cNvSpPr txBox="1"/>
          <p:nvPr/>
        </p:nvSpPr>
        <p:spPr>
          <a:xfrm>
            <a:off x="3474720" y="2944368"/>
            <a:ext cx="2414016" cy="292608"/>
          </a:xfrm>
          <a:prstGeom prst="rect">
            <a:avLst/>
          </a:prstGeom>
          <a:noFill/>
        </p:spPr>
        <p:txBody>
          <a:bodyPr wrap="square" anchor="t"/>
          <a:lstStyle/>
          <a:p>
            <a:pPr algn="l">
              <a:spcAft>
                <a:spcPts val="200"/>
              </a:spcAft>
            </a:pPr>
            <a:r>
              <a:rPr sz="1400" b="1" i="0">
                <a:solidFill>
                  <a:srgbClr val="1A1A1A"/>
                </a:solidFill>
                <a:latin typeface="Calibri"/>
                <a:ea typeface="微软雅黑"/>
              </a:rPr>
              <a:t>确认分离</a:t>
            </a:r>
          </a:p>
        </p:txBody>
      </p:sp>
      <p:sp>
        <p:nvSpPr>
          <p:cNvPr id="18" name="TextBox 17"/>
          <p:cNvSpPr txBox="1"/>
          <p:nvPr/>
        </p:nvSpPr>
        <p:spPr>
          <a:xfrm>
            <a:off x="3474720" y="3255264"/>
            <a:ext cx="2414016" cy="1051560"/>
          </a:xfrm>
          <a:prstGeom prst="rect">
            <a:avLst/>
          </a:prstGeom>
          <a:noFill/>
        </p:spPr>
        <p:txBody>
          <a:bodyPr wrap="square" anchor="t"/>
          <a:lstStyle/>
          <a:p>
            <a:pPr algn="l">
              <a:spcAft>
                <a:spcPts val="200"/>
              </a:spcAft>
            </a:pPr>
            <a:r>
              <a:rPr sz="1300" b="0" i="0">
                <a:solidFill>
                  <a:srgbClr val="4A5568"/>
                </a:solidFill>
                <a:latin typeface="Calibri"/>
                <a:ea typeface="微软雅黑"/>
              </a:rPr>
              <a:t>H3十号机把MMX送入预定轨道的时间。</a:t>
            </a:r>
          </a:p>
        </p:txBody>
      </p:sp>
      <p:sp>
        <p:nvSpPr>
          <p:cNvPr id="19" name="Rounded Rectangle 18"/>
          <p:cNvSpPr/>
          <p:nvPr/>
        </p:nvSpPr>
        <p:spPr>
          <a:xfrm>
            <a:off x="6199632" y="2194560"/>
            <a:ext cx="2670048" cy="2331720"/>
          </a:xfrm>
          <a:prstGeom prst="roundRect">
            <a:avLst>
              <a:gd name="adj" fmla="val 6000"/>
            </a:avLst>
          </a:prstGeom>
          <a:solidFill>
            <a:srgbClr val="FFFCF7"/>
          </a:solidFill>
          <a:ln w="12700">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45936" y="2304288"/>
            <a:ext cx="2414016" cy="640080"/>
          </a:xfrm>
          <a:prstGeom prst="rect">
            <a:avLst/>
          </a:prstGeom>
          <a:noFill/>
        </p:spPr>
        <p:txBody>
          <a:bodyPr wrap="square" anchor="t"/>
          <a:lstStyle/>
          <a:p>
            <a:pPr algn="l">
              <a:spcAft>
                <a:spcPts val="200"/>
              </a:spcAft>
            </a:pPr>
            <a:r>
              <a:rPr sz="2800" b="1" i="0">
                <a:solidFill>
                  <a:srgbClr val="C41E3A"/>
                </a:solidFill>
                <a:latin typeface="Cambria"/>
                <a:ea typeface="宋体"/>
              </a:rPr>
              <a:t>32</a:t>
            </a:r>
          </a:p>
        </p:txBody>
      </p:sp>
      <p:sp>
        <p:nvSpPr>
          <p:cNvPr id="21" name="TextBox 20"/>
          <p:cNvSpPr txBox="1"/>
          <p:nvPr/>
        </p:nvSpPr>
        <p:spPr>
          <a:xfrm>
            <a:off x="6345936" y="2944368"/>
            <a:ext cx="2414016" cy="292608"/>
          </a:xfrm>
          <a:prstGeom prst="rect">
            <a:avLst/>
          </a:prstGeom>
          <a:noFill/>
        </p:spPr>
        <p:txBody>
          <a:bodyPr wrap="square" anchor="t"/>
          <a:lstStyle/>
          <a:p>
            <a:pPr algn="l">
              <a:spcAft>
                <a:spcPts val="200"/>
              </a:spcAft>
            </a:pPr>
            <a:r>
              <a:rPr sz="1400" b="1" i="0">
                <a:solidFill>
                  <a:srgbClr val="1A1A1A"/>
                </a:solidFill>
                <a:latin typeface="Calibri"/>
                <a:ea typeface="微软雅黑"/>
              </a:rPr>
              <a:t>个载荷</a:t>
            </a:r>
          </a:p>
        </p:txBody>
      </p:sp>
      <p:sp>
        <p:nvSpPr>
          <p:cNvPr id="22" name="TextBox 21"/>
          <p:cNvSpPr txBox="1"/>
          <p:nvPr/>
        </p:nvSpPr>
        <p:spPr>
          <a:xfrm>
            <a:off x="6345936" y="3255264"/>
            <a:ext cx="2414016" cy="1051560"/>
          </a:xfrm>
          <a:prstGeom prst="rect">
            <a:avLst/>
          </a:prstGeom>
          <a:noFill/>
        </p:spPr>
        <p:txBody>
          <a:bodyPr wrap="square" anchor="t"/>
          <a:lstStyle/>
          <a:p>
            <a:pPr algn="l">
              <a:spcAft>
                <a:spcPts val="200"/>
              </a:spcAft>
            </a:pPr>
            <a:r>
              <a:rPr sz="1300" b="0" i="0">
                <a:solidFill>
                  <a:srgbClr val="4A5568"/>
                </a:solidFill>
                <a:latin typeface="Calibri"/>
                <a:ea typeface="微软雅黑"/>
              </a:rPr>
              <a:t>Bandwagon-5一次送上中倾角轨道的卫星与返回舱。</a:t>
            </a:r>
          </a:p>
        </p:txBody>
      </p:sp>
      <p:sp>
        <p:nvSpPr>
          <p:cNvPr id="23" name="Rounded Rectangle 22"/>
          <p:cNvSpPr/>
          <p:nvPr/>
        </p:nvSpPr>
        <p:spPr>
          <a:xfrm>
            <a:off x="9070848" y="2194560"/>
            <a:ext cx="2670048" cy="2331720"/>
          </a:xfrm>
          <a:prstGeom prst="roundRect">
            <a:avLst>
              <a:gd name="adj" fmla="val 6000"/>
            </a:avLst>
          </a:prstGeom>
          <a:solidFill>
            <a:srgbClr val="FFFCF7"/>
          </a:solidFill>
          <a:ln w="12700">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217152" y="2304288"/>
            <a:ext cx="2414016" cy="640080"/>
          </a:xfrm>
          <a:prstGeom prst="rect">
            <a:avLst/>
          </a:prstGeom>
          <a:noFill/>
        </p:spPr>
        <p:txBody>
          <a:bodyPr wrap="square" anchor="t"/>
          <a:lstStyle/>
          <a:p>
            <a:pPr algn="l">
              <a:spcAft>
                <a:spcPts val="200"/>
              </a:spcAft>
            </a:pPr>
            <a:r>
              <a:rPr sz="2800" b="1" i="0">
                <a:solidFill>
                  <a:srgbClr val="C41E3A"/>
                </a:solidFill>
                <a:latin typeface="Cambria"/>
                <a:ea typeface="宋体"/>
              </a:rPr>
              <a:t>400</a:t>
            </a:r>
          </a:p>
        </p:txBody>
      </p:sp>
      <p:sp>
        <p:nvSpPr>
          <p:cNvPr id="25" name="TextBox 24"/>
          <p:cNvSpPr txBox="1"/>
          <p:nvPr/>
        </p:nvSpPr>
        <p:spPr>
          <a:xfrm>
            <a:off x="9217152" y="2944368"/>
            <a:ext cx="2414016" cy="292608"/>
          </a:xfrm>
          <a:prstGeom prst="rect">
            <a:avLst/>
          </a:prstGeom>
          <a:noFill/>
        </p:spPr>
        <p:txBody>
          <a:bodyPr wrap="square" anchor="t"/>
          <a:lstStyle/>
          <a:p>
            <a:pPr algn="l">
              <a:spcAft>
                <a:spcPts val="200"/>
              </a:spcAft>
            </a:pPr>
            <a:r>
              <a:rPr sz="1400" b="1" i="0">
                <a:solidFill>
                  <a:srgbClr val="1A1A1A"/>
                </a:solidFill>
                <a:latin typeface="Calibri"/>
                <a:ea typeface="微软雅黑"/>
              </a:rPr>
              <a:t>GOPS</a:t>
            </a:r>
          </a:p>
        </p:txBody>
      </p:sp>
      <p:sp>
        <p:nvSpPr>
          <p:cNvPr id="26" name="TextBox 25"/>
          <p:cNvSpPr txBox="1"/>
          <p:nvPr/>
        </p:nvSpPr>
        <p:spPr>
          <a:xfrm>
            <a:off x="9217152" y="3255264"/>
            <a:ext cx="2414016" cy="1051560"/>
          </a:xfrm>
          <a:prstGeom prst="rect">
            <a:avLst/>
          </a:prstGeom>
          <a:noFill/>
        </p:spPr>
        <p:txBody>
          <a:bodyPr wrap="square" anchor="t"/>
          <a:lstStyle/>
          <a:p>
            <a:pPr algn="l">
              <a:spcAft>
                <a:spcPts val="200"/>
              </a:spcAft>
            </a:pPr>
            <a:r>
              <a:rPr sz="1300" b="0" i="0">
                <a:solidFill>
                  <a:srgbClr val="4A5568"/>
                </a:solidFill>
                <a:latin typeface="Calibri"/>
                <a:ea typeface="微软雅黑"/>
              </a:rPr>
              <a:t>Astra SR250端侧算力的顶档标称。</a:t>
            </a:r>
          </a:p>
        </p:txBody>
      </p:sp>
      <p:sp>
        <p:nvSpPr>
          <p:cNvPr id="27" name="Rounded Rectangle 26"/>
          <p:cNvSpPr/>
          <p:nvPr/>
        </p:nvSpPr>
        <p:spPr>
          <a:xfrm>
            <a:off x="457200" y="4736592"/>
            <a:ext cx="11277295" cy="1664208"/>
          </a:xfrm>
          <a:prstGeom prst="roundRect">
            <a:avLst>
              <a:gd name="adj" fmla="val 6000"/>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8368" y="4864608"/>
            <a:ext cx="10789920" cy="256032"/>
          </a:xfrm>
          <a:prstGeom prst="rect">
            <a:avLst/>
          </a:prstGeom>
          <a:noFill/>
        </p:spPr>
        <p:txBody>
          <a:bodyPr wrap="square" anchor="t"/>
          <a:lstStyle/>
          <a:p>
            <a:pPr algn="l">
              <a:spcAft>
                <a:spcPts val="200"/>
              </a:spcAft>
            </a:pPr>
            <a:r>
              <a:rPr sz="1200" b="1" i="0">
                <a:solidFill>
                  <a:srgbClr val="C41E3A"/>
                </a:solidFill>
                <a:latin typeface="Calibri"/>
                <a:ea typeface="微软雅黑"/>
              </a:rPr>
              <a:t>对照 · 不重写前刊</a:t>
            </a:r>
          </a:p>
        </p:txBody>
      </p:sp>
      <p:sp>
        <p:nvSpPr>
          <p:cNvPr id="29" name="TextBox 28"/>
          <p:cNvSpPr txBox="1"/>
          <p:nvPr/>
        </p:nvSpPr>
        <p:spPr>
          <a:xfrm>
            <a:off x="658368" y="5157216"/>
            <a:ext cx="10789920" cy="1051560"/>
          </a:xfrm>
          <a:prstGeom prst="rect">
            <a:avLst/>
          </a:prstGeom>
          <a:noFill/>
        </p:spPr>
        <p:txBody>
          <a:bodyPr wrap="square" anchor="t"/>
          <a:lstStyle/>
          <a:p>
            <a:pPr algn="l">
              <a:spcAft>
                <a:spcPts val="200"/>
              </a:spcAft>
            </a:pPr>
            <a:r>
              <a:rPr sz="1400" b="0" i="0">
                <a:solidFill>
                  <a:srgbClr val="F7F4EF"/>
                </a:solidFill>
                <a:latin typeface="Calibri"/>
                <a:ea typeface="微软雅黑"/>
              </a:rPr>
              <a:t>会见拉赫蒙/阿雷夫、央行五项、靖国神社、约托娃会见、进迭V100、Anthropic基金已见19日刊。科技兴商18条为19日国新办。国常会「人工智能+」为16日。NVIDIA聚合站稿不立项。</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01168"/>
            <a:ext cx="3840480" cy="292608"/>
          </a:xfrm>
          <a:prstGeom prst="rect">
            <a:avLst/>
          </a:prstGeom>
          <a:noFill/>
        </p:spPr>
        <p:txBody>
          <a:bodyPr wrap="square" anchor="t"/>
          <a:lstStyle/>
          <a:p>
            <a:pPr algn="l">
              <a:spcAft>
                <a:spcPts val="200"/>
              </a:spcAft>
            </a:pPr>
            <a:r>
              <a:rPr sz="1400" b="1" i="0">
                <a:solidFill>
                  <a:srgbClr val="1A1A1A"/>
                </a:solidFill>
                <a:latin typeface="Cambria"/>
                <a:ea typeface="宋体"/>
              </a:rPr>
              <a:t>每日时政科技简报</a:t>
            </a:r>
          </a:p>
        </p:txBody>
      </p:sp>
      <p:sp>
        <p:nvSpPr>
          <p:cNvPr id="4" name="TextBox 3"/>
          <p:cNvSpPr txBox="1"/>
          <p:nvPr/>
        </p:nvSpPr>
        <p:spPr>
          <a:xfrm>
            <a:off x="4572000" y="201168"/>
            <a:ext cx="4937760" cy="292608"/>
          </a:xfrm>
          <a:prstGeom prst="rect">
            <a:avLst/>
          </a:prstGeom>
          <a:noFill/>
        </p:spPr>
        <p:txBody>
          <a:bodyPr wrap="square" anchor="t"/>
          <a:lstStyle/>
          <a:p>
            <a:pPr algn="ctr">
              <a:spcAft>
                <a:spcPts val="200"/>
              </a:spcAft>
            </a:pPr>
            <a:r>
              <a:rPr sz="1200" b="0" i="0">
                <a:solidFill>
                  <a:srgbClr val="4A5568"/>
                </a:solidFill>
                <a:latin typeface="Calibri"/>
                <a:ea typeface="微软雅黑"/>
              </a:rPr>
              <a:t>第029期  ·  2026年10月20日  ·  星期二</a:t>
            </a:r>
          </a:p>
        </p:txBody>
      </p:sp>
      <p:sp>
        <p:nvSpPr>
          <p:cNvPr id="5" name="TextBox 4"/>
          <p:cNvSpPr txBox="1"/>
          <p:nvPr/>
        </p:nvSpPr>
        <p:spPr>
          <a:xfrm>
            <a:off x="10149840" y="201168"/>
            <a:ext cx="1554480" cy="292608"/>
          </a:xfrm>
          <a:prstGeom prst="rect">
            <a:avLst/>
          </a:prstGeom>
          <a:noFill/>
        </p:spPr>
        <p:txBody>
          <a:bodyPr wrap="square" anchor="t"/>
          <a:lstStyle/>
          <a:p>
            <a:pPr algn="r">
              <a:spcAft>
                <a:spcPts val="200"/>
              </a:spcAft>
            </a:pPr>
            <a:r>
              <a:rPr sz="1300" b="1" i="0">
                <a:solidFill>
                  <a:srgbClr val="C41E3A"/>
                </a:solidFill>
                <a:latin typeface="Calibri"/>
                <a:ea typeface="微软雅黑"/>
              </a:rPr>
              <a:t>晨刊</a:t>
            </a:r>
          </a:p>
        </p:txBody>
      </p:sp>
      <p:sp>
        <p:nvSpPr>
          <p:cNvPr id="6" name="Rectangle 5"/>
          <p:cNvSpPr/>
          <p:nvPr/>
        </p:nvSpPr>
        <p:spPr>
          <a:xfrm>
            <a:off x="457200" y="493776"/>
            <a:ext cx="11277295" cy="20320"/>
          </a:xfrm>
          <a:prstGeom prst="rect">
            <a:avLst/>
          </a:prstGeom>
          <a:solidFill>
            <a:srgbClr val="C41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530352"/>
            <a:ext cx="11277295" cy="9525"/>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8368"/>
            <a:ext cx="11247120" cy="566928"/>
          </a:xfrm>
          <a:prstGeom prst="rect">
            <a:avLst/>
          </a:prstGeom>
          <a:noFill/>
        </p:spPr>
        <p:txBody>
          <a:bodyPr wrap="square" anchor="t"/>
          <a:lstStyle/>
          <a:p>
            <a:pPr algn="l">
              <a:spcAft>
                <a:spcPts val="200"/>
              </a:spcAft>
            </a:pPr>
            <a:r>
              <a:rPr sz="2800" b="1" i="0">
                <a:solidFill>
                  <a:srgbClr val="1A1A1A"/>
                </a:solidFill>
                <a:latin typeface="Cambria"/>
                <a:ea typeface="宋体"/>
              </a:rPr>
              <a:t>算力开源</a:t>
            </a:r>
          </a:p>
        </p:txBody>
      </p:sp>
      <p:sp>
        <p:nvSpPr>
          <p:cNvPr id="9" name="Rounded Rectangle 8"/>
          <p:cNvSpPr/>
          <p:nvPr/>
        </p:nvSpPr>
        <p:spPr>
          <a:xfrm>
            <a:off x="457200" y="1417320"/>
            <a:ext cx="11277295" cy="4983480"/>
          </a:xfrm>
          <a:prstGeom prst="roundRect">
            <a:avLst>
              <a:gd name="adj" fmla="val 6000"/>
            </a:avLst>
          </a:prstGeom>
          <a:solidFill>
            <a:srgbClr val="FFFCF7"/>
          </a:solidFill>
          <a:ln w="12700">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1691640"/>
            <a:ext cx="1828800" cy="914400"/>
          </a:xfrm>
          <a:prstGeom prst="rect">
            <a:avLst/>
          </a:prstGeom>
          <a:noFill/>
        </p:spPr>
        <p:txBody>
          <a:bodyPr wrap="square" anchor="t"/>
          <a:lstStyle/>
          <a:p>
            <a:pPr algn="l">
              <a:spcAft>
                <a:spcPts val="200"/>
              </a:spcAft>
            </a:pPr>
            <a:r>
              <a:rPr sz="5400" b="1" i="0">
                <a:solidFill>
                  <a:srgbClr val="C41E3A"/>
                </a:solidFill>
                <a:latin typeface="Cambria"/>
                <a:ea typeface="宋体"/>
              </a:rPr>
              <a:t>07</a:t>
            </a:r>
          </a:p>
        </p:txBody>
      </p:sp>
      <p:sp>
        <p:nvSpPr>
          <p:cNvPr id="11" name="TextBox 10"/>
          <p:cNvSpPr txBox="1"/>
          <p:nvPr/>
        </p:nvSpPr>
        <p:spPr>
          <a:xfrm>
            <a:off x="658368" y="2606040"/>
            <a:ext cx="1874519" cy="640080"/>
          </a:xfrm>
          <a:prstGeom prst="rect">
            <a:avLst/>
          </a:prstGeom>
          <a:noFill/>
        </p:spPr>
        <p:txBody>
          <a:bodyPr wrap="square" anchor="t"/>
          <a:lstStyle/>
          <a:p>
            <a:pPr algn="l">
              <a:spcAft>
                <a:spcPts val="200"/>
              </a:spcAft>
            </a:pPr>
            <a:r>
              <a:rPr sz="1400" b="1" i="0">
                <a:solidFill>
                  <a:srgbClr val="4A5568"/>
                </a:solidFill>
                <a:latin typeface="Calibri"/>
                <a:ea typeface="微软雅黑"/>
              </a:rPr>
              <a:t>算力 · 旧金山</a:t>
            </a:r>
          </a:p>
        </p:txBody>
      </p:sp>
      <p:sp>
        <p:nvSpPr>
          <p:cNvPr id="12" name="TextBox 11"/>
          <p:cNvSpPr txBox="1"/>
          <p:nvPr/>
        </p:nvSpPr>
        <p:spPr>
          <a:xfrm>
            <a:off x="2788920" y="1627632"/>
            <a:ext cx="8503920" cy="237744"/>
          </a:xfrm>
          <a:prstGeom prst="rect">
            <a:avLst/>
          </a:prstGeom>
          <a:noFill/>
        </p:spPr>
        <p:txBody>
          <a:bodyPr wrap="square" anchor="t"/>
          <a:lstStyle/>
          <a:p>
            <a:pPr algn="l">
              <a:spcAft>
                <a:spcPts val="200"/>
              </a:spcAft>
            </a:pPr>
            <a:r>
              <a:rPr sz="1200" b="1" i="0">
                <a:solidFill>
                  <a:srgbClr val="C41E3A"/>
                </a:solidFill>
                <a:latin typeface="Calibri"/>
                <a:ea typeface="微软雅黑"/>
              </a:rPr>
              <a:t>Google Cloud · PyTorch Conference</a:t>
            </a:r>
          </a:p>
        </p:txBody>
      </p:sp>
      <p:sp>
        <p:nvSpPr>
          <p:cNvPr id="13" name="TextBox 12"/>
          <p:cNvSpPr txBox="1"/>
          <p:nvPr/>
        </p:nvSpPr>
        <p:spPr>
          <a:xfrm>
            <a:off x="2788920" y="1901952"/>
            <a:ext cx="8503920" cy="1051560"/>
          </a:xfrm>
          <a:prstGeom prst="rect">
            <a:avLst/>
          </a:prstGeom>
          <a:noFill/>
        </p:spPr>
        <p:txBody>
          <a:bodyPr wrap="square" anchor="t"/>
          <a:lstStyle/>
          <a:p>
            <a:pPr algn="l">
              <a:spcAft>
                <a:spcPts val="200"/>
              </a:spcAft>
            </a:pPr>
            <a:r>
              <a:rPr sz="3200" b="1" i="0">
                <a:solidFill>
                  <a:srgbClr val="1A1A1A"/>
                </a:solidFill>
                <a:latin typeface="Cambria"/>
                <a:ea typeface="宋体"/>
              </a:rPr>
              <a:t>TorchTPU开源上PyTorch</a:t>
            </a:r>
          </a:p>
        </p:txBody>
      </p:sp>
      <p:sp>
        <p:nvSpPr>
          <p:cNvPr id="14" name="TextBox 13"/>
          <p:cNvSpPr txBox="1"/>
          <p:nvPr/>
        </p:nvSpPr>
        <p:spPr>
          <a:xfrm>
            <a:off x="2788920" y="2999232"/>
            <a:ext cx="8503920" cy="292608"/>
          </a:xfrm>
          <a:prstGeom prst="rect">
            <a:avLst/>
          </a:prstGeom>
          <a:noFill/>
        </p:spPr>
        <p:txBody>
          <a:bodyPr wrap="square" anchor="t"/>
          <a:lstStyle/>
          <a:p>
            <a:pPr algn="l">
              <a:spcAft>
                <a:spcPts val="200"/>
              </a:spcAft>
            </a:pPr>
            <a:r>
              <a:rPr sz="1200" b="0" i="1">
                <a:solidFill>
                  <a:srgbClr val="4A5568"/>
                </a:solidFill>
                <a:latin typeface="Calibri"/>
                <a:ea typeface="微软雅黑"/>
              </a:rPr>
              <a:t>来源：Google Cloud Blog / Developers Blog</a:t>
            </a:r>
          </a:p>
        </p:txBody>
      </p:sp>
      <p:sp>
        <p:nvSpPr>
          <p:cNvPr id="15" name="TextBox 14"/>
          <p:cNvSpPr txBox="1"/>
          <p:nvPr/>
        </p:nvSpPr>
        <p:spPr>
          <a:xfrm>
            <a:off x="2788920" y="3328416"/>
            <a:ext cx="8503920" cy="1325880"/>
          </a:xfrm>
          <a:prstGeom prst="rect">
            <a:avLst/>
          </a:prstGeom>
          <a:noFill/>
        </p:spPr>
        <p:txBody>
          <a:bodyPr wrap="square" anchor="t"/>
          <a:lstStyle/>
          <a:p>
            <a:pPr algn="l">
              <a:spcAft>
                <a:spcPts val="200"/>
              </a:spcAft>
            </a:pPr>
            <a:r>
              <a:rPr sz="1500" b="0" i="0">
                <a:solidFill>
                  <a:srgbClr val="1A1A1A"/>
                </a:solidFill>
                <a:latin typeface="Calibri"/>
                <a:ea typeface="微软雅黑"/>
              </a:rPr>
              <a:t>谷歌20日在PyTorch大会开源TorchTPU，使TPU成为与GPU并列的原生后端，可接vLLM、SGLang、Hugging Face与TorchTitan。TorchTitan称在最多8192颗Ironwood上训练；另发llm-d 1.0与TPU agent suite预览。</a:t>
            </a:r>
          </a:p>
        </p:txBody>
      </p:sp>
      <p:sp>
        <p:nvSpPr>
          <p:cNvPr id="16" name="Rectangle 15"/>
          <p:cNvSpPr/>
          <p:nvPr/>
        </p:nvSpPr>
        <p:spPr>
          <a:xfrm>
            <a:off x="2788920" y="5349240"/>
            <a:ext cx="8503920" cy="11430"/>
          </a:xfrm>
          <a:prstGeom prst="rect">
            <a:avLst/>
          </a:prstGeom>
          <a:solidFill>
            <a:srgbClr val="D6C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88920" y="5404104"/>
            <a:ext cx="8503920" cy="201168"/>
          </a:xfrm>
          <a:prstGeom prst="rect">
            <a:avLst/>
          </a:prstGeom>
          <a:noFill/>
        </p:spPr>
        <p:txBody>
          <a:bodyPr wrap="square" anchor="t"/>
          <a:lstStyle/>
          <a:p>
            <a:pPr algn="l">
              <a:spcAft>
                <a:spcPts val="200"/>
              </a:spcAft>
            </a:pPr>
            <a:r>
              <a:rPr sz="1200" b="1" i="0">
                <a:solidFill>
                  <a:srgbClr val="C41E3A"/>
                </a:solidFill>
                <a:latin typeface="Calibri"/>
                <a:ea typeface="微软雅黑"/>
              </a:rPr>
              <a:t>为何重要</a:t>
            </a:r>
          </a:p>
        </p:txBody>
      </p:sp>
      <p:sp>
        <p:nvSpPr>
          <p:cNvPr id="18" name="TextBox 17"/>
          <p:cNvSpPr txBox="1"/>
          <p:nvPr/>
        </p:nvSpPr>
        <p:spPr>
          <a:xfrm>
            <a:off x="2788920" y="5586984"/>
            <a:ext cx="8503920" cy="502920"/>
          </a:xfrm>
          <a:prstGeom prst="rect">
            <a:avLst/>
          </a:prstGeom>
          <a:noFill/>
        </p:spPr>
        <p:txBody>
          <a:bodyPr wrap="square" anchor="t"/>
          <a:lstStyle/>
          <a:p>
            <a:pPr algn="l">
              <a:spcAft>
                <a:spcPts val="200"/>
              </a:spcAft>
            </a:pPr>
            <a:r>
              <a:rPr sz="1400" b="0" i="0">
                <a:solidFill>
                  <a:srgbClr val="4A5568"/>
                </a:solidFill>
                <a:latin typeface="Calibri"/>
                <a:ea typeface="微软雅黑"/>
              </a:rPr>
              <a:t>把TPU从「要改代码」改写成一条配置即可迁移的PyTorch路径，直接冲击英伟达的软件护城河。</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01168"/>
            <a:ext cx="3840480" cy="292608"/>
          </a:xfrm>
          <a:prstGeom prst="rect">
            <a:avLst/>
          </a:prstGeom>
          <a:noFill/>
        </p:spPr>
        <p:txBody>
          <a:bodyPr wrap="square" anchor="t"/>
          <a:lstStyle/>
          <a:p>
            <a:pPr algn="l">
              <a:spcAft>
                <a:spcPts val="200"/>
              </a:spcAft>
            </a:pPr>
            <a:r>
              <a:rPr sz="1400" b="1" i="0">
                <a:solidFill>
                  <a:srgbClr val="1A1A1A"/>
                </a:solidFill>
                <a:latin typeface="Cambria"/>
                <a:ea typeface="宋体"/>
              </a:rPr>
              <a:t>每日时政科技简报</a:t>
            </a:r>
          </a:p>
        </p:txBody>
      </p:sp>
      <p:sp>
        <p:nvSpPr>
          <p:cNvPr id="4" name="TextBox 3"/>
          <p:cNvSpPr txBox="1"/>
          <p:nvPr/>
        </p:nvSpPr>
        <p:spPr>
          <a:xfrm>
            <a:off x="4572000" y="201168"/>
            <a:ext cx="4937760" cy="292608"/>
          </a:xfrm>
          <a:prstGeom prst="rect">
            <a:avLst/>
          </a:prstGeom>
          <a:noFill/>
        </p:spPr>
        <p:txBody>
          <a:bodyPr wrap="square" anchor="t"/>
          <a:lstStyle/>
          <a:p>
            <a:pPr algn="ctr">
              <a:spcAft>
                <a:spcPts val="200"/>
              </a:spcAft>
            </a:pPr>
            <a:r>
              <a:rPr sz="1200" b="0" i="0">
                <a:solidFill>
                  <a:srgbClr val="4A5568"/>
                </a:solidFill>
                <a:latin typeface="Calibri"/>
                <a:ea typeface="微软雅黑"/>
              </a:rPr>
              <a:t>第029期  ·  2026年10月20日  ·  星期二</a:t>
            </a:r>
          </a:p>
        </p:txBody>
      </p:sp>
      <p:sp>
        <p:nvSpPr>
          <p:cNvPr id="5" name="TextBox 4"/>
          <p:cNvSpPr txBox="1"/>
          <p:nvPr/>
        </p:nvSpPr>
        <p:spPr>
          <a:xfrm>
            <a:off x="10149840" y="201168"/>
            <a:ext cx="1554480" cy="292608"/>
          </a:xfrm>
          <a:prstGeom prst="rect">
            <a:avLst/>
          </a:prstGeom>
          <a:noFill/>
        </p:spPr>
        <p:txBody>
          <a:bodyPr wrap="square" anchor="t"/>
          <a:lstStyle/>
          <a:p>
            <a:pPr algn="r">
              <a:spcAft>
                <a:spcPts val="200"/>
              </a:spcAft>
            </a:pPr>
            <a:r>
              <a:rPr sz="1300" b="1" i="0">
                <a:solidFill>
                  <a:srgbClr val="C41E3A"/>
                </a:solidFill>
                <a:latin typeface="Calibri"/>
                <a:ea typeface="微软雅黑"/>
              </a:rPr>
              <a:t>晨刊</a:t>
            </a:r>
          </a:p>
        </p:txBody>
      </p:sp>
      <p:sp>
        <p:nvSpPr>
          <p:cNvPr id="6" name="Rectangle 5"/>
          <p:cNvSpPr/>
          <p:nvPr/>
        </p:nvSpPr>
        <p:spPr>
          <a:xfrm>
            <a:off x="457200" y="493776"/>
            <a:ext cx="11277295" cy="20320"/>
          </a:xfrm>
          <a:prstGeom prst="rect">
            <a:avLst/>
          </a:prstGeom>
          <a:solidFill>
            <a:srgbClr val="C41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530352"/>
            <a:ext cx="11277295" cy="9525"/>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40080"/>
            <a:ext cx="11247120" cy="530352"/>
          </a:xfrm>
          <a:prstGeom prst="rect">
            <a:avLst/>
          </a:prstGeom>
          <a:noFill/>
        </p:spPr>
        <p:txBody>
          <a:bodyPr wrap="square" anchor="t"/>
          <a:lstStyle/>
          <a:p>
            <a:pPr algn="l">
              <a:spcAft>
                <a:spcPts val="200"/>
              </a:spcAft>
            </a:pPr>
            <a:r>
              <a:rPr sz="2800" b="1" i="0">
                <a:solidFill>
                  <a:srgbClr val="1A1A1A"/>
                </a:solidFill>
                <a:latin typeface="Cambria"/>
                <a:ea typeface="宋体"/>
              </a:rPr>
              <a:t>一艘取样船，三十二个载荷</a:t>
            </a:r>
          </a:p>
        </p:txBody>
      </p:sp>
      <p:sp>
        <p:nvSpPr>
          <p:cNvPr id="9" name="TextBox 8"/>
          <p:cNvSpPr txBox="1"/>
          <p:nvPr/>
        </p:nvSpPr>
        <p:spPr>
          <a:xfrm>
            <a:off x="457200" y="1188720"/>
            <a:ext cx="11247120" cy="256032"/>
          </a:xfrm>
          <a:prstGeom prst="rect">
            <a:avLst/>
          </a:prstGeom>
          <a:noFill/>
        </p:spPr>
        <p:txBody>
          <a:bodyPr wrap="square" anchor="t"/>
          <a:lstStyle/>
          <a:p>
            <a:pPr algn="l">
              <a:spcAft>
                <a:spcPts val="200"/>
              </a:spcAft>
            </a:pPr>
            <a:r>
              <a:rPr sz="1400" b="0" i="0">
                <a:solidFill>
                  <a:srgbClr val="4A5568"/>
                </a:solidFill>
                <a:latin typeface="Calibri"/>
                <a:ea typeface="微软雅黑"/>
              </a:rPr>
              <a:t>沪时清晨是种子岛的火星卫星，傍晚是卡纳维拉尔角的中倾角拼车。</a:t>
            </a:r>
          </a:p>
        </p:txBody>
      </p:sp>
      <p:sp>
        <p:nvSpPr>
          <p:cNvPr id="10" name="Rounded Rectangle 9"/>
          <p:cNvSpPr/>
          <p:nvPr/>
        </p:nvSpPr>
        <p:spPr>
          <a:xfrm>
            <a:off x="457200" y="1517904"/>
            <a:ext cx="5486400" cy="4864608"/>
          </a:xfrm>
          <a:prstGeom prst="roundRect">
            <a:avLst>
              <a:gd name="adj" fmla="val 6000"/>
            </a:avLst>
          </a:prstGeom>
          <a:solidFill>
            <a:srgbClr val="FFFCF7"/>
          </a:solidFill>
          <a:ln w="12700">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664208"/>
            <a:ext cx="5084064" cy="237744"/>
          </a:xfrm>
          <a:prstGeom prst="rect">
            <a:avLst/>
          </a:prstGeom>
          <a:noFill/>
        </p:spPr>
        <p:txBody>
          <a:bodyPr wrap="square" anchor="t"/>
          <a:lstStyle/>
          <a:p>
            <a:pPr algn="l">
              <a:spcAft>
                <a:spcPts val="200"/>
              </a:spcAft>
            </a:pPr>
            <a:r>
              <a:rPr sz="1200" b="1" i="0">
                <a:solidFill>
                  <a:srgbClr val="C41E3A"/>
                </a:solidFill>
                <a:latin typeface="Calibri"/>
                <a:ea typeface="微软雅黑"/>
              </a:rPr>
              <a:t>08　航天 · 种子岛</a:t>
            </a:r>
          </a:p>
        </p:txBody>
      </p:sp>
      <p:sp>
        <p:nvSpPr>
          <p:cNvPr id="12" name="TextBox 11"/>
          <p:cNvSpPr txBox="1"/>
          <p:nvPr/>
        </p:nvSpPr>
        <p:spPr>
          <a:xfrm>
            <a:off x="658368" y="1883664"/>
            <a:ext cx="5084064" cy="1170432"/>
          </a:xfrm>
          <a:prstGeom prst="rect">
            <a:avLst/>
          </a:prstGeom>
          <a:noFill/>
        </p:spPr>
        <p:txBody>
          <a:bodyPr wrap="square" anchor="t"/>
          <a:lstStyle/>
          <a:p>
            <a:pPr algn="l">
              <a:spcAft>
                <a:spcPts val="200"/>
              </a:spcAft>
            </a:pPr>
            <a:r>
              <a:rPr sz="2600" b="1" i="0">
                <a:solidFill>
                  <a:srgbClr val="1A1A1A"/>
                </a:solidFill>
                <a:latin typeface="Cambria"/>
                <a:ea typeface="宋体"/>
              </a:rPr>
              <a:t>H3十号机送出MMX</a:t>
            </a:r>
          </a:p>
        </p:txBody>
      </p:sp>
      <p:sp>
        <p:nvSpPr>
          <p:cNvPr id="13" name="TextBox 12"/>
          <p:cNvSpPr txBox="1"/>
          <p:nvPr/>
        </p:nvSpPr>
        <p:spPr>
          <a:xfrm>
            <a:off x="658368" y="3072384"/>
            <a:ext cx="5084064" cy="274320"/>
          </a:xfrm>
          <a:prstGeom prst="rect">
            <a:avLst/>
          </a:prstGeom>
          <a:noFill/>
        </p:spPr>
        <p:txBody>
          <a:bodyPr wrap="square" anchor="t"/>
          <a:lstStyle/>
          <a:p>
            <a:pPr algn="l">
              <a:spcAft>
                <a:spcPts val="200"/>
              </a:spcAft>
            </a:pPr>
            <a:r>
              <a:rPr sz="1200" b="0" i="1">
                <a:solidFill>
                  <a:srgbClr val="4A5568"/>
                </a:solidFill>
                <a:latin typeface="Calibri"/>
                <a:ea typeface="微软雅黑"/>
              </a:rPr>
              <a:t>来源：JAXA</a:t>
            </a:r>
          </a:p>
        </p:txBody>
      </p:sp>
      <p:sp>
        <p:nvSpPr>
          <p:cNvPr id="14" name="TextBox 13"/>
          <p:cNvSpPr txBox="1"/>
          <p:nvPr/>
        </p:nvSpPr>
        <p:spPr>
          <a:xfrm>
            <a:off x="658368" y="3346704"/>
            <a:ext cx="5084064" cy="1051560"/>
          </a:xfrm>
          <a:prstGeom prst="rect">
            <a:avLst/>
          </a:prstGeom>
          <a:noFill/>
        </p:spPr>
        <p:txBody>
          <a:bodyPr wrap="square" anchor="t"/>
          <a:lstStyle/>
          <a:p>
            <a:pPr algn="l">
              <a:spcAft>
                <a:spcPts val="200"/>
              </a:spcAft>
            </a:pPr>
            <a:r>
              <a:rPr sz="1400" b="0" i="0">
                <a:solidFill>
                  <a:srgbClr val="1A1A1A"/>
                </a:solidFill>
                <a:latin typeface="Calibri"/>
                <a:ea typeface="微软雅黑"/>
              </a:rPr>
              <a:t>JAXA于20日4:41（日本时，沪时3:41）用H3火箭10号机从种子岛发射火星卫星探测器MMX，约71分钟后确认分离入轨。任务将取样火卫一表面物质，计划2031年返回地球。</a:t>
            </a:r>
          </a:p>
        </p:txBody>
      </p:sp>
      <p:sp>
        <p:nvSpPr>
          <p:cNvPr id="15" name="Rectangle 14"/>
          <p:cNvSpPr/>
          <p:nvPr/>
        </p:nvSpPr>
        <p:spPr>
          <a:xfrm>
            <a:off x="658368" y="5541264"/>
            <a:ext cx="5084064" cy="11430"/>
          </a:xfrm>
          <a:prstGeom prst="rect">
            <a:avLst/>
          </a:prstGeom>
          <a:solidFill>
            <a:srgbClr val="D6C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5596128"/>
            <a:ext cx="5084064" cy="201168"/>
          </a:xfrm>
          <a:prstGeom prst="rect">
            <a:avLst/>
          </a:prstGeom>
          <a:noFill/>
        </p:spPr>
        <p:txBody>
          <a:bodyPr wrap="square" anchor="t"/>
          <a:lstStyle/>
          <a:p>
            <a:pPr algn="l">
              <a:spcAft>
                <a:spcPts val="200"/>
              </a:spcAft>
            </a:pPr>
            <a:r>
              <a:rPr sz="1200" b="1" i="0">
                <a:solidFill>
                  <a:srgbClr val="C41E3A"/>
                </a:solidFill>
                <a:latin typeface="Calibri"/>
                <a:ea typeface="微软雅黑"/>
              </a:rPr>
              <a:t>为何重要</a:t>
            </a:r>
          </a:p>
        </p:txBody>
      </p:sp>
      <p:sp>
        <p:nvSpPr>
          <p:cNvPr id="17" name="TextBox 16"/>
          <p:cNvSpPr txBox="1"/>
          <p:nvPr/>
        </p:nvSpPr>
        <p:spPr>
          <a:xfrm>
            <a:off x="658368" y="5779008"/>
            <a:ext cx="5084064" cy="502920"/>
          </a:xfrm>
          <a:prstGeom prst="rect">
            <a:avLst/>
          </a:prstGeom>
          <a:noFill/>
        </p:spPr>
        <p:txBody>
          <a:bodyPr wrap="square" anchor="t"/>
          <a:lstStyle/>
          <a:p>
            <a:pPr algn="l">
              <a:spcAft>
                <a:spcPts val="200"/>
              </a:spcAft>
            </a:pPr>
            <a:r>
              <a:rPr sz="1300" b="0" i="0">
                <a:solidFill>
                  <a:srgbClr val="4A5568"/>
                </a:solidFill>
                <a:latin typeface="Calibri"/>
                <a:ea typeface="微软雅黑"/>
              </a:rPr>
              <a:t>这是人类首次针对火星卫星的取样返回任务升空，把火卫一起源之争写成可带回实验室的日程。</a:t>
            </a:r>
          </a:p>
        </p:txBody>
      </p:sp>
      <p:sp>
        <p:nvSpPr>
          <p:cNvPr id="18" name="Rounded Rectangle 17"/>
          <p:cNvSpPr/>
          <p:nvPr/>
        </p:nvSpPr>
        <p:spPr>
          <a:xfrm>
            <a:off x="6245352" y="1517904"/>
            <a:ext cx="5486400" cy="4864608"/>
          </a:xfrm>
          <a:prstGeom prst="roundRect">
            <a:avLst>
              <a:gd name="adj" fmla="val 6000"/>
            </a:avLst>
          </a:prstGeom>
          <a:solidFill>
            <a:srgbClr val="FFFCF7"/>
          </a:solidFill>
          <a:ln w="12700">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46520" y="1664208"/>
            <a:ext cx="5084064" cy="237744"/>
          </a:xfrm>
          <a:prstGeom prst="rect">
            <a:avLst/>
          </a:prstGeom>
          <a:noFill/>
        </p:spPr>
        <p:txBody>
          <a:bodyPr wrap="square" anchor="t"/>
          <a:lstStyle/>
          <a:p>
            <a:pPr algn="l">
              <a:spcAft>
                <a:spcPts val="200"/>
              </a:spcAft>
            </a:pPr>
            <a:r>
              <a:rPr sz="1200" b="1" i="0">
                <a:solidFill>
                  <a:srgbClr val="C41E3A"/>
                </a:solidFill>
                <a:latin typeface="Calibri"/>
                <a:ea typeface="微软雅黑"/>
              </a:rPr>
              <a:t>09　航天 · 佛罗里达</a:t>
            </a:r>
          </a:p>
        </p:txBody>
      </p:sp>
      <p:sp>
        <p:nvSpPr>
          <p:cNvPr id="20" name="TextBox 19"/>
          <p:cNvSpPr txBox="1"/>
          <p:nvPr/>
        </p:nvSpPr>
        <p:spPr>
          <a:xfrm>
            <a:off x="6446520" y="1883664"/>
            <a:ext cx="5084064" cy="1170432"/>
          </a:xfrm>
          <a:prstGeom prst="rect">
            <a:avLst/>
          </a:prstGeom>
          <a:noFill/>
        </p:spPr>
        <p:txBody>
          <a:bodyPr wrap="square" anchor="t"/>
          <a:lstStyle/>
          <a:p>
            <a:pPr algn="l">
              <a:spcAft>
                <a:spcPts val="200"/>
              </a:spcAft>
            </a:pPr>
            <a:r>
              <a:rPr sz="2600" b="1" i="0">
                <a:solidFill>
                  <a:srgbClr val="1A1A1A"/>
                </a:solidFill>
                <a:latin typeface="Cambria"/>
                <a:ea typeface="宋体"/>
              </a:rPr>
              <a:t>Bandwagon-5送上32载荷</a:t>
            </a:r>
          </a:p>
        </p:txBody>
      </p:sp>
      <p:sp>
        <p:nvSpPr>
          <p:cNvPr id="21" name="TextBox 20"/>
          <p:cNvSpPr txBox="1"/>
          <p:nvPr/>
        </p:nvSpPr>
        <p:spPr>
          <a:xfrm>
            <a:off x="6446520" y="3072384"/>
            <a:ext cx="5084064" cy="274320"/>
          </a:xfrm>
          <a:prstGeom prst="rect">
            <a:avLst/>
          </a:prstGeom>
          <a:noFill/>
        </p:spPr>
        <p:txBody>
          <a:bodyPr wrap="square" anchor="t"/>
          <a:lstStyle/>
          <a:p>
            <a:pPr algn="l">
              <a:spcAft>
                <a:spcPts val="200"/>
              </a:spcAft>
            </a:pPr>
            <a:r>
              <a:rPr sz="1200" b="0" i="1">
                <a:solidFill>
                  <a:srgbClr val="4A5568"/>
                </a:solidFill>
                <a:latin typeface="Calibri"/>
                <a:ea typeface="微软雅黑"/>
              </a:rPr>
              <a:t>来源：SpaceX / NASA</a:t>
            </a:r>
          </a:p>
        </p:txBody>
      </p:sp>
      <p:sp>
        <p:nvSpPr>
          <p:cNvPr id="22" name="TextBox 21"/>
          <p:cNvSpPr txBox="1"/>
          <p:nvPr/>
        </p:nvSpPr>
        <p:spPr>
          <a:xfrm>
            <a:off x="6446520" y="3346704"/>
            <a:ext cx="5084064" cy="1051560"/>
          </a:xfrm>
          <a:prstGeom prst="rect">
            <a:avLst/>
          </a:prstGeom>
          <a:noFill/>
        </p:spPr>
        <p:txBody>
          <a:bodyPr wrap="square" anchor="t"/>
          <a:lstStyle/>
          <a:p>
            <a:pPr algn="l">
              <a:spcAft>
                <a:spcPts val="200"/>
              </a:spcAft>
            </a:pPr>
            <a:r>
              <a:rPr sz="1400" b="0" i="0">
                <a:solidFill>
                  <a:srgbClr val="1A1A1A"/>
                </a:solidFill>
                <a:latin typeface="Calibri"/>
                <a:ea typeface="微软雅黑"/>
              </a:rPr>
              <a:t>猎鹰9号20日7:04（美东，沪时19:04）从卡纳维拉尔角发射Bandwagon-5，部署32个中倾角载荷，一级第19次飞行并海上回收。NASA资助的Maxwell与SES中继演示随箭升空，另有Xona导航与多颗雷达星。</a:t>
            </a:r>
          </a:p>
        </p:txBody>
      </p:sp>
      <p:sp>
        <p:nvSpPr>
          <p:cNvPr id="23" name="Rectangle 22"/>
          <p:cNvSpPr/>
          <p:nvPr/>
        </p:nvSpPr>
        <p:spPr>
          <a:xfrm>
            <a:off x="6446520" y="5541264"/>
            <a:ext cx="5084064" cy="11430"/>
          </a:xfrm>
          <a:prstGeom prst="rect">
            <a:avLst/>
          </a:prstGeom>
          <a:solidFill>
            <a:srgbClr val="D6C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46520" y="5596128"/>
            <a:ext cx="5084064" cy="201168"/>
          </a:xfrm>
          <a:prstGeom prst="rect">
            <a:avLst/>
          </a:prstGeom>
          <a:noFill/>
        </p:spPr>
        <p:txBody>
          <a:bodyPr wrap="square" anchor="t"/>
          <a:lstStyle/>
          <a:p>
            <a:pPr algn="l">
              <a:spcAft>
                <a:spcPts val="200"/>
              </a:spcAft>
            </a:pPr>
            <a:r>
              <a:rPr sz="1200" b="1" i="0">
                <a:solidFill>
                  <a:srgbClr val="C41E3A"/>
                </a:solidFill>
                <a:latin typeface="Calibri"/>
                <a:ea typeface="微软雅黑"/>
              </a:rPr>
              <a:t>为何重要</a:t>
            </a:r>
          </a:p>
        </p:txBody>
      </p:sp>
      <p:sp>
        <p:nvSpPr>
          <p:cNvPr id="25" name="TextBox 24"/>
          <p:cNvSpPr txBox="1"/>
          <p:nvPr/>
        </p:nvSpPr>
        <p:spPr>
          <a:xfrm>
            <a:off x="6446520" y="5779008"/>
            <a:ext cx="5084064" cy="502920"/>
          </a:xfrm>
          <a:prstGeom prst="rect">
            <a:avLst/>
          </a:prstGeom>
          <a:noFill/>
        </p:spPr>
        <p:txBody>
          <a:bodyPr wrap="square" anchor="t"/>
          <a:lstStyle/>
          <a:p>
            <a:pPr algn="l">
              <a:spcAft>
                <a:spcPts val="200"/>
              </a:spcAft>
            </a:pPr>
            <a:r>
              <a:rPr sz="1300" b="0" i="0">
                <a:solidFill>
                  <a:srgbClr val="4A5568"/>
                </a:solidFill>
                <a:latin typeface="Calibri"/>
                <a:ea typeface="微软雅黑"/>
              </a:rPr>
              <a:t>天气推迟后的唯一年度Bandwagon把商业遥感、导航与NASA商业中继同日送入轨道。</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01168"/>
            <a:ext cx="3840480" cy="292608"/>
          </a:xfrm>
          <a:prstGeom prst="rect">
            <a:avLst/>
          </a:prstGeom>
          <a:noFill/>
        </p:spPr>
        <p:txBody>
          <a:bodyPr wrap="square" anchor="t"/>
          <a:lstStyle/>
          <a:p>
            <a:pPr algn="l">
              <a:spcAft>
                <a:spcPts val="200"/>
              </a:spcAft>
            </a:pPr>
            <a:r>
              <a:rPr sz="1400" b="1" i="0">
                <a:solidFill>
                  <a:srgbClr val="1A1A1A"/>
                </a:solidFill>
                <a:latin typeface="Cambria"/>
                <a:ea typeface="宋体"/>
              </a:rPr>
              <a:t>每日时政科技简报</a:t>
            </a:r>
          </a:p>
        </p:txBody>
      </p:sp>
      <p:sp>
        <p:nvSpPr>
          <p:cNvPr id="4" name="TextBox 3"/>
          <p:cNvSpPr txBox="1"/>
          <p:nvPr/>
        </p:nvSpPr>
        <p:spPr>
          <a:xfrm>
            <a:off x="4572000" y="201168"/>
            <a:ext cx="4937760" cy="292608"/>
          </a:xfrm>
          <a:prstGeom prst="rect">
            <a:avLst/>
          </a:prstGeom>
          <a:noFill/>
        </p:spPr>
        <p:txBody>
          <a:bodyPr wrap="square" anchor="t"/>
          <a:lstStyle/>
          <a:p>
            <a:pPr algn="ctr">
              <a:spcAft>
                <a:spcPts val="200"/>
              </a:spcAft>
            </a:pPr>
            <a:r>
              <a:rPr sz="1200" b="0" i="0">
                <a:solidFill>
                  <a:srgbClr val="4A5568"/>
                </a:solidFill>
                <a:latin typeface="Calibri"/>
                <a:ea typeface="微软雅黑"/>
              </a:rPr>
              <a:t>第029期  ·  2026年10月20日  ·  星期二</a:t>
            </a:r>
          </a:p>
        </p:txBody>
      </p:sp>
      <p:sp>
        <p:nvSpPr>
          <p:cNvPr id="5" name="TextBox 4"/>
          <p:cNvSpPr txBox="1"/>
          <p:nvPr/>
        </p:nvSpPr>
        <p:spPr>
          <a:xfrm>
            <a:off x="10149840" y="201168"/>
            <a:ext cx="1554480" cy="292608"/>
          </a:xfrm>
          <a:prstGeom prst="rect">
            <a:avLst/>
          </a:prstGeom>
          <a:noFill/>
        </p:spPr>
        <p:txBody>
          <a:bodyPr wrap="square" anchor="t"/>
          <a:lstStyle/>
          <a:p>
            <a:pPr algn="r">
              <a:spcAft>
                <a:spcPts val="200"/>
              </a:spcAft>
            </a:pPr>
            <a:r>
              <a:rPr sz="1300" b="1" i="0">
                <a:solidFill>
                  <a:srgbClr val="C41E3A"/>
                </a:solidFill>
                <a:latin typeface="Calibri"/>
                <a:ea typeface="微软雅黑"/>
              </a:rPr>
              <a:t>晨刊</a:t>
            </a:r>
          </a:p>
        </p:txBody>
      </p:sp>
      <p:sp>
        <p:nvSpPr>
          <p:cNvPr id="6" name="Rectangle 5"/>
          <p:cNvSpPr/>
          <p:nvPr/>
        </p:nvSpPr>
        <p:spPr>
          <a:xfrm>
            <a:off x="457200" y="493776"/>
            <a:ext cx="11277295" cy="20320"/>
          </a:xfrm>
          <a:prstGeom prst="rect">
            <a:avLst/>
          </a:prstGeom>
          <a:solidFill>
            <a:srgbClr val="C41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530352"/>
            <a:ext cx="11277295" cy="9525"/>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40080"/>
            <a:ext cx="11247120" cy="530352"/>
          </a:xfrm>
          <a:prstGeom prst="rect">
            <a:avLst/>
          </a:prstGeom>
          <a:noFill/>
        </p:spPr>
        <p:txBody>
          <a:bodyPr wrap="square" anchor="t"/>
          <a:lstStyle/>
          <a:p>
            <a:pPr algn="l">
              <a:spcAft>
                <a:spcPts val="200"/>
              </a:spcAft>
            </a:pPr>
            <a:r>
              <a:rPr sz="2800" b="1" i="0">
                <a:solidFill>
                  <a:srgbClr val="1A1A1A"/>
                </a:solidFill>
                <a:latin typeface="Cambria"/>
                <a:ea typeface="宋体"/>
              </a:rPr>
              <a:t>端侧硅片，胆固醇通路</a:t>
            </a:r>
          </a:p>
        </p:txBody>
      </p:sp>
      <p:sp>
        <p:nvSpPr>
          <p:cNvPr id="9" name="TextBox 8"/>
          <p:cNvSpPr txBox="1"/>
          <p:nvPr/>
        </p:nvSpPr>
        <p:spPr>
          <a:xfrm>
            <a:off x="457200" y="1188720"/>
            <a:ext cx="11247120" cy="256032"/>
          </a:xfrm>
          <a:prstGeom prst="rect">
            <a:avLst/>
          </a:prstGeom>
          <a:noFill/>
        </p:spPr>
        <p:txBody>
          <a:bodyPr wrap="square" anchor="t"/>
          <a:lstStyle/>
          <a:p>
            <a:pPr algn="l">
              <a:spcAft>
                <a:spcPts val="200"/>
              </a:spcAft>
            </a:pPr>
            <a:r>
              <a:rPr sz="1400" b="0" i="0">
                <a:solidFill>
                  <a:srgbClr val="4A5568"/>
                </a:solidFill>
                <a:latin typeface="Calibri"/>
                <a:ea typeface="微软雅黑"/>
              </a:rPr>
              <a:t>一栏是Coral NPU的首个商业硅，一栏是南京医大把帕金森写成转运缺陷。</a:t>
            </a:r>
          </a:p>
        </p:txBody>
      </p:sp>
      <p:sp>
        <p:nvSpPr>
          <p:cNvPr id="10" name="Rounded Rectangle 9"/>
          <p:cNvSpPr/>
          <p:nvPr/>
        </p:nvSpPr>
        <p:spPr>
          <a:xfrm>
            <a:off x="457200" y="1517904"/>
            <a:ext cx="5486400" cy="4864608"/>
          </a:xfrm>
          <a:prstGeom prst="roundRect">
            <a:avLst>
              <a:gd name="adj" fmla="val 6000"/>
            </a:avLst>
          </a:prstGeom>
          <a:solidFill>
            <a:srgbClr val="FFFCF7"/>
          </a:solidFill>
          <a:ln w="12700">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664208"/>
            <a:ext cx="5084064" cy="237744"/>
          </a:xfrm>
          <a:prstGeom prst="rect">
            <a:avLst/>
          </a:prstGeom>
          <a:noFill/>
        </p:spPr>
        <p:txBody>
          <a:bodyPr wrap="square" anchor="t"/>
          <a:lstStyle/>
          <a:p>
            <a:pPr algn="l">
              <a:spcAft>
                <a:spcPts val="200"/>
              </a:spcAft>
            </a:pPr>
            <a:r>
              <a:rPr sz="1200" b="1" i="0">
                <a:solidFill>
                  <a:srgbClr val="C41E3A"/>
                </a:solidFill>
                <a:latin typeface="Calibri"/>
                <a:ea typeface="微软雅黑"/>
              </a:rPr>
              <a:t>10　芯片 · 圣何塞</a:t>
            </a:r>
          </a:p>
        </p:txBody>
      </p:sp>
      <p:sp>
        <p:nvSpPr>
          <p:cNvPr id="12" name="TextBox 11"/>
          <p:cNvSpPr txBox="1"/>
          <p:nvPr/>
        </p:nvSpPr>
        <p:spPr>
          <a:xfrm>
            <a:off x="658368" y="1883664"/>
            <a:ext cx="5084064" cy="1170432"/>
          </a:xfrm>
          <a:prstGeom prst="rect">
            <a:avLst/>
          </a:prstGeom>
          <a:noFill/>
        </p:spPr>
        <p:txBody>
          <a:bodyPr wrap="square" anchor="t"/>
          <a:lstStyle/>
          <a:p>
            <a:pPr algn="l">
              <a:spcAft>
                <a:spcPts val="200"/>
              </a:spcAft>
            </a:pPr>
            <a:r>
              <a:rPr sz="2600" b="1" i="0">
                <a:solidFill>
                  <a:srgbClr val="1A1A1A"/>
                </a:solidFill>
                <a:latin typeface="Cambria"/>
                <a:ea typeface="宋体"/>
              </a:rPr>
              <a:t>新突发布Astra SR200</a:t>
            </a:r>
          </a:p>
        </p:txBody>
      </p:sp>
      <p:sp>
        <p:nvSpPr>
          <p:cNvPr id="13" name="TextBox 12"/>
          <p:cNvSpPr txBox="1"/>
          <p:nvPr/>
        </p:nvSpPr>
        <p:spPr>
          <a:xfrm>
            <a:off x="658368" y="3072384"/>
            <a:ext cx="5084064" cy="274320"/>
          </a:xfrm>
          <a:prstGeom prst="rect">
            <a:avLst/>
          </a:prstGeom>
          <a:noFill/>
        </p:spPr>
        <p:txBody>
          <a:bodyPr wrap="square" anchor="t"/>
          <a:lstStyle/>
          <a:p>
            <a:pPr algn="l">
              <a:spcAft>
                <a:spcPts val="200"/>
              </a:spcAft>
            </a:pPr>
            <a:r>
              <a:rPr sz="1200" b="0" i="1">
                <a:solidFill>
                  <a:srgbClr val="4A5568"/>
                </a:solidFill>
                <a:latin typeface="Calibri"/>
                <a:ea typeface="微软雅黑"/>
              </a:rPr>
              <a:t>来源：Synaptics</a:t>
            </a:r>
          </a:p>
        </p:txBody>
      </p:sp>
      <p:sp>
        <p:nvSpPr>
          <p:cNvPr id="14" name="TextBox 13"/>
          <p:cNvSpPr txBox="1"/>
          <p:nvPr/>
        </p:nvSpPr>
        <p:spPr>
          <a:xfrm>
            <a:off x="658368" y="3346704"/>
            <a:ext cx="5084064" cy="1051560"/>
          </a:xfrm>
          <a:prstGeom prst="rect">
            <a:avLst/>
          </a:prstGeom>
          <a:noFill/>
        </p:spPr>
        <p:txBody>
          <a:bodyPr wrap="square" anchor="t"/>
          <a:lstStyle/>
          <a:p>
            <a:pPr algn="l">
              <a:spcAft>
                <a:spcPts val="200"/>
              </a:spcAft>
            </a:pPr>
            <a:r>
              <a:rPr sz="1400" b="0" i="0">
                <a:solidFill>
                  <a:srgbClr val="1A1A1A"/>
                </a:solidFill>
                <a:latin typeface="Calibri"/>
                <a:ea typeface="微软雅黑"/>
              </a:rPr>
              <a:t>Synaptics 20日发布Astra SR200系列，集成谷歌开源Coral NPU与Cortex-M85/M52，面向眼镜、摄像头与工业传感。SR210/230/250算力为200、300、400 GOPS，片上最高8MB SRAM并配可扩展定制DRAM，样品已出。</a:t>
            </a:r>
          </a:p>
        </p:txBody>
      </p:sp>
      <p:sp>
        <p:nvSpPr>
          <p:cNvPr id="15" name="Rectangle 14"/>
          <p:cNvSpPr/>
          <p:nvPr/>
        </p:nvSpPr>
        <p:spPr>
          <a:xfrm>
            <a:off x="658368" y="5541264"/>
            <a:ext cx="5084064" cy="11430"/>
          </a:xfrm>
          <a:prstGeom prst="rect">
            <a:avLst/>
          </a:prstGeom>
          <a:solidFill>
            <a:srgbClr val="D6C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5596128"/>
            <a:ext cx="5084064" cy="201168"/>
          </a:xfrm>
          <a:prstGeom prst="rect">
            <a:avLst/>
          </a:prstGeom>
          <a:noFill/>
        </p:spPr>
        <p:txBody>
          <a:bodyPr wrap="square" anchor="t"/>
          <a:lstStyle/>
          <a:p>
            <a:pPr algn="l">
              <a:spcAft>
                <a:spcPts val="200"/>
              </a:spcAft>
            </a:pPr>
            <a:r>
              <a:rPr sz="1200" b="1" i="0">
                <a:solidFill>
                  <a:srgbClr val="C41E3A"/>
                </a:solidFill>
                <a:latin typeface="Calibri"/>
                <a:ea typeface="微软雅黑"/>
              </a:rPr>
              <a:t>为何重要</a:t>
            </a:r>
          </a:p>
        </p:txBody>
      </p:sp>
      <p:sp>
        <p:nvSpPr>
          <p:cNvPr id="17" name="TextBox 16"/>
          <p:cNvSpPr txBox="1"/>
          <p:nvPr/>
        </p:nvSpPr>
        <p:spPr>
          <a:xfrm>
            <a:off x="658368" y="5779008"/>
            <a:ext cx="5084064" cy="502920"/>
          </a:xfrm>
          <a:prstGeom prst="rect">
            <a:avLst/>
          </a:prstGeom>
          <a:noFill/>
        </p:spPr>
        <p:txBody>
          <a:bodyPr wrap="square" anchor="t"/>
          <a:lstStyle/>
          <a:p>
            <a:pPr algn="l">
              <a:spcAft>
                <a:spcPts val="200"/>
              </a:spcAft>
            </a:pPr>
            <a:r>
              <a:rPr sz="1300" b="0" i="0">
                <a:solidFill>
                  <a:srgbClr val="4A5568"/>
                </a:solidFill>
                <a:latin typeface="Calibri"/>
                <a:ea typeface="微软雅黑"/>
              </a:rPr>
              <a:t>这是Coral NPU开源架构的首个商业硅，把端侧多模态从应用处理器下放到微控制器功耗档。</a:t>
            </a:r>
          </a:p>
        </p:txBody>
      </p:sp>
      <p:sp>
        <p:nvSpPr>
          <p:cNvPr id="18" name="Rounded Rectangle 17"/>
          <p:cNvSpPr/>
          <p:nvPr/>
        </p:nvSpPr>
        <p:spPr>
          <a:xfrm>
            <a:off x="6245352" y="1517904"/>
            <a:ext cx="5486400" cy="4864608"/>
          </a:xfrm>
          <a:prstGeom prst="roundRect">
            <a:avLst>
              <a:gd name="adj" fmla="val 6000"/>
            </a:avLst>
          </a:prstGeom>
          <a:solidFill>
            <a:srgbClr val="FFFCF7"/>
          </a:solidFill>
          <a:ln w="12700">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46520" y="1664208"/>
            <a:ext cx="5084064" cy="237744"/>
          </a:xfrm>
          <a:prstGeom prst="rect">
            <a:avLst/>
          </a:prstGeom>
          <a:noFill/>
        </p:spPr>
        <p:txBody>
          <a:bodyPr wrap="square" anchor="t"/>
          <a:lstStyle/>
          <a:p>
            <a:pPr algn="l">
              <a:spcAft>
                <a:spcPts val="200"/>
              </a:spcAft>
            </a:pPr>
            <a:r>
              <a:rPr sz="1200" b="1" i="0">
                <a:solidFill>
                  <a:srgbClr val="C41E3A"/>
                </a:solidFill>
                <a:latin typeface="Calibri"/>
                <a:ea typeface="微软雅黑"/>
              </a:rPr>
              <a:t>11　神经 · 南京</a:t>
            </a:r>
          </a:p>
        </p:txBody>
      </p:sp>
      <p:sp>
        <p:nvSpPr>
          <p:cNvPr id="20" name="TextBox 19"/>
          <p:cNvSpPr txBox="1"/>
          <p:nvPr/>
        </p:nvSpPr>
        <p:spPr>
          <a:xfrm>
            <a:off x="6446520" y="1883664"/>
            <a:ext cx="5084064" cy="1170432"/>
          </a:xfrm>
          <a:prstGeom prst="rect">
            <a:avLst/>
          </a:prstGeom>
          <a:noFill/>
        </p:spPr>
        <p:txBody>
          <a:bodyPr wrap="square" anchor="t"/>
          <a:lstStyle/>
          <a:p>
            <a:pPr algn="l">
              <a:spcAft>
                <a:spcPts val="200"/>
              </a:spcAft>
            </a:pPr>
            <a:r>
              <a:rPr sz="2600" b="1" i="0">
                <a:solidFill>
                  <a:srgbClr val="1A1A1A"/>
                </a:solidFill>
                <a:latin typeface="Cambria"/>
                <a:ea typeface="宋体"/>
              </a:rPr>
              <a:t>ABCA1被写成帕金森通路</a:t>
            </a:r>
          </a:p>
        </p:txBody>
      </p:sp>
      <p:sp>
        <p:nvSpPr>
          <p:cNvPr id="21" name="TextBox 20"/>
          <p:cNvSpPr txBox="1"/>
          <p:nvPr/>
        </p:nvSpPr>
        <p:spPr>
          <a:xfrm>
            <a:off x="6446520" y="3072384"/>
            <a:ext cx="5084064" cy="274320"/>
          </a:xfrm>
          <a:prstGeom prst="rect">
            <a:avLst/>
          </a:prstGeom>
          <a:noFill/>
        </p:spPr>
        <p:txBody>
          <a:bodyPr wrap="square" anchor="t"/>
          <a:lstStyle/>
          <a:p>
            <a:pPr algn="l">
              <a:spcAft>
                <a:spcPts val="200"/>
              </a:spcAft>
            </a:pPr>
            <a:r>
              <a:rPr sz="1200" b="0" i="1">
                <a:solidFill>
                  <a:srgbClr val="4A5568"/>
                </a:solidFill>
                <a:latin typeface="Calibri"/>
                <a:ea typeface="微软雅黑"/>
              </a:rPr>
              <a:t>来源：Nature Neuroscience</a:t>
            </a:r>
          </a:p>
        </p:txBody>
      </p:sp>
      <p:sp>
        <p:nvSpPr>
          <p:cNvPr id="22" name="TextBox 21"/>
          <p:cNvSpPr txBox="1"/>
          <p:nvPr/>
        </p:nvSpPr>
        <p:spPr>
          <a:xfrm>
            <a:off x="6446520" y="3346704"/>
            <a:ext cx="5084064" cy="1051560"/>
          </a:xfrm>
          <a:prstGeom prst="rect">
            <a:avLst/>
          </a:prstGeom>
          <a:noFill/>
        </p:spPr>
        <p:txBody>
          <a:bodyPr wrap="square" anchor="t"/>
          <a:lstStyle/>
          <a:p>
            <a:pPr algn="l">
              <a:spcAft>
                <a:spcPts val="200"/>
              </a:spcAft>
            </a:pPr>
            <a:r>
              <a:rPr sz="1400" b="0" i="0">
                <a:solidFill>
                  <a:srgbClr val="1A1A1A"/>
                </a:solidFill>
                <a:latin typeface="Calibri"/>
                <a:ea typeface="微软雅黑"/>
              </a:rPr>
              <a:t>南京医科大学曹蕾、陆明团队20日报告，帕金森病脑内ABCA1升高，星形胶质过度外排、神经元溶酶体借其输入胆固醇，导致自噬受损与α-突触核蛋白病理。敲低Abca1或用柠檬酸镁抑制可减轻小鼠病变。</a:t>
            </a:r>
          </a:p>
        </p:txBody>
      </p:sp>
      <p:sp>
        <p:nvSpPr>
          <p:cNvPr id="23" name="Rectangle 22"/>
          <p:cNvSpPr/>
          <p:nvPr/>
        </p:nvSpPr>
        <p:spPr>
          <a:xfrm>
            <a:off x="6446520" y="5541264"/>
            <a:ext cx="5084064" cy="11430"/>
          </a:xfrm>
          <a:prstGeom prst="rect">
            <a:avLst/>
          </a:prstGeom>
          <a:solidFill>
            <a:srgbClr val="D6C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46520" y="5596128"/>
            <a:ext cx="5084064" cy="201168"/>
          </a:xfrm>
          <a:prstGeom prst="rect">
            <a:avLst/>
          </a:prstGeom>
          <a:noFill/>
        </p:spPr>
        <p:txBody>
          <a:bodyPr wrap="square" anchor="t"/>
          <a:lstStyle/>
          <a:p>
            <a:pPr algn="l">
              <a:spcAft>
                <a:spcPts val="200"/>
              </a:spcAft>
            </a:pPr>
            <a:r>
              <a:rPr sz="1200" b="1" i="0">
                <a:solidFill>
                  <a:srgbClr val="C41E3A"/>
                </a:solidFill>
                <a:latin typeface="Calibri"/>
                <a:ea typeface="微软雅黑"/>
              </a:rPr>
              <a:t>为何重要</a:t>
            </a:r>
          </a:p>
        </p:txBody>
      </p:sp>
      <p:sp>
        <p:nvSpPr>
          <p:cNvPr id="25" name="TextBox 24"/>
          <p:cNvSpPr txBox="1"/>
          <p:nvPr/>
        </p:nvSpPr>
        <p:spPr>
          <a:xfrm>
            <a:off x="6446520" y="5779008"/>
            <a:ext cx="5084064" cy="502920"/>
          </a:xfrm>
          <a:prstGeom prst="rect">
            <a:avLst/>
          </a:prstGeom>
          <a:noFill/>
        </p:spPr>
        <p:txBody>
          <a:bodyPr wrap="square" anchor="t"/>
          <a:lstStyle/>
          <a:p>
            <a:pPr algn="l">
              <a:spcAft>
                <a:spcPts val="200"/>
              </a:spcAft>
            </a:pPr>
            <a:r>
              <a:rPr sz="1300" b="0" i="0">
                <a:solidFill>
                  <a:srgbClr val="4A5568"/>
                </a:solidFill>
                <a:latin typeface="Calibri"/>
                <a:ea typeface="微软雅黑"/>
              </a:rPr>
              <a:t>把「降胆固醇合成无效」改写成可干预的转运通路，是当日少有的中国实验室《自然》子刊首发。</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01168"/>
            <a:ext cx="3840480" cy="292608"/>
          </a:xfrm>
          <a:prstGeom prst="rect">
            <a:avLst/>
          </a:prstGeom>
          <a:noFill/>
        </p:spPr>
        <p:txBody>
          <a:bodyPr wrap="square" anchor="t"/>
          <a:lstStyle/>
          <a:p>
            <a:pPr algn="l">
              <a:spcAft>
                <a:spcPts val="200"/>
              </a:spcAft>
            </a:pPr>
            <a:r>
              <a:rPr sz="1400" b="1" i="0">
                <a:solidFill>
                  <a:srgbClr val="1A1A1A"/>
                </a:solidFill>
                <a:latin typeface="Cambria"/>
                <a:ea typeface="宋体"/>
              </a:rPr>
              <a:t>每日时政科技简报</a:t>
            </a:r>
          </a:p>
        </p:txBody>
      </p:sp>
      <p:sp>
        <p:nvSpPr>
          <p:cNvPr id="4" name="TextBox 3"/>
          <p:cNvSpPr txBox="1"/>
          <p:nvPr/>
        </p:nvSpPr>
        <p:spPr>
          <a:xfrm>
            <a:off x="4572000" y="201168"/>
            <a:ext cx="4937760" cy="292608"/>
          </a:xfrm>
          <a:prstGeom prst="rect">
            <a:avLst/>
          </a:prstGeom>
          <a:noFill/>
        </p:spPr>
        <p:txBody>
          <a:bodyPr wrap="square" anchor="t"/>
          <a:lstStyle/>
          <a:p>
            <a:pPr algn="ctr">
              <a:spcAft>
                <a:spcPts val="200"/>
              </a:spcAft>
            </a:pPr>
            <a:r>
              <a:rPr sz="1200" b="0" i="0">
                <a:solidFill>
                  <a:srgbClr val="4A5568"/>
                </a:solidFill>
                <a:latin typeface="Calibri"/>
                <a:ea typeface="微软雅黑"/>
              </a:rPr>
              <a:t>第029期  ·  2026年10月20日  ·  星期二</a:t>
            </a:r>
          </a:p>
        </p:txBody>
      </p:sp>
      <p:sp>
        <p:nvSpPr>
          <p:cNvPr id="5" name="TextBox 4"/>
          <p:cNvSpPr txBox="1"/>
          <p:nvPr/>
        </p:nvSpPr>
        <p:spPr>
          <a:xfrm>
            <a:off x="10149840" y="201168"/>
            <a:ext cx="1554480" cy="292608"/>
          </a:xfrm>
          <a:prstGeom prst="rect">
            <a:avLst/>
          </a:prstGeom>
          <a:noFill/>
        </p:spPr>
        <p:txBody>
          <a:bodyPr wrap="square" anchor="t"/>
          <a:lstStyle/>
          <a:p>
            <a:pPr algn="r">
              <a:spcAft>
                <a:spcPts val="200"/>
              </a:spcAft>
            </a:pPr>
            <a:r>
              <a:rPr sz="1300" b="1" i="0">
                <a:solidFill>
                  <a:srgbClr val="C41E3A"/>
                </a:solidFill>
                <a:latin typeface="Calibri"/>
                <a:ea typeface="微软雅黑"/>
              </a:rPr>
              <a:t>晨刊</a:t>
            </a:r>
          </a:p>
        </p:txBody>
      </p:sp>
      <p:sp>
        <p:nvSpPr>
          <p:cNvPr id="6" name="Rectangle 5"/>
          <p:cNvSpPr/>
          <p:nvPr/>
        </p:nvSpPr>
        <p:spPr>
          <a:xfrm>
            <a:off x="457200" y="493776"/>
            <a:ext cx="11277295" cy="20320"/>
          </a:xfrm>
          <a:prstGeom prst="rect">
            <a:avLst/>
          </a:prstGeom>
          <a:solidFill>
            <a:srgbClr val="C41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530352"/>
            <a:ext cx="11277295" cy="9525"/>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40080"/>
            <a:ext cx="11247120" cy="365760"/>
          </a:xfrm>
          <a:prstGeom prst="rect">
            <a:avLst/>
          </a:prstGeom>
          <a:noFill/>
        </p:spPr>
        <p:txBody>
          <a:bodyPr wrap="square" anchor="t"/>
          <a:lstStyle/>
          <a:p>
            <a:pPr algn="l">
              <a:spcAft>
                <a:spcPts val="200"/>
              </a:spcAft>
            </a:pPr>
            <a:r>
              <a:rPr sz="2600" b="1" i="0">
                <a:solidFill>
                  <a:srgbClr val="1A1A1A"/>
                </a:solidFill>
                <a:latin typeface="Cambria"/>
                <a:ea typeface="宋体"/>
              </a:rPr>
              <a:t>赝能隙对质，国内发射留白</a:t>
            </a:r>
          </a:p>
        </p:txBody>
      </p:sp>
      <p:sp>
        <p:nvSpPr>
          <p:cNvPr id="9" name="Rounded Rectangle 8"/>
          <p:cNvSpPr/>
          <p:nvPr/>
        </p:nvSpPr>
        <p:spPr>
          <a:xfrm>
            <a:off x="457200" y="1097280"/>
            <a:ext cx="11277295" cy="2926080"/>
          </a:xfrm>
          <a:prstGeom prst="roundRect">
            <a:avLst>
              <a:gd name="adj" fmla="val 6000"/>
            </a:avLst>
          </a:prstGeom>
          <a:solidFill>
            <a:srgbClr val="FFFCF7"/>
          </a:solidFill>
          <a:ln w="12700">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1188720"/>
            <a:ext cx="1828800" cy="640080"/>
          </a:xfrm>
          <a:prstGeom prst="rect">
            <a:avLst/>
          </a:prstGeom>
          <a:noFill/>
        </p:spPr>
        <p:txBody>
          <a:bodyPr wrap="square" anchor="t"/>
          <a:lstStyle/>
          <a:p>
            <a:pPr algn="l">
              <a:spcAft>
                <a:spcPts val="200"/>
              </a:spcAft>
            </a:pPr>
            <a:r>
              <a:rPr sz="4000" b="1" i="0">
                <a:solidFill>
                  <a:srgbClr val="C41E3A"/>
                </a:solidFill>
                <a:latin typeface="Cambria"/>
                <a:ea typeface="宋体"/>
              </a:rPr>
              <a:t>12</a:t>
            </a:r>
          </a:p>
        </p:txBody>
      </p:sp>
      <p:sp>
        <p:nvSpPr>
          <p:cNvPr id="11" name="TextBox 10"/>
          <p:cNvSpPr txBox="1"/>
          <p:nvPr/>
        </p:nvSpPr>
        <p:spPr>
          <a:xfrm>
            <a:off x="2651760" y="1188720"/>
            <a:ext cx="8700000" cy="237744"/>
          </a:xfrm>
          <a:prstGeom prst="rect">
            <a:avLst/>
          </a:prstGeom>
          <a:noFill/>
        </p:spPr>
        <p:txBody>
          <a:bodyPr wrap="square" anchor="t"/>
          <a:lstStyle/>
          <a:p>
            <a:pPr algn="l">
              <a:spcAft>
                <a:spcPts val="200"/>
              </a:spcAft>
            </a:pPr>
            <a:r>
              <a:rPr sz="1200" b="1" i="0">
                <a:solidFill>
                  <a:srgbClr val="C41E3A"/>
                </a:solidFill>
                <a:latin typeface="Calibri"/>
                <a:ea typeface="微软雅黑"/>
              </a:rPr>
              <a:t>12　物性 · 蒙特利尔　·　《自然·物理》</a:t>
            </a:r>
          </a:p>
        </p:txBody>
      </p:sp>
      <p:sp>
        <p:nvSpPr>
          <p:cNvPr id="12" name="TextBox 11"/>
          <p:cNvSpPr txBox="1"/>
          <p:nvPr/>
        </p:nvSpPr>
        <p:spPr>
          <a:xfrm>
            <a:off x="2651760" y="1427480"/>
            <a:ext cx="8700000" cy="457200"/>
          </a:xfrm>
          <a:prstGeom prst="rect">
            <a:avLst/>
          </a:prstGeom>
          <a:noFill/>
        </p:spPr>
        <p:txBody>
          <a:bodyPr wrap="square" anchor="t"/>
          <a:lstStyle/>
          <a:p>
            <a:pPr algn="l">
              <a:spcAft>
                <a:spcPts val="200"/>
              </a:spcAft>
            </a:pPr>
            <a:r>
              <a:rPr sz="2400" b="1" i="0">
                <a:solidFill>
                  <a:srgbClr val="1A1A1A"/>
                </a:solidFill>
                <a:latin typeface="Cambria"/>
                <a:ea typeface="宋体"/>
              </a:rPr>
              <a:t>光把赝能隙打出对称</a:t>
            </a:r>
          </a:p>
        </p:txBody>
      </p:sp>
      <p:sp>
        <p:nvSpPr>
          <p:cNvPr id="13" name="TextBox 12"/>
          <p:cNvSpPr txBox="1"/>
          <p:nvPr/>
        </p:nvSpPr>
        <p:spPr>
          <a:xfrm>
            <a:off x="2651760" y="1901952"/>
            <a:ext cx="8700000" cy="1828800"/>
          </a:xfrm>
          <a:prstGeom prst="rect">
            <a:avLst/>
          </a:prstGeom>
          <a:noFill/>
        </p:spPr>
        <p:txBody>
          <a:bodyPr wrap="square" anchor="t"/>
          <a:lstStyle/>
          <a:p>
            <a:pPr algn="l">
              <a:spcAft>
                <a:spcPts val="200"/>
              </a:spcAft>
            </a:pPr>
            <a:r>
              <a:rPr sz="1400" b="0" i="0">
                <a:solidFill>
                  <a:srgbClr val="1A1A1A"/>
                </a:solidFill>
                <a:latin typeface="Calibri"/>
                <a:ea typeface="微软雅黑"/>
              </a:rPr>
              <a:t>博斯基尼、米利斯、乔治等对最优掺杂铋系铜氧化物做时间分辨ARPES：强光激发在远低于临界温度时把对称超导态密度改写成不对称赝能隙；超导恢复则压制赝能隙，中间时刻两者共存。实验直接挑战「超导从赝能隙相位相干中长出」的图景。</a:t>
            </a:r>
          </a:p>
        </p:txBody>
      </p:sp>
      <p:sp>
        <p:nvSpPr>
          <p:cNvPr id="14" name="TextBox 13"/>
          <p:cNvSpPr txBox="1"/>
          <p:nvPr/>
        </p:nvSpPr>
        <p:spPr>
          <a:xfrm>
            <a:off x="457200" y="4160520"/>
            <a:ext cx="2194560" cy="292608"/>
          </a:xfrm>
          <a:prstGeom prst="rect">
            <a:avLst/>
          </a:prstGeom>
          <a:noFill/>
        </p:spPr>
        <p:txBody>
          <a:bodyPr wrap="square" anchor="t"/>
          <a:lstStyle/>
          <a:p>
            <a:pPr algn="l">
              <a:spcAft>
                <a:spcPts val="200"/>
              </a:spcAft>
            </a:pPr>
            <a:r>
              <a:rPr sz="1300" b="1" i="0">
                <a:solidFill>
                  <a:srgbClr val="C41E3A"/>
                </a:solidFill>
                <a:latin typeface="Calibri"/>
                <a:ea typeface="微软雅黑"/>
              </a:rPr>
              <a:t>信息不足</a:t>
            </a:r>
          </a:p>
        </p:txBody>
      </p:sp>
      <p:sp>
        <p:nvSpPr>
          <p:cNvPr id="15" name="TextBox 14"/>
          <p:cNvSpPr txBox="1"/>
          <p:nvPr/>
        </p:nvSpPr>
        <p:spPr>
          <a:xfrm>
            <a:off x="457200" y="4452120"/>
            <a:ext cx="11247120" cy="457200"/>
          </a:xfrm>
          <a:prstGeom prst="rect">
            <a:avLst/>
          </a:prstGeom>
          <a:noFill/>
        </p:spPr>
        <p:txBody>
          <a:bodyPr wrap="square" anchor="t"/>
          <a:lstStyle/>
          <a:p>
            <a:pPr algn="l">
              <a:spcAft>
                <a:spcPts val="200"/>
              </a:spcAft>
            </a:pPr>
            <a:r>
              <a:rPr sz="2200" b="1" i="0">
                <a:solidFill>
                  <a:srgbClr val="1A1A1A"/>
                </a:solidFill>
                <a:latin typeface="Cambria"/>
                <a:ea typeface="宋体"/>
              </a:rPr>
              <a:t>国内发射仍留白，聚合站不抢刊</a:t>
            </a:r>
          </a:p>
        </p:txBody>
      </p:sp>
      <p:sp>
        <p:nvSpPr>
          <p:cNvPr id="16" name="Rounded Rectangle 15"/>
          <p:cNvSpPr/>
          <p:nvPr/>
        </p:nvSpPr>
        <p:spPr>
          <a:xfrm>
            <a:off x="457200" y="5000000"/>
            <a:ext cx="2613584" cy="1554480"/>
          </a:xfrm>
          <a:prstGeom prst="roundRect">
            <a:avLst>
              <a:gd name="adj" fmla="val 6000"/>
            </a:avLst>
          </a:prstGeom>
          <a:solidFill>
            <a:srgbClr val="FFFCF7"/>
          </a:solidFill>
          <a:ln w="12700">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3504" y="5090160"/>
            <a:ext cx="2341880" cy="274320"/>
          </a:xfrm>
          <a:prstGeom prst="rect">
            <a:avLst/>
          </a:prstGeom>
          <a:noFill/>
        </p:spPr>
        <p:txBody>
          <a:bodyPr wrap="square" anchor="t"/>
          <a:lstStyle/>
          <a:p>
            <a:pPr algn="l">
              <a:spcAft>
                <a:spcPts val="200"/>
              </a:spcAft>
            </a:pPr>
            <a:r>
              <a:rPr sz="1300" b="1" i="0">
                <a:solidFill>
                  <a:srgbClr val="C41E3A"/>
                </a:solidFill>
                <a:latin typeface="Calibri"/>
                <a:ea typeface="微软雅黑"/>
              </a:rPr>
              <a:t>01  国内航天</a:t>
            </a:r>
          </a:p>
        </p:txBody>
      </p:sp>
      <p:sp>
        <p:nvSpPr>
          <p:cNvPr id="18" name="TextBox 17"/>
          <p:cNvSpPr txBox="1"/>
          <p:nvPr/>
        </p:nvSpPr>
        <p:spPr>
          <a:xfrm>
            <a:off x="603504" y="5404104"/>
            <a:ext cx="2341880" cy="1005840"/>
          </a:xfrm>
          <a:prstGeom prst="rect">
            <a:avLst/>
          </a:prstGeom>
          <a:noFill/>
        </p:spPr>
        <p:txBody>
          <a:bodyPr wrap="square" anchor="t"/>
          <a:lstStyle/>
          <a:p>
            <a:pPr algn="l">
              <a:spcAft>
                <a:spcPts val="200"/>
              </a:spcAft>
            </a:pPr>
            <a:r>
              <a:rPr sz="1200" b="0" i="0">
                <a:solidFill>
                  <a:srgbClr val="4A5568"/>
                </a:solidFill>
                <a:latin typeface="Calibri"/>
                <a:ea typeface="微软雅黑"/>
              </a:rPr>
              <a:t>当日无国内航天发射通稿；中国大模型与本土芯片无20日产品首发可核验。</a:t>
            </a:r>
          </a:p>
        </p:txBody>
      </p:sp>
      <p:sp>
        <p:nvSpPr>
          <p:cNvPr id="19" name="Rounded Rectangle 18"/>
          <p:cNvSpPr/>
          <p:nvPr/>
        </p:nvSpPr>
        <p:spPr>
          <a:xfrm>
            <a:off x="3345104" y="5000000"/>
            <a:ext cx="2613584" cy="1554480"/>
          </a:xfrm>
          <a:prstGeom prst="roundRect">
            <a:avLst>
              <a:gd name="adj" fmla="val 6000"/>
            </a:avLst>
          </a:prstGeom>
          <a:solidFill>
            <a:srgbClr val="FFFCF7"/>
          </a:solidFill>
          <a:ln w="12700">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491408" y="5090160"/>
            <a:ext cx="2341880" cy="274320"/>
          </a:xfrm>
          <a:prstGeom prst="rect">
            <a:avLst/>
          </a:prstGeom>
          <a:noFill/>
        </p:spPr>
        <p:txBody>
          <a:bodyPr wrap="square" anchor="t"/>
          <a:lstStyle/>
          <a:p>
            <a:pPr algn="l">
              <a:spcAft>
                <a:spcPts val="200"/>
              </a:spcAft>
            </a:pPr>
            <a:r>
              <a:rPr sz="1300" b="1" i="0">
                <a:solidFill>
                  <a:srgbClr val="C41E3A"/>
                </a:solidFill>
                <a:latin typeface="Calibri"/>
                <a:ea typeface="微软雅黑"/>
              </a:rPr>
              <a:t>02  跨日切割</a:t>
            </a:r>
          </a:p>
        </p:txBody>
      </p:sp>
      <p:sp>
        <p:nvSpPr>
          <p:cNvPr id="21" name="TextBox 20"/>
          <p:cNvSpPr txBox="1"/>
          <p:nvPr/>
        </p:nvSpPr>
        <p:spPr>
          <a:xfrm>
            <a:off x="3491408" y="5404104"/>
            <a:ext cx="2341880" cy="1005840"/>
          </a:xfrm>
          <a:prstGeom prst="rect">
            <a:avLst/>
          </a:prstGeom>
          <a:noFill/>
        </p:spPr>
        <p:txBody>
          <a:bodyPr wrap="square" anchor="t"/>
          <a:lstStyle/>
          <a:p>
            <a:pPr algn="l">
              <a:spcAft>
                <a:spcPts val="200"/>
              </a:spcAft>
            </a:pPr>
            <a:r>
              <a:rPr sz="1200" b="0" i="0">
                <a:solidFill>
                  <a:srgbClr val="4A5568"/>
                </a:solidFill>
                <a:latin typeface="Calibri"/>
                <a:ea typeface="微软雅黑"/>
              </a:rPr>
              <a:t>李强圣彼得堡中文详稿21日00:42见报，只收20日23:45英文急电的抵达事实。</a:t>
            </a:r>
          </a:p>
        </p:txBody>
      </p:sp>
      <p:sp>
        <p:nvSpPr>
          <p:cNvPr id="22" name="Rounded Rectangle 21"/>
          <p:cNvSpPr/>
          <p:nvPr/>
        </p:nvSpPr>
        <p:spPr>
          <a:xfrm>
            <a:off x="6233008" y="5000000"/>
            <a:ext cx="2613584" cy="1554480"/>
          </a:xfrm>
          <a:prstGeom prst="roundRect">
            <a:avLst>
              <a:gd name="adj" fmla="val 6000"/>
            </a:avLst>
          </a:prstGeom>
          <a:solidFill>
            <a:srgbClr val="FFFCF7"/>
          </a:solidFill>
          <a:ln w="12700">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79312" y="5090160"/>
            <a:ext cx="2341880" cy="274320"/>
          </a:xfrm>
          <a:prstGeom prst="rect">
            <a:avLst/>
          </a:prstGeom>
          <a:noFill/>
        </p:spPr>
        <p:txBody>
          <a:bodyPr wrap="square" anchor="t"/>
          <a:lstStyle/>
          <a:p>
            <a:pPr algn="l">
              <a:spcAft>
                <a:spcPts val="200"/>
              </a:spcAft>
            </a:pPr>
            <a:r>
              <a:rPr sz="1300" b="1" i="0">
                <a:solidFill>
                  <a:srgbClr val="C41E3A"/>
                </a:solidFill>
                <a:latin typeface="Calibri"/>
                <a:ea typeface="微软雅黑"/>
              </a:rPr>
              <a:t>03  证据不足</a:t>
            </a:r>
          </a:p>
        </p:txBody>
      </p:sp>
      <p:sp>
        <p:nvSpPr>
          <p:cNvPr id="24" name="TextBox 23"/>
          <p:cNvSpPr txBox="1"/>
          <p:nvPr/>
        </p:nvSpPr>
        <p:spPr>
          <a:xfrm>
            <a:off x="6379312" y="5404104"/>
            <a:ext cx="2341880" cy="1005840"/>
          </a:xfrm>
          <a:prstGeom prst="rect">
            <a:avLst/>
          </a:prstGeom>
          <a:noFill/>
        </p:spPr>
        <p:txBody>
          <a:bodyPr wrap="square" anchor="t"/>
          <a:lstStyle/>
          <a:p>
            <a:pPr algn="l">
              <a:spcAft>
                <a:spcPts val="200"/>
              </a:spcAft>
            </a:pPr>
            <a:r>
              <a:rPr sz="1200" b="0" i="0">
                <a:solidFill>
                  <a:srgbClr val="4A5568"/>
                </a:solidFill>
                <a:latin typeface="Calibri"/>
                <a:ea typeface="微软雅黑"/>
              </a:rPr>
              <a:t>NVIDIA「一天三发」、OpenAI约300亿美元融资、DeepSeek DeepInfer为聚合站，不立项。</a:t>
            </a:r>
          </a:p>
        </p:txBody>
      </p:sp>
      <p:sp>
        <p:nvSpPr>
          <p:cNvPr id="25" name="Rounded Rectangle 24"/>
          <p:cNvSpPr/>
          <p:nvPr/>
        </p:nvSpPr>
        <p:spPr>
          <a:xfrm>
            <a:off x="9120912" y="5000000"/>
            <a:ext cx="2613584" cy="1554480"/>
          </a:xfrm>
          <a:prstGeom prst="roundRect">
            <a:avLst>
              <a:gd name="adj" fmla="val 6000"/>
            </a:avLst>
          </a:prstGeom>
          <a:solidFill>
            <a:srgbClr val="FFFCF7"/>
          </a:solidFill>
          <a:ln w="12700">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267216" y="5090160"/>
            <a:ext cx="2341880" cy="274320"/>
          </a:xfrm>
          <a:prstGeom prst="rect">
            <a:avLst/>
          </a:prstGeom>
          <a:noFill/>
        </p:spPr>
        <p:txBody>
          <a:bodyPr wrap="square" anchor="t"/>
          <a:lstStyle/>
          <a:p>
            <a:pPr algn="l">
              <a:spcAft>
                <a:spcPts val="200"/>
              </a:spcAft>
            </a:pPr>
            <a:r>
              <a:rPr sz="1300" b="1" i="0">
                <a:solidFill>
                  <a:srgbClr val="C41E3A"/>
                </a:solidFill>
                <a:latin typeface="Calibri"/>
                <a:ea typeface="微软雅黑"/>
              </a:rPr>
              <a:t>04  前刊不重写</a:t>
            </a:r>
          </a:p>
        </p:txBody>
      </p:sp>
      <p:sp>
        <p:nvSpPr>
          <p:cNvPr id="27" name="TextBox 26"/>
          <p:cNvSpPr txBox="1"/>
          <p:nvPr/>
        </p:nvSpPr>
        <p:spPr>
          <a:xfrm>
            <a:off x="9267216" y="5404104"/>
            <a:ext cx="2341880" cy="1005840"/>
          </a:xfrm>
          <a:prstGeom prst="rect">
            <a:avLst/>
          </a:prstGeom>
          <a:noFill/>
        </p:spPr>
        <p:txBody>
          <a:bodyPr wrap="square" anchor="t"/>
          <a:lstStyle/>
          <a:p>
            <a:pPr algn="l">
              <a:spcAft>
                <a:spcPts val="200"/>
              </a:spcAft>
            </a:pPr>
            <a:r>
              <a:rPr sz="1200" b="0" i="0">
                <a:solidFill>
                  <a:srgbClr val="4A5568"/>
                </a:solidFill>
                <a:latin typeface="Calibri"/>
                <a:ea typeface="微软雅黑"/>
              </a:rPr>
              <a:t>科技兴商18条、统计局GDP 4.6%为19日；国常会「人工智能+」为16日。</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01168"/>
            <a:ext cx="3840480" cy="292608"/>
          </a:xfrm>
          <a:prstGeom prst="rect">
            <a:avLst/>
          </a:prstGeom>
          <a:noFill/>
        </p:spPr>
        <p:txBody>
          <a:bodyPr wrap="square" anchor="t"/>
          <a:lstStyle/>
          <a:p>
            <a:pPr algn="l">
              <a:spcAft>
                <a:spcPts val="200"/>
              </a:spcAft>
            </a:pPr>
            <a:r>
              <a:rPr sz="1400" b="1" i="0">
                <a:solidFill>
                  <a:srgbClr val="F7F4EF"/>
                </a:solidFill>
                <a:latin typeface="Cambria"/>
                <a:ea typeface="宋体"/>
              </a:rPr>
              <a:t>每日时政科技简报</a:t>
            </a:r>
          </a:p>
        </p:txBody>
      </p:sp>
      <p:sp>
        <p:nvSpPr>
          <p:cNvPr id="4" name="TextBox 3"/>
          <p:cNvSpPr txBox="1"/>
          <p:nvPr/>
        </p:nvSpPr>
        <p:spPr>
          <a:xfrm>
            <a:off x="4572000" y="201168"/>
            <a:ext cx="4937760" cy="292608"/>
          </a:xfrm>
          <a:prstGeom prst="rect">
            <a:avLst/>
          </a:prstGeom>
          <a:noFill/>
        </p:spPr>
        <p:txBody>
          <a:bodyPr wrap="square" anchor="t"/>
          <a:lstStyle/>
          <a:p>
            <a:pPr algn="ctr">
              <a:spcAft>
                <a:spcPts val="200"/>
              </a:spcAft>
            </a:pPr>
            <a:r>
              <a:rPr sz="1200" b="0" i="0">
                <a:solidFill>
                  <a:srgbClr val="C9C2B6"/>
                </a:solidFill>
                <a:latin typeface="Calibri"/>
                <a:ea typeface="微软雅黑"/>
              </a:rPr>
              <a:t>第029期  ·  2026年10月20日  ·  星期二</a:t>
            </a:r>
          </a:p>
        </p:txBody>
      </p:sp>
      <p:sp>
        <p:nvSpPr>
          <p:cNvPr id="5" name="TextBox 4"/>
          <p:cNvSpPr txBox="1"/>
          <p:nvPr/>
        </p:nvSpPr>
        <p:spPr>
          <a:xfrm>
            <a:off x="10149840" y="201168"/>
            <a:ext cx="1554480" cy="292608"/>
          </a:xfrm>
          <a:prstGeom prst="rect">
            <a:avLst/>
          </a:prstGeom>
          <a:noFill/>
        </p:spPr>
        <p:txBody>
          <a:bodyPr wrap="square" anchor="t"/>
          <a:lstStyle/>
          <a:p>
            <a:pPr algn="r">
              <a:spcAft>
                <a:spcPts val="200"/>
              </a:spcAft>
            </a:pPr>
            <a:r>
              <a:rPr sz="1300" b="1" i="0">
                <a:solidFill>
                  <a:srgbClr val="C41E3A"/>
                </a:solidFill>
                <a:latin typeface="Calibri"/>
                <a:ea typeface="微软雅黑"/>
              </a:rPr>
              <a:t>晨刊</a:t>
            </a:r>
          </a:p>
        </p:txBody>
      </p:sp>
      <p:sp>
        <p:nvSpPr>
          <p:cNvPr id="6" name="Rectangle 5"/>
          <p:cNvSpPr/>
          <p:nvPr/>
        </p:nvSpPr>
        <p:spPr>
          <a:xfrm>
            <a:off x="457200" y="493776"/>
            <a:ext cx="11277295" cy="20320"/>
          </a:xfrm>
          <a:prstGeom prst="rect">
            <a:avLst/>
          </a:prstGeom>
          <a:solidFill>
            <a:srgbClr val="C41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530352"/>
            <a:ext cx="11277295" cy="9525"/>
          </a:xfrm>
          <a:prstGeom prst="rect">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713232"/>
            <a:ext cx="5943600" cy="256032"/>
          </a:xfrm>
          <a:prstGeom prst="rect">
            <a:avLst/>
          </a:prstGeom>
          <a:noFill/>
        </p:spPr>
        <p:txBody>
          <a:bodyPr wrap="square" anchor="t"/>
          <a:lstStyle/>
          <a:p>
            <a:pPr algn="l">
              <a:spcAft>
                <a:spcPts val="200"/>
              </a:spcAft>
            </a:pPr>
            <a:r>
              <a:rPr sz="1100" b="1" i="0">
                <a:solidFill>
                  <a:srgbClr val="C9C2B6"/>
                </a:solidFill>
                <a:latin typeface="Calibri"/>
                <a:ea typeface="微软雅黑"/>
              </a:rPr>
              <a:t>THE EVENING LEDGER</a:t>
            </a:r>
          </a:p>
        </p:txBody>
      </p:sp>
      <p:sp>
        <p:nvSpPr>
          <p:cNvPr id="9" name="TextBox 8"/>
          <p:cNvSpPr txBox="1"/>
          <p:nvPr/>
        </p:nvSpPr>
        <p:spPr>
          <a:xfrm>
            <a:off x="7680960" y="713232"/>
            <a:ext cx="4023360" cy="256032"/>
          </a:xfrm>
          <a:prstGeom prst="rect">
            <a:avLst/>
          </a:prstGeom>
          <a:noFill/>
        </p:spPr>
        <p:txBody>
          <a:bodyPr wrap="square" anchor="t"/>
          <a:lstStyle/>
          <a:p>
            <a:pPr algn="r">
              <a:spcAft>
                <a:spcPts val="200"/>
              </a:spcAft>
            </a:pPr>
            <a:r>
              <a:rPr sz="1100" b="0" i="0">
                <a:solidFill>
                  <a:srgbClr val="C9C2B6"/>
                </a:solidFill>
                <a:latin typeface="Calibri"/>
                <a:ea typeface="微软雅黑"/>
              </a:rPr>
              <a:t>第029期 · 收束</a:t>
            </a:r>
          </a:p>
        </p:txBody>
      </p:sp>
      <p:sp>
        <p:nvSpPr>
          <p:cNvPr id="10" name="Rectangle 9"/>
          <p:cNvSpPr/>
          <p:nvPr/>
        </p:nvSpPr>
        <p:spPr>
          <a:xfrm>
            <a:off x="457200" y="1005840"/>
            <a:ext cx="11277295" cy="27940"/>
          </a:xfrm>
          <a:prstGeom prst="rect">
            <a:avLst/>
          </a:prstGeom>
          <a:solidFill>
            <a:srgbClr val="C41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060704"/>
            <a:ext cx="11277295" cy="11430"/>
          </a:xfrm>
          <a:prstGeom prst="rect">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1170432"/>
            <a:ext cx="11247120" cy="1051560"/>
          </a:xfrm>
          <a:prstGeom prst="rect">
            <a:avLst/>
          </a:prstGeom>
          <a:noFill/>
        </p:spPr>
        <p:txBody>
          <a:bodyPr wrap="square" anchor="t"/>
          <a:lstStyle/>
          <a:p>
            <a:pPr algn="l">
              <a:spcAft>
                <a:spcPts val="200"/>
              </a:spcAft>
            </a:pPr>
            <a:r>
              <a:rPr sz="3200" b="1" i="0">
                <a:solidFill>
                  <a:srgbClr val="F7F4EF"/>
                </a:solidFill>
                <a:latin typeface="Cambria"/>
                <a:ea typeface="宋体"/>
              </a:rPr>
              <a:t>公报落地，TPU开源，取样船离岛</a:t>
            </a:r>
          </a:p>
        </p:txBody>
      </p:sp>
      <p:sp>
        <p:nvSpPr>
          <p:cNvPr id="13" name="TextBox 12"/>
          <p:cNvSpPr txBox="1"/>
          <p:nvPr/>
        </p:nvSpPr>
        <p:spPr>
          <a:xfrm>
            <a:off x="457200" y="2267712"/>
            <a:ext cx="11247120" cy="731520"/>
          </a:xfrm>
          <a:prstGeom prst="rect">
            <a:avLst/>
          </a:prstGeom>
          <a:noFill/>
        </p:spPr>
        <p:txBody>
          <a:bodyPr wrap="square" anchor="t"/>
          <a:lstStyle/>
          <a:p>
            <a:pPr algn="l">
              <a:spcAft>
                <a:spcPts val="200"/>
              </a:spcAft>
            </a:pPr>
            <a:r>
              <a:rPr sz="1500" b="0" i="0">
                <a:solidFill>
                  <a:srgbClr val="E8E2D8"/>
                </a:solidFill>
                <a:latin typeface="Calibri"/>
                <a:ea typeface="微软雅黑"/>
              </a:rPr>
              <a:t>李强在杜尚别写下「道」与「术」，晚间飞抵圣彼得堡。发改委交出扩内需三条，工信部核出工业贡献率约35%。革命卫队称两艘油轮触雷。谷歌把TPU写进PyTorch，H3把MMX送往火卫一。</a:t>
            </a:r>
          </a:p>
        </p:txBody>
      </p:sp>
      <p:sp>
        <p:nvSpPr>
          <p:cNvPr id="14" name="Rounded Rectangle 13"/>
          <p:cNvSpPr/>
          <p:nvPr/>
        </p:nvSpPr>
        <p:spPr>
          <a:xfrm>
            <a:off x="457200" y="3090672"/>
            <a:ext cx="5486400" cy="2331720"/>
          </a:xfrm>
          <a:prstGeom prst="roundRect">
            <a:avLst>
              <a:gd name="adj" fmla="val 6000"/>
            </a:avLst>
          </a:prstGeom>
          <a:solidFill>
            <a:srgbClr val="242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 y="3200400"/>
            <a:ext cx="5029200" cy="256032"/>
          </a:xfrm>
          <a:prstGeom prst="rect">
            <a:avLst/>
          </a:prstGeom>
          <a:noFill/>
        </p:spPr>
        <p:txBody>
          <a:bodyPr wrap="square" anchor="t"/>
          <a:lstStyle/>
          <a:p>
            <a:pPr algn="l">
              <a:spcAft>
                <a:spcPts val="200"/>
              </a:spcAft>
            </a:pPr>
            <a:r>
              <a:rPr sz="1300" b="1" i="0">
                <a:solidFill>
                  <a:srgbClr val="C41E3A"/>
                </a:solidFill>
                <a:latin typeface="Calibri"/>
                <a:ea typeface="微软雅黑"/>
              </a:rPr>
              <a:t>时政六条</a:t>
            </a:r>
          </a:p>
        </p:txBody>
      </p:sp>
      <p:sp>
        <p:nvSpPr>
          <p:cNvPr id="16" name="TextBox 15"/>
          <p:cNvSpPr txBox="1"/>
          <p:nvPr/>
        </p:nvSpPr>
        <p:spPr>
          <a:xfrm>
            <a:off x="658368" y="3493008"/>
            <a:ext cx="5029200" cy="1783080"/>
          </a:xfrm>
          <a:prstGeom prst="rect">
            <a:avLst/>
          </a:prstGeom>
          <a:noFill/>
        </p:spPr>
        <p:txBody>
          <a:bodyPr wrap="square" anchor="t"/>
          <a:lstStyle/>
          <a:p>
            <a:pPr algn="l">
              <a:spcAft>
                <a:spcPts val="200"/>
              </a:spcAft>
            </a:pPr>
            <a:r>
              <a:rPr sz="1300" b="0" i="0">
                <a:solidFill>
                  <a:srgbClr val="F7F4EF"/>
                </a:solidFill>
                <a:latin typeface="Calibri"/>
                <a:ea typeface="微软雅黑"/>
              </a:rPr>
              <a:t>1. 上合总理会签署联合公报</a:t>
            </a:r>
          </a:p>
          <a:p>
            <a:pPr algn="l">
              <a:spcAft>
                <a:spcPts val="200"/>
              </a:spcAft>
            </a:pPr>
            <a:r>
              <a:rPr sz="1300" b="0" i="0">
                <a:solidFill>
                  <a:srgbClr val="F7F4EF"/>
                </a:solidFill>
                <a:latin typeface="Calibri"/>
                <a:ea typeface="微软雅黑"/>
              </a:rPr>
              <a:t>2. 李强抵圣彼得堡</a:t>
            </a:r>
          </a:p>
          <a:p>
            <a:pPr algn="l">
              <a:spcAft>
                <a:spcPts val="200"/>
              </a:spcAft>
            </a:pPr>
            <a:r>
              <a:rPr sz="1300" b="0" i="0">
                <a:solidFill>
                  <a:srgbClr val="F7F4EF"/>
                </a:solidFill>
                <a:latin typeface="Calibri"/>
                <a:ea typeface="微软雅黑"/>
              </a:rPr>
              <a:t>3. 王毅欧亚之行收官</a:t>
            </a:r>
          </a:p>
          <a:p>
            <a:pPr algn="l">
              <a:spcAft>
                <a:spcPts val="200"/>
              </a:spcAft>
            </a:pPr>
            <a:r>
              <a:rPr sz="1300" b="0" i="0">
                <a:solidFill>
                  <a:srgbClr val="F7F4EF"/>
                </a:solidFill>
                <a:latin typeface="Calibri"/>
                <a:ea typeface="微软雅黑"/>
              </a:rPr>
              <a:t>4. 扩内需拟从三方面发力</a:t>
            </a:r>
          </a:p>
          <a:p>
            <a:pPr algn="l">
              <a:spcAft>
                <a:spcPts val="200"/>
              </a:spcAft>
            </a:pPr>
            <a:r>
              <a:rPr sz="1300" b="0" i="0">
                <a:solidFill>
                  <a:srgbClr val="F7F4EF"/>
                </a:solidFill>
                <a:latin typeface="Calibri"/>
                <a:ea typeface="微软雅黑"/>
              </a:rPr>
              <a:t>5. 工业贡献率仍约三成五</a:t>
            </a:r>
          </a:p>
          <a:p>
            <a:pPr algn="l">
              <a:spcAft>
                <a:spcPts val="200"/>
              </a:spcAft>
            </a:pPr>
            <a:r>
              <a:rPr sz="1300" b="0" i="0">
                <a:solidFill>
                  <a:srgbClr val="F7F4EF"/>
                </a:solidFill>
                <a:latin typeface="Calibri"/>
                <a:ea typeface="微软雅黑"/>
              </a:rPr>
              <a:t>6. 两艘油轮在海峡触雷</a:t>
            </a:r>
          </a:p>
        </p:txBody>
      </p:sp>
      <p:sp>
        <p:nvSpPr>
          <p:cNvPr id="17" name="Rounded Rectangle 16"/>
          <p:cNvSpPr/>
          <p:nvPr/>
        </p:nvSpPr>
        <p:spPr>
          <a:xfrm>
            <a:off x="6245352" y="3090672"/>
            <a:ext cx="5486400" cy="2331720"/>
          </a:xfrm>
          <a:prstGeom prst="roundRect">
            <a:avLst>
              <a:gd name="adj" fmla="val 6000"/>
            </a:avLst>
          </a:prstGeom>
          <a:solidFill>
            <a:srgbClr val="242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46520" y="3200400"/>
            <a:ext cx="5029200" cy="256032"/>
          </a:xfrm>
          <a:prstGeom prst="rect">
            <a:avLst/>
          </a:prstGeom>
          <a:noFill/>
        </p:spPr>
        <p:txBody>
          <a:bodyPr wrap="square" anchor="t"/>
          <a:lstStyle/>
          <a:p>
            <a:pPr algn="l">
              <a:spcAft>
                <a:spcPts val="200"/>
              </a:spcAft>
            </a:pPr>
            <a:r>
              <a:rPr sz="1300" b="1" i="0">
                <a:solidFill>
                  <a:srgbClr val="C41E3A"/>
                </a:solidFill>
                <a:latin typeface="Calibri"/>
                <a:ea typeface="微软雅黑"/>
              </a:rPr>
              <a:t>科技六条 · 缺口</a:t>
            </a:r>
          </a:p>
        </p:txBody>
      </p:sp>
      <p:sp>
        <p:nvSpPr>
          <p:cNvPr id="19" name="TextBox 18"/>
          <p:cNvSpPr txBox="1"/>
          <p:nvPr/>
        </p:nvSpPr>
        <p:spPr>
          <a:xfrm>
            <a:off x="6446520" y="3493008"/>
            <a:ext cx="5029200" cy="1783080"/>
          </a:xfrm>
          <a:prstGeom prst="rect">
            <a:avLst/>
          </a:prstGeom>
          <a:noFill/>
        </p:spPr>
        <p:txBody>
          <a:bodyPr wrap="square" anchor="t"/>
          <a:lstStyle/>
          <a:p>
            <a:pPr algn="l">
              <a:spcAft>
                <a:spcPts val="200"/>
              </a:spcAft>
            </a:pPr>
            <a:r>
              <a:rPr sz="1300" b="0" i="0">
                <a:solidFill>
                  <a:srgbClr val="F7F4EF"/>
                </a:solidFill>
                <a:latin typeface="Calibri"/>
                <a:ea typeface="微软雅黑"/>
              </a:rPr>
              <a:t>1. TorchTPU开源上PyTorch</a:t>
            </a:r>
          </a:p>
          <a:p>
            <a:pPr algn="l">
              <a:spcAft>
                <a:spcPts val="200"/>
              </a:spcAft>
            </a:pPr>
            <a:r>
              <a:rPr sz="1300" b="0" i="0">
                <a:solidFill>
                  <a:srgbClr val="F7F4EF"/>
                </a:solidFill>
                <a:latin typeface="Calibri"/>
                <a:ea typeface="微软雅黑"/>
              </a:rPr>
              <a:t>2. H3十号机送出MMX</a:t>
            </a:r>
          </a:p>
          <a:p>
            <a:pPr algn="l">
              <a:spcAft>
                <a:spcPts val="200"/>
              </a:spcAft>
            </a:pPr>
            <a:r>
              <a:rPr sz="1300" b="0" i="0">
                <a:solidFill>
                  <a:srgbClr val="F7F4EF"/>
                </a:solidFill>
                <a:latin typeface="Calibri"/>
                <a:ea typeface="微软雅黑"/>
              </a:rPr>
              <a:t>3. Bandwagon-5送上32载荷</a:t>
            </a:r>
          </a:p>
          <a:p>
            <a:pPr algn="l">
              <a:spcAft>
                <a:spcPts val="200"/>
              </a:spcAft>
            </a:pPr>
            <a:r>
              <a:rPr sz="1300" b="0" i="0">
                <a:solidFill>
                  <a:srgbClr val="F7F4EF"/>
                </a:solidFill>
                <a:latin typeface="Calibri"/>
                <a:ea typeface="微软雅黑"/>
              </a:rPr>
              <a:t>4. 新突发布Astra SR200</a:t>
            </a:r>
          </a:p>
          <a:p>
            <a:pPr algn="l">
              <a:spcAft>
                <a:spcPts val="200"/>
              </a:spcAft>
            </a:pPr>
            <a:r>
              <a:rPr sz="1300" b="0" i="0">
                <a:solidFill>
                  <a:srgbClr val="F7F4EF"/>
                </a:solidFill>
                <a:latin typeface="Calibri"/>
                <a:ea typeface="微软雅黑"/>
              </a:rPr>
              <a:t>5. ABCA1被写成帕金森通路</a:t>
            </a:r>
          </a:p>
          <a:p>
            <a:pPr algn="l">
              <a:spcAft>
                <a:spcPts val="200"/>
              </a:spcAft>
            </a:pPr>
            <a:r>
              <a:rPr sz="1300" b="0" i="0">
                <a:solidFill>
                  <a:srgbClr val="F7F4EF"/>
                </a:solidFill>
                <a:latin typeface="Calibri"/>
                <a:ea typeface="微软雅黑"/>
              </a:rPr>
              <a:t>6. 光把赝能隙打出对称</a:t>
            </a:r>
          </a:p>
        </p:txBody>
      </p:sp>
      <p:sp>
        <p:nvSpPr>
          <p:cNvPr id="20" name="TextBox 19"/>
          <p:cNvSpPr txBox="1"/>
          <p:nvPr/>
        </p:nvSpPr>
        <p:spPr>
          <a:xfrm>
            <a:off x="457200" y="5559552"/>
            <a:ext cx="11247120" cy="640080"/>
          </a:xfrm>
          <a:prstGeom prst="rect">
            <a:avLst/>
          </a:prstGeom>
          <a:noFill/>
        </p:spPr>
        <p:txBody>
          <a:bodyPr wrap="square" anchor="t"/>
          <a:lstStyle/>
          <a:p>
            <a:pPr algn="l">
              <a:spcAft>
                <a:spcPts val="200"/>
              </a:spcAft>
            </a:pPr>
            <a:r>
              <a:rPr sz="1200" b="0" i="0">
                <a:solidFill>
                  <a:srgbClr val="C9C2B6"/>
                </a:solidFill>
                <a:latin typeface="Calibri"/>
                <a:ea typeface="微软雅黑"/>
              </a:rPr>
              <a:t>日期窗口：Asia/Shanghai 2026-10-20 00:00 至 2026-10-21 00:00。交叉来源：新华社/外交部、发改委/工信部、赛帕新闻、Google Cloud、JAXA、SpaceX/NASA、Synaptics、《自然》子刊。创刊期号：2026-09-22为第001期。</a:t>
            </a:r>
          </a:p>
        </p:txBody>
      </p:sp>
      <p:sp>
        <p:nvSpPr>
          <p:cNvPr id="21" name="TextBox 20"/>
          <p:cNvSpPr txBox="1"/>
          <p:nvPr/>
        </p:nvSpPr>
        <p:spPr>
          <a:xfrm>
            <a:off x="457200" y="6199632"/>
            <a:ext cx="11247120" cy="292608"/>
          </a:xfrm>
          <a:prstGeom prst="rect">
            <a:avLst/>
          </a:prstGeom>
          <a:noFill/>
        </p:spPr>
        <p:txBody>
          <a:bodyPr wrap="square" anchor="t"/>
          <a:lstStyle/>
          <a:p>
            <a:pPr algn="l">
              <a:spcAft>
                <a:spcPts val="200"/>
              </a:spcAft>
            </a:pPr>
            <a:r>
              <a:rPr sz="1300" b="1" i="0">
                <a:solidFill>
                  <a:srgbClr val="C41E3A"/>
                </a:solidFill>
                <a:latin typeface="Calibri"/>
                <a:ea typeface="微软雅黑"/>
              </a:rPr>
              <a:t>每日时政科技简报 · 第029期 · 完</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