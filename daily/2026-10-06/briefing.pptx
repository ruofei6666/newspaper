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128016" cy="128016"/>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02336"/>
            <a:ext cx="5852160" cy="237744"/>
          </a:xfrm>
          <a:prstGeom prst="rect">
            <a:avLst/>
          </a:prstGeom>
          <a:noFill/>
        </p:spPr>
        <p:txBody>
          <a:bodyPr wrap="square" anchor="t"/>
          <a:lstStyle/>
          <a:p>
            <a:pPr algn="l"/>
            <a:r>
              <a:rPr sz="1100" b="1">
                <a:solidFill>
                  <a:srgbClr val="C9C2B6"/>
                </a:solidFill>
                <a:latin typeface="Calibri"/>
                <a:ea typeface="Calibri"/>
                <a:cs typeface="Calibri"/>
              </a:rPr>
              <a:t>THE MORNING DISPATCH</a:t>
            </a:r>
          </a:p>
        </p:txBody>
      </p:sp>
      <p:sp>
        <p:nvSpPr>
          <p:cNvPr id="5" name="TextBox 4"/>
          <p:cNvSpPr txBox="1"/>
          <p:nvPr/>
        </p:nvSpPr>
        <p:spPr>
          <a:xfrm>
            <a:off x="6766560" y="402336"/>
            <a:ext cx="4919472" cy="237744"/>
          </a:xfrm>
          <a:prstGeom prst="rect">
            <a:avLst/>
          </a:prstGeom>
          <a:noFill/>
        </p:spPr>
        <p:txBody>
          <a:bodyPr wrap="square" anchor="t"/>
          <a:lstStyle/>
          <a:p>
            <a:pPr algn="r"/>
            <a:r>
              <a:rPr sz="1100" b="0">
                <a:solidFill>
                  <a:srgbClr val="C9C2B6"/>
                </a:solidFill>
                <a:latin typeface="Calibri"/>
                <a:ea typeface="Calibri"/>
                <a:cs typeface="Calibri"/>
              </a:rPr>
              <a:t>ASIA / SHANGHAI    昨日新闻</a:t>
            </a:r>
          </a:p>
        </p:txBody>
      </p:sp>
      <p:sp>
        <p:nvSpPr>
          <p:cNvPr id="6" name="Rectangle 5"/>
          <p:cNvSpPr/>
          <p:nvPr/>
        </p:nvSpPr>
        <p:spPr>
          <a:xfrm>
            <a:off x="502920" y="749808"/>
            <a:ext cx="11183112" cy="27432"/>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822960"/>
            <a:ext cx="11183112" cy="9144"/>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05840"/>
            <a:ext cx="11155680" cy="310896"/>
          </a:xfrm>
          <a:prstGeom prst="rect">
            <a:avLst/>
          </a:prstGeom>
          <a:noFill/>
        </p:spPr>
        <p:txBody>
          <a:bodyPr wrap="square" anchor="t"/>
          <a:lstStyle/>
          <a:p>
            <a:pPr algn="l"/>
            <a:r>
              <a:rPr sz="1600" b="1">
                <a:solidFill>
                  <a:srgbClr val="C41E3A"/>
                </a:solidFill>
                <a:latin typeface="Cambria"/>
                <a:ea typeface="Cambria"/>
                <a:cs typeface="Cambria"/>
              </a:rPr>
              <a:t>第零壹伍期  ·  二零二六年十月六日  ·  星期二</a:t>
            </a:r>
          </a:p>
        </p:txBody>
      </p:sp>
      <p:sp>
        <p:nvSpPr>
          <p:cNvPr id="9" name="TextBox 8"/>
          <p:cNvSpPr txBox="1"/>
          <p:nvPr/>
        </p:nvSpPr>
        <p:spPr>
          <a:xfrm>
            <a:off x="502920" y="1335024"/>
            <a:ext cx="11155680" cy="1051560"/>
          </a:xfrm>
          <a:prstGeom prst="rect">
            <a:avLst/>
          </a:prstGeom>
          <a:noFill/>
        </p:spPr>
        <p:txBody>
          <a:bodyPr wrap="square" anchor="t"/>
          <a:lstStyle/>
          <a:p>
            <a:pPr algn="l"/>
            <a:r>
              <a:rPr sz="4800" b="1">
                <a:solidFill>
                  <a:srgbClr val="F7F4EF"/>
                </a:solidFill>
                <a:latin typeface="Cambria"/>
                <a:ea typeface="Cambria"/>
                <a:cs typeface="Cambria"/>
              </a:rPr>
              <a:t>每日时政科技简报</a:t>
            </a:r>
          </a:p>
        </p:txBody>
      </p:sp>
      <p:sp>
        <p:nvSpPr>
          <p:cNvPr id="10" name="TextBox 9"/>
          <p:cNvSpPr txBox="1"/>
          <p:nvPr/>
        </p:nvSpPr>
        <p:spPr>
          <a:xfrm>
            <a:off x="502920" y="2450592"/>
            <a:ext cx="11155680" cy="658368"/>
          </a:xfrm>
          <a:prstGeom prst="rect">
            <a:avLst/>
          </a:prstGeom>
          <a:noFill/>
        </p:spPr>
        <p:txBody>
          <a:bodyPr wrap="square" anchor="t"/>
          <a:lstStyle/>
          <a:p>
            <a:pPr algn="l"/>
            <a:r>
              <a:rPr sz="1600" b="0">
                <a:solidFill>
                  <a:srgbClr val="C9C2B6"/>
                </a:solidFill>
                <a:latin typeface="Calibri"/>
                <a:ea typeface="Calibri"/>
                <a:cs typeface="Calibri"/>
              </a:rPr>
              <a:t>只收录该日发生或该日首发的稿件。假期里外交部提前开口，商务部顶住法德保护主义信，霍尔木兹首次写下伤亡。</a:t>
            </a:r>
          </a:p>
        </p:txBody>
      </p:sp>
      <p:sp>
        <p:nvSpPr>
          <p:cNvPr id="11" name="Rectangle 10"/>
          <p:cNvSpPr/>
          <p:nvPr/>
        </p:nvSpPr>
        <p:spPr>
          <a:xfrm>
            <a:off x="502920" y="3255264"/>
            <a:ext cx="3529584"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346704"/>
            <a:ext cx="3163824" cy="777240"/>
          </a:xfrm>
          <a:prstGeom prst="rect">
            <a:avLst/>
          </a:prstGeom>
          <a:noFill/>
        </p:spPr>
        <p:txBody>
          <a:bodyPr wrap="square" anchor="t"/>
          <a:lstStyle/>
          <a:p>
            <a:pPr algn="l"/>
            <a:r>
              <a:rPr sz="5200" b="1">
                <a:solidFill>
                  <a:srgbClr val="C41E3A"/>
                </a:solidFill>
                <a:latin typeface="Cambria"/>
                <a:ea typeface="Cambria"/>
                <a:cs typeface="Cambria"/>
              </a:rPr>
              <a:t>06</a:t>
            </a:r>
          </a:p>
        </p:txBody>
      </p:sp>
      <p:sp>
        <p:nvSpPr>
          <p:cNvPr id="13" name="TextBox 12"/>
          <p:cNvSpPr txBox="1"/>
          <p:nvPr/>
        </p:nvSpPr>
        <p:spPr>
          <a:xfrm>
            <a:off x="704088" y="4114800"/>
            <a:ext cx="3163824" cy="329184"/>
          </a:xfrm>
          <a:prstGeom prst="rect">
            <a:avLst/>
          </a:prstGeom>
          <a:noFill/>
        </p:spPr>
        <p:txBody>
          <a:bodyPr wrap="square" anchor="t"/>
          <a:lstStyle/>
          <a:p>
            <a:pPr algn="l"/>
            <a:r>
              <a:rPr sz="2000" b="1">
                <a:solidFill>
                  <a:srgbClr val="F7F4EF"/>
                </a:solidFill>
                <a:latin typeface="Calibri"/>
                <a:ea typeface="Calibri"/>
                <a:cs typeface="Calibri"/>
              </a:rPr>
              <a:t>时政</a:t>
            </a:r>
          </a:p>
        </p:txBody>
      </p:sp>
      <p:sp>
        <p:nvSpPr>
          <p:cNvPr id="14" name="TextBox 13"/>
          <p:cNvSpPr txBox="1"/>
          <p:nvPr/>
        </p:nvSpPr>
        <p:spPr>
          <a:xfrm>
            <a:off x="704088" y="4462272"/>
            <a:ext cx="3163824" cy="438912"/>
          </a:xfrm>
          <a:prstGeom prst="rect">
            <a:avLst/>
          </a:prstGeom>
          <a:noFill/>
        </p:spPr>
        <p:txBody>
          <a:bodyPr wrap="square" anchor="t"/>
          <a:lstStyle/>
          <a:p>
            <a:pPr algn="l"/>
            <a:r>
              <a:rPr sz="1300" b="0">
                <a:solidFill>
                  <a:srgbClr val="B8B0A4"/>
                </a:solidFill>
                <a:latin typeface="Calibri"/>
                <a:ea typeface="Calibri"/>
                <a:cs typeface="Calibri"/>
              </a:rPr>
              <a:t>台湾 · 南海 · 东亚增速</a:t>
            </a:r>
          </a:p>
        </p:txBody>
      </p:sp>
      <p:sp>
        <p:nvSpPr>
          <p:cNvPr id="15" name="Rectangle 14"/>
          <p:cNvSpPr/>
          <p:nvPr/>
        </p:nvSpPr>
        <p:spPr>
          <a:xfrm>
            <a:off x="4361688" y="3255264"/>
            <a:ext cx="3529584"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3346704"/>
            <a:ext cx="3163824" cy="777240"/>
          </a:xfrm>
          <a:prstGeom prst="rect">
            <a:avLst/>
          </a:prstGeom>
          <a:noFill/>
        </p:spPr>
        <p:txBody>
          <a:bodyPr wrap="square" anchor="t"/>
          <a:lstStyle/>
          <a:p>
            <a:pPr algn="l"/>
            <a:r>
              <a:rPr sz="5200" b="1">
                <a:solidFill>
                  <a:srgbClr val="C41E3A"/>
                </a:solidFill>
                <a:latin typeface="Cambria"/>
                <a:ea typeface="Cambria"/>
                <a:cs typeface="Cambria"/>
              </a:rPr>
              <a:t>04</a:t>
            </a:r>
          </a:p>
        </p:txBody>
      </p:sp>
      <p:sp>
        <p:nvSpPr>
          <p:cNvPr id="17" name="TextBox 16"/>
          <p:cNvSpPr txBox="1"/>
          <p:nvPr/>
        </p:nvSpPr>
        <p:spPr>
          <a:xfrm>
            <a:off x="4562855" y="4114800"/>
            <a:ext cx="3163824" cy="329184"/>
          </a:xfrm>
          <a:prstGeom prst="rect">
            <a:avLst/>
          </a:prstGeom>
          <a:noFill/>
        </p:spPr>
        <p:txBody>
          <a:bodyPr wrap="square" anchor="t"/>
          <a:lstStyle/>
          <a:p>
            <a:pPr algn="l"/>
            <a:r>
              <a:rPr sz="2000" b="1">
                <a:solidFill>
                  <a:srgbClr val="F7F4EF"/>
                </a:solidFill>
                <a:latin typeface="Calibri"/>
                <a:ea typeface="Calibri"/>
                <a:cs typeface="Calibri"/>
              </a:rPr>
              <a:t>科技</a:t>
            </a:r>
          </a:p>
        </p:txBody>
      </p:sp>
      <p:sp>
        <p:nvSpPr>
          <p:cNvPr id="18" name="TextBox 17"/>
          <p:cNvSpPr txBox="1"/>
          <p:nvPr/>
        </p:nvSpPr>
        <p:spPr>
          <a:xfrm>
            <a:off x="4562855" y="4462272"/>
            <a:ext cx="3163824" cy="438912"/>
          </a:xfrm>
          <a:prstGeom prst="rect">
            <a:avLst/>
          </a:prstGeom>
          <a:noFill/>
        </p:spPr>
        <p:txBody>
          <a:bodyPr wrap="square" anchor="t"/>
          <a:lstStyle/>
          <a:p>
            <a:pPr algn="l"/>
            <a:r>
              <a:rPr sz="1300" b="0">
                <a:solidFill>
                  <a:srgbClr val="B8B0A4"/>
                </a:solidFill>
                <a:latin typeface="Calibri"/>
                <a:ea typeface="Calibri"/>
                <a:cs typeface="Calibri"/>
              </a:rPr>
              <a:t>制程 · 专利 · 代谢</a:t>
            </a:r>
          </a:p>
        </p:txBody>
      </p:sp>
      <p:sp>
        <p:nvSpPr>
          <p:cNvPr id="19" name="Rectangle 18"/>
          <p:cNvSpPr/>
          <p:nvPr/>
        </p:nvSpPr>
        <p:spPr>
          <a:xfrm>
            <a:off x="8220456" y="3255264"/>
            <a:ext cx="3529584" cy="1874519"/>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21624" y="3346704"/>
            <a:ext cx="3163824" cy="777240"/>
          </a:xfrm>
          <a:prstGeom prst="rect">
            <a:avLst/>
          </a:prstGeom>
          <a:noFill/>
        </p:spPr>
        <p:txBody>
          <a:bodyPr wrap="square" anchor="t"/>
          <a:lstStyle/>
          <a:p>
            <a:pPr algn="l"/>
            <a:r>
              <a:rPr sz="5200" b="1">
                <a:solidFill>
                  <a:srgbClr val="C41E3A"/>
                </a:solidFill>
                <a:latin typeface="Cambria"/>
                <a:ea typeface="Cambria"/>
                <a:cs typeface="Cambria"/>
              </a:rPr>
              <a:t>10</a:t>
            </a:r>
          </a:p>
        </p:txBody>
      </p:sp>
      <p:sp>
        <p:nvSpPr>
          <p:cNvPr id="21" name="TextBox 20"/>
          <p:cNvSpPr txBox="1"/>
          <p:nvPr/>
        </p:nvSpPr>
        <p:spPr>
          <a:xfrm>
            <a:off x="8421624" y="4114800"/>
            <a:ext cx="3163824" cy="329184"/>
          </a:xfrm>
          <a:prstGeom prst="rect">
            <a:avLst/>
          </a:prstGeom>
          <a:noFill/>
        </p:spPr>
        <p:txBody>
          <a:bodyPr wrap="square" anchor="t"/>
          <a:lstStyle/>
          <a:p>
            <a:pPr algn="l"/>
            <a:r>
              <a:rPr sz="2000" b="1">
                <a:solidFill>
                  <a:srgbClr val="F7F4EF"/>
                </a:solidFill>
                <a:latin typeface="Calibri"/>
                <a:ea typeface="Calibri"/>
                <a:cs typeface="Calibri"/>
              </a:rPr>
              <a:t>合计</a:t>
            </a:r>
          </a:p>
        </p:txBody>
      </p:sp>
      <p:sp>
        <p:nvSpPr>
          <p:cNvPr id="22" name="TextBox 21"/>
          <p:cNvSpPr txBox="1"/>
          <p:nvPr/>
        </p:nvSpPr>
        <p:spPr>
          <a:xfrm>
            <a:off x="8421624" y="4462272"/>
            <a:ext cx="3163824" cy="438912"/>
          </a:xfrm>
          <a:prstGeom prst="rect">
            <a:avLst/>
          </a:prstGeom>
          <a:noFill/>
        </p:spPr>
        <p:txBody>
          <a:bodyPr wrap="square" anchor="t"/>
          <a:lstStyle/>
          <a:p>
            <a:pPr algn="l"/>
            <a:r>
              <a:rPr sz="1300" b="0">
                <a:solidFill>
                  <a:srgbClr val="B8B0A4"/>
                </a:solidFill>
                <a:latin typeface="Calibri"/>
                <a:ea typeface="Calibri"/>
                <a:cs typeface="Calibri"/>
              </a:rPr>
              <a:t>周二沪时首发可核验</a:t>
            </a:r>
          </a:p>
        </p:txBody>
      </p:sp>
      <p:sp>
        <p:nvSpPr>
          <p:cNvPr id="23" name="TextBox 22"/>
          <p:cNvSpPr txBox="1"/>
          <p:nvPr/>
        </p:nvSpPr>
        <p:spPr>
          <a:xfrm>
            <a:off x="502920" y="5321808"/>
            <a:ext cx="11155680" cy="1051560"/>
          </a:xfrm>
          <a:prstGeom prst="rect">
            <a:avLst/>
          </a:prstGeom>
          <a:noFill/>
        </p:spPr>
        <p:txBody>
          <a:bodyPr wrap="square" anchor="t"/>
          <a:lstStyle/>
          <a:p>
            <a:pPr algn="l"/>
            <a:r>
              <a:rPr sz="1400" b="0">
                <a:solidFill>
                  <a:srgbClr val="F7F4EF"/>
                </a:solidFill>
                <a:latin typeface="Calibri"/>
                <a:ea typeface="Calibri"/>
                <a:cs typeface="Calibri"/>
              </a:rPr>
              <a:t>今日主线：郭嘉昆把台湾、售武和黄岩岛写进假期答问。商务部点名法德勿鼓动欧盟祭出保护主义工具。世界银行把东亚太平洋增速改写成4.5%。霍尔木兹一艘商船12人受伤。高通与华为就同一协议给出两套口径。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49808"/>
            <a:ext cx="2011680" cy="822960"/>
          </a:xfrm>
          <a:prstGeom prst="rect">
            <a:avLst/>
          </a:prstGeom>
          <a:noFill/>
        </p:spPr>
        <p:txBody>
          <a:bodyPr wrap="square" anchor="t"/>
          <a:lstStyle/>
          <a:p>
            <a:pPr algn="l"/>
            <a:r>
              <a:rPr sz="6000" b="1">
                <a:solidFill>
                  <a:srgbClr val="C41E3A"/>
                </a:solidFill>
                <a:latin typeface="Cambria"/>
                <a:ea typeface="Cambria"/>
                <a:cs typeface="Cambria"/>
              </a:rPr>
              <a:t>01</a:t>
            </a:r>
          </a:p>
        </p:txBody>
      </p:sp>
      <p:sp>
        <p:nvSpPr>
          <p:cNvPr id="9" name="TextBox 8"/>
          <p:cNvSpPr txBox="1"/>
          <p:nvPr/>
        </p:nvSpPr>
        <p:spPr>
          <a:xfrm>
            <a:off x="2103120" y="841248"/>
            <a:ext cx="9509760" cy="566928"/>
          </a:xfrm>
          <a:prstGeom prst="rect">
            <a:avLst/>
          </a:prstGeom>
          <a:noFill/>
        </p:spPr>
        <p:txBody>
          <a:bodyPr wrap="square" anchor="t"/>
          <a:lstStyle/>
          <a:p>
            <a:pPr algn="l"/>
            <a:r>
              <a:rPr sz="3600" b="1">
                <a:solidFill>
                  <a:srgbClr val="1A1A1A"/>
                </a:solidFill>
                <a:latin typeface="Cambria"/>
                <a:ea typeface="Cambria"/>
                <a:cs typeface="Cambria"/>
              </a:rPr>
              <a:t>时政开篇</a:t>
            </a:r>
          </a:p>
        </p:txBody>
      </p:sp>
      <p:sp>
        <p:nvSpPr>
          <p:cNvPr id="10" name="TextBox 9"/>
          <p:cNvSpPr txBox="1"/>
          <p:nvPr/>
        </p:nvSpPr>
        <p:spPr>
          <a:xfrm>
            <a:off x="2103120" y="1408176"/>
            <a:ext cx="9509760" cy="384048"/>
          </a:xfrm>
          <a:prstGeom prst="rect">
            <a:avLst/>
          </a:prstGeom>
          <a:noFill/>
        </p:spPr>
        <p:txBody>
          <a:bodyPr wrap="square" anchor="t"/>
          <a:lstStyle/>
          <a:p>
            <a:pPr algn="l"/>
            <a:r>
              <a:rPr sz="1500" b="0">
                <a:solidFill>
                  <a:srgbClr val="4A5568"/>
                </a:solidFill>
                <a:latin typeface="Calibri"/>
                <a:ea typeface="Calibri"/>
                <a:cs typeface="Calibri"/>
              </a:rPr>
              <a:t>原定休会至八日的外交部周二开口。商务部比外交口更硬地回了法德那封信。海峡则第一次把伤亡数字写进官方声明。</a:t>
            </a:r>
          </a:p>
        </p:txBody>
      </p:sp>
      <p:sp>
        <p:nvSpPr>
          <p:cNvPr id="11" name="Rectangle 10"/>
          <p:cNvSpPr/>
          <p:nvPr/>
        </p:nvSpPr>
        <p:spPr>
          <a:xfrm>
            <a:off x="502920" y="1920240"/>
            <a:ext cx="11183112" cy="1115568"/>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993392"/>
            <a:ext cx="10607040" cy="237744"/>
          </a:xfrm>
          <a:prstGeom prst="rect">
            <a:avLst/>
          </a:prstGeom>
          <a:noFill/>
        </p:spPr>
        <p:txBody>
          <a:bodyPr wrap="square" anchor="t"/>
          <a:lstStyle/>
          <a:p>
            <a:pPr algn="l"/>
            <a:r>
              <a:rPr sz="1200" b="1">
                <a:solidFill>
                  <a:srgbClr val="C41E3A"/>
                </a:solidFill>
                <a:latin typeface="Calibri"/>
                <a:ea typeface="Calibri"/>
                <a:cs typeface="Calibri"/>
              </a:rPr>
              <a:t>刊头摘句 · 外交部</a:t>
            </a:r>
          </a:p>
        </p:txBody>
      </p:sp>
      <p:sp>
        <p:nvSpPr>
          <p:cNvPr id="13" name="TextBox 12"/>
          <p:cNvSpPr txBox="1"/>
          <p:nvPr/>
        </p:nvSpPr>
        <p:spPr>
          <a:xfrm>
            <a:off x="758952" y="2249424"/>
            <a:ext cx="10607040" cy="640080"/>
          </a:xfrm>
          <a:prstGeom prst="rect">
            <a:avLst/>
          </a:prstGeom>
          <a:noFill/>
        </p:spPr>
        <p:txBody>
          <a:bodyPr wrap="square" anchor="t"/>
          <a:lstStyle/>
          <a:p>
            <a:pPr algn="l"/>
            <a:r>
              <a:rPr sz="1600" b="1">
                <a:solidFill>
                  <a:srgbClr val="1A1A1A"/>
                </a:solidFill>
                <a:latin typeface="Cambria"/>
                <a:ea typeface="Cambria"/>
                <a:cs typeface="Cambria"/>
              </a:rPr>
              <a:t>「美方应落实中美元首会晤重要共识，恪守一个中国原则和中美三个联合公报，慎重处理台湾问题。」——郭嘉昆</a:t>
            </a:r>
          </a:p>
        </p:txBody>
      </p:sp>
      <p:sp>
        <p:nvSpPr>
          <p:cNvPr id="14" name="Rectangle 13"/>
          <p:cNvSpPr/>
          <p:nvPr/>
        </p:nvSpPr>
        <p:spPr>
          <a:xfrm>
            <a:off x="502920" y="3218688"/>
            <a:ext cx="3529584" cy="299923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346704"/>
            <a:ext cx="3163824" cy="713232"/>
          </a:xfrm>
          <a:prstGeom prst="rect">
            <a:avLst/>
          </a:prstGeom>
          <a:noFill/>
        </p:spPr>
        <p:txBody>
          <a:bodyPr wrap="square" anchor="t"/>
          <a:lstStyle/>
          <a:p>
            <a:pPr algn="l"/>
            <a:r>
              <a:rPr sz="3600" b="1">
                <a:solidFill>
                  <a:srgbClr val="C41E3A"/>
                </a:solidFill>
                <a:latin typeface="Cambria"/>
                <a:ea typeface="Cambria"/>
                <a:cs typeface="Cambria"/>
              </a:rPr>
              <a:t>F-16V</a:t>
            </a:r>
          </a:p>
        </p:txBody>
      </p:sp>
      <p:sp>
        <p:nvSpPr>
          <p:cNvPr id="16" name="TextBox 15"/>
          <p:cNvSpPr txBox="1"/>
          <p:nvPr/>
        </p:nvSpPr>
        <p:spPr>
          <a:xfrm>
            <a:off x="704088" y="4078224"/>
            <a:ext cx="3163824" cy="329184"/>
          </a:xfrm>
          <a:prstGeom prst="rect">
            <a:avLst/>
          </a:prstGeom>
          <a:noFill/>
        </p:spPr>
        <p:txBody>
          <a:bodyPr wrap="square" anchor="t"/>
          <a:lstStyle/>
          <a:p>
            <a:pPr algn="l"/>
            <a:r>
              <a:rPr sz="1600" b="1">
                <a:solidFill>
                  <a:srgbClr val="4A5568"/>
                </a:solidFill>
                <a:latin typeface="Calibri"/>
                <a:ea typeface="Calibri"/>
                <a:cs typeface="Calibri"/>
              </a:rPr>
              <a:t>对台军售</a:t>
            </a:r>
          </a:p>
        </p:txBody>
      </p:sp>
      <p:sp>
        <p:nvSpPr>
          <p:cNvPr id="17" name="TextBox 16"/>
          <p:cNvSpPr txBox="1"/>
          <p:nvPr/>
        </p:nvSpPr>
        <p:spPr>
          <a:xfrm>
            <a:off x="704088" y="4480560"/>
            <a:ext cx="3163824" cy="1417320"/>
          </a:xfrm>
          <a:prstGeom prst="rect">
            <a:avLst/>
          </a:prstGeom>
          <a:noFill/>
        </p:spPr>
        <p:txBody>
          <a:bodyPr wrap="square" anchor="t"/>
          <a:lstStyle/>
          <a:p>
            <a:pPr algn="l"/>
            <a:r>
              <a:rPr sz="1400" b="0">
                <a:solidFill>
                  <a:srgbClr val="1A1A1A"/>
                </a:solidFill>
                <a:latin typeface="Calibri"/>
                <a:ea typeface="Calibri"/>
                <a:cs typeface="Calibri"/>
              </a:rPr>
              <a:t>台方接收两架，计划年内再收64架。郭嘉昆重申坚决反对。</a:t>
            </a:r>
          </a:p>
        </p:txBody>
      </p:sp>
      <p:sp>
        <p:nvSpPr>
          <p:cNvPr id="18" name="Rectangle 17"/>
          <p:cNvSpPr/>
          <p:nvPr/>
        </p:nvSpPr>
        <p:spPr>
          <a:xfrm>
            <a:off x="4361688" y="3218688"/>
            <a:ext cx="3529584" cy="299923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2855" y="3346704"/>
            <a:ext cx="3163824" cy="713232"/>
          </a:xfrm>
          <a:prstGeom prst="rect">
            <a:avLst/>
          </a:prstGeom>
          <a:noFill/>
        </p:spPr>
        <p:txBody>
          <a:bodyPr wrap="square" anchor="t"/>
          <a:lstStyle/>
          <a:p>
            <a:pPr algn="l"/>
            <a:r>
              <a:rPr sz="3600" b="1">
                <a:solidFill>
                  <a:srgbClr val="C41E3A"/>
                </a:solidFill>
                <a:latin typeface="Cambria"/>
                <a:ea typeface="Cambria"/>
                <a:cs typeface="Cambria"/>
              </a:rPr>
              <a:t>4.5%</a:t>
            </a:r>
          </a:p>
        </p:txBody>
      </p:sp>
      <p:sp>
        <p:nvSpPr>
          <p:cNvPr id="20" name="TextBox 19"/>
          <p:cNvSpPr txBox="1"/>
          <p:nvPr/>
        </p:nvSpPr>
        <p:spPr>
          <a:xfrm>
            <a:off x="4562855" y="4078224"/>
            <a:ext cx="3163824" cy="329184"/>
          </a:xfrm>
          <a:prstGeom prst="rect">
            <a:avLst/>
          </a:prstGeom>
          <a:noFill/>
        </p:spPr>
        <p:txBody>
          <a:bodyPr wrap="square" anchor="t"/>
          <a:lstStyle/>
          <a:p>
            <a:pPr algn="l"/>
            <a:r>
              <a:rPr sz="1600" b="1">
                <a:solidFill>
                  <a:srgbClr val="4A5568"/>
                </a:solidFill>
                <a:latin typeface="Calibri"/>
                <a:ea typeface="Calibri"/>
                <a:cs typeface="Calibri"/>
              </a:rPr>
              <a:t>东亚增速</a:t>
            </a:r>
          </a:p>
        </p:txBody>
      </p:sp>
      <p:sp>
        <p:nvSpPr>
          <p:cNvPr id="21" name="TextBox 20"/>
          <p:cNvSpPr txBox="1"/>
          <p:nvPr/>
        </p:nvSpPr>
        <p:spPr>
          <a:xfrm>
            <a:off x="4562855" y="4480560"/>
            <a:ext cx="3163824" cy="1417320"/>
          </a:xfrm>
          <a:prstGeom prst="rect">
            <a:avLst/>
          </a:prstGeom>
          <a:noFill/>
        </p:spPr>
        <p:txBody>
          <a:bodyPr wrap="square" anchor="t"/>
          <a:lstStyle/>
          <a:p>
            <a:pPr algn="l"/>
            <a:r>
              <a:rPr sz="1400" b="0">
                <a:solidFill>
                  <a:srgbClr val="1A1A1A"/>
                </a:solidFill>
                <a:latin typeface="Calibri"/>
                <a:ea typeface="Calibri"/>
                <a:cs typeface="Calibri"/>
              </a:rPr>
              <a:t>世界银行较4月预测上调0.3个百分点，主因AI价值链。</a:t>
            </a:r>
          </a:p>
        </p:txBody>
      </p:sp>
      <p:sp>
        <p:nvSpPr>
          <p:cNvPr id="22" name="Rectangle 21"/>
          <p:cNvSpPr/>
          <p:nvPr/>
        </p:nvSpPr>
        <p:spPr>
          <a:xfrm>
            <a:off x="8220456" y="3218688"/>
            <a:ext cx="3529584" cy="299923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21624" y="3346704"/>
            <a:ext cx="3163824" cy="713232"/>
          </a:xfrm>
          <a:prstGeom prst="rect">
            <a:avLst/>
          </a:prstGeom>
          <a:noFill/>
        </p:spPr>
        <p:txBody>
          <a:bodyPr wrap="square" anchor="t"/>
          <a:lstStyle/>
          <a:p>
            <a:pPr algn="l"/>
            <a:r>
              <a:rPr sz="3600" b="1">
                <a:solidFill>
                  <a:srgbClr val="C41E3A"/>
                </a:solidFill>
                <a:latin typeface="Cambria"/>
                <a:ea typeface="Cambria"/>
                <a:cs typeface="Cambria"/>
              </a:rPr>
              <a:t>12</a:t>
            </a:r>
          </a:p>
        </p:txBody>
      </p:sp>
      <p:sp>
        <p:nvSpPr>
          <p:cNvPr id="24" name="TextBox 23"/>
          <p:cNvSpPr txBox="1"/>
          <p:nvPr/>
        </p:nvSpPr>
        <p:spPr>
          <a:xfrm>
            <a:off x="8421624" y="4078224"/>
            <a:ext cx="3163824" cy="329184"/>
          </a:xfrm>
          <a:prstGeom prst="rect">
            <a:avLst/>
          </a:prstGeom>
          <a:noFill/>
        </p:spPr>
        <p:txBody>
          <a:bodyPr wrap="square" anchor="t"/>
          <a:lstStyle/>
          <a:p>
            <a:pPr algn="l"/>
            <a:r>
              <a:rPr sz="1600" b="1">
                <a:solidFill>
                  <a:srgbClr val="4A5568"/>
                </a:solidFill>
                <a:latin typeface="Calibri"/>
                <a:ea typeface="Calibri"/>
                <a:cs typeface="Calibri"/>
              </a:rPr>
              <a:t>人受伤</a:t>
            </a:r>
          </a:p>
        </p:txBody>
      </p:sp>
      <p:sp>
        <p:nvSpPr>
          <p:cNvPr id="25" name="TextBox 24"/>
          <p:cNvSpPr txBox="1"/>
          <p:nvPr/>
        </p:nvSpPr>
        <p:spPr>
          <a:xfrm>
            <a:off x="8421624" y="4480560"/>
            <a:ext cx="3163824" cy="1417320"/>
          </a:xfrm>
          <a:prstGeom prst="rect">
            <a:avLst/>
          </a:prstGeom>
          <a:noFill/>
        </p:spPr>
        <p:txBody>
          <a:bodyPr wrap="square" anchor="t"/>
          <a:lstStyle/>
          <a:p>
            <a:pPr algn="l"/>
            <a:r>
              <a:rPr sz="1400" b="0">
                <a:solidFill>
                  <a:srgbClr val="1A1A1A"/>
                </a:solidFill>
                <a:latin typeface="Calibri"/>
                <a:ea typeface="Calibri"/>
                <a:cs typeface="Calibri"/>
              </a:rPr>
              <a:t>巴拿马旗商船在阿曼附近通过霍尔木兹时遭袭，11人为印籍。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786384"/>
            <a:ext cx="11183112" cy="565099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960120"/>
            <a:ext cx="2194560" cy="822960"/>
          </a:xfrm>
          <a:prstGeom prst="rect">
            <a:avLst/>
          </a:prstGeom>
          <a:noFill/>
        </p:spPr>
        <p:txBody>
          <a:bodyPr wrap="square" anchor="t"/>
          <a:lstStyle/>
          <a:p>
            <a:pPr algn="l"/>
            <a:r>
              <a:rPr sz="5400" b="1">
                <a:solidFill>
                  <a:srgbClr val="C41E3A"/>
                </a:solidFill>
                <a:latin typeface="Cambria"/>
                <a:ea typeface="Cambria"/>
                <a:cs typeface="Cambria"/>
              </a:rPr>
              <a:t>01</a:t>
            </a:r>
          </a:p>
        </p:txBody>
      </p:sp>
      <p:sp>
        <p:nvSpPr>
          <p:cNvPr id="10" name="TextBox 9"/>
          <p:cNvSpPr txBox="1"/>
          <p:nvPr/>
        </p:nvSpPr>
        <p:spPr>
          <a:xfrm>
            <a:off x="795528" y="1783080"/>
            <a:ext cx="2194560" cy="640080"/>
          </a:xfrm>
          <a:prstGeom prst="rect">
            <a:avLst/>
          </a:prstGeom>
          <a:noFill/>
        </p:spPr>
        <p:txBody>
          <a:bodyPr wrap="square" anchor="t"/>
          <a:lstStyle/>
          <a:p>
            <a:pPr algn="l"/>
            <a:r>
              <a:rPr sz="1400" b="1">
                <a:solidFill>
                  <a:srgbClr val="4A5568"/>
                </a:solidFill>
                <a:latin typeface="Calibri"/>
                <a:ea typeface="Calibri"/>
                <a:cs typeface="Calibri"/>
              </a:rPr>
              <a:t>外交 · 北京</a:t>
            </a:r>
          </a:p>
        </p:txBody>
      </p:sp>
      <p:sp>
        <p:nvSpPr>
          <p:cNvPr id="11" name="Rectangle 10"/>
          <p:cNvSpPr/>
          <p:nvPr/>
        </p:nvSpPr>
        <p:spPr>
          <a:xfrm>
            <a:off x="3063240" y="1078992"/>
            <a:ext cx="100584" cy="10058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005840"/>
            <a:ext cx="8138160" cy="256032"/>
          </a:xfrm>
          <a:prstGeom prst="rect">
            <a:avLst/>
          </a:prstGeom>
          <a:noFill/>
        </p:spPr>
        <p:txBody>
          <a:bodyPr wrap="square" anchor="t"/>
          <a:lstStyle/>
          <a:p>
            <a:pPr algn="l"/>
            <a:r>
              <a:rPr sz="1200" b="1">
                <a:solidFill>
                  <a:srgbClr val="C41E3A"/>
                </a:solidFill>
                <a:latin typeface="Calibri"/>
                <a:ea typeface="Calibri"/>
                <a:cs typeface="Calibri"/>
              </a:rPr>
              <a:t>外交部 · 6日答问</a:t>
            </a:r>
          </a:p>
        </p:txBody>
      </p:sp>
      <p:sp>
        <p:nvSpPr>
          <p:cNvPr id="13" name="TextBox 12"/>
          <p:cNvSpPr txBox="1"/>
          <p:nvPr/>
        </p:nvSpPr>
        <p:spPr>
          <a:xfrm>
            <a:off x="3063240" y="1298448"/>
            <a:ext cx="8321040" cy="1234440"/>
          </a:xfrm>
          <a:prstGeom prst="rect">
            <a:avLst/>
          </a:prstGeom>
          <a:noFill/>
        </p:spPr>
        <p:txBody>
          <a:bodyPr wrap="square" anchor="t"/>
          <a:lstStyle/>
          <a:p>
            <a:pPr algn="l"/>
            <a:r>
              <a:rPr sz="3200" b="1">
                <a:solidFill>
                  <a:srgbClr val="1A1A1A"/>
                </a:solidFill>
                <a:latin typeface="Cambria"/>
                <a:ea typeface="Cambria"/>
                <a:cs typeface="Cambria"/>
              </a:rPr>
              <a:t>告美方慎重处理台湾问题</a:t>
            </a:r>
          </a:p>
        </p:txBody>
      </p:sp>
      <p:sp>
        <p:nvSpPr>
          <p:cNvPr id="14" name="TextBox 13"/>
          <p:cNvSpPr txBox="1"/>
          <p:nvPr/>
        </p:nvSpPr>
        <p:spPr>
          <a:xfrm>
            <a:off x="3063240" y="2578608"/>
            <a:ext cx="8321040" cy="329184"/>
          </a:xfrm>
          <a:prstGeom prst="rect">
            <a:avLst/>
          </a:prstGeom>
          <a:noFill/>
        </p:spPr>
        <p:txBody>
          <a:bodyPr wrap="square" anchor="t"/>
          <a:lstStyle/>
          <a:p>
            <a:pPr algn="l"/>
            <a:r>
              <a:rPr sz="1300" b="0">
                <a:solidFill>
                  <a:srgbClr val="4A5568"/>
                </a:solidFill>
                <a:latin typeface="Calibri"/>
                <a:ea typeface="Calibri"/>
                <a:cs typeface="Calibri"/>
              </a:rPr>
              <a:t>来源：外交部 / 新华网   mfa.gov.cn  ·  news.cn</a:t>
            </a:r>
          </a:p>
        </p:txBody>
      </p:sp>
      <p:sp>
        <p:nvSpPr>
          <p:cNvPr id="15" name="TextBox 14"/>
          <p:cNvSpPr txBox="1"/>
          <p:nvPr/>
        </p:nvSpPr>
        <p:spPr>
          <a:xfrm>
            <a:off x="3063240" y="2962656"/>
            <a:ext cx="8321040" cy="1691640"/>
          </a:xfrm>
          <a:prstGeom prst="rect">
            <a:avLst/>
          </a:prstGeom>
          <a:noFill/>
        </p:spPr>
        <p:txBody>
          <a:bodyPr wrap="square" anchor="t"/>
          <a:lstStyle/>
          <a:p>
            <a:pPr algn="l"/>
            <a:r>
              <a:rPr sz="1600" b="0">
                <a:solidFill>
                  <a:srgbClr val="1A1A1A"/>
                </a:solidFill>
                <a:latin typeface="Calibri"/>
                <a:ea typeface="Calibri"/>
                <a:cs typeface="Calibri"/>
              </a:rPr>
              <a:t>外交部发言人郭嘉昆6日答问。针对美官员称2028年前「入侵」台湾可能性下降，他强调台湾问题是中国内政，美方应落实元首共识、恪守一中原则与三个联合公报；就台方接收两架美制F-16V、年内再收64架，重申坚决反对对台军售。</a:t>
            </a:r>
          </a:p>
        </p:txBody>
      </p:sp>
      <p:sp>
        <p:nvSpPr>
          <p:cNvPr id="16" name="Rectangle 15"/>
          <p:cNvSpPr/>
          <p:nvPr/>
        </p:nvSpPr>
        <p:spPr>
          <a:xfrm>
            <a:off x="3063240" y="4773168"/>
            <a:ext cx="832104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63240" y="4846320"/>
            <a:ext cx="832104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8" name="TextBox 17"/>
          <p:cNvSpPr txBox="1"/>
          <p:nvPr/>
        </p:nvSpPr>
        <p:spPr>
          <a:xfrm>
            <a:off x="3063240" y="5029200"/>
            <a:ext cx="8321040" cy="1069848"/>
          </a:xfrm>
          <a:prstGeom prst="rect">
            <a:avLst/>
          </a:prstGeom>
          <a:noFill/>
        </p:spPr>
        <p:txBody>
          <a:bodyPr wrap="square" anchor="t"/>
          <a:lstStyle/>
          <a:p>
            <a:pPr algn="l"/>
            <a:r>
              <a:rPr sz="1500" b="0">
                <a:solidFill>
                  <a:srgbClr val="4A5568"/>
                </a:solidFill>
                <a:latin typeface="Calibri"/>
                <a:ea typeface="Calibri"/>
                <a:cs typeface="Calibri"/>
              </a:rPr>
              <a:t>假期原定休会至八日，这场答问把台湾、售武重新写成官方口径，也回应了美方「2028年可能性下降」的放风。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13232"/>
            <a:ext cx="11155680" cy="438912"/>
          </a:xfrm>
          <a:prstGeom prst="rect">
            <a:avLst/>
          </a:prstGeom>
          <a:noFill/>
        </p:spPr>
        <p:txBody>
          <a:bodyPr wrap="square" anchor="t"/>
          <a:lstStyle/>
          <a:p>
            <a:pPr algn="l"/>
            <a:r>
              <a:rPr sz="2800" b="1">
                <a:solidFill>
                  <a:srgbClr val="1A1A1A"/>
                </a:solidFill>
                <a:latin typeface="Cambria"/>
                <a:ea typeface="Cambria"/>
                <a:cs typeface="Cambria"/>
              </a:rPr>
              <a:t>南海正告，与布鲁塞尔回信</a:t>
            </a:r>
          </a:p>
        </p:txBody>
      </p:sp>
      <p:sp>
        <p:nvSpPr>
          <p:cNvPr id="9" name="TextBox 8"/>
          <p:cNvSpPr txBox="1"/>
          <p:nvPr/>
        </p:nvSpPr>
        <p:spPr>
          <a:xfrm>
            <a:off x="502920" y="1152144"/>
            <a:ext cx="11155680" cy="329184"/>
          </a:xfrm>
          <a:prstGeom prst="rect">
            <a:avLst/>
          </a:prstGeom>
          <a:noFill/>
        </p:spPr>
        <p:txBody>
          <a:bodyPr wrap="square" anchor="t"/>
          <a:lstStyle/>
          <a:p>
            <a:pPr algn="l"/>
            <a:r>
              <a:rPr sz="1400" b="0">
                <a:solidFill>
                  <a:srgbClr val="4A5568"/>
                </a:solidFill>
                <a:latin typeface="Calibri"/>
                <a:ea typeface="Calibri"/>
                <a:cs typeface="Calibri"/>
              </a:rPr>
              <a:t>同一场外交：一边把战区正告写成外交照会，一边由商务部接手法德那份非正式文件。</a:t>
            </a:r>
          </a:p>
        </p:txBody>
      </p:sp>
      <p:sp>
        <p:nvSpPr>
          <p:cNvPr id="10" name="Rectangle 9"/>
          <p:cNvSpPr/>
          <p:nvPr/>
        </p:nvSpPr>
        <p:spPr>
          <a:xfrm>
            <a:off x="502920" y="1609344"/>
            <a:ext cx="5422392" cy="482803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1792224"/>
            <a:ext cx="100584" cy="10058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1737360"/>
            <a:ext cx="4782312" cy="256032"/>
          </a:xfrm>
          <a:prstGeom prst="rect">
            <a:avLst/>
          </a:prstGeom>
          <a:noFill/>
        </p:spPr>
        <p:txBody>
          <a:bodyPr wrap="square" anchor="t"/>
          <a:lstStyle/>
          <a:p>
            <a:pPr algn="l"/>
            <a:r>
              <a:rPr sz="1200" b="1">
                <a:solidFill>
                  <a:srgbClr val="C41E3A"/>
                </a:solidFill>
                <a:latin typeface="Calibri"/>
                <a:ea typeface="Calibri"/>
                <a:cs typeface="Calibri"/>
              </a:rPr>
              <a:t>02　南海 · 北京</a:t>
            </a:r>
          </a:p>
        </p:txBody>
      </p:sp>
      <p:sp>
        <p:nvSpPr>
          <p:cNvPr id="13" name="TextBox 12"/>
          <p:cNvSpPr txBox="1"/>
          <p:nvPr/>
        </p:nvSpPr>
        <p:spPr>
          <a:xfrm>
            <a:off x="722376" y="2048256"/>
            <a:ext cx="4983480" cy="1143000"/>
          </a:xfrm>
          <a:prstGeom prst="rect">
            <a:avLst/>
          </a:prstGeom>
          <a:noFill/>
        </p:spPr>
        <p:txBody>
          <a:bodyPr wrap="square" anchor="t"/>
          <a:lstStyle/>
          <a:p>
            <a:pPr algn="l"/>
            <a:r>
              <a:rPr sz="2400" b="1">
                <a:solidFill>
                  <a:srgbClr val="1A1A1A"/>
                </a:solidFill>
                <a:latin typeface="Cambria"/>
                <a:ea typeface="Cambria"/>
                <a:cs typeface="Cambria"/>
              </a:rPr>
              <a:t>正告菲方停止三岛礁侵权</a:t>
            </a:r>
          </a:p>
        </p:txBody>
      </p:sp>
      <p:sp>
        <p:nvSpPr>
          <p:cNvPr id="14" name="TextBox 13"/>
          <p:cNvSpPr txBox="1"/>
          <p:nvPr/>
        </p:nvSpPr>
        <p:spPr>
          <a:xfrm>
            <a:off x="722376" y="3218688"/>
            <a:ext cx="4983480" cy="292608"/>
          </a:xfrm>
          <a:prstGeom prst="rect">
            <a:avLst/>
          </a:prstGeom>
          <a:noFill/>
        </p:spPr>
        <p:txBody>
          <a:bodyPr wrap="square" anchor="t"/>
          <a:lstStyle/>
          <a:p>
            <a:pPr algn="l"/>
            <a:r>
              <a:rPr sz="1200" b="0">
                <a:solidFill>
                  <a:srgbClr val="4A5568"/>
                </a:solidFill>
                <a:latin typeface="Calibri"/>
                <a:ea typeface="Calibri"/>
                <a:cs typeface="Calibri"/>
              </a:rPr>
              <a:t>来源：外交部 / 新华网</a:t>
            </a:r>
          </a:p>
        </p:txBody>
      </p:sp>
      <p:sp>
        <p:nvSpPr>
          <p:cNvPr id="15" name="TextBox 14"/>
          <p:cNvSpPr txBox="1"/>
          <p:nvPr/>
        </p:nvSpPr>
        <p:spPr>
          <a:xfrm>
            <a:off x="722376" y="3547872"/>
            <a:ext cx="4983480" cy="1691640"/>
          </a:xfrm>
          <a:prstGeom prst="rect">
            <a:avLst/>
          </a:prstGeom>
          <a:noFill/>
        </p:spPr>
        <p:txBody>
          <a:bodyPr wrap="square" anchor="t"/>
          <a:lstStyle/>
          <a:p>
            <a:pPr algn="l"/>
            <a:r>
              <a:rPr sz="1400" b="0">
                <a:solidFill>
                  <a:srgbClr val="1A1A1A"/>
                </a:solidFill>
                <a:latin typeface="Calibri"/>
                <a:ea typeface="Calibri"/>
                <a:cs typeface="Calibri"/>
              </a:rPr>
              <a:t>针对菲方称中方在南海两处滋扰其飞机船只，郭嘉昆称中国对黄岩岛及南沙中业岛、铁线礁及其附近海域拥有主权。菲机船未经允许闯入，军队和海警依法应对，中方正告立即停止侵权挑衅。</a:t>
            </a:r>
          </a:p>
        </p:txBody>
      </p:sp>
      <p:sp>
        <p:nvSpPr>
          <p:cNvPr id="16" name="Rectangle 15"/>
          <p:cNvSpPr/>
          <p:nvPr/>
        </p:nvSpPr>
        <p:spPr>
          <a:xfrm>
            <a:off x="722376" y="5321808"/>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394960"/>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8" name="TextBox 17"/>
          <p:cNvSpPr txBox="1"/>
          <p:nvPr/>
        </p:nvSpPr>
        <p:spPr>
          <a:xfrm>
            <a:off x="722376" y="5577840"/>
            <a:ext cx="4983480" cy="704088"/>
          </a:xfrm>
          <a:prstGeom prst="rect">
            <a:avLst/>
          </a:prstGeom>
          <a:noFill/>
        </p:spPr>
        <p:txBody>
          <a:bodyPr wrap="square" anchor="t"/>
          <a:lstStyle/>
          <a:p>
            <a:pPr algn="l"/>
            <a:r>
              <a:rPr sz="1300" b="0">
                <a:solidFill>
                  <a:srgbClr val="4A5568"/>
                </a:solidFill>
                <a:latin typeface="Calibri"/>
                <a:ea typeface="Calibri"/>
                <a:cs typeface="Calibri"/>
              </a:rPr>
              <a:t>5日战区只写黄岩岛，6日外交口把范围扩到中业岛与铁线礁，军政两套话合成一条。</a:t>
            </a:r>
          </a:p>
        </p:txBody>
      </p:sp>
      <p:sp>
        <p:nvSpPr>
          <p:cNvPr id="19" name="Rectangle 18"/>
          <p:cNvSpPr/>
          <p:nvPr/>
        </p:nvSpPr>
        <p:spPr>
          <a:xfrm>
            <a:off x="6254496" y="1609344"/>
            <a:ext cx="5422392" cy="482803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73952" y="1792224"/>
            <a:ext cx="100584" cy="10058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1737360"/>
            <a:ext cx="4782312" cy="256032"/>
          </a:xfrm>
          <a:prstGeom prst="rect">
            <a:avLst/>
          </a:prstGeom>
          <a:noFill/>
        </p:spPr>
        <p:txBody>
          <a:bodyPr wrap="square" anchor="t"/>
          <a:lstStyle/>
          <a:p>
            <a:pPr algn="l"/>
            <a:r>
              <a:rPr sz="1200" b="1">
                <a:solidFill>
                  <a:srgbClr val="C41E3A"/>
                </a:solidFill>
                <a:latin typeface="Calibri"/>
                <a:ea typeface="Calibri"/>
                <a:cs typeface="Calibri"/>
              </a:rPr>
              <a:t>03　经贸 · 北京</a:t>
            </a:r>
          </a:p>
        </p:txBody>
      </p:sp>
      <p:sp>
        <p:nvSpPr>
          <p:cNvPr id="22" name="TextBox 21"/>
          <p:cNvSpPr txBox="1"/>
          <p:nvPr/>
        </p:nvSpPr>
        <p:spPr>
          <a:xfrm>
            <a:off x="6473952" y="2048256"/>
            <a:ext cx="4983480" cy="1143000"/>
          </a:xfrm>
          <a:prstGeom prst="rect">
            <a:avLst/>
          </a:prstGeom>
          <a:noFill/>
        </p:spPr>
        <p:txBody>
          <a:bodyPr wrap="square" anchor="t"/>
          <a:lstStyle/>
          <a:p>
            <a:pPr algn="l"/>
            <a:r>
              <a:rPr sz="2400" b="1">
                <a:solidFill>
                  <a:srgbClr val="1A1A1A"/>
                </a:solidFill>
                <a:latin typeface="Cambria"/>
                <a:ea typeface="Cambria"/>
                <a:cs typeface="Cambria"/>
              </a:rPr>
              <a:t>商务部批法德鼓动保护主义</a:t>
            </a:r>
          </a:p>
        </p:txBody>
      </p:sp>
      <p:sp>
        <p:nvSpPr>
          <p:cNvPr id="23" name="TextBox 22"/>
          <p:cNvSpPr txBox="1"/>
          <p:nvPr/>
        </p:nvSpPr>
        <p:spPr>
          <a:xfrm>
            <a:off x="6473952" y="3218688"/>
            <a:ext cx="4983480" cy="292608"/>
          </a:xfrm>
          <a:prstGeom prst="rect">
            <a:avLst/>
          </a:prstGeom>
          <a:noFill/>
        </p:spPr>
        <p:txBody>
          <a:bodyPr wrap="square" anchor="t"/>
          <a:lstStyle/>
          <a:p>
            <a:pPr algn="l"/>
            <a:r>
              <a:rPr sz="1200" b="0">
                <a:solidFill>
                  <a:srgbClr val="4A5568"/>
                </a:solidFill>
                <a:latin typeface="Calibri"/>
                <a:ea typeface="Calibri"/>
                <a:cs typeface="Calibri"/>
              </a:rPr>
              <a:t>来源：商务部 / 新华社</a:t>
            </a:r>
          </a:p>
        </p:txBody>
      </p:sp>
      <p:sp>
        <p:nvSpPr>
          <p:cNvPr id="24" name="TextBox 23"/>
          <p:cNvSpPr txBox="1"/>
          <p:nvPr/>
        </p:nvSpPr>
        <p:spPr>
          <a:xfrm>
            <a:off x="6473952" y="3547872"/>
            <a:ext cx="4983480" cy="1691640"/>
          </a:xfrm>
          <a:prstGeom prst="rect">
            <a:avLst/>
          </a:prstGeom>
          <a:noFill/>
        </p:spPr>
        <p:txBody>
          <a:bodyPr wrap="square" anchor="t"/>
          <a:lstStyle/>
          <a:p>
            <a:pPr algn="l"/>
            <a:r>
              <a:rPr sz="1400" b="0">
                <a:solidFill>
                  <a:srgbClr val="1A1A1A"/>
                </a:solidFill>
                <a:latin typeface="Calibri"/>
                <a:ea typeface="Calibri"/>
                <a:cs typeface="Calibri"/>
              </a:rPr>
              <a:t>商务部新闻发言人6日回应：法德5日向欧委会提交非正式文件，要求强化贸易防御并推出保护主义新工具。中方称相互依赖不是风险，希望法德遵守世贸规则，勿将经贸问题政治化和泛安全化。</a:t>
            </a:r>
          </a:p>
        </p:txBody>
      </p:sp>
      <p:sp>
        <p:nvSpPr>
          <p:cNvPr id="25" name="Rectangle 24"/>
          <p:cNvSpPr/>
          <p:nvPr/>
        </p:nvSpPr>
        <p:spPr>
          <a:xfrm>
            <a:off x="6473952" y="5321808"/>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5394960"/>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27" name="TextBox 26"/>
          <p:cNvSpPr txBox="1"/>
          <p:nvPr/>
        </p:nvSpPr>
        <p:spPr>
          <a:xfrm>
            <a:off x="6473952" y="5577840"/>
            <a:ext cx="4983480" cy="704088"/>
          </a:xfrm>
          <a:prstGeom prst="rect">
            <a:avLst/>
          </a:prstGeom>
          <a:noFill/>
        </p:spPr>
        <p:txBody>
          <a:bodyPr wrap="square" anchor="t"/>
          <a:lstStyle/>
          <a:p>
            <a:pPr algn="l"/>
            <a:r>
              <a:rPr sz="1300" b="0">
                <a:solidFill>
                  <a:srgbClr val="4A5568"/>
                </a:solidFill>
                <a:latin typeface="Calibri"/>
                <a:ea typeface="Calibri"/>
                <a:cs typeface="Calibri"/>
              </a:rPr>
              <a:t>这是对欧委会贸易委员访华前的正式表态，比外交部「请询主管部门」更硬、也更具体。</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13232"/>
            <a:ext cx="11155680" cy="438912"/>
          </a:xfrm>
          <a:prstGeom prst="rect">
            <a:avLst/>
          </a:prstGeom>
          <a:noFill/>
        </p:spPr>
        <p:txBody>
          <a:bodyPr wrap="square" anchor="t"/>
          <a:lstStyle/>
          <a:p>
            <a:pPr algn="l"/>
            <a:r>
              <a:rPr sz="2800" b="1">
                <a:solidFill>
                  <a:srgbClr val="1A1A1A"/>
                </a:solidFill>
                <a:latin typeface="Cambria"/>
                <a:ea typeface="Cambria"/>
                <a:cs typeface="Cambria"/>
              </a:rPr>
              <a:t>增速被改写，海峡写下伤亡</a:t>
            </a:r>
          </a:p>
        </p:txBody>
      </p:sp>
      <p:sp>
        <p:nvSpPr>
          <p:cNvPr id="9" name="TextBox 8"/>
          <p:cNvSpPr txBox="1"/>
          <p:nvPr/>
        </p:nvSpPr>
        <p:spPr>
          <a:xfrm>
            <a:off x="502920" y="1152144"/>
            <a:ext cx="11155680" cy="329184"/>
          </a:xfrm>
          <a:prstGeom prst="rect">
            <a:avLst/>
          </a:prstGeom>
          <a:noFill/>
        </p:spPr>
        <p:txBody>
          <a:bodyPr wrap="square" anchor="t"/>
          <a:lstStyle/>
          <a:p>
            <a:pPr algn="l"/>
            <a:r>
              <a:rPr sz="1400" b="0">
                <a:solidFill>
                  <a:srgbClr val="4A5568"/>
                </a:solidFill>
                <a:latin typeface="Calibri"/>
                <a:ea typeface="Calibri"/>
                <a:cs typeface="Calibri"/>
              </a:rPr>
              <a:t>一栏是世行把东亚写成AI供应链的受益者，一栏是霍尔木兹把袭击写成人员伤亡。</a:t>
            </a:r>
          </a:p>
        </p:txBody>
      </p:sp>
      <p:sp>
        <p:nvSpPr>
          <p:cNvPr id="10" name="Rectangle 9"/>
          <p:cNvSpPr/>
          <p:nvPr/>
        </p:nvSpPr>
        <p:spPr>
          <a:xfrm>
            <a:off x="502920" y="1591056"/>
            <a:ext cx="5422392" cy="484632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1719072"/>
            <a:ext cx="4983480" cy="237744"/>
          </a:xfrm>
          <a:prstGeom prst="rect">
            <a:avLst/>
          </a:prstGeom>
          <a:noFill/>
        </p:spPr>
        <p:txBody>
          <a:bodyPr wrap="square" anchor="t"/>
          <a:lstStyle/>
          <a:p>
            <a:pPr algn="l"/>
            <a:r>
              <a:rPr sz="1200" b="1">
                <a:solidFill>
                  <a:srgbClr val="C41E3A"/>
                </a:solidFill>
                <a:latin typeface="Calibri"/>
                <a:ea typeface="Calibri"/>
                <a:cs typeface="Calibri"/>
              </a:rPr>
              <a:t>04　宏观 · 纽约</a:t>
            </a:r>
          </a:p>
        </p:txBody>
      </p:sp>
      <p:sp>
        <p:nvSpPr>
          <p:cNvPr id="12" name="TextBox 11"/>
          <p:cNvSpPr txBox="1"/>
          <p:nvPr/>
        </p:nvSpPr>
        <p:spPr>
          <a:xfrm>
            <a:off x="722376" y="1993392"/>
            <a:ext cx="4983480" cy="1051560"/>
          </a:xfrm>
          <a:prstGeom prst="rect">
            <a:avLst/>
          </a:prstGeom>
          <a:noFill/>
        </p:spPr>
        <p:txBody>
          <a:bodyPr wrap="square" anchor="t"/>
          <a:lstStyle/>
          <a:p>
            <a:pPr algn="l"/>
            <a:r>
              <a:rPr sz="2400" b="1">
                <a:solidFill>
                  <a:srgbClr val="1A1A1A"/>
                </a:solidFill>
                <a:latin typeface="Cambria"/>
                <a:ea typeface="Cambria"/>
                <a:cs typeface="Cambria"/>
              </a:rPr>
              <a:t>世行上调东亚增速至4.5%</a:t>
            </a:r>
          </a:p>
        </p:txBody>
      </p:sp>
      <p:sp>
        <p:nvSpPr>
          <p:cNvPr id="13" name="TextBox 12"/>
          <p:cNvSpPr txBox="1"/>
          <p:nvPr/>
        </p:nvSpPr>
        <p:spPr>
          <a:xfrm>
            <a:off x="722376" y="3072384"/>
            <a:ext cx="4983480" cy="274320"/>
          </a:xfrm>
          <a:prstGeom prst="rect">
            <a:avLst/>
          </a:prstGeom>
          <a:noFill/>
        </p:spPr>
        <p:txBody>
          <a:bodyPr wrap="square" anchor="t"/>
          <a:lstStyle/>
          <a:p>
            <a:pPr algn="l"/>
            <a:r>
              <a:rPr sz="1200" b="0">
                <a:solidFill>
                  <a:srgbClr val="4A5568"/>
                </a:solidFill>
                <a:latin typeface="Calibri"/>
                <a:ea typeface="Calibri"/>
                <a:cs typeface="Calibri"/>
              </a:rPr>
              <a:t>来源：世界银行 / 新华社</a:t>
            </a:r>
          </a:p>
        </p:txBody>
      </p:sp>
      <p:sp>
        <p:nvSpPr>
          <p:cNvPr id="14" name="TextBox 13"/>
          <p:cNvSpPr txBox="1"/>
          <p:nvPr/>
        </p:nvSpPr>
        <p:spPr>
          <a:xfrm>
            <a:off x="722376" y="3383280"/>
            <a:ext cx="4983480" cy="1783080"/>
          </a:xfrm>
          <a:prstGeom prst="rect">
            <a:avLst/>
          </a:prstGeom>
          <a:noFill/>
        </p:spPr>
        <p:txBody>
          <a:bodyPr wrap="square" anchor="t"/>
          <a:lstStyle/>
          <a:p>
            <a:pPr algn="l"/>
            <a:r>
              <a:rPr sz="1400" b="0">
                <a:solidFill>
                  <a:srgbClr val="1A1A1A"/>
                </a:solidFill>
                <a:latin typeface="Calibri"/>
                <a:ea typeface="Calibri"/>
                <a:cs typeface="Calibri"/>
              </a:rPr>
              <a:t>世界银行6日将2026年东亚太平洋增速预测上调至4.5%，较4月高0.3个百分点，主因是人工智能价值链上的高技术投资与出口。越南、马来西亚、泰国分别上调1.1、0.7、0.7个百分点，太平洋岛国下调0.5个百分点。</a:t>
            </a:r>
          </a:p>
        </p:txBody>
      </p:sp>
      <p:sp>
        <p:nvSpPr>
          <p:cNvPr id="15" name="Rectangle 14"/>
          <p:cNvSpPr/>
          <p:nvPr/>
        </p:nvSpPr>
        <p:spPr>
          <a:xfrm>
            <a:off x="722376" y="5285232"/>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5358384"/>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7" name="TextBox 16"/>
          <p:cNvSpPr txBox="1"/>
          <p:nvPr/>
        </p:nvSpPr>
        <p:spPr>
          <a:xfrm>
            <a:off x="722376" y="5541264"/>
            <a:ext cx="4983480" cy="704088"/>
          </a:xfrm>
          <a:prstGeom prst="rect">
            <a:avLst/>
          </a:prstGeom>
          <a:noFill/>
        </p:spPr>
        <p:txBody>
          <a:bodyPr wrap="square" anchor="t"/>
          <a:lstStyle/>
          <a:p>
            <a:pPr algn="l"/>
            <a:r>
              <a:rPr sz="1300" b="0">
                <a:solidFill>
                  <a:srgbClr val="4A5568"/>
                </a:solidFill>
                <a:latin typeface="Calibri"/>
                <a:ea typeface="Calibri"/>
                <a:cs typeface="Calibri"/>
              </a:rPr>
              <a:t>把本地区增长差写成制造优势尚未转化成应用与就业，点出下一阶段政策缺口。</a:t>
            </a:r>
          </a:p>
        </p:txBody>
      </p:sp>
      <p:sp>
        <p:nvSpPr>
          <p:cNvPr id="18" name="Rectangle 17"/>
          <p:cNvSpPr/>
          <p:nvPr/>
        </p:nvSpPr>
        <p:spPr>
          <a:xfrm>
            <a:off x="6254496" y="1591056"/>
            <a:ext cx="5422392" cy="484632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1719072"/>
            <a:ext cx="4983480" cy="237744"/>
          </a:xfrm>
          <a:prstGeom prst="rect">
            <a:avLst/>
          </a:prstGeom>
          <a:noFill/>
        </p:spPr>
        <p:txBody>
          <a:bodyPr wrap="square" anchor="t"/>
          <a:lstStyle/>
          <a:p>
            <a:pPr algn="l"/>
            <a:r>
              <a:rPr sz="1200" b="1">
                <a:solidFill>
                  <a:srgbClr val="C41E3A"/>
                </a:solidFill>
                <a:latin typeface="Calibri"/>
                <a:ea typeface="Calibri"/>
                <a:cs typeface="Calibri"/>
              </a:rPr>
              <a:t>05　中东 · 霍尔木兹</a:t>
            </a:r>
          </a:p>
        </p:txBody>
      </p:sp>
      <p:sp>
        <p:nvSpPr>
          <p:cNvPr id="20" name="TextBox 19"/>
          <p:cNvSpPr txBox="1"/>
          <p:nvPr/>
        </p:nvSpPr>
        <p:spPr>
          <a:xfrm>
            <a:off x="6473952" y="1993392"/>
            <a:ext cx="4983480" cy="1051560"/>
          </a:xfrm>
          <a:prstGeom prst="rect">
            <a:avLst/>
          </a:prstGeom>
          <a:noFill/>
        </p:spPr>
        <p:txBody>
          <a:bodyPr wrap="square" anchor="t"/>
          <a:lstStyle/>
          <a:p>
            <a:pPr algn="l"/>
            <a:r>
              <a:rPr sz="2400" b="1">
                <a:solidFill>
                  <a:srgbClr val="1A1A1A"/>
                </a:solidFill>
                <a:latin typeface="Cambria"/>
                <a:ea typeface="Cambria"/>
                <a:cs typeface="Cambria"/>
              </a:rPr>
              <a:t>商船遇袭，12名船员受伤</a:t>
            </a:r>
          </a:p>
        </p:txBody>
      </p:sp>
      <p:sp>
        <p:nvSpPr>
          <p:cNvPr id="21" name="TextBox 20"/>
          <p:cNvSpPr txBox="1"/>
          <p:nvPr/>
        </p:nvSpPr>
        <p:spPr>
          <a:xfrm>
            <a:off x="6473952" y="3072384"/>
            <a:ext cx="4983480" cy="274320"/>
          </a:xfrm>
          <a:prstGeom prst="rect">
            <a:avLst/>
          </a:prstGeom>
          <a:noFill/>
        </p:spPr>
        <p:txBody>
          <a:bodyPr wrap="square" anchor="t"/>
          <a:lstStyle/>
          <a:p>
            <a:pPr algn="l"/>
            <a:r>
              <a:rPr sz="1200" b="0">
                <a:solidFill>
                  <a:srgbClr val="4A5568"/>
                </a:solidFill>
                <a:latin typeface="Calibri"/>
                <a:ea typeface="Calibri"/>
                <a:cs typeface="Calibri"/>
              </a:rPr>
              <a:t>来源：印度外交部 / 新华社</a:t>
            </a:r>
          </a:p>
        </p:txBody>
      </p:sp>
      <p:sp>
        <p:nvSpPr>
          <p:cNvPr id="22" name="TextBox 21"/>
          <p:cNvSpPr txBox="1"/>
          <p:nvPr/>
        </p:nvSpPr>
        <p:spPr>
          <a:xfrm>
            <a:off x="6473952" y="3383280"/>
            <a:ext cx="4983480" cy="1783080"/>
          </a:xfrm>
          <a:prstGeom prst="rect">
            <a:avLst/>
          </a:prstGeom>
          <a:noFill/>
        </p:spPr>
        <p:txBody>
          <a:bodyPr wrap="square" anchor="t"/>
          <a:lstStyle/>
          <a:p>
            <a:pPr algn="l"/>
            <a:r>
              <a:rPr sz="1400" b="0">
                <a:solidFill>
                  <a:srgbClr val="1A1A1A"/>
                </a:solidFill>
                <a:latin typeface="Calibri"/>
                <a:ea typeface="Calibri"/>
                <a:cs typeface="Calibri"/>
              </a:rPr>
              <a:t>印度外交部6日声明，一艘巴拿马旗商船当日在阿曼附近通过霍尔木兹海峡时遭袭，船上19人中12人受伤、11人为印籍船员，伤员已送阿曼海塞卜救治。印方谴责袭击并对持续袭船深表关切。</a:t>
            </a:r>
          </a:p>
        </p:txBody>
      </p:sp>
      <p:sp>
        <p:nvSpPr>
          <p:cNvPr id="23" name="Rectangle 22"/>
          <p:cNvSpPr/>
          <p:nvPr/>
        </p:nvSpPr>
        <p:spPr>
          <a:xfrm>
            <a:off x="6473952" y="5285232"/>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5358384"/>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25" name="TextBox 24"/>
          <p:cNvSpPr txBox="1"/>
          <p:nvPr/>
        </p:nvSpPr>
        <p:spPr>
          <a:xfrm>
            <a:off x="6473952" y="5541264"/>
            <a:ext cx="4983480" cy="704088"/>
          </a:xfrm>
          <a:prstGeom prst="rect">
            <a:avLst/>
          </a:prstGeom>
          <a:noFill/>
        </p:spPr>
        <p:txBody>
          <a:bodyPr wrap="square" anchor="t"/>
          <a:lstStyle/>
          <a:p>
            <a:pPr algn="l"/>
            <a:r>
              <a:rPr sz="1300" b="0">
                <a:solidFill>
                  <a:srgbClr val="4A5568"/>
                </a:solidFill>
                <a:latin typeface="Calibri"/>
                <a:ea typeface="Calibri"/>
                <a:cs typeface="Calibri"/>
              </a:rPr>
              <a:t>周一续袭之后，周二首次出现明确伤亡数字，海峡风险从船损写成人员伤亡。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768096"/>
            <a:ext cx="11183112" cy="416052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914400"/>
            <a:ext cx="2103120" cy="658368"/>
          </a:xfrm>
          <a:prstGeom prst="rect">
            <a:avLst/>
          </a:prstGeom>
          <a:noFill/>
        </p:spPr>
        <p:txBody>
          <a:bodyPr wrap="square" anchor="t"/>
          <a:lstStyle/>
          <a:p>
            <a:pPr algn="l"/>
            <a:r>
              <a:rPr sz="4400" b="1">
                <a:solidFill>
                  <a:srgbClr val="C41E3A"/>
                </a:solidFill>
                <a:latin typeface="Cambria"/>
                <a:ea typeface="Cambria"/>
                <a:cs typeface="Cambria"/>
              </a:rPr>
              <a:t>47</a:t>
            </a:r>
          </a:p>
        </p:txBody>
      </p:sp>
      <p:sp>
        <p:nvSpPr>
          <p:cNvPr id="10" name="TextBox 9"/>
          <p:cNvSpPr txBox="1"/>
          <p:nvPr/>
        </p:nvSpPr>
        <p:spPr>
          <a:xfrm>
            <a:off x="758952" y="1572768"/>
            <a:ext cx="2103120" cy="502920"/>
          </a:xfrm>
          <a:prstGeom prst="rect">
            <a:avLst/>
          </a:prstGeom>
          <a:noFill/>
        </p:spPr>
        <p:txBody>
          <a:bodyPr wrap="square" anchor="t"/>
          <a:lstStyle/>
          <a:p>
            <a:pPr algn="l"/>
            <a:r>
              <a:rPr sz="1300" b="1">
                <a:solidFill>
                  <a:srgbClr val="4A5568"/>
                </a:solidFill>
                <a:latin typeface="Calibri"/>
                <a:ea typeface="Calibri"/>
                <a:cs typeface="Calibri"/>
              </a:rPr>
              <a:t>06　人权 · 日内瓦</a:t>
            </a:r>
          </a:p>
        </p:txBody>
      </p:sp>
      <p:sp>
        <p:nvSpPr>
          <p:cNvPr id="11" name="TextBox 10"/>
          <p:cNvSpPr txBox="1"/>
          <p:nvPr/>
        </p:nvSpPr>
        <p:spPr>
          <a:xfrm>
            <a:off x="3017520" y="914400"/>
            <a:ext cx="8366760" cy="237744"/>
          </a:xfrm>
          <a:prstGeom prst="rect">
            <a:avLst/>
          </a:prstGeom>
          <a:noFill/>
        </p:spPr>
        <p:txBody>
          <a:bodyPr wrap="square" anchor="t"/>
          <a:lstStyle/>
          <a:p>
            <a:pPr algn="l"/>
            <a:r>
              <a:rPr sz="1200" b="1">
                <a:solidFill>
                  <a:srgbClr val="C41E3A"/>
                </a:solidFill>
                <a:latin typeface="Calibri"/>
                <a:ea typeface="Calibri"/>
                <a:cs typeface="Calibri"/>
              </a:rPr>
              <a:t>人权理事会 · 中文首发</a:t>
            </a:r>
          </a:p>
        </p:txBody>
      </p:sp>
      <p:sp>
        <p:nvSpPr>
          <p:cNvPr id="12" name="TextBox 11"/>
          <p:cNvSpPr txBox="1"/>
          <p:nvPr/>
        </p:nvSpPr>
        <p:spPr>
          <a:xfrm>
            <a:off x="3017520" y="1188720"/>
            <a:ext cx="8366760" cy="868680"/>
          </a:xfrm>
          <a:prstGeom prst="rect">
            <a:avLst/>
          </a:prstGeom>
          <a:noFill/>
        </p:spPr>
        <p:txBody>
          <a:bodyPr wrap="square" anchor="t"/>
          <a:lstStyle/>
          <a:p>
            <a:pPr algn="l"/>
            <a:r>
              <a:rPr sz="2800" b="1">
                <a:solidFill>
                  <a:srgbClr val="1A1A1A"/>
                </a:solidFill>
                <a:latin typeface="Cambria"/>
                <a:ea typeface="Cambria"/>
                <a:cs typeface="Cambria"/>
              </a:rPr>
              <a:t>再通过中国主提无障碍决议</a:t>
            </a:r>
          </a:p>
        </p:txBody>
      </p:sp>
      <p:sp>
        <p:nvSpPr>
          <p:cNvPr id="13" name="TextBox 12"/>
          <p:cNvSpPr txBox="1"/>
          <p:nvPr/>
        </p:nvSpPr>
        <p:spPr>
          <a:xfrm>
            <a:off x="3017520" y="2084831"/>
            <a:ext cx="8366760" cy="256032"/>
          </a:xfrm>
          <a:prstGeom prst="rect">
            <a:avLst/>
          </a:prstGeom>
          <a:noFill/>
        </p:spPr>
        <p:txBody>
          <a:bodyPr wrap="square" anchor="t"/>
          <a:lstStyle/>
          <a:p>
            <a:pPr algn="l"/>
            <a:r>
              <a:rPr sz="1300" b="0">
                <a:solidFill>
                  <a:srgbClr val="4A5568"/>
                </a:solidFill>
                <a:latin typeface="Calibri"/>
                <a:ea typeface="Calibri"/>
                <a:cs typeface="Calibri"/>
              </a:rPr>
              <a:t>来源：新华社   news.cn/20261006/79cbed41…</a:t>
            </a:r>
          </a:p>
        </p:txBody>
      </p:sp>
      <p:sp>
        <p:nvSpPr>
          <p:cNvPr id="14" name="TextBox 13"/>
          <p:cNvSpPr txBox="1"/>
          <p:nvPr/>
        </p:nvSpPr>
        <p:spPr>
          <a:xfrm>
            <a:off x="3017520" y="2395728"/>
            <a:ext cx="8366760" cy="1417320"/>
          </a:xfrm>
          <a:prstGeom prst="rect">
            <a:avLst/>
          </a:prstGeom>
          <a:noFill/>
        </p:spPr>
        <p:txBody>
          <a:bodyPr wrap="square" anchor="t"/>
          <a:lstStyle/>
          <a:p>
            <a:pPr algn="l"/>
            <a:r>
              <a:rPr sz="1500" b="0">
                <a:solidFill>
                  <a:srgbClr val="1A1A1A"/>
                </a:solidFill>
                <a:latin typeface="Calibri"/>
                <a:ea typeface="Calibri"/>
                <a:cs typeface="Calibri"/>
              </a:rPr>
              <a:t>新华社6日08:27首发日内瓦电：人权理事会第63届会议5日协商一致通过中国代表47国提出的「无障碍建设促进所有人享有人权」决议，写入老龄化适老化，并呼吁在人工智能等新兴数字技术中坚持创新、包容、开放、公平、安全、可靠。</a:t>
            </a:r>
          </a:p>
        </p:txBody>
      </p:sp>
      <p:sp>
        <p:nvSpPr>
          <p:cNvPr id="15" name="Rectangle 14"/>
          <p:cNvSpPr/>
          <p:nvPr/>
        </p:nvSpPr>
        <p:spPr>
          <a:xfrm>
            <a:off x="3017520" y="3913632"/>
            <a:ext cx="836676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0" y="3986784"/>
            <a:ext cx="836676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7" name="TextBox 16"/>
          <p:cNvSpPr txBox="1"/>
          <p:nvPr/>
        </p:nvSpPr>
        <p:spPr>
          <a:xfrm>
            <a:off x="3017520" y="4169663"/>
            <a:ext cx="8366760" cy="612648"/>
          </a:xfrm>
          <a:prstGeom prst="rect">
            <a:avLst/>
          </a:prstGeom>
          <a:noFill/>
        </p:spPr>
        <p:txBody>
          <a:bodyPr wrap="square" anchor="t"/>
          <a:lstStyle/>
          <a:p>
            <a:pPr algn="l"/>
            <a:r>
              <a:rPr sz="1400" b="0">
                <a:solidFill>
                  <a:srgbClr val="4A5568"/>
                </a:solidFill>
                <a:latin typeface="Calibri"/>
                <a:ea typeface="Calibri"/>
                <a:cs typeface="Calibri"/>
              </a:rPr>
              <a:t>全球治理倡议一周年节点，把适老化与数字无障碍再次写进人权理事会协商一致文本。</a:t>
            </a:r>
          </a:p>
        </p:txBody>
      </p:sp>
      <p:sp>
        <p:nvSpPr>
          <p:cNvPr id="18" name="Rectangle 17"/>
          <p:cNvSpPr/>
          <p:nvPr/>
        </p:nvSpPr>
        <p:spPr>
          <a:xfrm>
            <a:off x="502920" y="5065776"/>
            <a:ext cx="11183112" cy="13716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5157216"/>
            <a:ext cx="10698480" cy="237744"/>
          </a:xfrm>
          <a:prstGeom prst="rect">
            <a:avLst/>
          </a:prstGeom>
          <a:noFill/>
        </p:spPr>
        <p:txBody>
          <a:bodyPr wrap="square" anchor="t"/>
          <a:lstStyle/>
          <a:p>
            <a:pPr algn="l"/>
            <a:r>
              <a:rPr sz="1200" b="1">
                <a:solidFill>
                  <a:srgbClr val="C41E3A"/>
                </a:solidFill>
                <a:latin typeface="Calibri"/>
                <a:ea typeface="Calibri"/>
                <a:cs typeface="Calibri"/>
              </a:rPr>
              <a:t>对照 · 不重写前刊</a:t>
            </a:r>
          </a:p>
        </p:txBody>
      </p:sp>
      <p:sp>
        <p:nvSpPr>
          <p:cNvPr id="20" name="TextBox 19"/>
          <p:cNvSpPr txBox="1"/>
          <p:nvPr/>
        </p:nvSpPr>
        <p:spPr>
          <a:xfrm>
            <a:off x="758952" y="5413248"/>
            <a:ext cx="10698480" cy="868680"/>
          </a:xfrm>
          <a:prstGeom prst="rect">
            <a:avLst/>
          </a:prstGeom>
          <a:noFill/>
        </p:spPr>
        <p:txBody>
          <a:bodyPr wrap="square" anchor="t"/>
          <a:lstStyle/>
          <a:p>
            <a:pPr algn="l"/>
            <a:r>
              <a:rPr sz="1300" b="0">
                <a:solidFill>
                  <a:srgbClr val="F7F4EF"/>
                </a:solidFill>
                <a:latin typeface="Calibri"/>
                <a:ea typeface="Calibri"/>
                <a:cs typeface="Calibri"/>
              </a:rPr>
              <a:t>南部战区黄岩岛正告、中物联CBPI、交通部前四日12.44亿、高市所信表明、UKMTO周一三艘、进博会倒计时，均已见5日刊。本日只收外交部假期答问、商务部对法德信、世行东亚预测、印度商船伤亡，以及无障碍决议的中文首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49808"/>
            <a:ext cx="2011680" cy="822960"/>
          </a:xfrm>
          <a:prstGeom prst="rect">
            <a:avLst/>
          </a:prstGeom>
          <a:noFill/>
        </p:spPr>
        <p:txBody>
          <a:bodyPr wrap="square" anchor="t"/>
          <a:lstStyle/>
          <a:p>
            <a:pPr algn="l"/>
            <a:r>
              <a:rPr sz="6000" b="1">
                <a:solidFill>
                  <a:srgbClr val="C41E3A"/>
                </a:solidFill>
                <a:latin typeface="Cambria"/>
                <a:ea typeface="Cambria"/>
                <a:cs typeface="Cambria"/>
              </a:rPr>
              <a:t>02</a:t>
            </a:r>
          </a:p>
        </p:txBody>
      </p:sp>
      <p:sp>
        <p:nvSpPr>
          <p:cNvPr id="9" name="TextBox 8"/>
          <p:cNvSpPr txBox="1"/>
          <p:nvPr/>
        </p:nvSpPr>
        <p:spPr>
          <a:xfrm>
            <a:off x="2103120" y="841248"/>
            <a:ext cx="9509760" cy="566928"/>
          </a:xfrm>
          <a:prstGeom prst="rect">
            <a:avLst/>
          </a:prstGeom>
          <a:noFill/>
        </p:spPr>
        <p:txBody>
          <a:bodyPr wrap="square" anchor="t"/>
          <a:lstStyle/>
          <a:p>
            <a:pPr algn="l"/>
            <a:r>
              <a:rPr sz="3600" b="1">
                <a:solidFill>
                  <a:srgbClr val="1A1A1A"/>
                </a:solidFill>
                <a:latin typeface="Cambria"/>
                <a:ea typeface="Cambria"/>
                <a:cs typeface="Cambria"/>
              </a:rPr>
              <a:t>科技开篇</a:t>
            </a:r>
          </a:p>
        </p:txBody>
      </p:sp>
      <p:sp>
        <p:nvSpPr>
          <p:cNvPr id="10" name="TextBox 9"/>
          <p:cNvSpPr txBox="1"/>
          <p:nvPr/>
        </p:nvSpPr>
        <p:spPr>
          <a:xfrm>
            <a:off x="2103120" y="1408176"/>
            <a:ext cx="9509760" cy="384048"/>
          </a:xfrm>
          <a:prstGeom prst="rect">
            <a:avLst/>
          </a:prstGeom>
          <a:noFill/>
        </p:spPr>
        <p:txBody>
          <a:bodyPr wrap="square" anchor="t"/>
          <a:lstStyle/>
          <a:p>
            <a:pPr algn="l"/>
            <a:r>
              <a:rPr sz="1500" b="0">
                <a:solidFill>
                  <a:srgbClr val="4A5568"/>
                </a:solidFill>
                <a:latin typeface="Calibri"/>
                <a:ea typeface="Calibri"/>
                <a:cs typeface="Calibri"/>
              </a:rPr>
              <a:t>硅谷把晶体管和三维堆叠写进同一张合作稿。华为与高通则在同一协议上各说各话。发射栏仍留白。</a:t>
            </a:r>
          </a:p>
        </p:txBody>
      </p:sp>
      <p:sp>
        <p:nvSpPr>
          <p:cNvPr id="11" name="Rectangle 10"/>
          <p:cNvSpPr/>
          <p:nvPr/>
        </p:nvSpPr>
        <p:spPr>
          <a:xfrm>
            <a:off x="502920" y="2011680"/>
            <a:ext cx="2615184" cy="214884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2121408"/>
            <a:ext cx="2359152" cy="566928"/>
          </a:xfrm>
          <a:prstGeom prst="rect">
            <a:avLst/>
          </a:prstGeom>
          <a:noFill/>
        </p:spPr>
        <p:txBody>
          <a:bodyPr wrap="square" anchor="t"/>
          <a:lstStyle/>
          <a:p>
            <a:pPr algn="l"/>
            <a:r>
              <a:rPr sz="2600" b="1">
                <a:solidFill>
                  <a:srgbClr val="C41E3A"/>
                </a:solidFill>
                <a:latin typeface="Cambria"/>
                <a:ea typeface="Cambria"/>
                <a:cs typeface="Cambria"/>
              </a:rPr>
              <a:t>21:00</a:t>
            </a:r>
          </a:p>
        </p:txBody>
      </p:sp>
      <p:sp>
        <p:nvSpPr>
          <p:cNvPr id="13" name="TextBox 12"/>
          <p:cNvSpPr txBox="1"/>
          <p:nvPr/>
        </p:nvSpPr>
        <p:spPr>
          <a:xfrm>
            <a:off x="649224" y="2706624"/>
            <a:ext cx="2359152" cy="292608"/>
          </a:xfrm>
          <a:prstGeom prst="rect">
            <a:avLst/>
          </a:prstGeom>
          <a:noFill/>
        </p:spPr>
        <p:txBody>
          <a:bodyPr wrap="square" anchor="t"/>
          <a:lstStyle/>
          <a:p>
            <a:pPr algn="l"/>
            <a:r>
              <a:rPr sz="1400" b="1">
                <a:solidFill>
                  <a:srgbClr val="1A1A1A"/>
                </a:solidFill>
                <a:latin typeface="Calibri"/>
                <a:ea typeface="Calibri"/>
                <a:cs typeface="Calibri"/>
              </a:rPr>
              <a:t>沪时见报</a:t>
            </a:r>
          </a:p>
        </p:txBody>
      </p:sp>
      <p:sp>
        <p:nvSpPr>
          <p:cNvPr id="14" name="TextBox 13"/>
          <p:cNvSpPr txBox="1"/>
          <p:nvPr/>
        </p:nvSpPr>
        <p:spPr>
          <a:xfrm>
            <a:off x="649224" y="3035808"/>
            <a:ext cx="2359152" cy="914400"/>
          </a:xfrm>
          <a:prstGeom prst="rect">
            <a:avLst/>
          </a:prstGeom>
          <a:noFill/>
        </p:spPr>
        <p:txBody>
          <a:bodyPr wrap="square" anchor="t"/>
          <a:lstStyle/>
          <a:p>
            <a:pPr algn="l"/>
            <a:r>
              <a:rPr sz="1200" b="0">
                <a:solidFill>
                  <a:srgbClr val="4A5568"/>
                </a:solidFill>
                <a:latin typeface="Calibri"/>
                <a:ea typeface="Calibri"/>
                <a:cs typeface="Calibri"/>
              </a:rPr>
              <a:t>应用材料与英特尔EPIC合作的官方时间。</a:t>
            </a:r>
          </a:p>
        </p:txBody>
      </p:sp>
      <p:sp>
        <p:nvSpPr>
          <p:cNvPr id="15" name="Rectangle 14"/>
          <p:cNvSpPr/>
          <p:nvPr/>
        </p:nvSpPr>
        <p:spPr>
          <a:xfrm>
            <a:off x="3319272" y="2011680"/>
            <a:ext cx="2615184" cy="214884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5576" y="2121408"/>
            <a:ext cx="2359152" cy="566928"/>
          </a:xfrm>
          <a:prstGeom prst="rect">
            <a:avLst/>
          </a:prstGeom>
          <a:noFill/>
        </p:spPr>
        <p:txBody>
          <a:bodyPr wrap="square" anchor="t"/>
          <a:lstStyle/>
          <a:p>
            <a:pPr algn="l"/>
            <a:r>
              <a:rPr sz="2600" b="1">
                <a:solidFill>
                  <a:srgbClr val="C41E3A"/>
                </a:solidFill>
                <a:latin typeface="Cambria"/>
                <a:ea typeface="Cambria"/>
                <a:cs typeface="Cambria"/>
              </a:rPr>
              <a:t>Asp31</a:t>
            </a:r>
          </a:p>
        </p:txBody>
      </p:sp>
      <p:sp>
        <p:nvSpPr>
          <p:cNvPr id="17" name="TextBox 16"/>
          <p:cNvSpPr txBox="1"/>
          <p:nvPr/>
        </p:nvSpPr>
        <p:spPr>
          <a:xfrm>
            <a:off x="3465576" y="2706624"/>
            <a:ext cx="2359152" cy="292608"/>
          </a:xfrm>
          <a:prstGeom prst="rect">
            <a:avLst/>
          </a:prstGeom>
          <a:noFill/>
        </p:spPr>
        <p:txBody>
          <a:bodyPr wrap="square" anchor="t"/>
          <a:lstStyle/>
          <a:p>
            <a:pPr algn="l"/>
            <a:r>
              <a:rPr sz="1400" b="1">
                <a:solidFill>
                  <a:srgbClr val="1A1A1A"/>
                </a:solidFill>
                <a:latin typeface="Calibri"/>
                <a:ea typeface="Calibri"/>
                <a:cs typeface="Calibri"/>
              </a:rPr>
              <a:t>结合位点</a:t>
            </a:r>
          </a:p>
        </p:txBody>
      </p:sp>
      <p:sp>
        <p:nvSpPr>
          <p:cNvPr id="18" name="TextBox 17"/>
          <p:cNvSpPr txBox="1"/>
          <p:nvPr/>
        </p:nvSpPr>
        <p:spPr>
          <a:xfrm>
            <a:off x="3465576" y="3035808"/>
            <a:ext cx="2359152" cy="914400"/>
          </a:xfrm>
          <a:prstGeom prst="rect">
            <a:avLst/>
          </a:prstGeom>
          <a:noFill/>
        </p:spPr>
        <p:txBody>
          <a:bodyPr wrap="square" anchor="t"/>
          <a:lstStyle/>
          <a:p>
            <a:pPr algn="l"/>
            <a:r>
              <a:rPr sz="1200" b="0">
                <a:solidFill>
                  <a:srgbClr val="4A5568"/>
                </a:solidFill>
                <a:latin typeface="Calibri"/>
                <a:ea typeface="Calibri"/>
                <a:cs typeface="Calibri"/>
              </a:rPr>
              <a:t>精氨酸咬住NLRP3、挡住ASC的那一处。</a:t>
            </a:r>
          </a:p>
        </p:txBody>
      </p:sp>
      <p:sp>
        <p:nvSpPr>
          <p:cNvPr id="19" name="Rectangle 18"/>
          <p:cNvSpPr/>
          <p:nvPr/>
        </p:nvSpPr>
        <p:spPr>
          <a:xfrm>
            <a:off x="6135624" y="2011680"/>
            <a:ext cx="2615184" cy="214884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2121408"/>
            <a:ext cx="2359152" cy="566928"/>
          </a:xfrm>
          <a:prstGeom prst="rect">
            <a:avLst/>
          </a:prstGeom>
          <a:noFill/>
        </p:spPr>
        <p:txBody>
          <a:bodyPr wrap="square" anchor="t"/>
          <a:lstStyle/>
          <a:p>
            <a:pPr algn="l"/>
            <a:r>
              <a:rPr sz="2600" b="1">
                <a:solidFill>
                  <a:srgbClr val="C41E3A"/>
                </a:solidFill>
                <a:latin typeface="Cambria"/>
                <a:ea typeface="Cambria"/>
                <a:cs typeface="Cambria"/>
              </a:rPr>
              <a:t>2套</a:t>
            </a:r>
          </a:p>
        </p:txBody>
      </p:sp>
      <p:sp>
        <p:nvSpPr>
          <p:cNvPr id="21" name="TextBox 20"/>
          <p:cNvSpPr txBox="1"/>
          <p:nvPr/>
        </p:nvSpPr>
        <p:spPr>
          <a:xfrm>
            <a:off x="6281928" y="2706624"/>
            <a:ext cx="2359152" cy="292608"/>
          </a:xfrm>
          <a:prstGeom prst="rect">
            <a:avLst/>
          </a:prstGeom>
          <a:noFill/>
        </p:spPr>
        <p:txBody>
          <a:bodyPr wrap="square" anchor="t"/>
          <a:lstStyle/>
          <a:p>
            <a:pPr algn="l"/>
            <a:r>
              <a:rPr sz="1400" b="1">
                <a:solidFill>
                  <a:srgbClr val="1A1A1A"/>
                </a:solidFill>
                <a:latin typeface="Calibri"/>
                <a:ea typeface="Calibri"/>
                <a:cs typeface="Calibri"/>
              </a:rPr>
              <a:t>专利口径</a:t>
            </a:r>
          </a:p>
        </p:txBody>
      </p:sp>
      <p:sp>
        <p:nvSpPr>
          <p:cNvPr id="22" name="TextBox 21"/>
          <p:cNvSpPr txBox="1"/>
          <p:nvPr/>
        </p:nvSpPr>
        <p:spPr>
          <a:xfrm>
            <a:off x="6281928" y="3035808"/>
            <a:ext cx="2359152" cy="914400"/>
          </a:xfrm>
          <a:prstGeom prst="rect">
            <a:avLst/>
          </a:prstGeom>
          <a:noFill/>
        </p:spPr>
        <p:txBody>
          <a:bodyPr wrap="square" anchor="t"/>
          <a:lstStyle/>
          <a:p>
            <a:pPr algn="l"/>
            <a:r>
              <a:rPr sz="1200" b="0">
                <a:solidFill>
                  <a:srgbClr val="4A5568"/>
                </a:solidFill>
                <a:latin typeface="Calibri"/>
                <a:ea typeface="Calibri"/>
                <a:cs typeface="Calibri"/>
              </a:rPr>
              <a:t>高通否认逻辑折叠，深视称华为证实涵盖。</a:t>
            </a:r>
          </a:p>
        </p:txBody>
      </p:sp>
      <p:sp>
        <p:nvSpPr>
          <p:cNvPr id="23" name="Rectangle 22"/>
          <p:cNvSpPr/>
          <p:nvPr/>
        </p:nvSpPr>
        <p:spPr>
          <a:xfrm>
            <a:off x="8951976" y="2011680"/>
            <a:ext cx="2615184" cy="214884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121408"/>
            <a:ext cx="2359152" cy="566928"/>
          </a:xfrm>
          <a:prstGeom prst="rect">
            <a:avLst/>
          </a:prstGeom>
          <a:noFill/>
        </p:spPr>
        <p:txBody>
          <a:bodyPr wrap="square" anchor="t"/>
          <a:lstStyle/>
          <a:p>
            <a:pPr algn="l"/>
            <a:r>
              <a:rPr sz="2600" b="1">
                <a:solidFill>
                  <a:srgbClr val="C41E3A"/>
                </a:solidFill>
                <a:latin typeface="Cambria"/>
                <a:ea typeface="Cambria"/>
                <a:cs typeface="Cambria"/>
              </a:rPr>
              <a:t>0</a:t>
            </a:r>
          </a:p>
        </p:txBody>
      </p:sp>
      <p:sp>
        <p:nvSpPr>
          <p:cNvPr id="25" name="TextBox 24"/>
          <p:cNvSpPr txBox="1"/>
          <p:nvPr/>
        </p:nvSpPr>
        <p:spPr>
          <a:xfrm>
            <a:off x="9098280" y="2706624"/>
            <a:ext cx="2359152" cy="292608"/>
          </a:xfrm>
          <a:prstGeom prst="rect">
            <a:avLst/>
          </a:prstGeom>
          <a:noFill/>
        </p:spPr>
        <p:txBody>
          <a:bodyPr wrap="square" anchor="t"/>
          <a:lstStyle/>
          <a:p>
            <a:pPr algn="l"/>
            <a:r>
              <a:rPr sz="1400" b="1">
                <a:solidFill>
                  <a:srgbClr val="1A1A1A"/>
                </a:solidFill>
                <a:latin typeface="Calibri"/>
                <a:ea typeface="Calibri"/>
                <a:cs typeface="Calibri"/>
              </a:rPr>
              <a:t>国内发射</a:t>
            </a:r>
          </a:p>
        </p:txBody>
      </p:sp>
      <p:sp>
        <p:nvSpPr>
          <p:cNvPr id="26" name="TextBox 25"/>
          <p:cNvSpPr txBox="1"/>
          <p:nvPr/>
        </p:nvSpPr>
        <p:spPr>
          <a:xfrm>
            <a:off x="9098280" y="3035808"/>
            <a:ext cx="2359152" cy="914400"/>
          </a:xfrm>
          <a:prstGeom prst="rect">
            <a:avLst/>
          </a:prstGeom>
          <a:noFill/>
        </p:spPr>
        <p:txBody>
          <a:bodyPr wrap="square" anchor="t"/>
          <a:lstStyle/>
          <a:p>
            <a:pPr algn="l"/>
            <a:r>
              <a:rPr sz="1200" b="0">
                <a:solidFill>
                  <a:srgbClr val="4A5568"/>
                </a:solidFill>
                <a:latin typeface="Calibri"/>
                <a:ea typeface="Calibri"/>
                <a:cs typeface="Calibri"/>
              </a:rPr>
              <a:t>当日无国内航天发射通稿可核验。</a:t>
            </a:r>
          </a:p>
        </p:txBody>
      </p:sp>
      <p:sp>
        <p:nvSpPr>
          <p:cNvPr id="27" name="Rectangle 26"/>
          <p:cNvSpPr/>
          <p:nvPr/>
        </p:nvSpPr>
        <p:spPr>
          <a:xfrm>
            <a:off x="502920" y="4334256"/>
            <a:ext cx="11183112" cy="2084831"/>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4480560"/>
            <a:ext cx="2011680" cy="640080"/>
          </a:xfrm>
          <a:prstGeom prst="rect">
            <a:avLst/>
          </a:prstGeom>
          <a:noFill/>
        </p:spPr>
        <p:txBody>
          <a:bodyPr wrap="square" anchor="t"/>
          <a:lstStyle/>
          <a:p>
            <a:pPr algn="l"/>
            <a:r>
              <a:rPr sz="3600" b="1">
                <a:solidFill>
                  <a:srgbClr val="C41E3A"/>
                </a:solidFill>
                <a:latin typeface="Cambria"/>
                <a:ea typeface="Cambria"/>
                <a:cs typeface="Cambria"/>
              </a:rPr>
              <a:t>07</a:t>
            </a:r>
          </a:p>
        </p:txBody>
      </p:sp>
      <p:sp>
        <p:nvSpPr>
          <p:cNvPr id="29" name="TextBox 28"/>
          <p:cNvSpPr txBox="1"/>
          <p:nvPr/>
        </p:nvSpPr>
        <p:spPr>
          <a:xfrm>
            <a:off x="2880360" y="4480560"/>
            <a:ext cx="8503920" cy="237744"/>
          </a:xfrm>
          <a:prstGeom prst="rect">
            <a:avLst/>
          </a:prstGeom>
          <a:noFill/>
        </p:spPr>
        <p:txBody>
          <a:bodyPr wrap="square" anchor="t"/>
          <a:lstStyle/>
          <a:p>
            <a:pPr algn="l"/>
            <a:r>
              <a:rPr sz="1200" b="1">
                <a:solidFill>
                  <a:srgbClr val="C41E3A"/>
                </a:solidFill>
                <a:latin typeface="Calibri"/>
                <a:ea typeface="Calibri"/>
                <a:cs typeface="Calibri"/>
              </a:rPr>
              <a:t>应用材料 · 英特尔</a:t>
            </a:r>
          </a:p>
        </p:txBody>
      </p:sp>
      <p:sp>
        <p:nvSpPr>
          <p:cNvPr id="30" name="TextBox 29"/>
          <p:cNvSpPr txBox="1"/>
          <p:nvPr/>
        </p:nvSpPr>
        <p:spPr>
          <a:xfrm>
            <a:off x="2880360" y="4736592"/>
            <a:ext cx="8503920" cy="502920"/>
          </a:xfrm>
          <a:prstGeom prst="rect">
            <a:avLst/>
          </a:prstGeom>
          <a:noFill/>
        </p:spPr>
        <p:txBody>
          <a:bodyPr wrap="square" anchor="t"/>
          <a:lstStyle/>
          <a:p>
            <a:pPr algn="l"/>
            <a:r>
              <a:rPr sz="2200" b="1">
                <a:solidFill>
                  <a:srgbClr val="1A1A1A"/>
                </a:solidFill>
                <a:latin typeface="Cambria"/>
                <a:ea typeface="Cambria"/>
                <a:cs typeface="Cambria"/>
              </a:rPr>
              <a:t>EPIC中心扩AI制程与封装合作</a:t>
            </a:r>
          </a:p>
        </p:txBody>
      </p:sp>
      <p:sp>
        <p:nvSpPr>
          <p:cNvPr id="31" name="TextBox 30"/>
          <p:cNvSpPr txBox="1"/>
          <p:nvPr/>
        </p:nvSpPr>
        <p:spPr>
          <a:xfrm>
            <a:off x="2880360" y="5266944"/>
            <a:ext cx="8503920" cy="960120"/>
          </a:xfrm>
          <a:prstGeom prst="rect">
            <a:avLst/>
          </a:prstGeom>
          <a:noFill/>
        </p:spPr>
        <p:txBody>
          <a:bodyPr wrap="square" anchor="t"/>
          <a:lstStyle/>
          <a:p>
            <a:pPr algn="l"/>
            <a:r>
              <a:rPr sz="1400" b="0">
                <a:solidFill>
                  <a:srgbClr val="1A1A1A"/>
                </a:solidFill>
                <a:latin typeface="Calibri"/>
                <a:ea typeface="Calibri"/>
                <a:cs typeface="Calibri"/>
              </a:rPr>
              <a:t>美东6日09:00（沪时21:00）官方稿：两家将在硅谷EPIC中心与俄勒冈研发园合作下一代晶体管、互连与Foveros三维堆叠，面向智能体人工智能算力。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786384"/>
            <a:ext cx="11183112" cy="565099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960120"/>
            <a:ext cx="2286000" cy="822960"/>
          </a:xfrm>
          <a:prstGeom prst="rect">
            <a:avLst/>
          </a:prstGeom>
          <a:noFill/>
        </p:spPr>
        <p:txBody>
          <a:bodyPr wrap="square" anchor="t"/>
          <a:lstStyle/>
          <a:p>
            <a:pPr algn="l"/>
            <a:r>
              <a:rPr sz="5400" b="1">
                <a:solidFill>
                  <a:srgbClr val="C41E3A"/>
                </a:solidFill>
                <a:latin typeface="Cambria"/>
                <a:ea typeface="Cambria"/>
                <a:cs typeface="Cambria"/>
              </a:rPr>
              <a:t>07</a:t>
            </a:r>
          </a:p>
        </p:txBody>
      </p:sp>
      <p:sp>
        <p:nvSpPr>
          <p:cNvPr id="10" name="TextBox 9"/>
          <p:cNvSpPr txBox="1"/>
          <p:nvPr/>
        </p:nvSpPr>
        <p:spPr>
          <a:xfrm>
            <a:off x="795528" y="1783080"/>
            <a:ext cx="2286000" cy="731520"/>
          </a:xfrm>
          <a:prstGeom prst="rect">
            <a:avLst/>
          </a:prstGeom>
          <a:noFill/>
        </p:spPr>
        <p:txBody>
          <a:bodyPr wrap="square" anchor="t"/>
          <a:lstStyle/>
          <a:p>
            <a:pPr algn="l"/>
            <a:r>
              <a:rPr sz="1400" b="1">
                <a:solidFill>
                  <a:srgbClr val="4A5568"/>
                </a:solidFill>
                <a:latin typeface="Calibri"/>
                <a:ea typeface="Calibri"/>
                <a:cs typeface="Calibri"/>
              </a:rPr>
              <a:t>芯片 · 圣克拉拉</a:t>
            </a:r>
          </a:p>
        </p:txBody>
      </p:sp>
      <p:sp>
        <p:nvSpPr>
          <p:cNvPr id="11" name="TextBox 10"/>
          <p:cNvSpPr txBox="1"/>
          <p:nvPr/>
        </p:nvSpPr>
        <p:spPr>
          <a:xfrm>
            <a:off x="3200400" y="1005840"/>
            <a:ext cx="8229600" cy="256032"/>
          </a:xfrm>
          <a:prstGeom prst="rect">
            <a:avLst/>
          </a:prstGeom>
          <a:noFill/>
        </p:spPr>
        <p:txBody>
          <a:bodyPr wrap="square" anchor="t"/>
          <a:lstStyle/>
          <a:p>
            <a:pPr algn="l"/>
            <a:r>
              <a:rPr sz="1200" b="1">
                <a:solidFill>
                  <a:srgbClr val="C41E3A"/>
                </a:solidFill>
                <a:latin typeface="Calibri"/>
                <a:ea typeface="Calibri"/>
                <a:cs typeface="Calibri"/>
              </a:rPr>
              <a:t>Applied Materials / Intel  ·  GlobeNewswire</a:t>
            </a:r>
          </a:p>
        </p:txBody>
      </p:sp>
      <p:sp>
        <p:nvSpPr>
          <p:cNvPr id="12" name="TextBox 11"/>
          <p:cNvSpPr txBox="1"/>
          <p:nvPr/>
        </p:nvSpPr>
        <p:spPr>
          <a:xfrm>
            <a:off x="3200400" y="1298448"/>
            <a:ext cx="8229600" cy="1097280"/>
          </a:xfrm>
          <a:prstGeom prst="rect">
            <a:avLst/>
          </a:prstGeom>
          <a:noFill/>
        </p:spPr>
        <p:txBody>
          <a:bodyPr wrap="square" anchor="t"/>
          <a:lstStyle/>
          <a:p>
            <a:pPr algn="l"/>
            <a:r>
              <a:rPr sz="2800" b="1">
                <a:solidFill>
                  <a:srgbClr val="1A1A1A"/>
                </a:solidFill>
                <a:latin typeface="Cambria"/>
                <a:ea typeface="Cambria"/>
                <a:cs typeface="Cambria"/>
              </a:rPr>
              <a:t>EPIC中心扩AI制程与封装合作</a:t>
            </a:r>
          </a:p>
        </p:txBody>
      </p:sp>
      <p:sp>
        <p:nvSpPr>
          <p:cNvPr id="13" name="TextBox 12"/>
          <p:cNvSpPr txBox="1"/>
          <p:nvPr/>
        </p:nvSpPr>
        <p:spPr>
          <a:xfrm>
            <a:off x="3200400" y="2468880"/>
            <a:ext cx="8229600" cy="292608"/>
          </a:xfrm>
          <a:prstGeom prst="rect">
            <a:avLst/>
          </a:prstGeom>
          <a:noFill/>
        </p:spPr>
        <p:txBody>
          <a:bodyPr wrap="square" anchor="t"/>
          <a:lstStyle/>
          <a:p>
            <a:pPr algn="l"/>
            <a:r>
              <a:rPr sz="1200" b="0">
                <a:solidFill>
                  <a:srgbClr val="4A5568"/>
                </a:solidFill>
                <a:latin typeface="Calibri"/>
                <a:ea typeface="Calibri"/>
                <a:cs typeface="Calibri"/>
              </a:rPr>
              <a:t>来源：Applied Materials   globenewswire.com/news-release/2026/10/06/3375587</a:t>
            </a:r>
          </a:p>
        </p:txBody>
      </p:sp>
      <p:sp>
        <p:nvSpPr>
          <p:cNvPr id="14" name="TextBox 13"/>
          <p:cNvSpPr txBox="1"/>
          <p:nvPr/>
        </p:nvSpPr>
        <p:spPr>
          <a:xfrm>
            <a:off x="3200400" y="2852928"/>
            <a:ext cx="8229600" cy="1691640"/>
          </a:xfrm>
          <a:prstGeom prst="rect">
            <a:avLst/>
          </a:prstGeom>
          <a:noFill/>
        </p:spPr>
        <p:txBody>
          <a:bodyPr wrap="square" anchor="t"/>
          <a:lstStyle/>
          <a:p>
            <a:pPr algn="l"/>
            <a:r>
              <a:rPr sz="1600" b="0">
                <a:solidFill>
                  <a:srgbClr val="1A1A1A"/>
                </a:solidFill>
                <a:latin typeface="Calibri"/>
                <a:ea typeface="Calibri"/>
                <a:cs typeface="Calibri"/>
              </a:rPr>
              <a:t>应用材料6日宣布与英特尔合作，在硅谷EPIC中心和俄勒冈研发园推进下一代晶体管、互连与Foveros三维堆叠，面向智能体人工智能算力。英特尔为创始合作伙伴，中心计划年内就绪。首席执行官迪克森与陈立武均强调把实验室成果更快送进美国量产。</a:t>
            </a:r>
          </a:p>
        </p:txBody>
      </p:sp>
      <p:sp>
        <p:nvSpPr>
          <p:cNvPr id="15" name="Rectangle 14"/>
          <p:cNvSpPr/>
          <p:nvPr/>
        </p:nvSpPr>
        <p:spPr>
          <a:xfrm>
            <a:off x="3200400" y="4681728"/>
            <a:ext cx="822960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4754880"/>
            <a:ext cx="822960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7" name="TextBox 16"/>
          <p:cNvSpPr txBox="1"/>
          <p:nvPr/>
        </p:nvSpPr>
        <p:spPr>
          <a:xfrm>
            <a:off x="3200400" y="4937760"/>
            <a:ext cx="8229600" cy="1115568"/>
          </a:xfrm>
          <a:prstGeom prst="rect">
            <a:avLst/>
          </a:prstGeom>
          <a:noFill/>
        </p:spPr>
        <p:txBody>
          <a:bodyPr wrap="square" anchor="t"/>
          <a:lstStyle/>
          <a:p>
            <a:pPr algn="l"/>
            <a:r>
              <a:rPr sz="1500" b="0">
                <a:solidFill>
                  <a:srgbClr val="4A5568"/>
                </a:solidFill>
                <a:latin typeface="Calibri"/>
                <a:ea typeface="Calibri"/>
                <a:cs typeface="Calibri"/>
              </a:rPr>
              <a:t>这是美方把先进逻辑与先进封装的材料研发收回本土协同的一次公开落子。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786384"/>
            <a:ext cx="5422392" cy="565099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969264"/>
            <a:ext cx="100584" cy="10058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914400"/>
            <a:ext cx="4782312" cy="256032"/>
          </a:xfrm>
          <a:prstGeom prst="rect">
            <a:avLst/>
          </a:prstGeom>
          <a:noFill/>
        </p:spPr>
        <p:txBody>
          <a:bodyPr wrap="square" anchor="t"/>
          <a:lstStyle/>
          <a:p>
            <a:pPr algn="l"/>
            <a:r>
              <a:rPr sz="1200" b="1">
                <a:solidFill>
                  <a:srgbClr val="C41E3A"/>
                </a:solidFill>
                <a:latin typeface="Calibri"/>
                <a:ea typeface="Calibri"/>
                <a:cs typeface="Calibri"/>
              </a:rPr>
              <a:t>08　专利 · 圣迭戈 / 深圳</a:t>
            </a:r>
          </a:p>
        </p:txBody>
      </p:sp>
      <p:sp>
        <p:nvSpPr>
          <p:cNvPr id="11" name="TextBox 10"/>
          <p:cNvSpPr txBox="1"/>
          <p:nvPr/>
        </p:nvSpPr>
        <p:spPr>
          <a:xfrm>
            <a:off x="722376" y="1243584"/>
            <a:ext cx="4983480" cy="1234440"/>
          </a:xfrm>
          <a:prstGeom prst="rect">
            <a:avLst/>
          </a:prstGeom>
          <a:noFill/>
        </p:spPr>
        <p:txBody>
          <a:bodyPr wrap="square" anchor="t"/>
          <a:lstStyle/>
          <a:p>
            <a:pPr algn="l"/>
            <a:r>
              <a:rPr sz="2400" b="1">
                <a:solidFill>
                  <a:srgbClr val="1A1A1A"/>
                </a:solidFill>
                <a:latin typeface="Cambria"/>
                <a:ea typeface="Cambria"/>
                <a:cs typeface="Cambria"/>
              </a:rPr>
              <a:t>高通澄清：并非净付费</a:t>
            </a:r>
          </a:p>
        </p:txBody>
      </p:sp>
      <p:sp>
        <p:nvSpPr>
          <p:cNvPr id="12" name="TextBox 11"/>
          <p:cNvSpPr txBox="1"/>
          <p:nvPr/>
        </p:nvSpPr>
        <p:spPr>
          <a:xfrm>
            <a:off x="722376" y="2523744"/>
            <a:ext cx="4983480" cy="292608"/>
          </a:xfrm>
          <a:prstGeom prst="rect">
            <a:avLst/>
          </a:prstGeom>
          <a:noFill/>
        </p:spPr>
        <p:txBody>
          <a:bodyPr wrap="square" anchor="t"/>
          <a:lstStyle/>
          <a:p>
            <a:pPr algn="l"/>
            <a:r>
              <a:rPr sz="1200" b="0">
                <a:solidFill>
                  <a:srgbClr val="4A5568"/>
                </a:solidFill>
                <a:latin typeface="Calibri"/>
                <a:ea typeface="Calibri"/>
                <a:cs typeface="Calibri"/>
              </a:rPr>
              <a:t>来源：高通声明 / 新浪科技 / IT之家</a:t>
            </a:r>
          </a:p>
        </p:txBody>
      </p:sp>
      <p:sp>
        <p:nvSpPr>
          <p:cNvPr id="13" name="TextBox 12"/>
          <p:cNvSpPr txBox="1"/>
          <p:nvPr/>
        </p:nvSpPr>
        <p:spPr>
          <a:xfrm>
            <a:off x="722376" y="2871216"/>
            <a:ext cx="4983480" cy="2011680"/>
          </a:xfrm>
          <a:prstGeom prst="rect">
            <a:avLst/>
          </a:prstGeom>
          <a:noFill/>
        </p:spPr>
        <p:txBody>
          <a:bodyPr wrap="square" anchor="t"/>
          <a:lstStyle/>
          <a:p>
            <a:pPr algn="l"/>
            <a:r>
              <a:rPr sz="1400" b="0">
                <a:solidFill>
                  <a:srgbClr val="1A1A1A"/>
                </a:solidFill>
                <a:latin typeface="Calibri"/>
                <a:ea typeface="Calibri"/>
                <a:cs typeface="Calibri"/>
              </a:rPr>
              <a:t>5日交叉许可见报后，高通6日声明：协议为多年期广泛交叉许可，条款保密，但「净支付方」报道不准确，亦与LogicFolding无关；将收购部分非蜂窝美国专利。同日深视新闻称华为证实涵盖近封装光学与逻辑折叠相关许可。</a:t>
            </a:r>
          </a:p>
        </p:txBody>
      </p:sp>
      <p:sp>
        <p:nvSpPr>
          <p:cNvPr id="14" name="Rectangle 13"/>
          <p:cNvSpPr/>
          <p:nvPr/>
        </p:nvSpPr>
        <p:spPr>
          <a:xfrm>
            <a:off x="722376" y="5029200"/>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5102352"/>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6" name="TextBox 15"/>
          <p:cNvSpPr txBox="1"/>
          <p:nvPr/>
        </p:nvSpPr>
        <p:spPr>
          <a:xfrm>
            <a:off x="722376" y="5285232"/>
            <a:ext cx="4983480" cy="886968"/>
          </a:xfrm>
          <a:prstGeom prst="rect">
            <a:avLst/>
          </a:prstGeom>
          <a:noFill/>
        </p:spPr>
        <p:txBody>
          <a:bodyPr wrap="square" anchor="t"/>
          <a:lstStyle/>
          <a:p>
            <a:pPr algn="l"/>
            <a:r>
              <a:rPr sz="1300" b="0">
                <a:solidFill>
                  <a:srgbClr val="4A5568"/>
                </a:solidFill>
                <a:latin typeface="Calibri"/>
                <a:ea typeface="Calibri"/>
                <a:cs typeface="Calibri"/>
              </a:rPr>
              <a:t>同一协议出现公开口径分裂，监管审查与市场解读都会被这两套说法牵着走。</a:t>
            </a:r>
          </a:p>
        </p:txBody>
      </p:sp>
      <p:sp>
        <p:nvSpPr>
          <p:cNvPr id="17" name="Rectangle 16"/>
          <p:cNvSpPr/>
          <p:nvPr/>
        </p:nvSpPr>
        <p:spPr>
          <a:xfrm>
            <a:off x="6254496" y="786384"/>
            <a:ext cx="5422392" cy="565099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73952" y="969264"/>
            <a:ext cx="100584" cy="100584"/>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914400"/>
            <a:ext cx="4782312" cy="256032"/>
          </a:xfrm>
          <a:prstGeom prst="rect">
            <a:avLst/>
          </a:prstGeom>
          <a:noFill/>
        </p:spPr>
        <p:txBody>
          <a:bodyPr wrap="square" anchor="t"/>
          <a:lstStyle/>
          <a:p>
            <a:pPr algn="l"/>
            <a:r>
              <a:rPr sz="1200" b="1">
                <a:solidFill>
                  <a:srgbClr val="C41E3A"/>
                </a:solidFill>
                <a:latin typeface="Calibri"/>
                <a:ea typeface="Calibri"/>
                <a:cs typeface="Calibri"/>
              </a:rPr>
              <a:t>09　医学 · 济南</a:t>
            </a:r>
          </a:p>
        </p:txBody>
      </p:sp>
      <p:sp>
        <p:nvSpPr>
          <p:cNvPr id="20" name="TextBox 19"/>
          <p:cNvSpPr txBox="1"/>
          <p:nvPr/>
        </p:nvSpPr>
        <p:spPr>
          <a:xfrm>
            <a:off x="6473952" y="1243584"/>
            <a:ext cx="4983480" cy="1234440"/>
          </a:xfrm>
          <a:prstGeom prst="rect">
            <a:avLst/>
          </a:prstGeom>
          <a:noFill/>
        </p:spPr>
        <p:txBody>
          <a:bodyPr wrap="square" anchor="t"/>
          <a:lstStyle/>
          <a:p>
            <a:pPr algn="l"/>
            <a:r>
              <a:rPr sz="2400" b="1">
                <a:solidFill>
                  <a:srgbClr val="1A1A1A"/>
                </a:solidFill>
                <a:latin typeface="Cambria"/>
                <a:ea typeface="Cambria"/>
                <a:cs typeface="Cambria"/>
              </a:rPr>
              <a:t>精氨酸咬住NLRP3的Asp31</a:t>
            </a:r>
          </a:p>
        </p:txBody>
      </p:sp>
      <p:sp>
        <p:nvSpPr>
          <p:cNvPr id="21" name="TextBox 20"/>
          <p:cNvSpPr txBox="1"/>
          <p:nvPr/>
        </p:nvSpPr>
        <p:spPr>
          <a:xfrm>
            <a:off x="6473952" y="2523744"/>
            <a:ext cx="4983480" cy="292608"/>
          </a:xfrm>
          <a:prstGeom prst="rect">
            <a:avLst/>
          </a:prstGeom>
          <a:noFill/>
        </p:spPr>
        <p:txBody>
          <a:bodyPr wrap="square" anchor="t"/>
          <a:lstStyle/>
          <a:p>
            <a:pPr algn="l"/>
            <a:r>
              <a:rPr sz="1200" b="0">
                <a:solidFill>
                  <a:srgbClr val="4A5568"/>
                </a:solidFill>
                <a:latin typeface="Calibri"/>
                <a:ea typeface="Calibri"/>
                <a:cs typeface="Calibri"/>
              </a:rPr>
              <a:t>来源：Nature Metabolism</a:t>
            </a:r>
          </a:p>
        </p:txBody>
      </p:sp>
      <p:sp>
        <p:nvSpPr>
          <p:cNvPr id="22" name="TextBox 21"/>
          <p:cNvSpPr txBox="1"/>
          <p:nvPr/>
        </p:nvSpPr>
        <p:spPr>
          <a:xfrm>
            <a:off x="6473952" y="2871216"/>
            <a:ext cx="4983480" cy="2011680"/>
          </a:xfrm>
          <a:prstGeom prst="rect">
            <a:avLst/>
          </a:prstGeom>
          <a:noFill/>
        </p:spPr>
        <p:txBody>
          <a:bodyPr wrap="square" anchor="t"/>
          <a:lstStyle/>
          <a:p>
            <a:pPr algn="l"/>
            <a:r>
              <a:rPr sz="1400" b="0">
                <a:solidFill>
                  <a:srgbClr val="1A1A1A"/>
                </a:solidFill>
                <a:latin typeface="Calibri"/>
                <a:ea typeface="Calibri"/>
                <a:cs typeface="Calibri"/>
              </a:rPr>
              <a:t>刘锋、高成江等6日在《自然·代谢》报告，L-精氨酸直接结合NLRP3蛋白Asp31位点，阻断其与接头蛋白ASC组装。补剂抑制巨噬细胞炎症小体，缓解小鼠痛风性关节炎、腹膜炎及帕金森样神经炎症；患者血清精氨酸偏低。</a:t>
            </a:r>
          </a:p>
        </p:txBody>
      </p:sp>
      <p:sp>
        <p:nvSpPr>
          <p:cNvPr id="23" name="Rectangle 22"/>
          <p:cNvSpPr/>
          <p:nvPr/>
        </p:nvSpPr>
        <p:spPr>
          <a:xfrm>
            <a:off x="6473952" y="5029200"/>
            <a:ext cx="498348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5102352"/>
            <a:ext cx="498348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25" name="TextBox 24"/>
          <p:cNvSpPr txBox="1"/>
          <p:nvPr/>
        </p:nvSpPr>
        <p:spPr>
          <a:xfrm>
            <a:off x="6473952" y="5285232"/>
            <a:ext cx="4983480" cy="886968"/>
          </a:xfrm>
          <a:prstGeom prst="rect">
            <a:avLst/>
          </a:prstGeom>
          <a:noFill/>
        </p:spPr>
        <p:txBody>
          <a:bodyPr wrap="square" anchor="t"/>
          <a:lstStyle/>
          <a:p>
            <a:pPr algn="l"/>
            <a:r>
              <a:rPr sz="1300" b="0">
                <a:solidFill>
                  <a:srgbClr val="4A5568"/>
                </a:solidFill>
                <a:latin typeface="Calibri"/>
                <a:ea typeface="Calibri"/>
                <a:cs typeface="Calibri"/>
              </a:rPr>
              <a:t>把「营养—代谢—炎症」写成可定点的分子机制，为NLRP3相关疾病提供一条可验证路径。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786384"/>
            <a:ext cx="11183112" cy="5650992"/>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960120"/>
            <a:ext cx="2286000" cy="822960"/>
          </a:xfrm>
          <a:prstGeom prst="rect">
            <a:avLst/>
          </a:prstGeom>
          <a:noFill/>
        </p:spPr>
        <p:txBody>
          <a:bodyPr wrap="square" anchor="t"/>
          <a:lstStyle/>
          <a:p>
            <a:pPr algn="l"/>
            <a:r>
              <a:rPr sz="5400" b="1">
                <a:solidFill>
                  <a:srgbClr val="C41E3A"/>
                </a:solidFill>
                <a:latin typeface="Cambria"/>
                <a:ea typeface="Cambria"/>
                <a:cs typeface="Cambria"/>
              </a:rPr>
              <a:t>10</a:t>
            </a:r>
          </a:p>
        </p:txBody>
      </p:sp>
      <p:sp>
        <p:nvSpPr>
          <p:cNvPr id="10" name="TextBox 9"/>
          <p:cNvSpPr txBox="1"/>
          <p:nvPr/>
        </p:nvSpPr>
        <p:spPr>
          <a:xfrm>
            <a:off x="795528" y="1783080"/>
            <a:ext cx="2286000" cy="731520"/>
          </a:xfrm>
          <a:prstGeom prst="rect">
            <a:avLst/>
          </a:prstGeom>
          <a:noFill/>
        </p:spPr>
        <p:txBody>
          <a:bodyPr wrap="square" anchor="t"/>
          <a:lstStyle/>
          <a:p>
            <a:pPr algn="l"/>
            <a:r>
              <a:rPr sz="1400" b="1">
                <a:solidFill>
                  <a:srgbClr val="4A5568"/>
                </a:solidFill>
                <a:latin typeface="Calibri"/>
                <a:ea typeface="Calibri"/>
                <a:cs typeface="Calibri"/>
              </a:rPr>
              <a:t>神经 · 纽黑文</a:t>
            </a:r>
          </a:p>
        </p:txBody>
      </p:sp>
      <p:sp>
        <p:nvSpPr>
          <p:cNvPr id="11" name="TextBox 10"/>
          <p:cNvSpPr txBox="1"/>
          <p:nvPr/>
        </p:nvSpPr>
        <p:spPr>
          <a:xfrm>
            <a:off x="3200400" y="1005840"/>
            <a:ext cx="8229600" cy="256032"/>
          </a:xfrm>
          <a:prstGeom prst="rect">
            <a:avLst/>
          </a:prstGeom>
          <a:noFill/>
        </p:spPr>
        <p:txBody>
          <a:bodyPr wrap="square" anchor="t"/>
          <a:lstStyle/>
          <a:p>
            <a:pPr algn="l"/>
            <a:r>
              <a:rPr sz="1200" b="1">
                <a:solidFill>
                  <a:srgbClr val="C41E3A"/>
                </a:solidFill>
                <a:latin typeface="Calibri"/>
                <a:ea typeface="Calibri"/>
                <a:cs typeface="Calibri"/>
              </a:rPr>
              <a:t>Nature Neuroscience  ·  胡明月 / Damisah</a:t>
            </a:r>
          </a:p>
        </p:txBody>
      </p:sp>
      <p:sp>
        <p:nvSpPr>
          <p:cNvPr id="12" name="TextBox 11"/>
          <p:cNvSpPr txBox="1"/>
          <p:nvPr/>
        </p:nvSpPr>
        <p:spPr>
          <a:xfrm>
            <a:off x="3200400" y="1298448"/>
            <a:ext cx="8229600" cy="1097280"/>
          </a:xfrm>
          <a:prstGeom prst="rect">
            <a:avLst/>
          </a:prstGeom>
          <a:noFill/>
        </p:spPr>
        <p:txBody>
          <a:bodyPr wrap="square" anchor="t"/>
          <a:lstStyle/>
          <a:p>
            <a:pPr algn="l"/>
            <a:r>
              <a:rPr sz="2800" b="1">
                <a:solidFill>
                  <a:srgbClr val="1A1A1A"/>
                </a:solidFill>
                <a:latin typeface="Cambria"/>
                <a:ea typeface="Cambria"/>
                <a:cs typeface="Cambria"/>
              </a:rPr>
              <a:t>人屏状核编码不确定与预测误差</a:t>
            </a:r>
          </a:p>
        </p:txBody>
      </p:sp>
      <p:sp>
        <p:nvSpPr>
          <p:cNvPr id="13" name="TextBox 12"/>
          <p:cNvSpPr txBox="1"/>
          <p:nvPr/>
        </p:nvSpPr>
        <p:spPr>
          <a:xfrm>
            <a:off x="3200400" y="2468880"/>
            <a:ext cx="8229600" cy="292608"/>
          </a:xfrm>
          <a:prstGeom prst="rect">
            <a:avLst/>
          </a:prstGeom>
          <a:noFill/>
        </p:spPr>
        <p:txBody>
          <a:bodyPr wrap="square" anchor="t"/>
          <a:lstStyle/>
          <a:p>
            <a:pPr algn="l"/>
            <a:r>
              <a:rPr sz="1200" b="0">
                <a:solidFill>
                  <a:srgbClr val="4A5568"/>
                </a:solidFill>
                <a:latin typeface="Calibri"/>
                <a:ea typeface="Calibri"/>
                <a:cs typeface="Calibri"/>
              </a:rPr>
              <a:t>来源：Nature Neuroscience   nature.com/articles/s41593-026-02475-x</a:t>
            </a:r>
          </a:p>
        </p:txBody>
      </p:sp>
      <p:sp>
        <p:nvSpPr>
          <p:cNvPr id="14" name="TextBox 13"/>
          <p:cNvSpPr txBox="1"/>
          <p:nvPr/>
        </p:nvSpPr>
        <p:spPr>
          <a:xfrm>
            <a:off x="3200400" y="2852928"/>
            <a:ext cx="8229600" cy="1691640"/>
          </a:xfrm>
          <a:prstGeom prst="rect">
            <a:avLst/>
          </a:prstGeom>
          <a:noFill/>
        </p:spPr>
        <p:txBody>
          <a:bodyPr wrap="square" anchor="t"/>
          <a:lstStyle/>
          <a:p>
            <a:pPr algn="l"/>
            <a:r>
              <a:rPr sz="1600" b="0">
                <a:solidFill>
                  <a:srgbClr val="1A1A1A"/>
                </a:solidFill>
                <a:latin typeface="Calibri"/>
                <a:ea typeface="Calibri"/>
                <a:cs typeface="Calibri"/>
              </a:rPr>
              <a:t>胡明月、Eyiyemisi Damisah等6日报告人屏状核单细胞记录：在厌恶学习任务中，屏状核与前扣带均编码不确定性和预测误差，但时程不同——仅前扣带在试次间隔携带不确定信号；杏仁核对潜变量调制很弱。</a:t>
            </a:r>
          </a:p>
        </p:txBody>
      </p:sp>
      <p:sp>
        <p:nvSpPr>
          <p:cNvPr id="15" name="Rectangle 14"/>
          <p:cNvSpPr/>
          <p:nvPr/>
        </p:nvSpPr>
        <p:spPr>
          <a:xfrm>
            <a:off x="3200400" y="4681728"/>
            <a:ext cx="8229600" cy="9144"/>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4754880"/>
            <a:ext cx="8229600" cy="201168"/>
          </a:xfrm>
          <a:prstGeom prst="rect">
            <a:avLst/>
          </a:prstGeom>
          <a:noFill/>
        </p:spPr>
        <p:txBody>
          <a:bodyPr wrap="square" anchor="t"/>
          <a:lstStyle/>
          <a:p>
            <a:pPr algn="l"/>
            <a:r>
              <a:rPr sz="1200" b="1">
                <a:solidFill>
                  <a:srgbClr val="C41E3A"/>
                </a:solidFill>
                <a:latin typeface="Calibri"/>
                <a:ea typeface="Calibri"/>
                <a:cs typeface="Calibri"/>
              </a:rPr>
              <a:t>为何重要</a:t>
            </a:r>
          </a:p>
        </p:txBody>
      </p:sp>
      <p:sp>
        <p:nvSpPr>
          <p:cNvPr id="17" name="TextBox 16"/>
          <p:cNvSpPr txBox="1"/>
          <p:nvPr/>
        </p:nvSpPr>
        <p:spPr>
          <a:xfrm>
            <a:off x="3200400" y="4937760"/>
            <a:ext cx="8229600" cy="1115568"/>
          </a:xfrm>
          <a:prstGeom prst="rect">
            <a:avLst/>
          </a:prstGeom>
          <a:noFill/>
        </p:spPr>
        <p:txBody>
          <a:bodyPr wrap="square" anchor="t"/>
          <a:lstStyle/>
          <a:p>
            <a:pPr algn="l"/>
            <a:r>
              <a:rPr sz="1500" b="0">
                <a:solidFill>
                  <a:srgbClr val="4A5568"/>
                </a:solidFill>
                <a:latin typeface="Calibri"/>
                <a:ea typeface="Calibri"/>
                <a:cs typeface="Calibri"/>
              </a:rPr>
              <a:t>第一次在人脑里把屏状核写成追踪高阶认知潜变量的节点，而不只是皮层的中继站。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1A1A1A"/>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4A5568"/>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31520"/>
            <a:ext cx="11155680" cy="292608"/>
          </a:xfrm>
          <a:prstGeom prst="rect">
            <a:avLst/>
          </a:prstGeom>
          <a:noFill/>
        </p:spPr>
        <p:txBody>
          <a:bodyPr wrap="square" anchor="t"/>
          <a:lstStyle/>
          <a:p>
            <a:pPr algn="l"/>
            <a:r>
              <a:rPr sz="1300" b="1">
                <a:solidFill>
                  <a:srgbClr val="C41E3A"/>
                </a:solidFill>
                <a:latin typeface="Calibri"/>
                <a:ea typeface="Calibri"/>
                <a:cs typeface="Calibri"/>
              </a:rPr>
              <a:t>信息不足</a:t>
            </a:r>
          </a:p>
        </p:txBody>
      </p:sp>
      <p:sp>
        <p:nvSpPr>
          <p:cNvPr id="9" name="TextBox 8"/>
          <p:cNvSpPr txBox="1"/>
          <p:nvPr/>
        </p:nvSpPr>
        <p:spPr>
          <a:xfrm>
            <a:off x="502920" y="1005840"/>
            <a:ext cx="11155680" cy="566928"/>
          </a:xfrm>
          <a:prstGeom prst="rect">
            <a:avLst/>
          </a:prstGeom>
          <a:noFill/>
        </p:spPr>
        <p:txBody>
          <a:bodyPr wrap="square" anchor="t"/>
          <a:lstStyle/>
          <a:p>
            <a:pPr algn="l"/>
            <a:r>
              <a:rPr sz="2800" b="1">
                <a:solidFill>
                  <a:srgbClr val="1A1A1A"/>
                </a:solidFill>
                <a:latin typeface="Cambria"/>
                <a:ea typeface="Cambria"/>
                <a:cs typeface="Cambria"/>
              </a:rPr>
              <a:t>发射栏留白，大模型无沪时首发</a:t>
            </a:r>
          </a:p>
        </p:txBody>
      </p:sp>
      <p:sp>
        <p:nvSpPr>
          <p:cNvPr id="10" name="Rectangle 9"/>
          <p:cNvSpPr/>
          <p:nvPr/>
        </p:nvSpPr>
        <p:spPr>
          <a:xfrm>
            <a:off x="502920" y="1737360"/>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83664"/>
            <a:ext cx="3163824" cy="329184"/>
          </a:xfrm>
          <a:prstGeom prst="rect">
            <a:avLst/>
          </a:prstGeom>
          <a:noFill/>
        </p:spPr>
        <p:txBody>
          <a:bodyPr wrap="square" anchor="t"/>
          <a:lstStyle/>
          <a:p>
            <a:pPr algn="l"/>
            <a:r>
              <a:rPr sz="1600" b="1">
                <a:solidFill>
                  <a:srgbClr val="C41E3A"/>
                </a:solidFill>
                <a:latin typeface="Calibri"/>
                <a:ea typeface="Calibri"/>
                <a:cs typeface="Calibri"/>
              </a:rPr>
              <a:t>发射</a:t>
            </a:r>
          </a:p>
        </p:txBody>
      </p:sp>
      <p:sp>
        <p:nvSpPr>
          <p:cNvPr id="12" name="TextBox 11"/>
          <p:cNvSpPr txBox="1"/>
          <p:nvPr/>
        </p:nvSpPr>
        <p:spPr>
          <a:xfrm>
            <a:off x="685800" y="2249424"/>
            <a:ext cx="3163824" cy="1280160"/>
          </a:xfrm>
          <a:prstGeom prst="rect">
            <a:avLst/>
          </a:prstGeom>
          <a:noFill/>
        </p:spPr>
        <p:txBody>
          <a:bodyPr wrap="square" anchor="t"/>
          <a:lstStyle/>
          <a:p>
            <a:pPr algn="l"/>
            <a:r>
              <a:rPr sz="1300" b="0">
                <a:solidFill>
                  <a:srgbClr val="4A5568"/>
                </a:solidFill>
                <a:latin typeface="Calibri"/>
                <a:ea typeface="Calibri"/>
                <a:cs typeface="Calibri"/>
              </a:rPr>
              <a:t>当日无国内航天发射通稿。韩国「世界号」第五次发射窗口在7日，只作预告，不立项。</a:t>
            </a:r>
          </a:p>
        </p:txBody>
      </p:sp>
      <p:sp>
        <p:nvSpPr>
          <p:cNvPr id="13" name="Rectangle 12"/>
          <p:cNvSpPr/>
          <p:nvPr/>
        </p:nvSpPr>
        <p:spPr>
          <a:xfrm>
            <a:off x="4361688" y="1737360"/>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883664"/>
            <a:ext cx="3163824" cy="329184"/>
          </a:xfrm>
          <a:prstGeom prst="rect">
            <a:avLst/>
          </a:prstGeom>
          <a:noFill/>
        </p:spPr>
        <p:txBody>
          <a:bodyPr wrap="square" anchor="t"/>
          <a:lstStyle/>
          <a:p>
            <a:pPr algn="l"/>
            <a:r>
              <a:rPr sz="1600" b="1">
                <a:solidFill>
                  <a:srgbClr val="C41E3A"/>
                </a:solidFill>
                <a:latin typeface="Calibri"/>
                <a:ea typeface="Calibri"/>
                <a:cs typeface="Calibri"/>
              </a:rPr>
              <a:t>日界</a:t>
            </a:r>
          </a:p>
        </p:txBody>
      </p:sp>
      <p:sp>
        <p:nvSpPr>
          <p:cNvPr id="15" name="TextBox 14"/>
          <p:cNvSpPr txBox="1"/>
          <p:nvPr/>
        </p:nvSpPr>
        <p:spPr>
          <a:xfrm>
            <a:off x="4544568" y="2249424"/>
            <a:ext cx="3163824" cy="1280160"/>
          </a:xfrm>
          <a:prstGeom prst="rect">
            <a:avLst/>
          </a:prstGeom>
          <a:noFill/>
        </p:spPr>
        <p:txBody>
          <a:bodyPr wrap="square" anchor="t"/>
          <a:lstStyle/>
          <a:p>
            <a:pPr algn="l"/>
            <a:r>
              <a:rPr sz="1300" b="0">
                <a:solidFill>
                  <a:srgbClr val="4A5568"/>
                </a:solidFill>
                <a:latin typeface="Calibri"/>
                <a:ea typeface="Calibri"/>
                <a:cs typeface="Calibri"/>
              </a:rPr>
              <a:t>白宫「超级智能部队」与AI自律协定为美西6日下午见报，折沪时已入7日，不抢刊。</a:t>
            </a:r>
          </a:p>
        </p:txBody>
      </p:sp>
      <p:sp>
        <p:nvSpPr>
          <p:cNvPr id="16" name="Rectangle 15"/>
          <p:cNvSpPr/>
          <p:nvPr/>
        </p:nvSpPr>
        <p:spPr>
          <a:xfrm>
            <a:off x="8220456" y="1737360"/>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3336" y="1883664"/>
            <a:ext cx="3163824" cy="329184"/>
          </a:xfrm>
          <a:prstGeom prst="rect">
            <a:avLst/>
          </a:prstGeom>
          <a:noFill/>
        </p:spPr>
        <p:txBody>
          <a:bodyPr wrap="square" anchor="t"/>
          <a:lstStyle/>
          <a:p>
            <a:pPr algn="l"/>
            <a:r>
              <a:rPr sz="1600" b="1">
                <a:solidFill>
                  <a:srgbClr val="C41E3A"/>
                </a:solidFill>
                <a:latin typeface="Calibri"/>
                <a:ea typeface="Calibri"/>
                <a:cs typeface="Calibri"/>
              </a:rPr>
              <a:t>已入前刊</a:t>
            </a:r>
          </a:p>
        </p:txBody>
      </p:sp>
      <p:sp>
        <p:nvSpPr>
          <p:cNvPr id="18" name="TextBox 17"/>
          <p:cNvSpPr txBox="1"/>
          <p:nvPr/>
        </p:nvSpPr>
        <p:spPr>
          <a:xfrm>
            <a:off x="8403336" y="2249424"/>
            <a:ext cx="3163824" cy="1280160"/>
          </a:xfrm>
          <a:prstGeom prst="rect">
            <a:avLst/>
          </a:prstGeom>
          <a:noFill/>
        </p:spPr>
        <p:txBody>
          <a:bodyPr wrap="square" anchor="t"/>
          <a:lstStyle/>
          <a:p>
            <a:pPr algn="l"/>
            <a:r>
              <a:rPr sz="1300" b="0">
                <a:solidFill>
                  <a:srgbClr val="4A5568"/>
                </a:solidFill>
                <a:latin typeface="Calibri"/>
                <a:ea typeface="Calibri"/>
                <a:cs typeface="Calibri"/>
              </a:rPr>
              <a:t>捕日者、Astra、Crew-13、NROL-97、Mate 90 τ芯片、进博会倒计时、黄岩岛战区正告，均见前刊。</a:t>
            </a:r>
          </a:p>
        </p:txBody>
      </p:sp>
      <p:sp>
        <p:nvSpPr>
          <p:cNvPr id="19" name="Rectangle 18"/>
          <p:cNvSpPr/>
          <p:nvPr/>
        </p:nvSpPr>
        <p:spPr>
          <a:xfrm>
            <a:off x="502920" y="3959352"/>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105656"/>
            <a:ext cx="3163824" cy="329184"/>
          </a:xfrm>
          <a:prstGeom prst="rect">
            <a:avLst/>
          </a:prstGeom>
          <a:noFill/>
        </p:spPr>
        <p:txBody>
          <a:bodyPr wrap="square" anchor="t"/>
          <a:lstStyle/>
          <a:p>
            <a:pPr algn="l"/>
            <a:r>
              <a:rPr sz="1600" b="1">
                <a:solidFill>
                  <a:srgbClr val="C41E3A"/>
                </a:solidFill>
                <a:latin typeface="Calibri"/>
                <a:ea typeface="Calibri"/>
                <a:cs typeface="Calibri"/>
              </a:rPr>
              <a:t>更早首发</a:t>
            </a:r>
          </a:p>
        </p:txBody>
      </p:sp>
      <p:sp>
        <p:nvSpPr>
          <p:cNvPr id="21" name="TextBox 20"/>
          <p:cNvSpPr txBox="1"/>
          <p:nvPr/>
        </p:nvSpPr>
        <p:spPr>
          <a:xfrm>
            <a:off x="685800" y="4471416"/>
            <a:ext cx="3163824" cy="1280160"/>
          </a:xfrm>
          <a:prstGeom prst="rect">
            <a:avLst/>
          </a:prstGeom>
          <a:noFill/>
        </p:spPr>
        <p:txBody>
          <a:bodyPr wrap="square" anchor="t"/>
          <a:lstStyle/>
          <a:p>
            <a:pPr algn="l"/>
            <a:r>
              <a:rPr sz="1300" b="0">
                <a:solidFill>
                  <a:srgbClr val="4A5568"/>
                </a:solidFill>
                <a:latin typeface="Calibri"/>
                <a:ea typeface="Calibri"/>
                <a:cs typeface="Calibri"/>
              </a:rPr>
              <a:t>Jalapeño为6月24日；GPT-Synopsys为9月30日；STAR重子结为8月13日Science。</a:t>
            </a:r>
          </a:p>
        </p:txBody>
      </p:sp>
      <p:sp>
        <p:nvSpPr>
          <p:cNvPr id="22" name="Rectangle 21"/>
          <p:cNvSpPr/>
          <p:nvPr/>
        </p:nvSpPr>
        <p:spPr>
          <a:xfrm>
            <a:off x="4361688" y="3959352"/>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4105656"/>
            <a:ext cx="3163824" cy="329184"/>
          </a:xfrm>
          <a:prstGeom prst="rect">
            <a:avLst/>
          </a:prstGeom>
          <a:noFill/>
        </p:spPr>
        <p:txBody>
          <a:bodyPr wrap="square" anchor="t"/>
          <a:lstStyle/>
          <a:p>
            <a:pPr algn="l"/>
            <a:r>
              <a:rPr sz="1600" b="1">
                <a:solidFill>
                  <a:srgbClr val="C41E3A"/>
                </a:solidFill>
                <a:latin typeface="Calibri"/>
                <a:ea typeface="Calibri"/>
                <a:cs typeface="Calibri"/>
              </a:rPr>
              <a:t>定稿不立</a:t>
            </a:r>
          </a:p>
        </p:txBody>
      </p:sp>
      <p:sp>
        <p:nvSpPr>
          <p:cNvPr id="24" name="TextBox 23"/>
          <p:cNvSpPr txBox="1"/>
          <p:nvPr/>
        </p:nvSpPr>
        <p:spPr>
          <a:xfrm>
            <a:off x="4544568" y="4471416"/>
            <a:ext cx="3163824" cy="1280160"/>
          </a:xfrm>
          <a:prstGeom prst="rect">
            <a:avLst/>
          </a:prstGeom>
          <a:noFill/>
        </p:spPr>
        <p:txBody>
          <a:bodyPr wrap="square" anchor="t"/>
          <a:lstStyle/>
          <a:p>
            <a:pPr algn="l"/>
            <a:r>
              <a:rPr sz="1300" b="0">
                <a:solidFill>
                  <a:srgbClr val="4A5568"/>
                </a:solidFill>
                <a:latin typeface="Calibri"/>
                <a:ea typeface="Calibri"/>
                <a:cs typeface="Calibri"/>
              </a:rPr>
              <a:t>MedGemma为2025年5月开源，《自然·医学》6日只是定稿。华为全联接徐直军不重写。</a:t>
            </a:r>
          </a:p>
        </p:txBody>
      </p:sp>
      <p:sp>
        <p:nvSpPr>
          <p:cNvPr id="25" name="Rectangle 24"/>
          <p:cNvSpPr/>
          <p:nvPr/>
        </p:nvSpPr>
        <p:spPr>
          <a:xfrm>
            <a:off x="8220456" y="3959352"/>
            <a:ext cx="3529584" cy="1965960"/>
          </a:xfrm>
          <a:prstGeom prst="rect">
            <a:avLst/>
          </a:prstGeom>
          <a:solidFill>
            <a:srgbClr val="FFF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03336" y="4105656"/>
            <a:ext cx="3163824" cy="329184"/>
          </a:xfrm>
          <a:prstGeom prst="rect">
            <a:avLst/>
          </a:prstGeom>
          <a:noFill/>
        </p:spPr>
        <p:txBody>
          <a:bodyPr wrap="square" anchor="t"/>
          <a:lstStyle/>
          <a:p>
            <a:pPr algn="l"/>
            <a:r>
              <a:rPr sz="1600" b="1">
                <a:solidFill>
                  <a:srgbClr val="C41E3A"/>
                </a:solidFill>
                <a:latin typeface="Calibri"/>
                <a:ea typeface="Calibri"/>
                <a:cs typeface="Calibri"/>
              </a:rPr>
              <a:t>弃用转载</a:t>
            </a:r>
          </a:p>
        </p:txBody>
      </p:sp>
      <p:sp>
        <p:nvSpPr>
          <p:cNvPr id="27" name="TextBox 26"/>
          <p:cNvSpPr txBox="1"/>
          <p:nvPr/>
        </p:nvSpPr>
        <p:spPr>
          <a:xfrm>
            <a:off x="8403336" y="4471416"/>
            <a:ext cx="3163824" cy="1280160"/>
          </a:xfrm>
          <a:prstGeom prst="rect">
            <a:avLst/>
          </a:prstGeom>
          <a:noFill/>
        </p:spPr>
        <p:txBody>
          <a:bodyPr wrap="square" anchor="t"/>
          <a:lstStyle/>
          <a:p>
            <a:pPr algn="l"/>
            <a:r>
              <a:rPr sz="1300" b="0">
                <a:solidFill>
                  <a:srgbClr val="4A5568"/>
                </a:solidFill>
                <a:latin typeface="Calibri"/>
                <a:ea typeface="Calibri"/>
                <a:cs typeface="Calibri"/>
              </a:rPr>
              <a:t>联发科Genio Pro 5100为3月10日；文旅「8.26亿人次」系2023年旧数套新日期。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3840480" cy="256032"/>
          </a:xfrm>
          <a:prstGeom prst="rect">
            <a:avLst/>
          </a:prstGeom>
          <a:noFill/>
        </p:spPr>
        <p:txBody>
          <a:bodyPr wrap="square" anchor="t"/>
          <a:lstStyle/>
          <a:p>
            <a:pPr algn="l"/>
            <a:r>
              <a:rPr sz="1400" b="1">
                <a:solidFill>
                  <a:srgbClr val="F7F4EF"/>
                </a:solidFill>
                <a:latin typeface="Cambria"/>
                <a:ea typeface="Cambria"/>
                <a:cs typeface="Cambria"/>
              </a:rPr>
              <a:t>每日时政科技简报</a:t>
            </a:r>
          </a:p>
        </p:txBody>
      </p:sp>
      <p:sp>
        <p:nvSpPr>
          <p:cNvPr id="4" name="TextBox 3"/>
          <p:cNvSpPr txBox="1"/>
          <p:nvPr/>
        </p:nvSpPr>
        <p:spPr>
          <a:xfrm>
            <a:off x="4206240" y="256032"/>
            <a:ext cx="4937760" cy="256032"/>
          </a:xfrm>
          <a:prstGeom prst="rect">
            <a:avLst/>
          </a:prstGeom>
          <a:noFill/>
        </p:spPr>
        <p:txBody>
          <a:bodyPr wrap="square" anchor="t"/>
          <a:lstStyle/>
          <a:p>
            <a:pPr algn="ctr"/>
            <a:r>
              <a:rPr sz="1200" b="0">
                <a:solidFill>
                  <a:srgbClr val="C9C2B6"/>
                </a:solidFill>
                <a:latin typeface="Calibri"/>
                <a:ea typeface="Calibri"/>
                <a:cs typeface="Calibri"/>
              </a:rPr>
              <a:t>第015期  ·  2026年10月6日  ·  星期二</a:t>
            </a:r>
          </a:p>
        </p:txBody>
      </p:sp>
      <p:sp>
        <p:nvSpPr>
          <p:cNvPr id="5" name="TextBox 4"/>
          <p:cNvSpPr txBox="1"/>
          <p:nvPr/>
        </p:nvSpPr>
        <p:spPr>
          <a:xfrm>
            <a:off x="9326880" y="256032"/>
            <a:ext cx="2359152" cy="256032"/>
          </a:xfrm>
          <a:prstGeom prst="rect">
            <a:avLst/>
          </a:prstGeom>
          <a:noFill/>
        </p:spPr>
        <p:txBody>
          <a:bodyPr wrap="square" anchor="t"/>
          <a:lstStyle/>
          <a:p>
            <a:pPr algn="r"/>
            <a:r>
              <a:rPr sz="1200" b="1">
                <a:solidFill>
                  <a:srgbClr val="C41E3A"/>
                </a:solidFill>
                <a:latin typeface="Calibri"/>
                <a:ea typeface="Calibri"/>
                <a:cs typeface="Calibri"/>
              </a:rPr>
              <a:t>晨刊</a:t>
            </a:r>
          </a:p>
        </p:txBody>
      </p:sp>
      <p:sp>
        <p:nvSpPr>
          <p:cNvPr id="6" name="Rectangle 5"/>
          <p:cNvSpPr/>
          <p:nvPr/>
        </p:nvSpPr>
        <p:spPr>
          <a:xfrm>
            <a:off x="502920" y="530352"/>
            <a:ext cx="11183112" cy="1828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66928"/>
            <a:ext cx="11183112" cy="9144"/>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31520"/>
            <a:ext cx="5852160" cy="219456"/>
          </a:xfrm>
          <a:prstGeom prst="rect">
            <a:avLst/>
          </a:prstGeom>
          <a:noFill/>
        </p:spPr>
        <p:txBody>
          <a:bodyPr wrap="square" anchor="t"/>
          <a:lstStyle/>
          <a:p>
            <a:pPr algn="l"/>
            <a:r>
              <a:rPr sz="1200" b="1">
                <a:solidFill>
                  <a:srgbClr val="C9C2B6"/>
                </a:solidFill>
                <a:latin typeface="Calibri"/>
                <a:ea typeface="Calibri"/>
                <a:cs typeface="Calibri"/>
              </a:rPr>
              <a:t>THE EVENING LEDGER</a:t>
            </a:r>
          </a:p>
        </p:txBody>
      </p:sp>
      <p:sp>
        <p:nvSpPr>
          <p:cNvPr id="9" name="TextBox 8"/>
          <p:cNvSpPr txBox="1"/>
          <p:nvPr/>
        </p:nvSpPr>
        <p:spPr>
          <a:xfrm>
            <a:off x="7680960" y="731520"/>
            <a:ext cx="4005072" cy="219456"/>
          </a:xfrm>
          <a:prstGeom prst="rect">
            <a:avLst/>
          </a:prstGeom>
          <a:noFill/>
        </p:spPr>
        <p:txBody>
          <a:bodyPr wrap="square" anchor="t"/>
          <a:lstStyle/>
          <a:p>
            <a:pPr algn="r"/>
            <a:r>
              <a:rPr sz="1200" b="0">
                <a:solidFill>
                  <a:srgbClr val="C9C2B6"/>
                </a:solidFill>
                <a:latin typeface="Calibri"/>
                <a:ea typeface="Calibri"/>
                <a:cs typeface="Calibri"/>
              </a:rPr>
              <a:t>第015期 · 收束</a:t>
            </a:r>
          </a:p>
        </p:txBody>
      </p:sp>
      <p:sp>
        <p:nvSpPr>
          <p:cNvPr id="10" name="Rectangle 9"/>
          <p:cNvSpPr/>
          <p:nvPr/>
        </p:nvSpPr>
        <p:spPr>
          <a:xfrm>
            <a:off x="502920" y="1005840"/>
            <a:ext cx="11183112" cy="27432"/>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078992"/>
            <a:ext cx="11183112" cy="9144"/>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43584"/>
            <a:ext cx="11155680" cy="960120"/>
          </a:xfrm>
          <a:prstGeom prst="rect">
            <a:avLst/>
          </a:prstGeom>
          <a:noFill/>
        </p:spPr>
        <p:txBody>
          <a:bodyPr wrap="square" anchor="t"/>
          <a:lstStyle/>
          <a:p>
            <a:pPr algn="l"/>
            <a:r>
              <a:rPr sz="2600" b="1">
                <a:solidFill>
                  <a:srgbClr val="F7F4EF"/>
                </a:solidFill>
                <a:latin typeface="Cambria"/>
                <a:ea typeface="Cambria"/>
                <a:cs typeface="Cambria"/>
              </a:rPr>
              <a:t>外交部假期开口，海峡写下伤亡，专利各说各话</a:t>
            </a:r>
          </a:p>
        </p:txBody>
      </p:sp>
      <p:sp>
        <p:nvSpPr>
          <p:cNvPr id="13" name="TextBox 12"/>
          <p:cNvSpPr txBox="1"/>
          <p:nvPr/>
        </p:nvSpPr>
        <p:spPr>
          <a:xfrm>
            <a:off x="502920" y="2231136"/>
            <a:ext cx="11155680" cy="1051560"/>
          </a:xfrm>
          <a:prstGeom prst="rect">
            <a:avLst/>
          </a:prstGeom>
          <a:noFill/>
        </p:spPr>
        <p:txBody>
          <a:bodyPr wrap="square" anchor="t"/>
          <a:lstStyle/>
          <a:p>
            <a:pPr algn="l"/>
            <a:r>
              <a:rPr sz="1400" b="0">
                <a:solidFill>
                  <a:srgbClr val="E8E2D8"/>
                </a:solidFill>
                <a:latin typeface="Calibri"/>
                <a:ea typeface="Calibri"/>
                <a:cs typeface="Calibri"/>
              </a:rPr>
              <a:t>郭嘉昆把台湾、售武和三岛礁写进假期答问。商务部点名法德。世行把东亚增速改写成4.5%。霍尔木兹12人受伤。应用材料与英特尔把晶体管和Foveros堆进同一座中心。高通与华为就逻辑折叠各说各话。</a:t>
            </a:r>
          </a:p>
        </p:txBody>
      </p:sp>
      <p:sp>
        <p:nvSpPr>
          <p:cNvPr id="14" name="Rectangle 13"/>
          <p:cNvSpPr/>
          <p:nvPr/>
        </p:nvSpPr>
        <p:spPr>
          <a:xfrm>
            <a:off x="502920" y="3401568"/>
            <a:ext cx="5422392"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493008"/>
            <a:ext cx="5056632" cy="256032"/>
          </a:xfrm>
          <a:prstGeom prst="rect">
            <a:avLst/>
          </a:prstGeom>
          <a:noFill/>
        </p:spPr>
        <p:txBody>
          <a:bodyPr wrap="square" anchor="t"/>
          <a:lstStyle/>
          <a:p>
            <a:pPr algn="l"/>
            <a:r>
              <a:rPr sz="1300" b="1">
                <a:solidFill>
                  <a:srgbClr val="C41E3A"/>
                </a:solidFill>
                <a:latin typeface="Calibri"/>
                <a:ea typeface="Calibri"/>
                <a:cs typeface="Calibri"/>
              </a:rPr>
              <a:t>时政六条</a:t>
            </a:r>
          </a:p>
        </p:txBody>
      </p:sp>
      <p:sp>
        <p:nvSpPr>
          <p:cNvPr id="16" name="TextBox 15"/>
          <p:cNvSpPr txBox="1"/>
          <p:nvPr/>
        </p:nvSpPr>
        <p:spPr>
          <a:xfrm>
            <a:off x="704088" y="3785615"/>
            <a:ext cx="5056632" cy="1783080"/>
          </a:xfrm>
          <a:prstGeom prst="rect">
            <a:avLst/>
          </a:prstGeom>
          <a:noFill/>
        </p:spPr>
        <p:txBody>
          <a:bodyPr wrap="square">
            <a:spAutoFit/>
          </a:bodyPr>
          <a:lstStyle/>
          <a:p>
            <a:pPr algn="l">
              <a:spcAft>
                <a:spcPts val="400"/>
              </a:spcAft>
            </a:pPr>
            <a:r>
              <a:rPr sz="1300" b="0">
                <a:solidFill>
                  <a:srgbClr val="F7F4EF"/>
                </a:solidFill>
                <a:latin typeface="Calibri"/>
                <a:ea typeface="Calibri"/>
                <a:cs typeface="Calibri"/>
              </a:rPr>
              <a:t>1  告美方慎重处理台湾问题</a:t>
            </a:r>
          </a:p>
          <a:p>
            <a:pPr algn="l">
              <a:spcAft>
                <a:spcPts val="400"/>
              </a:spcAft>
            </a:pPr>
            <a:r>
              <a:rPr sz="1300" b="0">
                <a:solidFill>
                  <a:srgbClr val="F7F4EF"/>
                </a:solidFill>
                <a:latin typeface="Calibri"/>
                <a:ea typeface="Calibri"/>
                <a:cs typeface="Calibri"/>
              </a:rPr>
              <a:t>2  正告菲方停止三岛礁侵权</a:t>
            </a:r>
          </a:p>
          <a:p>
            <a:pPr algn="l">
              <a:spcAft>
                <a:spcPts val="400"/>
              </a:spcAft>
            </a:pPr>
            <a:r>
              <a:rPr sz="1300" b="0">
                <a:solidFill>
                  <a:srgbClr val="F7F4EF"/>
                </a:solidFill>
                <a:latin typeface="Calibri"/>
                <a:ea typeface="Calibri"/>
                <a:cs typeface="Calibri"/>
              </a:rPr>
              <a:t>3  商务部批法德鼓动保护主义</a:t>
            </a:r>
          </a:p>
          <a:p>
            <a:pPr algn="l">
              <a:spcAft>
                <a:spcPts val="400"/>
              </a:spcAft>
            </a:pPr>
            <a:r>
              <a:rPr sz="1300" b="0">
                <a:solidFill>
                  <a:srgbClr val="F7F4EF"/>
                </a:solidFill>
                <a:latin typeface="Calibri"/>
                <a:ea typeface="Calibri"/>
                <a:cs typeface="Calibri"/>
              </a:rPr>
              <a:t>4  世行上调东亚增速至4.5%</a:t>
            </a:r>
          </a:p>
          <a:p>
            <a:pPr algn="l">
              <a:spcAft>
                <a:spcPts val="400"/>
              </a:spcAft>
            </a:pPr>
            <a:r>
              <a:rPr sz="1300" b="0">
                <a:solidFill>
                  <a:srgbClr val="F7F4EF"/>
                </a:solidFill>
                <a:latin typeface="Calibri"/>
                <a:ea typeface="Calibri"/>
                <a:cs typeface="Calibri"/>
              </a:rPr>
              <a:t>5  商船遇袭，12名船员受伤</a:t>
            </a:r>
          </a:p>
          <a:p>
            <a:pPr algn="l">
              <a:spcAft>
                <a:spcPts val="400"/>
              </a:spcAft>
            </a:pPr>
            <a:r>
              <a:rPr sz="1300" b="0">
                <a:solidFill>
                  <a:srgbClr val="F7F4EF"/>
                </a:solidFill>
                <a:latin typeface="Calibri"/>
                <a:ea typeface="Calibri"/>
                <a:cs typeface="Calibri"/>
              </a:rPr>
              <a:t>6  再通过中国主提无障碍决议</a:t>
            </a:r>
          </a:p>
        </p:txBody>
      </p:sp>
      <p:sp>
        <p:nvSpPr>
          <p:cNvPr id="17" name="Rectangle 16"/>
          <p:cNvSpPr/>
          <p:nvPr/>
        </p:nvSpPr>
        <p:spPr>
          <a:xfrm>
            <a:off x="6254496" y="3401568"/>
            <a:ext cx="5422392"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493008"/>
            <a:ext cx="5056632" cy="256032"/>
          </a:xfrm>
          <a:prstGeom prst="rect">
            <a:avLst/>
          </a:prstGeom>
          <a:noFill/>
        </p:spPr>
        <p:txBody>
          <a:bodyPr wrap="square" anchor="t"/>
          <a:lstStyle/>
          <a:p>
            <a:pPr algn="l"/>
            <a:r>
              <a:rPr sz="1300" b="1">
                <a:solidFill>
                  <a:srgbClr val="C41E3A"/>
                </a:solidFill>
                <a:latin typeface="Calibri"/>
                <a:ea typeface="Calibri"/>
                <a:cs typeface="Calibri"/>
              </a:rPr>
              <a:t>科技四条 · 缺口</a:t>
            </a:r>
          </a:p>
        </p:txBody>
      </p:sp>
      <p:sp>
        <p:nvSpPr>
          <p:cNvPr id="19" name="TextBox 18"/>
          <p:cNvSpPr txBox="1"/>
          <p:nvPr/>
        </p:nvSpPr>
        <p:spPr>
          <a:xfrm>
            <a:off x="6455664" y="3785615"/>
            <a:ext cx="5056632" cy="1783080"/>
          </a:xfrm>
          <a:prstGeom prst="rect">
            <a:avLst/>
          </a:prstGeom>
          <a:noFill/>
        </p:spPr>
        <p:txBody>
          <a:bodyPr wrap="square">
            <a:spAutoFit/>
          </a:bodyPr>
          <a:lstStyle/>
          <a:p>
            <a:pPr algn="l">
              <a:spcAft>
                <a:spcPts val="400"/>
              </a:spcAft>
            </a:pPr>
            <a:r>
              <a:rPr sz="1300" b="0">
                <a:solidFill>
                  <a:srgbClr val="F7F4EF"/>
                </a:solidFill>
                <a:latin typeface="Calibri"/>
                <a:ea typeface="Calibri"/>
                <a:cs typeface="Calibri"/>
              </a:rPr>
              <a:t>1  EPIC中心扩AI制程与封装合作</a:t>
            </a:r>
          </a:p>
          <a:p>
            <a:pPr algn="l">
              <a:spcAft>
                <a:spcPts val="400"/>
              </a:spcAft>
            </a:pPr>
            <a:r>
              <a:rPr sz="1300" b="0">
                <a:solidFill>
                  <a:srgbClr val="F7F4EF"/>
                </a:solidFill>
                <a:latin typeface="Calibri"/>
                <a:ea typeface="Calibri"/>
                <a:cs typeface="Calibri"/>
              </a:rPr>
              <a:t>2  高通澄清：并非净付费</a:t>
            </a:r>
          </a:p>
          <a:p>
            <a:pPr algn="l">
              <a:spcAft>
                <a:spcPts val="400"/>
              </a:spcAft>
            </a:pPr>
            <a:r>
              <a:rPr sz="1300" b="0">
                <a:solidFill>
                  <a:srgbClr val="F7F4EF"/>
                </a:solidFill>
                <a:latin typeface="Calibri"/>
                <a:ea typeface="Calibri"/>
                <a:cs typeface="Calibri"/>
              </a:rPr>
              <a:t>3  精氨酸咬住NLRP3的Asp31</a:t>
            </a:r>
          </a:p>
          <a:p>
            <a:pPr algn="l">
              <a:spcAft>
                <a:spcPts val="400"/>
              </a:spcAft>
            </a:pPr>
            <a:r>
              <a:rPr sz="1300" b="0">
                <a:solidFill>
                  <a:srgbClr val="F7F4EF"/>
                </a:solidFill>
                <a:latin typeface="Calibri"/>
                <a:ea typeface="Calibri"/>
                <a:cs typeface="Calibri"/>
              </a:rPr>
              <a:t>4  人屏状核编码不确定与预测误差</a:t>
            </a:r>
          </a:p>
        </p:txBody>
      </p:sp>
      <p:sp>
        <p:nvSpPr>
          <p:cNvPr id="20" name="TextBox 19"/>
          <p:cNvSpPr txBox="1"/>
          <p:nvPr/>
        </p:nvSpPr>
        <p:spPr>
          <a:xfrm>
            <a:off x="502920" y="5833872"/>
            <a:ext cx="11155680" cy="475488"/>
          </a:xfrm>
          <a:prstGeom prst="rect">
            <a:avLst/>
          </a:prstGeom>
          <a:noFill/>
        </p:spPr>
        <p:txBody>
          <a:bodyPr wrap="square" anchor="t"/>
          <a:lstStyle/>
          <a:p>
            <a:pPr algn="l"/>
            <a:r>
              <a:rPr sz="1100" b="0">
                <a:solidFill>
                  <a:srgbClr val="C9C2B6"/>
                </a:solidFill>
                <a:latin typeface="Calibri"/>
                <a:ea typeface="Calibri"/>
                <a:cs typeface="Calibri"/>
              </a:rPr>
              <a:t>日期窗口：Asia/Shanghai 2026-10-06 00:00 至 2026-10-07 00:00。交叉来源：外交部/新华网、商务部、世界银行、印度外交部、应用材料、高通声明、《自然·代谢》《自然·神经科学》。</a:t>
            </a:r>
          </a:p>
        </p:txBody>
      </p:sp>
      <p:sp>
        <p:nvSpPr>
          <p:cNvPr id="21" name="TextBox 20"/>
          <p:cNvSpPr txBox="1"/>
          <p:nvPr/>
        </p:nvSpPr>
        <p:spPr>
          <a:xfrm>
            <a:off x="502920" y="6327648"/>
            <a:ext cx="11155680" cy="256032"/>
          </a:xfrm>
          <a:prstGeom prst="rect">
            <a:avLst/>
          </a:prstGeom>
          <a:noFill/>
        </p:spPr>
        <p:txBody>
          <a:bodyPr wrap="square" anchor="t"/>
          <a:lstStyle/>
          <a:p>
            <a:pPr algn="l"/>
            <a:r>
              <a:rPr sz="1200" b="1">
                <a:solidFill>
                  <a:srgbClr val="C41E3A"/>
                </a:solidFill>
                <a:latin typeface="Calibri"/>
                <a:ea typeface="Calibri"/>
                <a:cs typeface="Calibri"/>
              </a:rPr>
              <a:t>每日时政科技简报 · 第015期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