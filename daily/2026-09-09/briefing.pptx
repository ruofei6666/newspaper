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146304" cy="146304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47472"/>
            <a:ext cx="566928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 i="0">
                <a:solidFill>
                  <a:srgbClr val="C9C2B6"/>
                </a:solidFill>
                <a:latin typeface="Calibri"/>
                <a:ea typeface="Calibri"/>
              </a:rPr>
              <a:t>THE MORNING DISPATCH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80960" y="347472"/>
            <a:ext cx="402336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200" b="0" i="0">
                <a:solidFill>
                  <a:srgbClr val="C9C2B6"/>
                </a:solidFill>
                <a:latin typeface="Calibri"/>
                <a:ea typeface="Calibri"/>
              </a:rPr>
              <a:t>ASIA / SHANGHAI　昨日新闻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713232"/>
            <a:ext cx="11185855" cy="2794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786384"/>
            <a:ext cx="11185855" cy="11430"/>
          </a:xfrm>
          <a:prstGeom prst="rect">
            <a:avLst/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987552"/>
            <a:ext cx="1115568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 i="0">
                <a:solidFill>
                  <a:srgbClr val="C41E3A"/>
                </a:solidFill>
                <a:latin typeface="Cambria"/>
                <a:ea typeface="Cambria"/>
              </a:rPr>
              <a:t>第贰伍贰期  ·  二零二六年九月九日  ·  星期三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335024"/>
            <a:ext cx="11155680" cy="10515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5400" b="1" i="0">
                <a:solidFill>
                  <a:srgbClr val="F7F4EF"/>
                </a:solidFill>
                <a:latin typeface="Cambria"/>
                <a:ea typeface="Cambria"/>
              </a:rPr>
              <a:t>每日时政科技简报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395728"/>
            <a:ext cx="1115568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 i="0">
                <a:solidFill>
                  <a:srgbClr val="C9C2B6"/>
                </a:solidFill>
                <a:latin typeface="Calibri"/>
                <a:ea typeface="Calibri"/>
              </a:rPr>
              <a:t>只收录该日发生或该日首发的稿件，拒绝转载拼盘。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2926080"/>
            <a:ext cx="3529584" cy="1691640"/>
          </a:xfrm>
          <a:prstGeom prst="rect">
            <a:avLst/>
          </a:prstGeom>
          <a:solidFill>
            <a:srgbClr val="242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04088" y="3035808"/>
            <a:ext cx="3163824" cy="777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5200" b="1" i="0">
                <a:solidFill>
                  <a:srgbClr val="C41E3A"/>
                </a:solidFill>
                <a:latin typeface="Cambria"/>
                <a:ea typeface="Cambria"/>
              </a:rPr>
              <a:t>06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4088" y="3822191"/>
            <a:ext cx="3163824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0" i="0">
                <a:solidFill>
                  <a:srgbClr val="F7F4EF"/>
                </a:solidFill>
                <a:latin typeface="Calibri"/>
                <a:ea typeface="Calibri"/>
              </a:rPr>
              <a:t>时政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4088" y="4114800"/>
            <a:ext cx="3163824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C9C2B6"/>
                </a:solidFill>
                <a:latin typeface="Calibri"/>
                <a:ea typeface="Calibri"/>
              </a:rPr>
              <a:t>伊核 · 油轮 · 物价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61688" y="2926080"/>
            <a:ext cx="3529584" cy="1691640"/>
          </a:xfrm>
          <a:prstGeom prst="rect">
            <a:avLst/>
          </a:prstGeom>
          <a:solidFill>
            <a:srgbClr val="242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62856" y="3035808"/>
            <a:ext cx="3163824" cy="777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5200" b="1" i="0">
                <a:solidFill>
                  <a:srgbClr val="C41E3A"/>
                </a:solidFill>
                <a:latin typeface="Cambria"/>
                <a:ea typeface="Cambria"/>
              </a:rP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62856" y="3822191"/>
            <a:ext cx="3163824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0" i="0">
                <a:solidFill>
                  <a:srgbClr val="F7F4EF"/>
                </a:solidFill>
                <a:latin typeface="Calibri"/>
                <a:ea typeface="Calibri"/>
              </a:rPr>
              <a:t>科技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62856" y="4114800"/>
            <a:ext cx="3163824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C9C2B6"/>
                </a:solidFill>
                <a:latin typeface="Calibri"/>
                <a:ea typeface="Calibri"/>
              </a:rPr>
              <a:t>代工 · 全身成像 · 虚拟细胞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0456" y="2926080"/>
            <a:ext cx="3529584" cy="1691640"/>
          </a:xfrm>
          <a:prstGeom prst="rect">
            <a:avLst/>
          </a:prstGeom>
          <a:solidFill>
            <a:srgbClr val="242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21624" y="3035808"/>
            <a:ext cx="3163824" cy="777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5200" b="1" i="0">
                <a:solidFill>
                  <a:srgbClr val="C41E3A"/>
                </a:solidFill>
                <a:latin typeface="Cambria"/>
                <a:ea typeface="Cambria"/>
              </a:rPr>
              <a:t>10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21624" y="3822191"/>
            <a:ext cx="3163824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0" i="0">
                <a:solidFill>
                  <a:srgbClr val="F7F4EF"/>
                </a:solidFill>
                <a:latin typeface="Calibri"/>
                <a:ea typeface="Calibri"/>
              </a:rPr>
              <a:t>合计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21624" y="4114800"/>
            <a:ext cx="3163824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C9C2B6"/>
                </a:solidFill>
                <a:latin typeface="Calibri"/>
                <a:ea typeface="Calibri"/>
              </a:rPr>
              <a:t>周三首发可核验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4828032"/>
            <a:ext cx="11155680" cy="1554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F7F4EF"/>
                </a:solidFill>
                <a:latin typeface="Calibri"/>
                <a:ea typeface="Calibri"/>
              </a:rPr>
              <a:t>今日主线：维也纳把伊朗核档案再送安理会，阿曼湾五艘油轮被击沉，布伦特收在101.21美元。北京用「搭梯子」回答南方发展质疑，8月物价把海湾能源写进CPI。加德满都把遇难数字改到1369。科技栏：OpenAI在首尔把三星写成下一代芯片伙伴，《自然》同一天交出全身钙成像、虚拟细胞与进化基因组模型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384048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 i="0">
                <a:solidFill>
                  <a:srgbClr val="1A1A1A"/>
                </a:solidFill>
                <a:latin typeface="Cambria"/>
                <a:ea typeface="Cambria"/>
              </a:rPr>
              <a:t>每日时政科技简报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0" y="274320"/>
            <a:ext cx="49377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300" b="0" i="0">
                <a:solidFill>
                  <a:srgbClr val="4A5568"/>
                </a:solidFill>
                <a:latin typeface="Calibri"/>
                <a:ea typeface="Calibri"/>
              </a:rPr>
              <a:t>第252期  ·  2026年9月9日  ·  星期三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195560" y="274320"/>
            <a:ext cx="15087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300" b="1" i="0">
                <a:solidFill>
                  <a:srgbClr val="C41E3A"/>
                </a:solidFill>
                <a:latin typeface="Calibri"/>
                <a:ea typeface="Calibri"/>
              </a:rPr>
              <a:t>晨刊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566928"/>
            <a:ext cx="11185855" cy="2032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607568"/>
            <a:ext cx="11185855" cy="1016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786384"/>
            <a:ext cx="1828800" cy="777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6400" b="1" i="0">
                <a:solidFill>
                  <a:srgbClr val="C41E3A"/>
                </a:solidFill>
                <a:latin typeface="Cambria"/>
                <a:ea typeface="Cambria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20240" y="896112"/>
            <a:ext cx="969264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600" b="1" i="0">
                <a:solidFill>
                  <a:srgbClr val="1A1A1A"/>
                </a:solidFill>
                <a:latin typeface="Cambria"/>
                <a:ea typeface="Cambria"/>
              </a:rPr>
              <a:t>时政开篇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20240" y="1389888"/>
            <a:ext cx="969264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 i="0">
                <a:solidFill>
                  <a:srgbClr val="4A5568"/>
                </a:solidFill>
                <a:latin typeface="Calibri"/>
                <a:ea typeface="Calibri"/>
              </a:rPr>
              <a:t>星期三把两张压力表叠在一起：一张是安理会的核档案，一张是百美元油价。北京用物价与南方话语作答。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1993392"/>
            <a:ext cx="11183112" cy="1234440"/>
          </a:xfrm>
          <a:prstGeom prst="rect">
            <a:avLst/>
          </a:prstGeom>
          <a:solidFill>
            <a:srgbClr val="FFFCF7"/>
          </a:solidFill>
          <a:ln w="12700">
            <a:solidFill>
              <a:srgbClr val="D6C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2" y="2084831"/>
            <a:ext cx="10607040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C41E3A"/>
                </a:solidFill>
                <a:latin typeface="Calibri"/>
                <a:ea typeface="Calibri"/>
              </a:rPr>
              <a:t>引　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" y="2340864"/>
            <a:ext cx="1060704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 i="0">
                <a:solidFill>
                  <a:srgbClr val="1A1A1A"/>
                </a:solidFill>
                <a:latin typeface="Cambria"/>
                <a:ea typeface="Cambria"/>
              </a:rPr>
              <a:t>「中国从来不会抽走任何国家发展的“梯子”，而是致力于搭“梯子”。」——外交部发言人毛宁驳斥所谓「抽梯子论」。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3401568"/>
            <a:ext cx="3529584" cy="2852928"/>
          </a:xfrm>
          <a:prstGeom prst="rect">
            <a:avLst/>
          </a:prstGeom>
          <a:solidFill>
            <a:srgbClr val="FFFCF7"/>
          </a:solidFill>
          <a:ln w="12700">
            <a:solidFill>
              <a:srgbClr val="D6C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3529584"/>
            <a:ext cx="3163824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600" b="1" i="0">
                <a:solidFill>
                  <a:srgbClr val="C41E3A"/>
                </a:solidFill>
                <a:latin typeface="Cambria"/>
                <a:ea typeface="Cambria"/>
              </a:rPr>
              <a:t>23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4169663"/>
            <a:ext cx="3163824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4A5568"/>
                </a:solidFill>
                <a:latin typeface="Calibri"/>
                <a:ea typeface="Calibri"/>
              </a:rPr>
              <a:t>票赞成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4535424"/>
            <a:ext cx="3163824" cy="1463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1A1A1A"/>
                </a:solidFill>
                <a:latin typeface="Calibri"/>
                <a:ea typeface="Calibri"/>
              </a:rPr>
              <a:t>原子能机构理事会将伊朗核问题提交安理会；中俄尼日尔反对。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361688" y="3401568"/>
            <a:ext cx="3529584" cy="2852928"/>
          </a:xfrm>
          <a:prstGeom prst="rect">
            <a:avLst/>
          </a:prstGeom>
          <a:solidFill>
            <a:srgbClr val="FFFCF7"/>
          </a:solidFill>
          <a:ln w="12700">
            <a:solidFill>
              <a:srgbClr val="D6C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44568" y="3529584"/>
            <a:ext cx="3163824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600" b="1" i="0">
                <a:solidFill>
                  <a:srgbClr val="C41E3A"/>
                </a:solidFill>
                <a:latin typeface="Cambria"/>
                <a:ea typeface="Cambria"/>
              </a:rPr>
              <a:t>101.21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44568" y="4169663"/>
            <a:ext cx="3163824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4A5568"/>
                </a:solidFill>
                <a:latin typeface="Calibri"/>
                <a:ea typeface="Calibri"/>
              </a:rPr>
              <a:t>美元 / 桶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44568" y="4535424"/>
            <a:ext cx="3163824" cy="1463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1A1A1A"/>
                </a:solidFill>
                <a:latin typeface="Calibri"/>
                <a:ea typeface="Calibri"/>
              </a:rPr>
              <a:t>布伦特收于5月22日以来最高；美军击沉五艘伊朗油轮。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220456" y="3401568"/>
            <a:ext cx="3529584" cy="2852928"/>
          </a:xfrm>
          <a:prstGeom prst="rect">
            <a:avLst/>
          </a:prstGeom>
          <a:solidFill>
            <a:srgbClr val="FFFCF7"/>
          </a:solidFill>
          <a:ln w="12700">
            <a:solidFill>
              <a:srgbClr val="D6C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03336" y="3529584"/>
            <a:ext cx="3163824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600" b="1" i="0">
                <a:solidFill>
                  <a:srgbClr val="C41E3A"/>
                </a:solidFill>
                <a:latin typeface="Cambria"/>
                <a:ea typeface="Cambria"/>
              </a:rPr>
              <a:t>1369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03336" y="4169663"/>
            <a:ext cx="3163824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4A5568"/>
                </a:solidFill>
                <a:latin typeface="Calibri"/>
                <a:ea typeface="Calibri"/>
              </a:rPr>
              <a:t>人遇难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03336" y="4535424"/>
            <a:ext cx="3163824" cy="1463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1A1A1A"/>
                </a:solidFill>
                <a:latin typeface="Calibri"/>
                <a:ea typeface="Calibri"/>
              </a:rPr>
              <a:t>尼减灾署截至9日18时数字；失联5132人，含外籍587人。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384048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 i="0">
                <a:solidFill>
                  <a:srgbClr val="1A1A1A"/>
                </a:solidFill>
                <a:latin typeface="Cambria"/>
                <a:ea typeface="Cambria"/>
              </a:rPr>
              <a:t>每日时政科技简报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0" y="274320"/>
            <a:ext cx="49377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300" b="0" i="0">
                <a:solidFill>
                  <a:srgbClr val="4A5568"/>
                </a:solidFill>
                <a:latin typeface="Calibri"/>
                <a:ea typeface="Calibri"/>
              </a:rPr>
              <a:t>第252期  ·  2026年9月9日  ·  星期三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195560" y="274320"/>
            <a:ext cx="15087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300" b="1" i="0">
                <a:solidFill>
                  <a:srgbClr val="C41E3A"/>
                </a:solidFill>
                <a:latin typeface="Calibri"/>
                <a:ea typeface="Calibri"/>
              </a:rPr>
              <a:t>晨刊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566928"/>
            <a:ext cx="11185855" cy="2032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607568"/>
            <a:ext cx="11185855" cy="1016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731520"/>
            <a:ext cx="1115568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200" b="1" i="0">
                <a:solidFill>
                  <a:srgbClr val="1A1A1A"/>
                </a:solidFill>
                <a:latin typeface="Cambria"/>
                <a:ea typeface="Cambria"/>
              </a:rPr>
              <a:t>核档案与海峡火光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170432"/>
            <a:ext cx="11155680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4A5568"/>
                </a:solidFill>
                <a:latin typeface="Calibri"/>
                <a:ea typeface="Calibri"/>
              </a:rPr>
              <a:t>一份20年未见的提交决议；一轮把船队和第三国基地写进同一早晨的交火。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572768"/>
            <a:ext cx="5422392" cy="4846320"/>
          </a:xfrm>
          <a:prstGeom prst="rect">
            <a:avLst/>
          </a:prstGeom>
          <a:solidFill>
            <a:srgbClr val="FFFCF7"/>
          </a:solidFill>
          <a:ln w="12700">
            <a:solidFill>
              <a:srgbClr val="D6C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2" y="1663968"/>
            <a:ext cx="5093208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C41E3A"/>
                </a:solidFill>
                <a:latin typeface="Calibri"/>
                <a:ea typeface="Calibri"/>
              </a:rPr>
              <a:t>01　外交 · 维也纳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" y="1901952"/>
            <a:ext cx="5093208" cy="11704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 i="0">
                <a:solidFill>
                  <a:srgbClr val="1A1A1A"/>
                </a:solidFill>
                <a:latin typeface="Cambria"/>
                <a:ea typeface="Cambria"/>
              </a:rPr>
              <a:t>原子能机构提交伊朗核档案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" y="3090432"/>
            <a:ext cx="5093208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 i="1">
                <a:solidFill>
                  <a:srgbClr val="4A5568"/>
                </a:solidFill>
                <a:latin typeface="Calibri"/>
                <a:ea typeface="Calibri"/>
              </a:rPr>
              <a:t>来源：美联社 / 路透社  ·  abcnews.com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" y="3346464"/>
            <a:ext cx="5093208" cy="12801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1A1A1A"/>
                </a:solidFill>
                <a:latin typeface="Calibri"/>
                <a:ea typeface="Calibri"/>
              </a:rPr>
              <a:t>理事会9日以23票赞成、中俄尼日尔反对、8票弃权通过决议，20年来首次将伊朗核问题提交安理会。英美法德共同提案，要求格罗西向安理会与联大报告。伊方谴责并归咎美以打击中断核查。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67512" y="4681728"/>
            <a:ext cx="5093208" cy="10160"/>
          </a:xfrm>
          <a:prstGeom prst="rect">
            <a:avLst/>
          </a:prstGeom>
          <a:solidFill>
            <a:srgbClr val="D6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7512" y="4754880"/>
            <a:ext cx="5093208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C41E3A"/>
                </a:solidFill>
                <a:latin typeface="Calibri"/>
                <a:ea typeface="Calibri"/>
              </a:rPr>
              <a:t>为何重要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512" y="4955328"/>
            <a:ext cx="5093208" cy="76809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4A5568"/>
                </a:solidFill>
                <a:latin typeface="Calibri"/>
                <a:ea typeface="Calibri"/>
              </a:rPr>
              <a:t>战争进行中再送核档案，外交对抗升级，但否决权会把决议写成政治姿态。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54496" y="1572768"/>
            <a:ext cx="5422392" cy="4846320"/>
          </a:xfrm>
          <a:prstGeom prst="rect">
            <a:avLst/>
          </a:prstGeom>
          <a:solidFill>
            <a:srgbClr val="FFFCF7"/>
          </a:solidFill>
          <a:ln w="12700">
            <a:solidFill>
              <a:srgbClr val="D6C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19088" y="1663968"/>
            <a:ext cx="5093208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C41E3A"/>
                </a:solidFill>
                <a:latin typeface="Calibri"/>
                <a:ea typeface="Calibri"/>
              </a:rPr>
              <a:t>02　军事 · 霍尔木兹 / 约旦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19088" y="1901952"/>
            <a:ext cx="5093208" cy="11704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 i="0">
                <a:solidFill>
                  <a:srgbClr val="1A1A1A"/>
                </a:solidFill>
                <a:latin typeface="Cambria"/>
                <a:ea typeface="Cambria"/>
              </a:rPr>
              <a:t>美军击沉五艘伊朗油轮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19088" y="3090432"/>
            <a:ext cx="5093208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 i="1">
                <a:solidFill>
                  <a:srgbClr val="4A5568"/>
                </a:solidFill>
                <a:latin typeface="Calibri"/>
                <a:ea typeface="Calibri"/>
              </a:rPr>
              <a:t>来源：路透社 / 半岛电视台  ·  aljazeera.com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19088" y="3346464"/>
            <a:ext cx="5093208" cy="12801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1A1A1A"/>
                </a:solidFill>
                <a:latin typeface="Calibri"/>
                <a:ea typeface="Calibri"/>
              </a:rPr>
              <a:t>美军称摧毁五艘伊朗油轮，以回应革命卫队对美舰导弹袭击。伊方称在霍尔木兹附近打击十艘船只，并导弹袭击约旦阿兹拉克基地。海峡流量已跌至约二百万桶/日。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19088" y="4681728"/>
            <a:ext cx="5093208" cy="10160"/>
          </a:xfrm>
          <a:prstGeom prst="rect">
            <a:avLst/>
          </a:prstGeom>
          <a:solidFill>
            <a:srgbClr val="D6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19088" y="4754880"/>
            <a:ext cx="5093208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C41E3A"/>
                </a:solidFill>
                <a:latin typeface="Calibri"/>
                <a:ea typeface="Calibri"/>
              </a:rPr>
              <a:t>为何重要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19088" y="4955328"/>
            <a:ext cx="5093208" cy="76809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4A5568"/>
                </a:solidFill>
                <a:latin typeface="Calibri"/>
                <a:ea typeface="Calibri"/>
              </a:rPr>
              <a:t>交火从港口封锁扩到船队与第三国基地，航运保险与过峡意愿会再被压低。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384048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 i="0">
                <a:solidFill>
                  <a:srgbClr val="1A1A1A"/>
                </a:solidFill>
                <a:latin typeface="Cambria"/>
                <a:ea typeface="Cambria"/>
              </a:rPr>
              <a:t>每日时政科技简报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0" y="274320"/>
            <a:ext cx="49377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300" b="0" i="0">
                <a:solidFill>
                  <a:srgbClr val="4A5568"/>
                </a:solidFill>
                <a:latin typeface="Calibri"/>
                <a:ea typeface="Calibri"/>
              </a:rPr>
              <a:t>第252期  ·  2026年9月9日  ·  星期三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195560" y="274320"/>
            <a:ext cx="15087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300" b="1" i="0">
                <a:solidFill>
                  <a:srgbClr val="C41E3A"/>
                </a:solidFill>
                <a:latin typeface="Calibri"/>
                <a:ea typeface="Calibri"/>
              </a:rPr>
              <a:t>晨刊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566928"/>
            <a:ext cx="11185855" cy="2032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607568"/>
            <a:ext cx="11185855" cy="1016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731520"/>
            <a:ext cx="1115568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200" b="1" i="0">
                <a:solidFill>
                  <a:srgbClr val="1A1A1A"/>
                </a:solidFill>
                <a:latin typeface="Cambria"/>
                <a:ea typeface="Cambria"/>
              </a:rPr>
              <a:t>百美元与搭梯子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170432"/>
            <a:ext cx="11155680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4A5568"/>
                </a:solidFill>
                <a:latin typeface="Calibri"/>
                <a:ea typeface="Calibri"/>
              </a:rPr>
              <a:t>期货重新站上心理关口；北京把南方发展叙事和人工智能对峙写进同一场记者会。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572768"/>
            <a:ext cx="5422392" cy="4846320"/>
          </a:xfrm>
          <a:prstGeom prst="rect">
            <a:avLst/>
          </a:prstGeom>
          <a:solidFill>
            <a:srgbClr val="FFFCF7"/>
          </a:solidFill>
          <a:ln w="12700">
            <a:solidFill>
              <a:srgbClr val="D6C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2" y="1663968"/>
            <a:ext cx="5093208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C41E3A"/>
                </a:solidFill>
                <a:latin typeface="Calibri"/>
                <a:ea typeface="Calibri"/>
              </a:rPr>
              <a:t>03　能源 · 伦敦 / 休斯敦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" y="1901952"/>
            <a:ext cx="5093208" cy="11704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 i="0">
                <a:solidFill>
                  <a:srgbClr val="1A1A1A"/>
                </a:solidFill>
                <a:latin typeface="Cambria"/>
                <a:ea typeface="Cambria"/>
              </a:rPr>
              <a:t>布伦特收于101.21美元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" y="3090432"/>
            <a:ext cx="5093208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 i="1">
                <a:solidFill>
                  <a:srgbClr val="4A5568"/>
                </a:solidFill>
                <a:latin typeface="Calibri"/>
                <a:ea typeface="Calibri"/>
              </a:rPr>
              <a:t>来源：路透社  ·  reuters.com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" y="3346464"/>
            <a:ext cx="5093208" cy="12801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1A1A1A"/>
                </a:solidFill>
                <a:latin typeface="Calibri"/>
                <a:ea typeface="Calibri"/>
              </a:rPr>
              <a:t>布伦特期货盘中最高101.58美元，收涨3.4%至101.21，为5月22日以来最高收盘；WTI收96.05。美国能源信息署同日上调今明两年油价预测。现货Dated Brent自3日起已在百美元上方。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67512" y="4681728"/>
            <a:ext cx="5093208" cy="10160"/>
          </a:xfrm>
          <a:prstGeom prst="rect">
            <a:avLst/>
          </a:prstGeom>
          <a:solidFill>
            <a:srgbClr val="D6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7512" y="4754880"/>
            <a:ext cx="5093208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C41E3A"/>
                </a:solidFill>
                <a:latin typeface="Calibri"/>
                <a:ea typeface="Calibri"/>
              </a:rPr>
              <a:t>为何重要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512" y="4955328"/>
            <a:ext cx="5093208" cy="76809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4A5568"/>
                </a:solidFill>
                <a:latin typeface="Calibri"/>
                <a:ea typeface="Calibri"/>
              </a:rPr>
              <a:t>期货重新站上百美元，说明市场不再押注海湾战事会很快降温。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54496" y="1572768"/>
            <a:ext cx="5422392" cy="4846320"/>
          </a:xfrm>
          <a:prstGeom prst="rect">
            <a:avLst/>
          </a:prstGeom>
          <a:solidFill>
            <a:srgbClr val="FFFCF7"/>
          </a:solidFill>
          <a:ln w="12700">
            <a:solidFill>
              <a:srgbClr val="D6C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19088" y="1663968"/>
            <a:ext cx="5093208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C41E3A"/>
                </a:solidFill>
                <a:latin typeface="Calibri"/>
                <a:ea typeface="Calibri"/>
              </a:rPr>
              <a:t>04　外交 · 北京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19088" y="1901952"/>
            <a:ext cx="5093208" cy="11704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 i="0">
                <a:solidFill>
                  <a:srgbClr val="1A1A1A"/>
                </a:solidFill>
                <a:latin typeface="Cambria"/>
                <a:ea typeface="Cambria"/>
              </a:rPr>
              <a:t>毛宁驳斥「抽梯子论」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19088" y="3090432"/>
            <a:ext cx="5093208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 i="1">
                <a:solidFill>
                  <a:srgbClr val="4A5568"/>
                </a:solidFill>
                <a:latin typeface="Calibri"/>
                <a:ea typeface="Calibri"/>
              </a:rPr>
              <a:t>来源：外交部  ·  fmprc.gov.cn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19088" y="3346464"/>
            <a:ext cx="5093208" cy="12801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1A1A1A"/>
                </a:solidFill>
                <a:latin typeface="Calibri"/>
                <a:ea typeface="Calibri"/>
              </a:rPr>
              <a:t>毛宁称一带一路、工业设备与零关税是在搭梯子。就美方网络安全机构指责深度求索、月之暗面「窃取」大模型，她称属不实抹黑，中美应合作。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19088" y="4681728"/>
            <a:ext cx="5093208" cy="10160"/>
          </a:xfrm>
          <a:prstGeom prst="rect">
            <a:avLst/>
          </a:prstGeom>
          <a:solidFill>
            <a:srgbClr val="D6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19088" y="4754880"/>
            <a:ext cx="5093208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C41E3A"/>
                </a:solidFill>
                <a:latin typeface="Calibri"/>
                <a:ea typeface="Calibri"/>
              </a:rPr>
              <a:t>为何重要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19088" y="4955328"/>
            <a:ext cx="5093208" cy="76809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4A5568"/>
                </a:solidFill>
                <a:latin typeface="Calibri"/>
                <a:ea typeface="Calibri"/>
              </a:rPr>
              <a:t>南方话语权与中美人工智能博弈被写进同一场例行记者会。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384048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 i="0">
                <a:solidFill>
                  <a:srgbClr val="1A1A1A"/>
                </a:solidFill>
                <a:latin typeface="Cambria"/>
                <a:ea typeface="Cambria"/>
              </a:rPr>
              <a:t>每日时政科技简报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0" y="274320"/>
            <a:ext cx="49377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300" b="0" i="0">
                <a:solidFill>
                  <a:srgbClr val="4A5568"/>
                </a:solidFill>
                <a:latin typeface="Calibri"/>
                <a:ea typeface="Calibri"/>
              </a:rPr>
              <a:t>第252期  ·  2026年9月9日  ·  星期三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195560" y="274320"/>
            <a:ext cx="15087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300" b="1" i="0">
                <a:solidFill>
                  <a:srgbClr val="C41E3A"/>
                </a:solidFill>
                <a:latin typeface="Calibri"/>
                <a:ea typeface="Calibri"/>
              </a:rPr>
              <a:t>晨刊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566928"/>
            <a:ext cx="11185855" cy="2032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607568"/>
            <a:ext cx="11185855" cy="1016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731520"/>
            <a:ext cx="1115568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200" b="1" i="0">
                <a:solidFill>
                  <a:srgbClr val="1A1A1A"/>
                </a:solidFill>
                <a:latin typeface="Cambria"/>
                <a:ea typeface="Cambria"/>
              </a:rPr>
              <a:t>物价账本与南岸数字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170432"/>
            <a:ext cx="11155680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4A5568"/>
                </a:solidFill>
                <a:latin typeface="Calibri"/>
                <a:ea typeface="Calibri"/>
              </a:rPr>
              <a:t>能源涨价已经写进国内CPI；河谷南岸第十五日仍在核验名单。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572768"/>
            <a:ext cx="5422392" cy="4846320"/>
          </a:xfrm>
          <a:prstGeom prst="rect">
            <a:avLst/>
          </a:prstGeom>
          <a:solidFill>
            <a:srgbClr val="FFFCF7"/>
          </a:solidFill>
          <a:ln w="12700">
            <a:solidFill>
              <a:srgbClr val="D6C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2" y="1663968"/>
            <a:ext cx="5093208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C41E3A"/>
                </a:solidFill>
                <a:latin typeface="Calibri"/>
                <a:ea typeface="Calibri"/>
              </a:rPr>
              <a:t>05　宏观 · 北京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" y="1901952"/>
            <a:ext cx="5093208" cy="11704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 i="0">
                <a:solidFill>
                  <a:srgbClr val="1A1A1A"/>
                </a:solidFill>
                <a:latin typeface="Cambria"/>
                <a:ea typeface="Cambria"/>
              </a:rPr>
              <a:t>8月CPI同比0.8%，PPI同比3.8%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" y="3090432"/>
            <a:ext cx="5093208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 i="1">
                <a:solidFill>
                  <a:srgbClr val="4A5568"/>
                </a:solidFill>
                <a:latin typeface="Calibri"/>
                <a:ea typeface="Calibri"/>
              </a:rPr>
              <a:t>来源：国家统计局  ·  stats.gov.cn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" y="3346464"/>
            <a:ext cx="5093208" cy="12801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1A1A1A"/>
                </a:solidFill>
                <a:latin typeface="Calibri"/>
                <a:ea typeface="Calibri"/>
              </a:rPr>
              <a:t>统计局9时30分公布：8月CPI同比涨0.8%、环比转涨0.4%，核心CPI同比1.0%；PPI同比3.8%、环比转涨0.4%。能源同比由0.6%扩至4.1%，汽油涨9.3%；煤炭开采同比26.6%。食品仍降1.4%。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67512" y="4681728"/>
            <a:ext cx="5093208" cy="10160"/>
          </a:xfrm>
          <a:prstGeom prst="rect">
            <a:avLst/>
          </a:prstGeom>
          <a:solidFill>
            <a:srgbClr val="D6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7512" y="4754880"/>
            <a:ext cx="5093208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C41E3A"/>
                </a:solidFill>
                <a:latin typeface="Calibri"/>
                <a:ea typeface="Calibri"/>
              </a:rPr>
              <a:t>为何重要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512" y="4955328"/>
            <a:ext cx="5093208" cy="76809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4A5568"/>
                </a:solidFill>
                <a:latin typeface="Calibri"/>
                <a:ea typeface="Calibri"/>
              </a:rPr>
              <a:t>输入性能源涨价已经写进国内物价，海湾油价再上百美元会继续传导。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54496" y="1572768"/>
            <a:ext cx="5422392" cy="4846320"/>
          </a:xfrm>
          <a:prstGeom prst="rect">
            <a:avLst/>
          </a:prstGeom>
          <a:solidFill>
            <a:srgbClr val="FFFCF7"/>
          </a:solidFill>
          <a:ln w="12700">
            <a:solidFill>
              <a:srgbClr val="D6C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19088" y="1663968"/>
            <a:ext cx="5093208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C41E3A"/>
                </a:solidFill>
                <a:latin typeface="Calibri"/>
                <a:ea typeface="Calibri"/>
              </a:rPr>
              <a:t>06　救灾 · 加德满都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19088" y="1901952"/>
            <a:ext cx="5093208" cy="11704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 i="0">
                <a:solidFill>
                  <a:srgbClr val="1A1A1A"/>
                </a:solidFill>
                <a:latin typeface="Cambria"/>
                <a:ea typeface="Cambria"/>
              </a:rPr>
              <a:t>尼方遇难升至1369人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19088" y="3090432"/>
            <a:ext cx="5093208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 i="1">
                <a:solidFill>
                  <a:srgbClr val="4A5568"/>
                </a:solidFill>
                <a:latin typeface="Calibri"/>
                <a:ea typeface="Calibri"/>
              </a:rPr>
              <a:t>来源：尼减灾署 / Ratopati  ·  english.ratopati.com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19088" y="3346464"/>
            <a:ext cx="5093208" cy="12801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1A1A1A"/>
                </a:solidFill>
                <a:latin typeface="Calibri"/>
                <a:ea typeface="Calibri"/>
              </a:rPr>
              <a:t>尼减灾署截至9日18时：遇难1369人，失联5132人（含外籍587），已救出13646人。印方第八架运输机抵达，累计援助逾130吨。灾后第十五日，七座水电站隧道仍在搜救。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19088" y="4681728"/>
            <a:ext cx="5093208" cy="10160"/>
          </a:xfrm>
          <a:prstGeom prst="rect">
            <a:avLst/>
          </a:prstGeom>
          <a:solidFill>
            <a:srgbClr val="D6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19088" y="4754880"/>
            <a:ext cx="5093208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C41E3A"/>
                </a:solidFill>
                <a:latin typeface="Calibri"/>
                <a:ea typeface="Calibri"/>
              </a:rPr>
              <a:t>为何重要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19088" y="4955328"/>
            <a:ext cx="5093208" cy="76809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4A5568"/>
                </a:solidFill>
                <a:latin typeface="Calibri"/>
                <a:ea typeface="Calibri"/>
              </a:rPr>
              <a:t>数字第十五日仍在改写，跨境冰川灾害已从救援窗口转入长期核验与善后。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384048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 i="0">
                <a:solidFill>
                  <a:srgbClr val="1A1A1A"/>
                </a:solidFill>
                <a:latin typeface="Cambria"/>
                <a:ea typeface="Cambria"/>
              </a:rPr>
              <a:t>每日时政科技简报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0" y="274320"/>
            <a:ext cx="49377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300" b="0" i="0">
                <a:solidFill>
                  <a:srgbClr val="4A5568"/>
                </a:solidFill>
                <a:latin typeface="Calibri"/>
                <a:ea typeface="Calibri"/>
              </a:rPr>
              <a:t>第252期  ·  2026年9月9日  ·  星期三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195560" y="274320"/>
            <a:ext cx="15087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300" b="1" i="0">
                <a:solidFill>
                  <a:srgbClr val="C41E3A"/>
                </a:solidFill>
                <a:latin typeface="Calibri"/>
                <a:ea typeface="Calibri"/>
              </a:rPr>
              <a:t>晨刊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566928"/>
            <a:ext cx="11185855" cy="2032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607568"/>
            <a:ext cx="11185855" cy="1016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786384"/>
            <a:ext cx="1828800" cy="777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6400" b="1" i="0">
                <a:solidFill>
                  <a:srgbClr val="C41E3A"/>
                </a:solidFill>
                <a:latin typeface="Cambria"/>
                <a:ea typeface="Cambria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20240" y="896112"/>
            <a:ext cx="969264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600" b="1" i="0">
                <a:solidFill>
                  <a:srgbClr val="1A1A1A"/>
                </a:solidFill>
                <a:latin typeface="Cambria"/>
                <a:ea typeface="Cambria"/>
              </a:rPr>
              <a:t>科技开篇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20240" y="1389888"/>
            <a:ext cx="969264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 i="0">
                <a:solidFill>
                  <a:srgbClr val="4A5568"/>
                </a:solidFill>
                <a:latin typeface="Calibri"/>
                <a:ea typeface="Calibri"/>
              </a:rPr>
              <a:t>星期三只写四件可核验首发：代工厂意向、全身钙成像、虚拟细胞、进化基因组模型。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2011680"/>
            <a:ext cx="2615184" cy="2148840"/>
          </a:xfrm>
          <a:prstGeom prst="rect">
            <a:avLst/>
          </a:prstGeom>
          <a:solidFill>
            <a:srgbClr val="FFFCF7"/>
          </a:solidFill>
          <a:ln w="12700">
            <a:solidFill>
              <a:srgbClr val="D6C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936" y="2121408"/>
            <a:ext cx="2359152" cy="56692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 i="0">
                <a:solidFill>
                  <a:srgbClr val="C41E3A"/>
                </a:solidFill>
                <a:latin typeface="Cambria"/>
                <a:ea typeface="Cambria"/>
              </a:rPr>
              <a:t>28倍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" y="2688336"/>
            <a:ext cx="2359152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 i="0">
                <a:solidFill>
                  <a:srgbClr val="1A1A1A"/>
                </a:solidFill>
                <a:latin typeface="Calibri"/>
                <a:ea typeface="Calibri"/>
              </a:rPr>
              <a:t>企业用户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" y="2999232"/>
            <a:ext cx="2359152" cy="10058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 i="0">
                <a:solidFill>
                  <a:srgbClr val="4A5568"/>
                </a:solidFill>
                <a:latin typeface="Calibri"/>
                <a:ea typeface="Calibri"/>
              </a:rPr>
              <a:t>OpenAI称韩国ChatGPT企业用户一年增幅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355848" y="2011680"/>
            <a:ext cx="2615184" cy="2148840"/>
          </a:xfrm>
          <a:prstGeom prst="rect">
            <a:avLst/>
          </a:prstGeom>
          <a:solidFill>
            <a:srgbClr val="FFFCF7"/>
          </a:solidFill>
          <a:ln w="12700">
            <a:solidFill>
              <a:srgbClr val="D6C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83864" y="2121408"/>
            <a:ext cx="2359152" cy="56692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 i="0">
                <a:solidFill>
                  <a:srgbClr val="C41E3A"/>
                </a:solidFill>
                <a:latin typeface="Cambria"/>
                <a:ea typeface="Cambria"/>
              </a:rPr>
              <a:t>秒级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83864" y="2688336"/>
            <a:ext cx="2359152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 i="0">
                <a:solidFill>
                  <a:srgbClr val="1A1A1A"/>
                </a:solidFill>
                <a:latin typeface="Calibri"/>
                <a:ea typeface="Calibri"/>
              </a:rPr>
              <a:t>全身成像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83864" y="2999232"/>
            <a:ext cx="2359152" cy="10058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 i="0">
                <a:solidFill>
                  <a:srgbClr val="4A5568"/>
                </a:solidFill>
                <a:latin typeface="Calibri"/>
                <a:ea typeface="Calibri"/>
              </a:rPr>
              <a:t>WHOLISTIC在斑马鱼全身记录细胞钙活动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08776" y="2011680"/>
            <a:ext cx="2615184" cy="2148840"/>
          </a:xfrm>
          <a:prstGeom prst="rect">
            <a:avLst/>
          </a:prstGeom>
          <a:solidFill>
            <a:srgbClr val="FFFCF7"/>
          </a:solidFill>
          <a:ln w="12700">
            <a:solidFill>
              <a:srgbClr val="D6C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36792" y="2121408"/>
            <a:ext cx="2359152" cy="56692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 i="0">
                <a:solidFill>
                  <a:srgbClr val="C41E3A"/>
                </a:solidFill>
                <a:latin typeface="Cambria"/>
                <a:ea typeface="Cambria"/>
              </a:rPr>
              <a:t>3800万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36792" y="2688336"/>
            <a:ext cx="2359152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 i="0">
                <a:solidFill>
                  <a:srgbClr val="1A1A1A"/>
                </a:solidFill>
                <a:latin typeface="Calibri"/>
                <a:ea typeface="Calibri"/>
              </a:rPr>
              <a:t>条蛋白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36792" y="2999232"/>
            <a:ext cx="2359152" cy="10058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 i="0">
                <a:solidFill>
                  <a:srgbClr val="4A5568"/>
                </a:solidFill>
                <a:latin typeface="Calibri"/>
                <a:ea typeface="Calibri"/>
              </a:rPr>
              <a:t>ProteinTalks用于训练虚拟细胞的时序丰度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061704" y="2011680"/>
            <a:ext cx="2615184" cy="2148840"/>
          </a:xfrm>
          <a:prstGeom prst="rect">
            <a:avLst/>
          </a:prstGeom>
          <a:solidFill>
            <a:srgbClr val="FFFCF7"/>
          </a:solidFill>
          <a:ln w="12700">
            <a:solidFill>
              <a:srgbClr val="D6C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89720" y="2121408"/>
            <a:ext cx="2359152" cy="56692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 i="0">
                <a:solidFill>
                  <a:srgbClr val="C41E3A"/>
                </a:solidFill>
                <a:latin typeface="Cambria"/>
                <a:ea typeface="Cambria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89720" y="2688336"/>
            <a:ext cx="2359152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 i="0">
                <a:solidFill>
                  <a:srgbClr val="1A1A1A"/>
                </a:solidFill>
                <a:latin typeface="Calibri"/>
                <a:ea typeface="Calibri"/>
              </a:rPr>
              <a:t>种模式生物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89720" y="2999232"/>
            <a:ext cx="2359152" cy="10058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 i="0">
                <a:solidFill>
                  <a:srgbClr val="4A5568"/>
                </a:solidFill>
                <a:latin typeface="Calibri"/>
                <a:ea typeface="Calibri"/>
              </a:rPr>
              <a:t>GPN-Star推广到小鼠、鸡、果蝇、线虫与拟南芥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2920" y="4315968"/>
            <a:ext cx="11183112" cy="2029968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13232" y="4443984"/>
            <a:ext cx="10607040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C41E3A"/>
                </a:solidFill>
                <a:latin typeface="Calibri"/>
                <a:ea typeface="Calibri"/>
              </a:rPr>
              <a:t>编辑观察 · 排除清单与缺口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3232" y="4718304"/>
            <a:ext cx="10607040" cy="1463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F7F4EF"/>
                </a:solidFill>
                <a:latin typeface="Calibri"/>
                <a:ea typeface="Calibri"/>
              </a:rPr>
              <a:t>未混入8日习英通话、王毅见卡首相、城市更新专题学习、胡塞袭沙特、特朗普—普京通话、AlphaGenome Atlas、纳维–斯托克斯宣称、台积电High NA。未混入7日麒麟9050 Pro、HarmonyOS 7、小米18 Fold。苹果发布会合沪时10日凌晨首发，未提前收入。互联网平台与国产芯片9日首发不足。Firecrawl 已安装但未鉴权。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384048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 i="0">
                <a:solidFill>
                  <a:srgbClr val="1A1A1A"/>
                </a:solidFill>
                <a:latin typeface="Cambria"/>
                <a:ea typeface="Cambria"/>
              </a:rPr>
              <a:t>每日时政科技简报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0" y="274320"/>
            <a:ext cx="49377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300" b="0" i="0">
                <a:solidFill>
                  <a:srgbClr val="4A5568"/>
                </a:solidFill>
                <a:latin typeface="Calibri"/>
                <a:ea typeface="Calibri"/>
              </a:rPr>
              <a:t>第252期  ·  2026年9月9日  ·  星期三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195560" y="274320"/>
            <a:ext cx="15087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300" b="1" i="0">
                <a:solidFill>
                  <a:srgbClr val="C41E3A"/>
                </a:solidFill>
                <a:latin typeface="Calibri"/>
                <a:ea typeface="Calibri"/>
              </a:rPr>
              <a:t>晨刊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566928"/>
            <a:ext cx="11185855" cy="2032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607568"/>
            <a:ext cx="11185855" cy="1016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731520"/>
            <a:ext cx="1115568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200" b="1" i="0">
                <a:solidFill>
                  <a:srgbClr val="1A1A1A"/>
                </a:solidFill>
                <a:latin typeface="Cambria"/>
                <a:ea typeface="Cambria"/>
              </a:rPr>
              <a:t>代工厂与全身回路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170432"/>
            <a:ext cx="11155680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4A5568"/>
                </a:solidFill>
                <a:latin typeface="Calibri"/>
                <a:ea typeface="Calibri"/>
              </a:rPr>
              <a:t>首尔把下一代加速器写成联合研究；《自然》把斑马鱼全身钙活动写成可观测系统。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572768"/>
            <a:ext cx="5422392" cy="4846320"/>
          </a:xfrm>
          <a:prstGeom prst="rect">
            <a:avLst/>
          </a:prstGeom>
          <a:solidFill>
            <a:srgbClr val="FFFCF7"/>
          </a:solidFill>
          <a:ln w="12700">
            <a:solidFill>
              <a:srgbClr val="D6C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2" y="1663968"/>
            <a:ext cx="5093208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C41E3A"/>
                </a:solidFill>
                <a:latin typeface="Calibri"/>
                <a:ea typeface="Calibri"/>
              </a:rPr>
              <a:t>07　芯片 · 首尔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" y="1901952"/>
            <a:ext cx="5093208" cy="11704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 i="0">
                <a:solidFill>
                  <a:srgbClr val="1A1A1A"/>
                </a:solidFill>
                <a:latin typeface="Cambria"/>
                <a:ea typeface="Cambria"/>
              </a:rPr>
              <a:t>OpenAI称与三星联合研制芯片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" y="3090432"/>
            <a:ext cx="5093208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 i="1">
                <a:solidFill>
                  <a:srgbClr val="4A5568"/>
                </a:solidFill>
                <a:latin typeface="Calibri"/>
                <a:ea typeface="Calibri"/>
              </a:rPr>
              <a:t>来源：路透社  ·  reuters.com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" y="3346464"/>
            <a:ext cx="5093208" cy="12801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1A1A1A"/>
                </a:solidFill>
                <a:latin typeface="Calibri"/>
                <a:ea typeface="Calibri"/>
              </a:rPr>
              <a:t>OpenAI韩国总经理金庆勋在首尔称，与三星在下一代芯片联合生产与研究上进展最大。三星称无法确认客户信息。首代Jalapeño由台积电代工；韩企企业用户一年增约28倍。星门韩国因设计调整推迟。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67512" y="4681728"/>
            <a:ext cx="5093208" cy="10160"/>
          </a:xfrm>
          <a:prstGeom prst="rect">
            <a:avLst/>
          </a:prstGeom>
          <a:solidFill>
            <a:srgbClr val="D6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7512" y="4754880"/>
            <a:ext cx="5093208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C41E3A"/>
                </a:solidFill>
                <a:latin typeface="Calibri"/>
                <a:ea typeface="Calibri"/>
              </a:rPr>
              <a:t>为何重要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512" y="4955328"/>
            <a:ext cx="5093208" cy="76809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4A5568"/>
                </a:solidFill>
                <a:latin typeface="Calibri"/>
                <a:ea typeface="Calibri"/>
              </a:rPr>
              <a:t>自研加速器开始找第二代工厂，存储与先进封装的供给比单一流片更紧。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54496" y="1572768"/>
            <a:ext cx="5422392" cy="4846320"/>
          </a:xfrm>
          <a:prstGeom prst="rect">
            <a:avLst/>
          </a:prstGeom>
          <a:solidFill>
            <a:srgbClr val="FFFCF7"/>
          </a:solidFill>
          <a:ln w="12700">
            <a:solidFill>
              <a:srgbClr val="D6C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19088" y="1663968"/>
            <a:ext cx="5093208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C41E3A"/>
                </a:solidFill>
                <a:latin typeface="Calibri"/>
                <a:ea typeface="Calibri"/>
              </a:rPr>
              <a:t>08　科学 · 《自然》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19088" y="1901952"/>
            <a:ext cx="5093208" cy="11704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 i="0">
                <a:solidFill>
                  <a:srgbClr val="1A1A1A"/>
                </a:solidFill>
                <a:latin typeface="Cambria"/>
                <a:ea typeface="Cambria"/>
              </a:rPr>
              <a:t>WHOLISTIC全身记录细胞活动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19088" y="3090432"/>
            <a:ext cx="5093208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 i="1">
                <a:solidFill>
                  <a:srgbClr val="4A5568"/>
                </a:solidFill>
                <a:latin typeface="Calibri"/>
                <a:ea typeface="Calibri"/>
              </a:rPr>
              <a:t>来源：《自然》  ·  nature.com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19088" y="3346464"/>
            <a:ext cx="5093208" cy="12801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1A1A1A"/>
                </a:solidFill>
                <a:latin typeface="Calibri"/>
                <a:ea typeface="Calibri"/>
              </a:rPr>
              <a:t>《自然》发表WHOLISTIC：在幼体斑马鱼全身以细胞分辨率、秒级记录钙活动，并在成年丹氏鱼上验证。发现脑干调控全身血流再分配与肾单位行波，可与光遗传结合做脑–躯体因果解剖。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19088" y="4681728"/>
            <a:ext cx="5093208" cy="10160"/>
          </a:xfrm>
          <a:prstGeom prst="rect">
            <a:avLst/>
          </a:prstGeom>
          <a:solidFill>
            <a:srgbClr val="D6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19088" y="4754880"/>
            <a:ext cx="5093208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C41E3A"/>
                </a:solidFill>
                <a:latin typeface="Calibri"/>
                <a:ea typeface="Calibri"/>
              </a:rPr>
              <a:t>为何重要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19088" y="4955328"/>
            <a:ext cx="5093208" cy="76809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4A5568"/>
                </a:solidFill>
                <a:latin typeface="Calibri"/>
                <a:ea typeface="Calibri"/>
              </a:rPr>
              <a:t>第一次把「全身细胞在做什么」写成可观测的系统生物学，而不是单器官切片。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384048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 i="0">
                <a:solidFill>
                  <a:srgbClr val="1A1A1A"/>
                </a:solidFill>
                <a:latin typeface="Cambria"/>
                <a:ea typeface="Cambria"/>
              </a:rPr>
              <a:t>每日时政科技简报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0" y="274320"/>
            <a:ext cx="49377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300" b="0" i="0">
                <a:solidFill>
                  <a:srgbClr val="4A5568"/>
                </a:solidFill>
                <a:latin typeface="Calibri"/>
                <a:ea typeface="Calibri"/>
              </a:rPr>
              <a:t>第252期  ·  2026年9月9日  ·  星期三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195560" y="274320"/>
            <a:ext cx="15087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300" b="1" i="0">
                <a:solidFill>
                  <a:srgbClr val="C41E3A"/>
                </a:solidFill>
                <a:latin typeface="Calibri"/>
                <a:ea typeface="Calibri"/>
              </a:rPr>
              <a:t>晨刊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566928"/>
            <a:ext cx="11185855" cy="2032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607568"/>
            <a:ext cx="11185855" cy="1016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731520"/>
            <a:ext cx="1115568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200" b="1" i="0">
                <a:solidFill>
                  <a:srgbClr val="1A1A1A"/>
                </a:solidFill>
                <a:latin typeface="Cambria"/>
                <a:ea typeface="Cambria"/>
              </a:rPr>
              <a:t>虚拟细胞与进化约束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170432"/>
            <a:ext cx="11155680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4A5568"/>
                </a:solidFill>
                <a:latin typeface="Calibri"/>
                <a:ea typeface="Calibri"/>
              </a:rPr>
              <a:t>一套用蛋白质组动力学预测药效的模型；一台把物种树写进基因组语言模型的解释器。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572768"/>
            <a:ext cx="6446520" cy="4846320"/>
          </a:xfrm>
          <a:prstGeom prst="rect">
            <a:avLst/>
          </a:prstGeom>
          <a:solidFill>
            <a:srgbClr val="FFFCF7"/>
          </a:solidFill>
          <a:ln w="12700">
            <a:solidFill>
              <a:srgbClr val="D6C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2" y="1664208"/>
            <a:ext cx="6117336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C41E3A"/>
                </a:solidFill>
                <a:latin typeface="Calibri"/>
                <a:ea typeface="Calibri"/>
              </a:rPr>
              <a:t>09　科学 · 《自然》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" y="1901952"/>
            <a:ext cx="6117336" cy="11704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 i="0">
                <a:solidFill>
                  <a:srgbClr val="1A1A1A"/>
                </a:solidFill>
                <a:latin typeface="Cambria"/>
                <a:ea typeface="Cambria"/>
              </a:rPr>
              <a:t>ProteinTalks预测乳腺癌药效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" y="3090672"/>
            <a:ext cx="6117336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 i="1">
                <a:solidFill>
                  <a:srgbClr val="4A5568"/>
                </a:solidFill>
                <a:latin typeface="Calibri"/>
                <a:ea typeface="Calibri"/>
              </a:rPr>
              <a:t>来源：《自然》  ·  nature.com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" y="3346704"/>
            <a:ext cx="6117336" cy="12801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1A1A1A"/>
                </a:solidFill>
                <a:latin typeface="Calibri"/>
                <a:ea typeface="Calibri"/>
              </a:rPr>
              <a:t>《自然》发表ProteinTalks：超3800万条时序蛋白丰度训练虚拟细胞，预测药效、联用与耐药。对81种未训练药物准确率约88%，并在501例三阴性乳腺癌活检中对应临床结局。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67512" y="4785360"/>
            <a:ext cx="6117336" cy="10160"/>
          </a:xfrm>
          <a:prstGeom prst="rect">
            <a:avLst/>
          </a:prstGeom>
          <a:solidFill>
            <a:srgbClr val="D6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7512" y="4858512"/>
            <a:ext cx="6117336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C41E3A"/>
                </a:solidFill>
                <a:latin typeface="Calibri"/>
                <a:ea typeface="Calibri"/>
              </a:rPr>
              <a:t>为何重要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512" y="5077968"/>
            <a:ext cx="6117336" cy="76809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4A5568"/>
                </a:solidFill>
                <a:latin typeface="Calibri"/>
                <a:ea typeface="Calibri"/>
              </a:rPr>
              <a:t>药物筛选从关联分数走向可操作的虚拟细胞，扰动蛋白质组成为可迁移表征。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278624" y="1572768"/>
            <a:ext cx="4407408" cy="3127248"/>
          </a:xfrm>
          <a:prstGeom prst="rect">
            <a:avLst/>
          </a:prstGeom>
          <a:solidFill>
            <a:srgbClr val="FFFCF7"/>
          </a:solidFill>
          <a:ln w="12700">
            <a:solidFill>
              <a:srgbClr val="D6C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43216" y="1682496"/>
            <a:ext cx="4078224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C41E3A"/>
                </a:solidFill>
                <a:latin typeface="Calibri"/>
                <a:ea typeface="Calibri"/>
              </a:rPr>
              <a:t>10　科学 · 《自然》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43216" y="1938528"/>
            <a:ext cx="4078224" cy="10058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200" b="1" i="0">
                <a:solidFill>
                  <a:srgbClr val="1A1A1A"/>
                </a:solidFill>
                <a:latin typeface="Cambria"/>
                <a:ea typeface="Cambria"/>
              </a:rPr>
              <a:t>GPN-Star预测基因组约束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43216" y="3008880"/>
            <a:ext cx="4078224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 i="1">
                <a:solidFill>
                  <a:srgbClr val="4A5568"/>
                </a:solidFill>
                <a:latin typeface="Calibri"/>
                <a:ea typeface="Calibri"/>
              </a:rPr>
              <a:t>来源：《自然》  ·  nature.com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43216" y="3246624"/>
            <a:ext cx="4078224" cy="76809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1A1A1A"/>
                </a:solidFill>
                <a:latin typeface="Calibri"/>
                <a:ea typeface="Calibri"/>
              </a:rPr>
              <a:t>用物种树与全基因组比对建模进化约束，在编码与非编码变异效应预测上刷新纪录，并推广到五种模式生物。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43216" y="4023360"/>
            <a:ext cx="4078224" cy="182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C41E3A"/>
                </a:solidFill>
                <a:latin typeface="Calibri"/>
                <a:ea typeface="Calibri"/>
              </a:rPr>
              <a:t>为何重要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43216" y="4206240"/>
            <a:ext cx="4078224" cy="40233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 i="0">
                <a:solidFill>
                  <a:srgbClr val="4A5568"/>
                </a:solidFill>
                <a:latin typeface="Calibri"/>
                <a:ea typeface="Calibri"/>
              </a:rPr>
              <a:t>继昨日突变地图之后，比较基因组被写成可迁移的变异解释器。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278624" y="4828032"/>
            <a:ext cx="4407408" cy="1591056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43216" y="4937760"/>
            <a:ext cx="4078224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C41E3A"/>
                </a:solidFill>
                <a:latin typeface="Calibri"/>
                <a:ea typeface="Calibri"/>
              </a:rPr>
              <a:t>信息不足 · 互联网与国产芯片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43216" y="5193792"/>
            <a:ext cx="4078224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 i="0">
                <a:solidFill>
                  <a:srgbClr val="F7F4EF"/>
                </a:solidFill>
                <a:latin typeface="Calibri"/>
                <a:ea typeface="Calibri"/>
              </a:rPr>
              <a:t>9日未见可交叉核验的互联网平台产品首发或国产芯片流片。苹果发布会合沪时已入10日，不以7日华为/小米旧稿凑数。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384048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 i="0">
                <a:solidFill>
                  <a:srgbClr val="F7F4EF"/>
                </a:solidFill>
                <a:latin typeface="Cambria"/>
                <a:ea typeface="Cambria"/>
              </a:rPr>
              <a:t>每日时政科技简报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0" y="274320"/>
            <a:ext cx="49377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300" b="0" i="0">
                <a:solidFill>
                  <a:srgbClr val="B8B0A4"/>
                </a:solidFill>
                <a:latin typeface="Calibri"/>
                <a:ea typeface="Calibri"/>
              </a:rPr>
              <a:t>第252期 · 收束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195560" y="274320"/>
            <a:ext cx="15087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300" b="1" i="0">
                <a:solidFill>
                  <a:srgbClr val="C41E3A"/>
                </a:solidFill>
                <a:latin typeface="Calibri"/>
                <a:ea typeface="Calibri"/>
              </a:rPr>
              <a:t>10 / 10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566928"/>
            <a:ext cx="11185855" cy="2032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607568"/>
            <a:ext cx="11185855" cy="10160"/>
          </a:xfrm>
          <a:prstGeom prst="rect">
            <a:avLst/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786384"/>
            <a:ext cx="1115568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600" b="1" i="0">
                <a:solidFill>
                  <a:srgbClr val="F7F4EF"/>
                </a:solidFill>
                <a:latin typeface="Cambria"/>
                <a:ea typeface="Cambria"/>
              </a:rPr>
              <a:t>本日判断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298448"/>
            <a:ext cx="11155680" cy="1417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 i="0">
                <a:solidFill>
                  <a:srgbClr val="F7F4EF"/>
                </a:solidFill>
                <a:latin typeface="Cambria"/>
                <a:ea typeface="Cambria"/>
              </a:rPr>
              <a:t>星期三不是星期二的复述：维也纳把伊朗核档案再送安理会，阿曼湾五艘油轮被击沉，布伦特收在101.21美元。北京用「搭梯子」回答南方发展质疑，8月物价把海湾能源写进CPI。加德满都把遇难数字改到1369。科技栏交出一座尚未被三星确认的代工意向，以及《自然》同一天的三篇硬论文。苹果发布会与特朗普当日表态已过沪时午夜，不提前入账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2834640"/>
            <a:ext cx="5422392" cy="2331720"/>
          </a:xfrm>
          <a:prstGeom prst="rect">
            <a:avLst/>
          </a:prstGeom>
          <a:solidFill>
            <a:srgbClr val="242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2944368"/>
            <a:ext cx="5056632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 i="0">
                <a:solidFill>
                  <a:srgbClr val="C41E3A"/>
                </a:solidFill>
                <a:latin typeface="Calibri"/>
                <a:ea typeface="Calibri"/>
              </a:rPr>
              <a:t>时政六条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3218688"/>
            <a:ext cx="5056632" cy="18288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F7F4EF"/>
                </a:solidFill>
                <a:latin typeface="Calibri"/>
                <a:ea typeface="Calibri"/>
              </a:rPr>
              <a:t>1  原子能机构提交伊朗核档案
2  美军击沉五艘伊朗油轮
3  布伦特收于101.21美元
4  毛宁驳斥「抽梯子论」
5  8月CPI同比0.8%，PPI同比3.8%
6  尼方遇难升至1369人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54496" y="2834640"/>
            <a:ext cx="5422392" cy="2331720"/>
          </a:xfrm>
          <a:prstGeom prst="rect">
            <a:avLst/>
          </a:prstGeom>
          <a:solidFill>
            <a:srgbClr val="242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19088" y="2944368"/>
            <a:ext cx="5056632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 i="0">
                <a:solidFill>
                  <a:srgbClr val="C41E3A"/>
                </a:solidFill>
                <a:latin typeface="Calibri"/>
                <a:ea typeface="Calibri"/>
              </a:rPr>
              <a:t>科技四条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19088" y="3218688"/>
            <a:ext cx="5056632" cy="18288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F7F4EF"/>
                </a:solidFill>
                <a:latin typeface="Calibri"/>
                <a:ea typeface="Calibri"/>
              </a:rPr>
              <a:t>7  OpenAI称与三星联合研制芯片
8  WHOLISTIC全身记录细胞活动
9  ProteinTalks预测乳腺癌药效
10 GPN-Star预测基因组功能约束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5285232"/>
            <a:ext cx="11155680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 i="0">
                <a:solidFill>
                  <a:srgbClr val="C9C2B6"/>
                </a:solidFill>
                <a:latin typeface="Calibri"/>
                <a:ea typeface="Calibri"/>
              </a:rPr>
              <a:t>方法：以 Asia/Shanghai 的昨天（2026-09-09，星期三）为采编窗口；只收该日发生或该日首发。未混入8日习英通话、中卡会谈、城市更新、胡塞袭沙特、特朗普—普京通话与7日华为/小米发布会。苹果发布会合沪时已入10日。互联网平台与国产芯片9日首发不足。Firecrawl 已安装但未鉴权。完 · 非投资建议。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