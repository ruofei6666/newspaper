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40233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7F4EF"/>
                </a:solidFill>
                <a:latin typeface="Cambria"/>
                <a:ea typeface="Cambria"/>
                <a:cs typeface="Cambria"/>
              </a:rPr>
              <a:t>每日时政科技简报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63440" y="164592"/>
            <a:ext cx="47548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第028期  ·  2026年10月19日  ·  星期一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09760" y="164592"/>
            <a:ext cx="21488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9C2B6"/>
                </a:solidFill>
                <a:latin typeface="Calibri"/>
                <a:ea typeface="Calibri"/>
                <a:cs typeface="Calibri"/>
              </a:rPr>
              <a:t>晨刊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438912"/>
            <a:ext cx="11185855" cy="2032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475488"/>
            <a:ext cx="11185855" cy="9525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56692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C2B6"/>
                </a:solidFill>
                <a:latin typeface="Calibri"/>
                <a:ea typeface="Calibri"/>
                <a:cs typeface="Calibri"/>
              </a:rPr>
              <a:t>THE MORNING DISPATCH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0" y="658368"/>
            <a:ext cx="48920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9C2B6"/>
                </a:solidFill>
                <a:latin typeface="Calibri"/>
                <a:ea typeface="Calibri"/>
                <a:cs typeface="Calibri"/>
              </a:rPr>
              <a:t>ASIA / SHANGHAI    昨日新闻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950976"/>
            <a:ext cx="11185855" cy="2794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024128"/>
            <a:ext cx="11185855" cy="9525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170432"/>
            <a:ext cx="11185855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41E3A"/>
                </a:solidFill>
                <a:latin typeface="Cambria"/>
                <a:ea typeface="Cambria"/>
                <a:cs typeface="Cambria"/>
              </a:rPr>
              <a:t>第零贰捌期  ·  二零二六年十月十九日  ·  星期一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1481328"/>
            <a:ext cx="11185855" cy="1051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400" b="1" i="0">
                <a:solidFill>
                  <a:srgbClr val="F7F4EF"/>
                </a:solidFill>
                <a:latin typeface="Cambria"/>
                <a:ea typeface="Cambria"/>
                <a:cs typeface="Cambria"/>
              </a:rPr>
              <a:t>每日时政科技简报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2542032"/>
            <a:ext cx="11185855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C9C2B6"/>
                </a:solidFill>
                <a:latin typeface="Calibri"/>
                <a:ea typeface="Calibri"/>
                <a:cs typeface="Calibri"/>
              </a:rPr>
              <a:t>只收录该日发生或该日首发的稿件。杜尚别把总统府写成上合会的上午。德黑兰把伊斯兰堡备忘录重新放到桌上。金融街把五件工具先说给市场。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456432"/>
            <a:ext cx="3566160" cy="1572768"/>
          </a:xfrm>
          <a:prstGeom prst="roundRect">
            <a:avLst>
              <a:gd name="adj" fmla="val 4000"/>
            </a:avLst>
          </a:prstGeom>
          <a:solidFill>
            <a:srgbClr val="242424"/>
          </a:solidFill>
          <a:ln w="9525">
            <a:solidFill>
              <a:srgbClr val="2424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4088" y="3584448"/>
            <a:ext cx="320040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C41E3A"/>
                </a:solidFill>
                <a:latin typeface="Cambria"/>
                <a:ea typeface="Cambria"/>
                <a:cs typeface="Cambria"/>
              </a:rPr>
              <a:t>06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" y="4297680"/>
            <a:ext cx="32004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7F4EF"/>
                </a:solidFill>
                <a:latin typeface="Calibri"/>
                <a:ea typeface="Calibri"/>
                <a:cs typeface="Calibri"/>
              </a:rPr>
              <a:t>时政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088" y="4590288"/>
            <a:ext cx="32004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9C2B6"/>
                </a:solidFill>
                <a:latin typeface="Calibri"/>
                <a:ea typeface="Calibri"/>
                <a:cs typeface="Calibri"/>
              </a:rPr>
              <a:t>杜尚别 · 索非亚 · 金融街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25112" y="3456432"/>
            <a:ext cx="3566160" cy="1572768"/>
          </a:xfrm>
          <a:prstGeom prst="roundRect">
            <a:avLst>
              <a:gd name="adj" fmla="val 4000"/>
            </a:avLst>
          </a:prstGeom>
          <a:solidFill>
            <a:srgbClr val="242424"/>
          </a:solidFill>
          <a:ln w="9525">
            <a:solidFill>
              <a:srgbClr val="2424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26280" y="3584448"/>
            <a:ext cx="320040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C41E3A"/>
                </a:solidFill>
                <a:latin typeface="Cambria"/>
                <a:ea typeface="Cambria"/>
                <a:cs typeface="Cambria"/>
              </a:rPr>
              <a:t>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80" y="4297680"/>
            <a:ext cx="32004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7F4EF"/>
                </a:solidFill>
                <a:latin typeface="Calibri"/>
                <a:ea typeface="Calibri"/>
                <a:cs typeface="Calibri"/>
              </a:rPr>
              <a:t>科技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6280" y="4590288"/>
            <a:ext cx="32004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9C2B6"/>
                </a:solidFill>
                <a:latin typeface="Calibri"/>
                <a:ea typeface="Calibri"/>
                <a:cs typeface="Calibri"/>
              </a:rPr>
              <a:t>四十六核 · 百分之五 · 氢化钾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47304" y="3456432"/>
            <a:ext cx="3566160" cy="1572768"/>
          </a:xfrm>
          <a:prstGeom prst="roundRect">
            <a:avLst>
              <a:gd name="adj" fmla="val 4000"/>
            </a:avLst>
          </a:prstGeom>
          <a:solidFill>
            <a:srgbClr val="242424"/>
          </a:solidFill>
          <a:ln w="9525">
            <a:solidFill>
              <a:srgbClr val="2424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48472" y="3584448"/>
            <a:ext cx="320040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C41E3A"/>
                </a:solidFill>
                <a:latin typeface="Cambria"/>
                <a:ea typeface="Cambria"/>
                <a:cs typeface="Cambria"/>
              </a:rPr>
              <a:t>11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48472" y="4297680"/>
            <a:ext cx="32004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7F4EF"/>
                </a:solidFill>
                <a:latin typeface="Calibri"/>
                <a:ea typeface="Calibri"/>
                <a:cs typeface="Calibri"/>
              </a:rPr>
              <a:t>合计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48472" y="4590288"/>
            <a:ext cx="32004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9C2B6"/>
                </a:solidFill>
                <a:latin typeface="Calibri"/>
                <a:ea typeface="Calibri"/>
                <a:cs typeface="Calibri"/>
              </a:rPr>
              <a:t>周一沪时首发可核验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5193792"/>
            <a:ext cx="11185855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7F4EF"/>
                </a:solidFill>
                <a:latin typeface="Calibri"/>
                <a:ea typeface="Calibri"/>
                <a:cs typeface="Calibri"/>
              </a:rPr>
              <a:t>今日主线：上合总理会还没有公报，先入账的是总统会见和伊朗副总统。央行把宏观审慎新工具写进论坛开场。RISC-V第一次按服务器规范走进机房。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40233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A1A1A"/>
                </a:solidFill>
                <a:latin typeface="Cambria"/>
                <a:ea typeface="Cambria"/>
                <a:cs typeface="Cambria"/>
              </a:rPr>
              <a:t>每日时政科技简报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63440" y="164592"/>
            <a:ext cx="47548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第028期  ·  2026年10月19日  ·  星期一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09760" y="164592"/>
            <a:ext cx="21488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晨刊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438912"/>
            <a:ext cx="11185855" cy="2032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475488"/>
            <a:ext cx="11185855" cy="9525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0080"/>
            <a:ext cx="1828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800" b="1" i="0">
                <a:solidFill>
                  <a:srgbClr val="C41E3A"/>
                </a:solidFill>
                <a:latin typeface="Cambria"/>
                <a:ea typeface="Cambria"/>
                <a:cs typeface="Cambria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749808"/>
            <a:ext cx="73152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A1A1A"/>
                </a:solidFill>
                <a:latin typeface="Cambria"/>
                <a:ea typeface="Cambria"/>
                <a:cs typeface="Cambria"/>
              </a:rPr>
              <a:t>时政开篇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298448"/>
            <a:ext cx="11185855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杜尚别把人员安全写成命运共同体。阿雷夫把伊斯兰堡备忘录写成重开对话的下一句。金融街把五件工具写成即将出台，而不是已经落地。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993392"/>
            <a:ext cx="11185855" cy="1234440"/>
          </a:xfrm>
          <a:prstGeom prst="roundRect">
            <a:avLst>
              <a:gd name="adj" fmla="val 4000"/>
            </a:avLst>
          </a:prstGeom>
          <a:solidFill>
            <a:srgbClr val="FFFCF7"/>
          </a:solidFill>
          <a:ln w="9525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8952" y="2103120"/>
            <a:ext cx="10728655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刊头摘句  ·  杜尚别总统府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" y="2359152"/>
            <a:ext cx="10728655" cy="7132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A1A1A"/>
                </a:solidFill>
                <a:latin typeface="Cambria"/>
                <a:ea typeface="Cambria"/>
                <a:cs typeface="Cambria"/>
              </a:rPr>
              <a:t>「希望塔方继续采取有力措施，保障中方在塔人员和企业的安全。」——李强，会见拉赫蒙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401568"/>
            <a:ext cx="3566160" cy="2880360"/>
          </a:xfrm>
          <a:prstGeom prst="roundRect">
            <a:avLst>
              <a:gd name="adj" fmla="val 4000"/>
            </a:avLst>
          </a:prstGeom>
          <a:solidFill>
            <a:srgbClr val="FFFCF7"/>
          </a:solidFill>
          <a:ln w="9525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4088" y="3547872"/>
            <a:ext cx="32004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C41E3A"/>
                </a:solidFill>
                <a:latin typeface="Cambria"/>
                <a:ea typeface="Cambria"/>
                <a:cs typeface="Cambria"/>
              </a:rPr>
              <a:t>03:02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" y="4187952"/>
            <a:ext cx="3200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黑山总理会见见报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" y="4617720"/>
            <a:ext cx="3200400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斯帕伊奇18日会见王毅的新华社电，落在19日凌晨，不计入18日刊。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25112" y="3401568"/>
            <a:ext cx="3566160" cy="2880360"/>
          </a:xfrm>
          <a:prstGeom prst="roundRect">
            <a:avLst>
              <a:gd name="adj" fmla="val 4000"/>
            </a:avLst>
          </a:prstGeom>
          <a:solidFill>
            <a:srgbClr val="FFFCF7"/>
          </a:solidFill>
          <a:ln w="9525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26280" y="3547872"/>
            <a:ext cx="32004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C41E3A"/>
                </a:solidFill>
                <a:latin typeface="Cambria"/>
                <a:ea typeface="Cambria"/>
                <a:cs typeface="Cambria"/>
              </a:rPr>
              <a:t>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6280" y="4187952"/>
            <a:ext cx="3200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件央行新工具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80" y="4617720"/>
            <a:ext cx="3200400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潘功胜在金融街论坛开场先报五件即将出台的政策，再谈利率框架。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47304" y="3401568"/>
            <a:ext cx="3566160" cy="2880360"/>
          </a:xfrm>
          <a:prstGeom prst="roundRect">
            <a:avLst>
              <a:gd name="adj" fmla="val 4000"/>
            </a:avLst>
          </a:prstGeom>
          <a:solidFill>
            <a:srgbClr val="FFFCF7"/>
          </a:solidFill>
          <a:ln w="9525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48472" y="3547872"/>
            <a:ext cx="32004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C41E3A"/>
                </a:solidFill>
                <a:latin typeface="Cambria"/>
                <a:ea typeface="Cambria"/>
                <a:cs typeface="Cambria"/>
              </a:rPr>
              <a:t>11月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48472" y="4187952"/>
            <a:ext cx="3200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18–19日深圳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48472" y="4617720"/>
            <a:ext cx="3200400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克宫称中俄美元首会晤「确被提及」。毛宁同日说：暂无信息。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40233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A1A1A"/>
                </a:solidFill>
                <a:latin typeface="Cambria"/>
                <a:ea typeface="Cambria"/>
                <a:cs typeface="Cambria"/>
              </a:rPr>
              <a:t>每日时政科技简报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63440" y="164592"/>
            <a:ext cx="47548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第028期  ·  2026年10月19日  ·  星期一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09760" y="164592"/>
            <a:ext cx="21488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晨刊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438912"/>
            <a:ext cx="11185855" cy="2032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475488"/>
            <a:ext cx="11185855" cy="9525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2920" y="640080"/>
            <a:ext cx="5440680" cy="5806440"/>
          </a:xfrm>
          <a:prstGeom prst="roundRect">
            <a:avLst>
              <a:gd name="adj" fmla="val 4000"/>
            </a:avLst>
          </a:prstGeom>
          <a:solidFill>
            <a:srgbClr val="FFFCF7"/>
          </a:solidFill>
          <a:ln w="9525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04088" y="841248"/>
            <a:ext cx="82296" cy="82296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2" y="786384"/>
            <a:ext cx="489204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01  出访 · 杜尚别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1024128"/>
            <a:ext cx="5038344" cy="11155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A1A1A"/>
                </a:solidFill>
                <a:latin typeface="Cambria"/>
                <a:ea typeface="Cambria"/>
                <a:cs typeface="Cambria"/>
              </a:rPr>
              <a:t>总统府把人员安全写成命运共同体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139696"/>
            <a:ext cx="5038344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新华社  ·  news.cn  ·  19日 14:45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" y="2377440"/>
            <a:ext cx="5038344" cy="11155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当地时间19日上午，李强在杜尚别会见塔吉克斯坦总统拉赫蒙。双方谈构建命运共同体、绿色矿产、互联互通与人工智能。李强希望塔方继续保障中方人员和企业安全，并支持塔方办好此次上合总理会。拉赫蒙重申一个中国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04088" y="5513832"/>
            <a:ext cx="5038344" cy="9525"/>
          </a:xfrm>
          <a:prstGeom prst="rect">
            <a:avLst/>
          </a:prstGeom>
          <a:solidFill>
            <a:srgbClr val="D6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4088" y="5568696"/>
            <a:ext cx="5038344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为何重要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" y="5751576"/>
            <a:ext cx="5038344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18日只写抵达和总理会谈。19日可核验的是总统府把人员安全、人工智能和上合会议写成同一张菜单。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640080"/>
            <a:ext cx="5440680" cy="5806440"/>
          </a:xfrm>
          <a:prstGeom prst="roundRect">
            <a:avLst>
              <a:gd name="adj" fmla="val 4000"/>
            </a:avLst>
          </a:prstGeom>
          <a:solidFill>
            <a:srgbClr val="FFFCF7"/>
          </a:solidFill>
          <a:ln w="9525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64808" y="841248"/>
            <a:ext cx="82296" cy="82296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11112" y="786384"/>
            <a:ext cx="489204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02  中东 · 上合会边会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64808" y="1024128"/>
            <a:ext cx="5038344" cy="11155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A1A1A"/>
                </a:solidFill>
                <a:latin typeface="Cambria"/>
                <a:ea typeface="Cambria"/>
                <a:cs typeface="Cambria"/>
              </a:rPr>
              <a:t>伊斯兰堡备忘录被重新放到桌上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64808" y="2139696"/>
            <a:ext cx="5038344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外交部 / 新华社  ·  mfa.gov.cn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64808" y="2377440"/>
            <a:ext cx="5038344" cy="11155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19日下午上合总理会期间，李强会见伊朗第一副总统阿雷夫。中方称建交55年、全面战略伙伴10周年，劝各方重启对话。阿雷夫希望早日回归伊斯兰堡谅解备忘录，恢复地区安宁。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64808" y="5513832"/>
            <a:ext cx="5038344" cy="9525"/>
          </a:xfrm>
          <a:prstGeom prst="rect">
            <a:avLst/>
          </a:prstGeom>
          <a:solidFill>
            <a:srgbClr val="D6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64808" y="5568696"/>
            <a:ext cx="5038344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为何重要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64808" y="5751576"/>
            <a:ext cx="5038344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霍尔木兹对质已连日见报。19日新的一句是：德黑兰把九月那份备忘录，直接交到中国总理面前。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40233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A1A1A"/>
                </a:solidFill>
                <a:latin typeface="Cambria"/>
                <a:ea typeface="Cambria"/>
                <a:cs typeface="Cambria"/>
              </a:rPr>
              <a:t>每日时政科技简报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63440" y="164592"/>
            <a:ext cx="47548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第028期  ·  2026年10月19日  ·  星期一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09760" y="164592"/>
            <a:ext cx="21488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晨刊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438912"/>
            <a:ext cx="11185855" cy="2032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475488"/>
            <a:ext cx="11185855" cy="9525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21792"/>
            <a:ext cx="11185855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03  宏观 · 金融街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841248"/>
            <a:ext cx="105156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A1A1A"/>
                </a:solidFill>
                <a:latin typeface="Cambria"/>
                <a:ea typeface="Cambria"/>
                <a:cs typeface="Cambria"/>
              </a:rPr>
              <a:t>央行把五件工具先放进论坛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444752"/>
            <a:ext cx="11185855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中国人民银行 / 国家外汇管理局  ·  safe.gov.cn  ·  19日下午开幕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828800"/>
            <a:ext cx="2331720" cy="2331720"/>
          </a:xfrm>
          <a:prstGeom prst="roundRect">
            <a:avLst>
              <a:gd name="adj" fmla="val 4000"/>
            </a:avLst>
          </a:prstGeom>
          <a:solidFill>
            <a:srgbClr val="FFFCF7"/>
          </a:solidFill>
          <a:ln w="9525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" y="1965960"/>
            <a:ext cx="201168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5600" b="1" i="0">
                <a:solidFill>
                  <a:srgbClr val="C41E3A"/>
                </a:solidFill>
                <a:latin typeface="Cambria"/>
                <a:ea typeface="Cambria"/>
                <a:cs typeface="Cambria"/>
              </a:rPr>
              <a:t>05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3108960"/>
            <a:ext cx="210312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件即将出台的工具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7520" y="1828800"/>
            <a:ext cx="8641080" cy="1417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金融街论坛19日开幕，潘功胜宣布五项即将出台政策：非银大额赎回流动性工具、扩大SLF覆盖、债市互联互通落地、8家境外清算行在岸外汇自营试点、三地科创中心科技金融意见。并称将研究把公开市场主操作切换为隔夜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401568"/>
            <a:ext cx="2697480" cy="1828800"/>
          </a:xfrm>
          <a:prstGeom prst="roundRect">
            <a:avLst>
              <a:gd name="adj" fmla="val 4000"/>
            </a:avLst>
          </a:prstGeom>
          <a:solidFill>
            <a:srgbClr val="FFFCF7"/>
          </a:solidFill>
          <a:ln w="9525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" y="3493008"/>
            <a:ext cx="2441448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C41E3A"/>
                </a:solidFill>
                <a:latin typeface="Cambria"/>
                <a:ea typeface="Cambria"/>
                <a:cs typeface="Cambria"/>
              </a:rPr>
              <a:t>赎回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" y="3913632"/>
            <a:ext cx="2441448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非银流动性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" y="4187952"/>
            <a:ext cx="2441448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理财子、公募基金及母行、券商母公司，须抵押高等级资产。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346704" y="3401568"/>
            <a:ext cx="2697480" cy="1828800"/>
          </a:xfrm>
          <a:prstGeom prst="roundRect">
            <a:avLst>
              <a:gd name="adj" fmla="val 4000"/>
            </a:avLst>
          </a:prstGeom>
          <a:solidFill>
            <a:srgbClr val="FFFCF7"/>
          </a:solidFill>
          <a:ln w="9525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74720" y="3493008"/>
            <a:ext cx="2441448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C41E3A"/>
                </a:solidFill>
                <a:latin typeface="Cambria"/>
                <a:ea typeface="Cambria"/>
                <a:cs typeface="Cambria"/>
              </a:rPr>
              <a:t>SLF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74720" y="3913632"/>
            <a:ext cx="2441448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全覆盖存款类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74720" y="4187952"/>
            <a:ext cx="2441448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外资法人银行纳入常备借贷便利，全国性银行适用同样安排。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90488" y="3401568"/>
            <a:ext cx="2697480" cy="1828800"/>
          </a:xfrm>
          <a:prstGeom prst="roundRect">
            <a:avLst>
              <a:gd name="adj" fmla="val 4000"/>
            </a:avLst>
          </a:prstGeom>
          <a:solidFill>
            <a:srgbClr val="FFFCF7"/>
          </a:solidFill>
          <a:ln w="9525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18504" y="3493008"/>
            <a:ext cx="2441448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C41E3A"/>
                </a:solidFill>
                <a:latin typeface="Cambria"/>
                <a:ea typeface="Cambria"/>
                <a:cs typeface="Cambria"/>
              </a:rPr>
              <a:t>8家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18504" y="3913632"/>
            <a:ext cx="2441448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清算行试点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18504" y="4187952"/>
            <a:ext cx="2441448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允许境外人民币清算行在银行间外汇市场自营交易。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34272" y="3401568"/>
            <a:ext cx="2697480" cy="1828800"/>
          </a:xfrm>
          <a:prstGeom prst="roundRect">
            <a:avLst>
              <a:gd name="adj" fmla="val 4000"/>
            </a:avLst>
          </a:prstGeom>
          <a:solidFill>
            <a:srgbClr val="FFFCF7"/>
          </a:solidFill>
          <a:ln w="9525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62288" y="3493008"/>
            <a:ext cx="2441448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C41E3A"/>
                </a:solidFill>
                <a:latin typeface="Cambria"/>
                <a:ea typeface="Cambria"/>
                <a:cs typeface="Cambria"/>
              </a:rPr>
              <a:t>隔夜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62288" y="3913632"/>
            <a:ext cx="2441448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政策利率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62288" y="4187952"/>
            <a:ext cx="2441448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DR001已被写成实际目标利率。7天品种拟择机让位。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5376672"/>
            <a:ext cx="11185855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为何重要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5614416"/>
            <a:ext cx="11185855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这不是论坛客套。债券稳定新工具和政策利率朝隔夜挪，等于把货币政策框架的下一刀，提前说给市场听。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40233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A1A1A"/>
                </a:solidFill>
                <a:latin typeface="Cambria"/>
                <a:ea typeface="Cambria"/>
                <a:cs typeface="Cambria"/>
              </a:rPr>
              <a:t>每日时政科技简报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63440" y="164592"/>
            <a:ext cx="47548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第028期  ·  2026年10月19日  ·  星期一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09760" y="164592"/>
            <a:ext cx="21488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晨刊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438912"/>
            <a:ext cx="11185855" cy="2032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475488"/>
            <a:ext cx="11185855" cy="9525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03504"/>
            <a:ext cx="11185855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A1A1A"/>
                </a:solidFill>
                <a:latin typeface="Cambria"/>
                <a:ea typeface="Cambria"/>
                <a:cs typeface="Cambria"/>
              </a:rPr>
              <a:t>对照 · 历史与议程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115568"/>
            <a:ext cx="11185855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高市把祭品写成东京审判八十周年。克宫把三边会晤说成「确被提及」，北京同日说「暂无信息」。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481328"/>
            <a:ext cx="5440680" cy="4937760"/>
          </a:xfrm>
          <a:prstGeom prst="roundRect">
            <a:avLst>
              <a:gd name="adj" fmla="val 4000"/>
            </a:avLst>
          </a:prstGeom>
          <a:solidFill>
            <a:srgbClr val="FFFCF7"/>
          </a:solidFill>
          <a:ln w="9525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04088" y="1682496"/>
            <a:ext cx="82296" cy="82296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1627632"/>
            <a:ext cx="489204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04  外交 · 例会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" y="1865376"/>
            <a:ext cx="5038344" cy="11155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A1A1A"/>
                </a:solidFill>
                <a:latin typeface="Cambria"/>
                <a:ea typeface="Cambria"/>
                <a:cs typeface="Cambria"/>
              </a:rPr>
              <a:t>祭品写成八十周年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" y="2980944"/>
            <a:ext cx="5038344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外交部  ·  mfa.gov.cn  ·  16:55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" y="3218688"/>
            <a:ext cx="5038344" cy="11155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毛宁主持例会，严厉谴责高市早苗17日、19日向靖国神社供奉祭品及多名政要参拜，已提严正交涉。她称非洲之角适用习近平非洲热点四原则；对中俄美元首会晤「暂无信息」。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04088" y="5486400"/>
            <a:ext cx="5038344" cy="9525"/>
          </a:xfrm>
          <a:prstGeom prst="rect">
            <a:avLst/>
          </a:prstGeom>
          <a:solidFill>
            <a:srgbClr val="D6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4088" y="5541264"/>
            <a:ext cx="5038344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为何重要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088" y="5724144"/>
            <a:ext cx="5038344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15日例会批的是靖国神社内部记录。19日新的是首相本人在秋祭窗口送祭品，中方把「再军事化」写进同一句抗议。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1481328"/>
            <a:ext cx="5440680" cy="4937760"/>
          </a:xfrm>
          <a:prstGeom prst="roundRect">
            <a:avLst>
              <a:gd name="adj" fmla="val 4000"/>
            </a:avLst>
          </a:prstGeom>
          <a:solidFill>
            <a:srgbClr val="FFFCF7"/>
          </a:solidFill>
          <a:ln w="9525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64808" y="1682496"/>
            <a:ext cx="82296" cy="82296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11112" y="1627632"/>
            <a:ext cx="489204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05  国际 · 深圳APEC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64808" y="1865376"/>
            <a:ext cx="5038344" cy="11155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A1A1A"/>
                </a:solidFill>
                <a:latin typeface="Cambria"/>
                <a:ea typeface="Cambria"/>
                <a:cs typeface="Cambria"/>
              </a:rPr>
              <a:t>三边会晤「确被提及」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64808" y="2980944"/>
            <a:ext cx="5038344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法新社 / 华盛顿邮报  ·  france24.com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64808" y="3218688"/>
            <a:ext cx="5038344" cy="11155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克宫发言人佩斯科夫19日称，鉴于三元首或出席11月18–19日深圳APEC，三边会晤「确被提及」，但无实质方案。鲁比奥称尚未敲定。乌外长反对把基辅排除在外。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64808" y="5486400"/>
            <a:ext cx="5038344" cy="9525"/>
          </a:xfrm>
          <a:prstGeom prst="rect">
            <a:avLst/>
          </a:prstGeom>
          <a:solidFill>
            <a:srgbClr val="D6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64808" y="5541264"/>
            <a:ext cx="5038344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为何重要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64808" y="5724144"/>
            <a:ext cx="5038344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10日乌沙科夫只说普京与特朗普可能晤面。19日克宫把习近平写进同一张三人桌，又立刻加上「没有方案」。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40233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A1A1A"/>
                </a:solidFill>
                <a:latin typeface="Cambria"/>
                <a:ea typeface="Cambria"/>
                <a:cs typeface="Cambria"/>
              </a:rPr>
              <a:t>每日时政科技简报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63440" y="164592"/>
            <a:ext cx="47548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第028期  ·  2026年10月19日  ·  星期一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09760" y="164592"/>
            <a:ext cx="21488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晨刊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438912"/>
            <a:ext cx="11185855" cy="2032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475488"/>
            <a:ext cx="11185855" cy="9525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621792"/>
            <a:ext cx="11185855" cy="9601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694944"/>
            <a:ext cx="10515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06  中东欧 · 两条首发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950976"/>
            <a:ext cx="105156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7F4EF"/>
                </a:solidFill>
                <a:latin typeface="Calibri"/>
                <a:ea typeface="Calibri"/>
                <a:cs typeface="Calibri"/>
              </a:rPr>
              <a:t>索非亚是19日现场。波德戈里察是18日会见、19日03:02才见报的新华社电。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737360"/>
            <a:ext cx="5440680" cy="4681728"/>
          </a:xfrm>
          <a:prstGeom prst="roundRect">
            <a:avLst>
              <a:gd name="adj" fmla="val 4000"/>
            </a:avLst>
          </a:prstGeom>
          <a:solidFill>
            <a:srgbClr val="FFFCF7"/>
          </a:solidFill>
          <a:ln w="9525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04088" y="1938528"/>
            <a:ext cx="82296" cy="82296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" y="1883664"/>
            <a:ext cx="489204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06a  索非亚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" y="2121408"/>
            <a:ext cx="5038344" cy="11155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A1A1A"/>
                </a:solidFill>
                <a:latin typeface="Cambria"/>
                <a:ea typeface="Cambria"/>
                <a:cs typeface="Cambria"/>
              </a:rPr>
              <a:t>直航被写成下一步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" y="3236976"/>
            <a:ext cx="5038344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外交部  ·  mfa.gov.cn  ·  22:54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" y="3474720"/>
            <a:ext cx="5038344" cy="11155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当地19日，保加利亚总统约托娃在索非亚会见王毅，重申一个中国，期待开通直航并规划明年高层交往。王毅还会见总理拉德夫、副总理普列夫，同外长佩特罗娃会谈并见记者。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04088" y="5486400"/>
            <a:ext cx="5038344" cy="9525"/>
          </a:xfrm>
          <a:prstGeom prst="rect">
            <a:avLst/>
          </a:prstGeom>
          <a:solidFill>
            <a:srgbClr val="D6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4088" y="5541264"/>
            <a:ext cx="5038344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为何重要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" y="5724144"/>
            <a:ext cx="5038344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保新政府把加快对华合作写成施政意愿。直航和明年高层交往，是可核验的下一张日程。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1737360"/>
            <a:ext cx="5440680" cy="4681728"/>
          </a:xfrm>
          <a:prstGeom prst="roundRect">
            <a:avLst>
              <a:gd name="adj" fmla="val 4000"/>
            </a:avLst>
          </a:prstGeom>
          <a:solidFill>
            <a:srgbClr val="FFFCF7"/>
          </a:solidFill>
          <a:ln w="9525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64808" y="1938528"/>
            <a:ext cx="82296" cy="82296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11112" y="1883664"/>
            <a:ext cx="489204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06b  波德戈里察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64808" y="2121408"/>
            <a:ext cx="5038344" cy="11155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A1A1A"/>
                </a:solidFill>
                <a:latin typeface="Cambria"/>
                <a:ea typeface="Cambria"/>
                <a:cs typeface="Cambria"/>
              </a:rPr>
              <a:t>凌晨补发关系定位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64808" y="3236976"/>
            <a:ext cx="5038344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新华社  ·  news.cn  ·  03:02 首发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64808" y="3474720"/>
            <a:ext cx="5038344" cy="11155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新华社19日03:02首发：斯帕伊奇18日会见王毅，赞中方抑制油价。王毅称建交20年可探讨提升双边关系定位，理解黑方入盟与对华并行不悖。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64808" y="5486400"/>
            <a:ext cx="5038344" cy="9525"/>
          </a:xfrm>
          <a:prstGeom prst="rect">
            <a:avLst/>
          </a:prstGeom>
          <a:solidFill>
            <a:srgbClr val="D6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64808" y="5541264"/>
            <a:ext cx="5038344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为何重要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64808" y="5724144"/>
            <a:ext cx="5038344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18日刊只收外长会谈和总统会见。总理把「战略伙伴」写成同一句，要等19日凌晨电讯。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40233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A1A1A"/>
                </a:solidFill>
                <a:latin typeface="Cambria"/>
                <a:ea typeface="Cambria"/>
                <a:cs typeface="Cambria"/>
              </a:rPr>
              <a:t>每日时政科技简报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63440" y="164592"/>
            <a:ext cx="47548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第028期  ·  2026年10月19日  ·  星期一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09760" y="164592"/>
            <a:ext cx="21488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晨刊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438912"/>
            <a:ext cx="11185855" cy="2032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475488"/>
            <a:ext cx="11185855" cy="9525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0080"/>
            <a:ext cx="1828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800" b="1" i="0">
                <a:solidFill>
                  <a:srgbClr val="C41E3A"/>
                </a:solidFill>
                <a:latin typeface="Cambria"/>
                <a:ea typeface="Cambria"/>
                <a:cs typeface="Cambria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749808"/>
            <a:ext cx="73152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A1A1A"/>
                </a:solidFill>
                <a:latin typeface="Cambria"/>
                <a:ea typeface="Cambria"/>
                <a:cs typeface="Cambria"/>
              </a:rPr>
              <a:t>科技开篇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298448"/>
            <a:ext cx="11185855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深圳把四十六核写成第一颗按服务器规范交付的RISC-V。旧金山把百分之五的股份写进随估值加码的公益账。大连把氢化钾写成摄氏一百三十度的塑料刀。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084831"/>
            <a:ext cx="2697480" cy="4160520"/>
          </a:xfrm>
          <a:prstGeom prst="roundRect">
            <a:avLst>
              <a:gd name="adj" fmla="val 4000"/>
            </a:avLst>
          </a:prstGeom>
          <a:solidFill>
            <a:srgbClr val="FFFCF7"/>
          </a:solidFill>
          <a:ln w="9525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" y="2286000"/>
            <a:ext cx="2368296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C41E3A"/>
                </a:solidFill>
                <a:latin typeface="Cambria"/>
                <a:ea typeface="Cambria"/>
                <a:cs typeface="Cambria"/>
              </a:rPr>
              <a:t>46核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" y="3383280"/>
            <a:ext cx="2368296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混合微架构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" y="3931920"/>
            <a:ext cx="2368296" cy="1920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6个香山昆明湖核加40个自研X100，双路最高92核。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46704" y="2084831"/>
            <a:ext cx="2697480" cy="4160520"/>
          </a:xfrm>
          <a:prstGeom prst="roundRect">
            <a:avLst>
              <a:gd name="adj" fmla="val 4000"/>
            </a:avLst>
          </a:prstGeom>
          <a:solidFill>
            <a:srgbClr val="FFFCF7"/>
          </a:solidFill>
          <a:ln w="9525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11296" y="2286000"/>
            <a:ext cx="2368296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C41E3A"/>
                </a:solidFill>
                <a:latin typeface="Cambria"/>
                <a:ea typeface="Cambria"/>
                <a:cs typeface="Cambria"/>
              </a:rPr>
              <a:t>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11296" y="3383280"/>
            <a:ext cx="2368296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公益基金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11296" y="3931920"/>
            <a:ext cx="2368296" cy="1920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Anthropic把股份承诺给随估值递增的公共利益实体。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90488" y="2084831"/>
            <a:ext cx="2697480" cy="4160520"/>
          </a:xfrm>
          <a:prstGeom prst="roundRect">
            <a:avLst>
              <a:gd name="adj" fmla="val 4000"/>
            </a:avLst>
          </a:prstGeom>
          <a:solidFill>
            <a:srgbClr val="FFFCF7"/>
          </a:solidFill>
          <a:ln w="9525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5080" y="2286000"/>
            <a:ext cx="2368296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C41E3A"/>
                </a:solidFill>
                <a:latin typeface="Cambria"/>
                <a:ea typeface="Cambria"/>
                <a:cs typeface="Cambria"/>
              </a:rPr>
              <a:t>130℃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3383280"/>
            <a:ext cx="2368296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1 bar 氢气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3931920"/>
            <a:ext cx="2368296" cy="1920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氢化钾三小时切开聚苯乙烯，烷基苯选择性95.8%。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34272" y="2084831"/>
            <a:ext cx="2697480" cy="4160520"/>
          </a:xfrm>
          <a:prstGeom prst="roundRect">
            <a:avLst>
              <a:gd name="adj" fmla="val 4000"/>
            </a:avLst>
          </a:prstGeom>
          <a:solidFill>
            <a:srgbClr val="FFFCF7"/>
          </a:solidFill>
          <a:ln w="9525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98864" y="2286000"/>
            <a:ext cx="2368296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C41E3A"/>
                </a:solidFill>
                <a:latin typeface="Cambria"/>
                <a:ea typeface="Cambria"/>
                <a:cs typeface="Cambria"/>
              </a:rPr>
              <a:t>$45B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98864" y="3383280"/>
            <a:ext cx="2368296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第二座楼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98864" y="3931920"/>
            <a:ext cx="2368296" cy="1920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Nscale与Anthropic洽谈西弗吉尼亚第二期，双方未确认。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40233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A1A1A"/>
                </a:solidFill>
                <a:latin typeface="Cambria"/>
                <a:ea typeface="Cambria"/>
                <a:cs typeface="Cambria"/>
              </a:rPr>
              <a:t>每日时政科技简报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63440" y="164592"/>
            <a:ext cx="47548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第028期  ·  2026年10月19日  ·  星期一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09760" y="164592"/>
            <a:ext cx="21488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晨刊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438912"/>
            <a:ext cx="11185855" cy="2032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475488"/>
            <a:ext cx="11185855" cy="9525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2920" y="640080"/>
            <a:ext cx="5440680" cy="5806440"/>
          </a:xfrm>
          <a:prstGeom prst="roundRect">
            <a:avLst>
              <a:gd name="adj" fmla="val 4000"/>
            </a:avLst>
          </a:prstGeom>
          <a:solidFill>
            <a:srgbClr val="FFFCF7"/>
          </a:solidFill>
          <a:ln w="9525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04088" y="841248"/>
            <a:ext cx="82296" cy="82296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2" y="786384"/>
            <a:ext cx="489204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07  芯片 · 深圳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1024128"/>
            <a:ext cx="5038344" cy="11155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A1A1A"/>
                </a:solidFill>
                <a:latin typeface="Cambria"/>
                <a:ea typeface="Cambria"/>
                <a:cs typeface="Cambria"/>
              </a:rPr>
              <a:t>四十六核把RISC-V送进机房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139696"/>
            <a:ext cx="5038344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深圳新闻网 / Phoronix  ·  19日峰会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" y="2377440"/>
            <a:ext cx="5038344" cy="11155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19日RISC-V中国峰会，进迭时空发布服务器级CPU V100：业内首颗完整符合RISC-V服务器规范的通用计算芯片，46核混合微架构，8通道DDR5、52条PCIe 5.0，并推出计算、智算、存储三类整机。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04088" y="5513832"/>
            <a:ext cx="5038344" cy="9525"/>
          </a:xfrm>
          <a:prstGeom prst="rect">
            <a:avLst/>
          </a:prstGeom>
          <a:solidFill>
            <a:srgbClr val="D6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4088" y="5568696"/>
            <a:ext cx="5038344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为何重要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" y="5751576"/>
            <a:ext cx="5038344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过去RISC-V停在端侧。V100把UEFI、ACPI和主流Linux发行版写成可直接安装，等于宣布这套开源指令集要进机房。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640080"/>
            <a:ext cx="5440680" cy="5806440"/>
          </a:xfrm>
          <a:prstGeom prst="roundRect">
            <a:avLst>
              <a:gd name="adj" fmla="val 4000"/>
            </a:avLst>
          </a:prstGeom>
          <a:solidFill>
            <a:srgbClr val="FFFCF7"/>
          </a:solidFill>
          <a:ln w="9525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64808" y="841248"/>
            <a:ext cx="82296" cy="82296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11112" y="786384"/>
            <a:ext cx="489204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08  治理 · 旧金山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64808" y="1024128"/>
            <a:ext cx="5038344" cy="11155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A1A1A"/>
                </a:solidFill>
                <a:latin typeface="Cambria"/>
                <a:ea typeface="Cambria"/>
                <a:cs typeface="Cambria"/>
              </a:rPr>
              <a:t>百分之五写进公益账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64808" y="2139696"/>
            <a:ext cx="5038344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Anthropic  ·  18日 16:49 UTC＝沪时19日 00:49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64808" y="2377440"/>
            <a:ext cx="5038344" cy="11155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Anthropic宣布设立公共利益基金，须经股东批准后承诺5%股份；公司估值每升50%，董事会可再加2%。基金为全资LLC，不得用于游说或政治捐赠。叠加创始人与员工捐赠，约20%股份将用于公益。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64808" y="5513832"/>
            <a:ext cx="5038344" cy="9525"/>
          </a:xfrm>
          <a:prstGeom prst="rect">
            <a:avLst/>
          </a:prstGeom>
          <a:solidFill>
            <a:srgbClr val="D6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64808" y="5568696"/>
            <a:ext cx="5038344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为何重要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64808" y="5751576"/>
            <a:ext cx="5038344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18日刊已标明该博客折沪时入19日。这是把随估值膨胀的期权，从高管账改记到公益账。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40233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A1A1A"/>
                </a:solidFill>
                <a:latin typeface="Cambria"/>
                <a:ea typeface="Cambria"/>
                <a:cs typeface="Cambria"/>
              </a:rPr>
              <a:t>每日时政科技简报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63440" y="164592"/>
            <a:ext cx="47548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第028期  ·  2026年10月19日  ·  星期一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09760" y="164592"/>
            <a:ext cx="21488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晨刊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438912"/>
            <a:ext cx="11185855" cy="2032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475488"/>
            <a:ext cx="11185855" cy="9525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03504"/>
            <a:ext cx="11185855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A1A1A"/>
                </a:solidFill>
                <a:latin typeface="Cambria"/>
                <a:ea typeface="Cambria"/>
                <a:cs typeface="Cambria"/>
              </a:rPr>
              <a:t>科学对照 · 两篇《自然·通讯》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170432"/>
            <a:ext cx="5440680" cy="5230368"/>
          </a:xfrm>
          <a:prstGeom prst="roundRect">
            <a:avLst>
              <a:gd name="adj" fmla="val 4000"/>
            </a:avLst>
          </a:prstGeom>
          <a:solidFill>
            <a:srgbClr val="FFFCF7"/>
          </a:solidFill>
          <a:ln w="9525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04088" y="1371600"/>
            <a:ext cx="82296" cy="82296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" y="1316736"/>
            <a:ext cx="489204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09  化学 · 大连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1554480"/>
            <a:ext cx="5038344" cy="11155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A1A1A"/>
                </a:solidFill>
                <a:latin typeface="Cambria"/>
                <a:ea typeface="Cambria"/>
                <a:cs typeface="Cambria"/>
              </a:rPr>
              <a:t>氢化钾切开塑料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" y="2670048"/>
            <a:ext cx="5038344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《自然·通讯》  ·  s41467-026-78624-4  ·  19日发表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" y="2907792"/>
            <a:ext cx="5038344" cy="11155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中科院大连化物所陈平组报告，氢化钾在130℃、1 bar氢气、3小时内氢解聚苯乙烯，烷基苯收率93.2%、选择性95.8%，速率约贵金属催化剂的2.6倍，且无需过渡金属。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04088" y="5468112"/>
            <a:ext cx="5038344" cy="9525"/>
          </a:xfrm>
          <a:prstGeom prst="rect">
            <a:avLst/>
          </a:prstGeom>
          <a:solidFill>
            <a:srgbClr val="D6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4088" y="5522976"/>
            <a:ext cx="5038344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为何重要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" y="5705856"/>
            <a:ext cx="5038344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塑料升级利用长期靠高温贵金属。这篇把刀换成碱金属氢化物，条件降到实验室加热套能达到的温度。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1170432"/>
            <a:ext cx="5440680" cy="5230368"/>
          </a:xfrm>
          <a:prstGeom prst="roundRect">
            <a:avLst>
              <a:gd name="adj" fmla="val 4000"/>
            </a:avLst>
          </a:prstGeom>
          <a:solidFill>
            <a:srgbClr val="FFFCF7"/>
          </a:solidFill>
          <a:ln w="9525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64808" y="1371600"/>
            <a:ext cx="82296" cy="82296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11112" y="1316736"/>
            <a:ext cx="489204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10  蛋白设计 · 布里斯托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64808" y="1554480"/>
            <a:ext cx="5038344" cy="11155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A1A1A"/>
                </a:solidFill>
                <a:latin typeface="Cambria"/>
                <a:ea typeface="Cambria"/>
                <a:cs typeface="Cambria"/>
              </a:rPr>
              <a:t>几个设计就做出口袋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64808" y="2670048"/>
            <a:ext cx="5038344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《自然·通讯》  ·  s41467-026-78764-7  ·  19日发表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64808" y="2907792"/>
            <a:ext cx="5038344" cy="11155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伍尔夫森组发表物理驱动方法，为全新设计蛋白质快速生成与小分子化学互补的结合口袋。仅测试个位数设计，即得到晶体学确认的预组织位点，亲和力达微摩尔或更好。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64808" y="5468112"/>
            <a:ext cx="5038344" cy="9525"/>
          </a:xfrm>
          <a:prstGeom prst="rect">
            <a:avLst/>
          </a:prstGeom>
          <a:solidFill>
            <a:srgbClr val="D6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4808" y="5522976"/>
            <a:ext cx="5038344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为何重要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64808" y="5705856"/>
            <a:ext cx="5038344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深度学习已能画出骨架。卡住的是小分子结合。这篇把「试几个就绑得上」写成可重复的实验账。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40233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A1A1A"/>
                </a:solidFill>
                <a:latin typeface="Cambria"/>
                <a:ea typeface="Cambria"/>
                <a:cs typeface="Cambria"/>
              </a:rPr>
              <a:t>每日时政科技简报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63440" y="164592"/>
            <a:ext cx="47548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第028期  ·  2026年10月19日  ·  星期一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09760" y="164592"/>
            <a:ext cx="21488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晨刊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438912"/>
            <a:ext cx="11185855" cy="2032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475488"/>
            <a:ext cx="11185855" cy="9525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2920" y="640080"/>
            <a:ext cx="11185855" cy="2788920"/>
          </a:xfrm>
          <a:prstGeom prst="roundRect">
            <a:avLst>
              <a:gd name="adj" fmla="val 4000"/>
            </a:avLst>
          </a:prstGeom>
          <a:solidFill>
            <a:srgbClr val="FFFCF7"/>
          </a:solidFill>
          <a:ln w="9525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58952" y="841248"/>
            <a:ext cx="82296" cy="82296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05256" y="786384"/>
            <a:ext cx="10582351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11  算力基建 · 西弗吉尼亚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1042415"/>
            <a:ext cx="10728655" cy="53035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A1A1A"/>
                </a:solidFill>
                <a:latin typeface="Cambria"/>
                <a:ea typeface="Cambria"/>
                <a:cs typeface="Cambria"/>
              </a:rPr>
              <a:t>第二座楼要再租四百六十兆瓦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" y="1591056"/>
            <a:ext cx="10728655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路透 / 彭博  ·  19日电  ·  双方未确认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" y="1865376"/>
            <a:ext cx="10728655" cy="7132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路透19日引消息人士称，Nscale正与Anthropic洽谈约450亿美元新协议，拟在西弗吉尼亚Monarch园区建第二座设施，规划460兆瓦、使用英伟达Vera Rubin芯片。微软上周刚退出该公司英国洛顿项目。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58952" y="2633472"/>
            <a:ext cx="10728655" cy="9525"/>
          </a:xfrm>
          <a:prstGeom prst="rect">
            <a:avLst/>
          </a:prstGeom>
          <a:solidFill>
            <a:srgbClr val="D6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8952" y="2688336"/>
            <a:ext cx="10728655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为何重要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2" y="2871216"/>
            <a:ext cx="10728655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18日是微软撤锚。19日是同一家开发商把第二张大单写给Claude。这是报道中的洽谈，不是已签署的合同。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584448"/>
            <a:ext cx="11185855" cy="2834640"/>
          </a:xfrm>
          <a:prstGeom prst="roundRect">
            <a:avLst>
              <a:gd name="adj" fmla="val 3000"/>
            </a:avLst>
          </a:prstGeom>
          <a:solidFill>
            <a:srgbClr val="FFFCF7"/>
          </a:solidFill>
          <a:ln w="12700">
            <a:solidFill>
              <a:srgbClr val="C41E3A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8952" y="3703320"/>
            <a:ext cx="10728655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信息不足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952" y="3895344"/>
            <a:ext cx="10728655" cy="47548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A1A1A"/>
                </a:solidFill>
                <a:latin typeface="Cambria"/>
                <a:ea typeface="Cambria"/>
                <a:cs typeface="Cambria"/>
              </a:rPr>
              <a:t>会上了，公报还在后头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952" y="4443984"/>
            <a:ext cx="10728655" cy="1783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· 上合总理理事会第二十五次会议19日举行，会见稿写「会议期间」，讲话全文与联合公报未见19日首发。
· 无国内航天发射。H3/MMX 于19:41 UTC升空，折沪时20日03:41，入次日。Bandwagon-5改20日。
· DeepSeek–华为联合定义芯片仅为传闻，官方未确认。国常会AI+为16日，19日评论不重写。
· 勿重刊：抵杜尚别、中塔总理会谈、亚残运会、特朗普挺内塔尼亚胡、神舟水稻、微软退出洛顿、RTX Spark、Willow。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40233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7F4EF"/>
                </a:solidFill>
                <a:latin typeface="Cambria"/>
                <a:ea typeface="Cambria"/>
                <a:cs typeface="Cambria"/>
              </a:rPr>
              <a:t>每日时政科技简报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63440" y="164592"/>
            <a:ext cx="47548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第028期  ·  2026年10月19日  ·  星期一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09760" y="164592"/>
            <a:ext cx="21488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9C2B6"/>
                </a:solidFill>
                <a:latin typeface="Calibri"/>
                <a:ea typeface="Calibri"/>
                <a:cs typeface="Calibri"/>
              </a:rPr>
              <a:t>晨刊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438912"/>
            <a:ext cx="11185855" cy="2032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475488"/>
            <a:ext cx="11185855" cy="9525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185855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9C2B6"/>
                </a:solidFill>
                <a:latin typeface="Calibri"/>
                <a:ea typeface="Calibri"/>
                <a:cs typeface="Calibri"/>
              </a:rPr>
              <a:t>THE EVENING LEDGER    第028期 · 收束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987552"/>
            <a:ext cx="11185855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F7F4EF"/>
                </a:solidFill>
                <a:latin typeface="Cambria"/>
                <a:ea typeface="Cambria"/>
                <a:cs typeface="Cambria"/>
              </a:rPr>
              <a:t>会上了，公报还在后头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664208"/>
            <a:ext cx="11185855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C2B6"/>
                </a:solidFill>
                <a:latin typeface="Calibri"/>
                <a:ea typeface="Calibri"/>
                <a:cs typeface="Calibri"/>
              </a:rPr>
              <a:t>总统府把人员安全写成命运共同体。德黑兰把伊斯兰堡备忘录交到中国总理面前。金融街把五件工具先说给市场。RISC-V按服务器规范走进机房。百分之五的股份改记公益账。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651760"/>
            <a:ext cx="5440680" cy="2606040"/>
          </a:xfrm>
          <a:prstGeom prst="roundRect">
            <a:avLst>
              <a:gd name="adj" fmla="val 4000"/>
            </a:avLst>
          </a:prstGeom>
          <a:solidFill>
            <a:srgbClr val="242424"/>
          </a:solidFill>
          <a:ln w="9525">
            <a:solidFill>
              <a:srgbClr val="2424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2376" y="2761488"/>
            <a:ext cx="5029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时政六条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" y="3072384"/>
            <a:ext cx="5029200" cy="2011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7F4EF"/>
                </a:solidFill>
                <a:latin typeface="Calibri"/>
                <a:ea typeface="Calibri"/>
                <a:cs typeface="Calibri"/>
              </a:rPr>
              <a:t>1.  总统府把人员安全写成命运共同体
2.  伊斯兰堡备忘录被重新放到桌上
3.  央行把五件工具先放进论坛
4.  祭品写成八十周年
5.  三边会晤「确被提及」
6.  直航与凌晨补发的关系定位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2651760"/>
            <a:ext cx="5440680" cy="2606040"/>
          </a:xfrm>
          <a:prstGeom prst="roundRect">
            <a:avLst>
              <a:gd name="adj" fmla="val 4000"/>
            </a:avLst>
          </a:prstGeom>
          <a:solidFill>
            <a:srgbClr val="242424"/>
          </a:solidFill>
          <a:ln w="9525">
            <a:solidFill>
              <a:srgbClr val="2424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3096" y="2761488"/>
            <a:ext cx="5029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科技五条 · 缺口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83096" y="3072384"/>
            <a:ext cx="5029200" cy="2011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7F4EF"/>
                </a:solidFill>
                <a:latin typeface="Calibri"/>
                <a:ea typeface="Calibri"/>
                <a:cs typeface="Calibri"/>
              </a:rPr>
              <a:t>1.  四十六核把RISC-V送进机房
2.  百分之五写进公益账
3.  氢化钾切开塑料
4.  几个设计就做出口袋
5.  第二座楼要再租四百六十兆瓦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5394960"/>
            <a:ext cx="11185855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9C2B6"/>
                </a:solidFill>
                <a:latin typeface="Calibri"/>
                <a:ea typeface="Calibri"/>
                <a:cs typeface="Calibri"/>
              </a:rPr>
              <a:t>日期窗口：Asia/Shanghai 2026-10-19 00:00 至 2026-10-20 00:00。交叉来源：新华社/外交部/外汇局、法新社、深圳新闻网/Phoronix、Anthropic、《自然·通讯》、路透。排除18日抵达稿与沪时已入20日的MMX发射。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053328"/>
            <a:ext cx="11185855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每日时政科技简报  ·  第028期  ·  完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