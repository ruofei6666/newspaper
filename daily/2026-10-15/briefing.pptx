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F7F4EF"/>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C9C2B6"/>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封面</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713232"/>
            <a:ext cx="5943600" cy="256032"/>
          </a:xfrm>
          <a:prstGeom prst="rect">
            <a:avLst/>
          </a:prstGeom>
          <a:noFill/>
        </p:spPr>
        <p:txBody>
          <a:bodyPr wrap="square" lIns="0" rIns="0" tIns="0" bIns="0" anchor="t"/>
          <a:lstStyle/>
          <a:p>
            <a:pPr algn="l">
              <a:spcBef>
                <a:spcPts val="0"/>
              </a:spcBef>
              <a:spcAft>
                <a:spcPts val="0"/>
              </a:spcAft>
            </a:pPr>
            <a:r>
              <a:rPr sz="1100" b="1" i="0">
                <a:solidFill>
                  <a:srgbClr val="C9C2B6"/>
                </a:solidFill>
                <a:latin typeface="Calibri"/>
                <a:ea typeface="Calibri"/>
                <a:cs typeface="Calibri"/>
              </a:rPr>
              <a:t>●  THE MORNING DISPATCH</a:t>
            </a:r>
          </a:p>
        </p:txBody>
      </p:sp>
      <p:sp>
        <p:nvSpPr>
          <p:cNvPr id="8" name="TextBox 7"/>
          <p:cNvSpPr txBox="1"/>
          <p:nvPr/>
        </p:nvSpPr>
        <p:spPr>
          <a:xfrm>
            <a:off x="6766560" y="713232"/>
            <a:ext cx="4937760" cy="256032"/>
          </a:xfrm>
          <a:prstGeom prst="rect">
            <a:avLst/>
          </a:prstGeom>
          <a:noFill/>
        </p:spPr>
        <p:txBody>
          <a:bodyPr wrap="square" lIns="0" rIns="0" tIns="0" bIns="0" anchor="t"/>
          <a:lstStyle/>
          <a:p>
            <a:pPr algn="r">
              <a:spcBef>
                <a:spcPts val="0"/>
              </a:spcBef>
              <a:spcAft>
                <a:spcPts val="0"/>
              </a:spcAft>
            </a:pPr>
            <a:r>
              <a:rPr sz="1100" b="0" i="0">
                <a:solidFill>
                  <a:srgbClr val="C9C2B6"/>
                </a:solidFill>
                <a:latin typeface="Calibri"/>
                <a:ea typeface="Calibri"/>
                <a:cs typeface="Calibri"/>
              </a:rPr>
              <a:t>ASIA / SHANGHAI　昨日新闻</a:t>
            </a:r>
          </a:p>
        </p:txBody>
      </p:sp>
      <p:sp>
        <p:nvSpPr>
          <p:cNvPr id="9" name="Rectangle 8"/>
          <p:cNvSpPr/>
          <p:nvPr/>
        </p:nvSpPr>
        <p:spPr>
          <a:xfrm>
            <a:off x="457200" y="1024128"/>
            <a:ext cx="11277295" cy="381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07008"/>
            <a:ext cx="11155680" cy="292608"/>
          </a:xfrm>
          <a:prstGeom prst="rect">
            <a:avLst/>
          </a:prstGeom>
          <a:noFill/>
        </p:spPr>
        <p:txBody>
          <a:bodyPr wrap="square" lIns="0" rIns="0" tIns="0" bIns="0" anchor="t"/>
          <a:lstStyle/>
          <a:p>
            <a:pPr algn="l">
              <a:spcBef>
                <a:spcPts val="0"/>
              </a:spcBef>
              <a:spcAft>
                <a:spcPts val="0"/>
              </a:spcAft>
            </a:pPr>
            <a:r>
              <a:rPr sz="1400" b="1" i="0">
                <a:solidFill>
                  <a:srgbClr val="C41E3A"/>
                </a:solidFill>
                <a:latin typeface="Calibri"/>
                <a:ea typeface="Calibri"/>
                <a:cs typeface="Calibri"/>
              </a:rPr>
              <a:t>第零贰肆期  ·  二零二六年十月十五日  ·  星期四</a:t>
            </a:r>
          </a:p>
        </p:txBody>
      </p:sp>
      <p:sp>
        <p:nvSpPr>
          <p:cNvPr id="11" name="TextBox 10"/>
          <p:cNvSpPr txBox="1"/>
          <p:nvPr/>
        </p:nvSpPr>
        <p:spPr>
          <a:xfrm>
            <a:off x="457200" y="1536192"/>
            <a:ext cx="11155680" cy="1051560"/>
          </a:xfrm>
          <a:prstGeom prst="rect">
            <a:avLst/>
          </a:prstGeom>
          <a:noFill/>
        </p:spPr>
        <p:txBody>
          <a:bodyPr wrap="square" lIns="0" rIns="0" tIns="0" bIns="0" anchor="t"/>
          <a:lstStyle/>
          <a:p>
            <a:pPr algn="l">
              <a:spcBef>
                <a:spcPts val="0"/>
              </a:spcBef>
              <a:spcAft>
                <a:spcPts val="0"/>
              </a:spcAft>
            </a:pPr>
            <a:r>
              <a:rPr sz="4800" b="1" i="0">
                <a:solidFill>
                  <a:srgbClr val="F7F4EF"/>
                </a:solidFill>
                <a:latin typeface="Cambria"/>
                <a:ea typeface="Cambria"/>
                <a:cs typeface="Cambria"/>
              </a:rPr>
              <a:t>每日时政科技简报</a:t>
            </a:r>
          </a:p>
        </p:txBody>
      </p:sp>
      <p:sp>
        <p:nvSpPr>
          <p:cNvPr id="12" name="TextBox 11"/>
          <p:cNvSpPr txBox="1"/>
          <p:nvPr/>
        </p:nvSpPr>
        <p:spPr>
          <a:xfrm>
            <a:off x="457200" y="2633472"/>
            <a:ext cx="11247120" cy="777240"/>
          </a:xfrm>
          <a:prstGeom prst="rect">
            <a:avLst/>
          </a:prstGeom>
          <a:noFill/>
        </p:spPr>
        <p:txBody>
          <a:bodyPr wrap="square">
            <a:spAutoFit/>
          </a:bodyPr>
          <a:lstStyle/>
          <a:p>
            <a:pPr algn="l">
              <a:spcBef>
                <a:spcPts val="0"/>
              </a:spcBef>
              <a:spcAft>
                <a:spcPts val="0"/>
              </a:spcAft>
            </a:pPr>
            <a:r>
              <a:rPr sz="1600" b="0" i="0">
                <a:solidFill>
                  <a:srgbClr val="C9C2B6"/>
                </a:solidFill>
                <a:latin typeface="Calibri"/>
                <a:ea typeface="Calibri"/>
                <a:cs typeface="Calibri"/>
              </a:rPr>
              <a:t>只收录该日发生或该日首发的稿件。王毅在巴库把亚信写成四点倡议，李强为新鸭绿江大桥开通致辞并宣布中亚俄之行。台积电交出连六季纪录利润，英伟达把原子模拟库折入沪时凌晨。</a:t>
            </a:r>
          </a:p>
        </p:txBody>
      </p:sp>
      <p:sp>
        <p:nvSpPr>
          <p:cNvPr id="13" name="Rounded Rectangle 12"/>
          <p:cNvSpPr/>
          <p:nvPr/>
        </p:nvSpPr>
        <p:spPr>
          <a:xfrm>
            <a:off x="457200" y="3547872"/>
            <a:ext cx="356616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639312"/>
            <a:ext cx="3108960" cy="777240"/>
          </a:xfrm>
          <a:prstGeom prst="rect">
            <a:avLst/>
          </a:prstGeom>
          <a:noFill/>
        </p:spPr>
        <p:txBody>
          <a:bodyPr wrap="square" lIns="0" rIns="0" tIns="0" bIns="0" anchor="t"/>
          <a:lstStyle/>
          <a:p>
            <a:pPr algn="l">
              <a:spcBef>
                <a:spcPts val="0"/>
              </a:spcBef>
              <a:spcAft>
                <a:spcPts val="0"/>
              </a:spcAft>
            </a:pPr>
            <a:r>
              <a:rPr sz="4800" b="1" i="0">
                <a:solidFill>
                  <a:srgbClr val="C41E3A"/>
                </a:solidFill>
                <a:latin typeface="Cambria"/>
                <a:ea typeface="Cambria"/>
                <a:cs typeface="Cambria"/>
              </a:rPr>
              <a:t>06</a:t>
            </a:r>
          </a:p>
        </p:txBody>
      </p:sp>
      <p:sp>
        <p:nvSpPr>
          <p:cNvPr id="15" name="TextBox 14"/>
          <p:cNvSpPr txBox="1"/>
          <p:nvPr/>
        </p:nvSpPr>
        <p:spPr>
          <a:xfrm>
            <a:off x="658368" y="4407408"/>
            <a:ext cx="3108960" cy="292608"/>
          </a:xfrm>
          <a:prstGeom prst="rect">
            <a:avLst/>
          </a:prstGeom>
          <a:noFill/>
        </p:spPr>
        <p:txBody>
          <a:bodyPr wrap="square" lIns="0" rIns="0" tIns="0" bIns="0" anchor="t"/>
          <a:lstStyle/>
          <a:p>
            <a:pPr algn="l">
              <a:spcBef>
                <a:spcPts val="0"/>
              </a:spcBef>
              <a:spcAft>
                <a:spcPts val="0"/>
              </a:spcAft>
            </a:pPr>
            <a:r>
              <a:rPr sz="1800" b="1" i="0">
                <a:solidFill>
                  <a:srgbClr val="F7F4EF"/>
                </a:solidFill>
                <a:latin typeface="Calibri"/>
                <a:ea typeface="Calibri"/>
                <a:cs typeface="Calibri"/>
              </a:rPr>
              <a:t>时政</a:t>
            </a:r>
          </a:p>
        </p:txBody>
      </p:sp>
      <p:sp>
        <p:nvSpPr>
          <p:cNvPr id="16" name="TextBox 15"/>
          <p:cNvSpPr txBox="1"/>
          <p:nvPr/>
        </p:nvSpPr>
        <p:spPr>
          <a:xfrm>
            <a:off x="658368" y="4700016"/>
            <a:ext cx="3108960" cy="292608"/>
          </a:xfrm>
          <a:prstGeom prst="rect">
            <a:avLst/>
          </a:prstGeom>
          <a:noFill/>
        </p:spPr>
        <p:txBody>
          <a:bodyPr wrap="square" lIns="0" rIns="0" tIns="0" bIns="0" anchor="t"/>
          <a:lstStyle/>
          <a:p>
            <a:pPr algn="l">
              <a:spcBef>
                <a:spcPts val="0"/>
              </a:spcBef>
              <a:spcAft>
                <a:spcPts val="0"/>
              </a:spcAft>
            </a:pPr>
            <a:r>
              <a:rPr sz="1200" b="0" i="0">
                <a:solidFill>
                  <a:srgbClr val="C9C2B6"/>
                </a:solidFill>
                <a:latin typeface="Calibri"/>
                <a:ea typeface="Calibri"/>
                <a:cs typeface="Calibri"/>
              </a:rPr>
              <a:t>亚信 · 新桥 · 出访</a:t>
            </a:r>
          </a:p>
        </p:txBody>
      </p:sp>
      <p:sp>
        <p:nvSpPr>
          <p:cNvPr id="17" name="Rounded Rectangle 16"/>
          <p:cNvSpPr/>
          <p:nvPr/>
        </p:nvSpPr>
        <p:spPr>
          <a:xfrm>
            <a:off x="4215384" y="3547872"/>
            <a:ext cx="356616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3639312"/>
            <a:ext cx="3108960" cy="777240"/>
          </a:xfrm>
          <a:prstGeom prst="rect">
            <a:avLst/>
          </a:prstGeom>
          <a:noFill/>
        </p:spPr>
        <p:txBody>
          <a:bodyPr wrap="square" lIns="0" rIns="0" tIns="0" bIns="0" anchor="t"/>
          <a:lstStyle/>
          <a:p>
            <a:pPr algn="l">
              <a:spcBef>
                <a:spcPts val="0"/>
              </a:spcBef>
              <a:spcAft>
                <a:spcPts val="0"/>
              </a:spcAft>
            </a:pPr>
            <a:r>
              <a:rPr sz="4800" b="1" i="0">
                <a:solidFill>
                  <a:srgbClr val="C41E3A"/>
                </a:solidFill>
                <a:latin typeface="Cambria"/>
                <a:ea typeface="Cambria"/>
                <a:cs typeface="Cambria"/>
              </a:rPr>
              <a:t>05</a:t>
            </a:r>
          </a:p>
        </p:txBody>
      </p:sp>
      <p:sp>
        <p:nvSpPr>
          <p:cNvPr id="19" name="TextBox 18"/>
          <p:cNvSpPr txBox="1"/>
          <p:nvPr/>
        </p:nvSpPr>
        <p:spPr>
          <a:xfrm>
            <a:off x="4416552" y="4407408"/>
            <a:ext cx="3108960" cy="292608"/>
          </a:xfrm>
          <a:prstGeom prst="rect">
            <a:avLst/>
          </a:prstGeom>
          <a:noFill/>
        </p:spPr>
        <p:txBody>
          <a:bodyPr wrap="square" lIns="0" rIns="0" tIns="0" bIns="0" anchor="t"/>
          <a:lstStyle/>
          <a:p>
            <a:pPr algn="l">
              <a:spcBef>
                <a:spcPts val="0"/>
              </a:spcBef>
              <a:spcAft>
                <a:spcPts val="0"/>
              </a:spcAft>
            </a:pPr>
            <a:r>
              <a:rPr sz="1800" b="1" i="0">
                <a:solidFill>
                  <a:srgbClr val="F7F4EF"/>
                </a:solidFill>
                <a:latin typeface="Calibri"/>
                <a:ea typeface="Calibri"/>
                <a:cs typeface="Calibri"/>
              </a:rPr>
              <a:t>科技</a:t>
            </a:r>
          </a:p>
        </p:txBody>
      </p:sp>
      <p:sp>
        <p:nvSpPr>
          <p:cNvPr id="20" name="TextBox 19"/>
          <p:cNvSpPr txBox="1"/>
          <p:nvPr/>
        </p:nvSpPr>
        <p:spPr>
          <a:xfrm>
            <a:off x="4416552" y="4700016"/>
            <a:ext cx="3108960" cy="292608"/>
          </a:xfrm>
          <a:prstGeom prst="rect">
            <a:avLst/>
          </a:prstGeom>
          <a:noFill/>
        </p:spPr>
        <p:txBody>
          <a:bodyPr wrap="square" lIns="0" rIns="0" tIns="0" bIns="0" anchor="t"/>
          <a:lstStyle/>
          <a:p>
            <a:pPr algn="l">
              <a:spcBef>
                <a:spcPts val="0"/>
              </a:spcBef>
              <a:spcAft>
                <a:spcPts val="0"/>
              </a:spcAft>
            </a:pPr>
            <a:r>
              <a:rPr sz="1200" b="0" i="0">
                <a:solidFill>
                  <a:srgbClr val="C9C2B6"/>
                </a:solidFill>
                <a:latin typeface="Calibri"/>
                <a:ea typeface="Calibri"/>
                <a:cs typeface="Calibri"/>
              </a:rPr>
              <a:t>台积电 · 冷氦 · 珊瑚</a:t>
            </a:r>
          </a:p>
        </p:txBody>
      </p:sp>
      <p:sp>
        <p:nvSpPr>
          <p:cNvPr id="21" name="Rounded Rectangle 20"/>
          <p:cNvSpPr/>
          <p:nvPr/>
        </p:nvSpPr>
        <p:spPr>
          <a:xfrm>
            <a:off x="7973568" y="3547872"/>
            <a:ext cx="356616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4736" y="3639312"/>
            <a:ext cx="3108960" cy="777240"/>
          </a:xfrm>
          <a:prstGeom prst="rect">
            <a:avLst/>
          </a:prstGeom>
          <a:noFill/>
        </p:spPr>
        <p:txBody>
          <a:bodyPr wrap="square" lIns="0" rIns="0" tIns="0" bIns="0" anchor="t"/>
          <a:lstStyle/>
          <a:p>
            <a:pPr algn="l">
              <a:spcBef>
                <a:spcPts val="0"/>
              </a:spcBef>
              <a:spcAft>
                <a:spcPts val="0"/>
              </a:spcAft>
            </a:pPr>
            <a:r>
              <a:rPr sz="4800" b="1" i="0">
                <a:solidFill>
                  <a:srgbClr val="C41E3A"/>
                </a:solidFill>
                <a:latin typeface="Cambria"/>
                <a:ea typeface="Cambria"/>
                <a:cs typeface="Cambria"/>
              </a:rPr>
              <a:t>11</a:t>
            </a:r>
          </a:p>
        </p:txBody>
      </p:sp>
      <p:sp>
        <p:nvSpPr>
          <p:cNvPr id="23" name="TextBox 22"/>
          <p:cNvSpPr txBox="1"/>
          <p:nvPr/>
        </p:nvSpPr>
        <p:spPr>
          <a:xfrm>
            <a:off x="8174736" y="4407408"/>
            <a:ext cx="3108960" cy="292608"/>
          </a:xfrm>
          <a:prstGeom prst="rect">
            <a:avLst/>
          </a:prstGeom>
          <a:noFill/>
        </p:spPr>
        <p:txBody>
          <a:bodyPr wrap="square" lIns="0" rIns="0" tIns="0" bIns="0" anchor="t"/>
          <a:lstStyle/>
          <a:p>
            <a:pPr algn="l">
              <a:spcBef>
                <a:spcPts val="0"/>
              </a:spcBef>
              <a:spcAft>
                <a:spcPts val="0"/>
              </a:spcAft>
            </a:pPr>
            <a:r>
              <a:rPr sz="1800" b="1" i="0">
                <a:solidFill>
                  <a:srgbClr val="F7F4EF"/>
                </a:solidFill>
                <a:latin typeface="Calibri"/>
                <a:ea typeface="Calibri"/>
                <a:cs typeface="Calibri"/>
              </a:rPr>
              <a:t>合计</a:t>
            </a:r>
          </a:p>
        </p:txBody>
      </p:sp>
      <p:sp>
        <p:nvSpPr>
          <p:cNvPr id="24" name="TextBox 23"/>
          <p:cNvSpPr txBox="1"/>
          <p:nvPr/>
        </p:nvSpPr>
        <p:spPr>
          <a:xfrm>
            <a:off x="8174736" y="4700016"/>
            <a:ext cx="3108960" cy="292608"/>
          </a:xfrm>
          <a:prstGeom prst="rect">
            <a:avLst/>
          </a:prstGeom>
          <a:noFill/>
        </p:spPr>
        <p:txBody>
          <a:bodyPr wrap="square" lIns="0" rIns="0" tIns="0" bIns="0" anchor="t"/>
          <a:lstStyle/>
          <a:p>
            <a:pPr algn="l">
              <a:spcBef>
                <a:spcPts val="0"/>
              </a:spcBef>
              <a:spcAft>
                <a:spcPts val="0"/>
              </a:spcAft>
            </a:pPr>
            <a:r>
              <a:rPr sz="1200" b="0" i="0">
                <a:solidFill>
                  <a:srgbClr val="C9C2B6"/>
                </a:solidFill>
                <a:latin typeface="Calibri"/>
                <a:ea typeface="Calibri"/>
                <a:cs typeface="Calibri"/>
              </a:rPr>
              <a:t>周四沪时首发可核验</a:t>
            </a:r>
          </a:p>
        </p:txBody>
      </p:sp>
      <p:sp>
        <p:nvSpPr>
          <p:cNvPr id="25" name="TextBox 24"/>
          <p:cNvSpPr txBox="1"/>
          <p:nvPr/>
        </p:nvSpPr>
        <p:spPr>
          <a:xfrm>
            <a:off x="457200" y="5285232"/>
            <a:ext cx="11247120" cy="1234440"/>
          </a:xfrm>
          <a:prstGeom prst="rect">
            <a:avLst/>
          </a:prstGeom>
          <a:noFill/>
        </p:spPr>
        <p:txBody>
          <a:bodyPr wrap="square">
            <a:spAutoFit/>
          </a:bodyPr>
          <a:lstStyle/>
          <a:p>
            <a:pPr algn="l">
              <a:spcBef>
                <a:spcPts val="0"/>
              </a:spcBef>
              <a:spcAft>
                <a:spcPts val="0"/>
              </a:spcAft>
            </a:pPr>
            <a:r>
              <a:rPr sz="1400" b="0" i="0">
                <a:solidFill>
                  <a:srgbClr val="F7F4EF"/>
                </a:solidFill>
                <a:latin typeface="Calibri"/>
                <a:ea typeface="Calibri"/>
                <a:cs typeface="Calibri"/>
              </a:rPr>
              <a:t>今日主线：习近平特别代表王毅出席亚信第七次峰会，鼓励美伊重回外交轨道。李强为中朝新桥开通致辞，宣布访乌、塔并赴俄举行总理定期会晤。台积电第三季净利7630.6亿新台币。英伟达cuPotential早鸟库折沪时入账。《自然》把造礁珊瑚的受威胁比例写成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时政开篇</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
            <a:ext cx="2011680" cy="777240"/>
          </a:xfrm>
          <a:prstGeom prst="rect">
            <a:avLst/>
          </a:prstGeom>
          <a:noFill/>
        </p:spPr>
        <p:txBody>
          <a:bodyPr wrap="square" lIns="0" rIns="0" tIns="0" bIns="0" anchor="t"/>
          <a:lstStyle/>
          <a:p>
            <a:pPr algn="l">
              <a:spcBef>
                <a:spcPts val="0"/>
              </a:spcBef>
              <a:spcAft>
                <a:spcPts val="0"/>
              </a:spcAft>
            </a:pPr>
            <a:r>
              <a:rPr sz="5400" b="1" i="0">
                <a:solidFill>
                  <a:srgbClr val="C41E3A"/>
                </a:solidFill>
                <a:latin typeface="Cambria"/>
                <a:ea typeface="Cambria"/>
                <a:cs typeface="Cambria"/>
              </a:rPr>
              <a:t>01</a:t>
            </a:r>
          </a:p>
        </p:txBody>
      </p:sp>
      <p:sp>
        <p:nvSpPr>
          <p:cNvPr id="9" name="TextBox 8"/>
          <p:cNvSpPr txBox="1"/>
          <p:nvPr/>
        </p:nvSpPr>
        <p:spPr>
          <a:xfrm>
            <a:off x="1737360" y="804672"/>
            <a:ext cx="9875520" cy="502920"/>
          </a:xfrm>
          <a:prstGeom prst="rect">
            <a:avLst/>
          </a:prstGeom>
          <a:noFill/>
        </p:spPr>
        <p:txBody>
          <a:bodyPr wrap="square" lIns="0" rIns="0" tIns="0" bIns="0" anchor="t"/>
          <a:lstStyle/>
          <a:p>
            <a:pPr algn="l">
              <a:spcBef>
                <a:spcPts val="0"/>
              </a:spcBef>
              <a:spcAft>
                <a:spcPts val="0"/>
              </a:spcAft>
            </a:pPr>
            <a:r>
              <a:rPr sz="3600" b="1" i="0">
                <a:solidFill>
                  <a:srgbClr val="1A1A1A"/>
                </a:solidFill>
                <a:latin typeface="Cambria"/>
                <a:ea typeface="Cambria"/>
                <a:cs typeface="Cambria"/>
              </a:rPr>
              <a:t>时政开篇</a:t>
            </a:r>
          </a:p>
        </p:txBody>
      </p:sp>
      <p:sp>
        <p:nvSpPr>
          <p:cNvPr id="10" name="TextBox 9"/>
          <p:cNvSpPr txBox="1"/>
          <p:nvPr/>
        </p:nvSpPr>
        <p:spPr>
          <a:xfrm>
            <a:off x="1737360" y="1298448"/>
            <a:ext cx="9875520" cy="365760"/>
          </a:xfrm>
          <a:prstGeom prst="rect">
            <a:avLst/>
          </a:prstGeom>
          <a:noFill/>
        </p:spPr>
        <p:txBody>
          <a:bodyPr wrap="square" lIns="0" rIns="0" tIns="0" bIns="0" anchor="t"/>
          <a:lstStyle/>
          <a:p>
            <a:pPr algn="l">
              <a:spcBef>
                <a:spcPts val="0"/>
              </a:spcBef>
              <a:spcAft>
                <a:spcPts val="0"/>
              </a:spcAft>
            </a:pPr>
            <a:r>
              <a:rPr sz="1400" b="0" i="0">
                <a:solidFill>
                  <a:srgbClr val="4A5568"/>
                </a:solidFill>
                <a:latin typeface="Calibri"/>
                <a:ea typeface="Calibri"/>
                <a:cs typeface="Calibri"/>
              </a:rPr>
              <a:t>巴库把亚洲安全写成四点倡议。丹东把边境大桥写成开通仪式。北京把中亚与莫斯科写成下一周的行程表。</a:t>
            </a:r>
          </a:p>
        </p:txBody>
      </p:sp>
      <p:sp>
        <p:nvSpPr>
          <p:cNvPr id="11" name="Rounded Rectangle 10"/>
          <p:cNvSpPr/>
          <p:nvPr/>
        </p:nvSpPr>
        <p:spPr>
          <a:xfrm>
            <a:off x="457200" y="1783080"/>
            <a:ext cx="11274552" cy="12344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74519"/>
            <a:ext cx="1078992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刊头摘句 · 巴库</a:t>
            </a:r>
          </a:p>
        </p:txBody>
      </p:sp>
      <p:sp>
        <p:nvSpPr>
          <p:cNvPr id="13" name="TextBox 12"/>
          <p:cNvSpPr txBox="1"/>
          <p:nvPr/>
        </p:nvSpPr>
        <p:spPr>
          <a:xfrm>
            <a:off x="640080" y="2121408"/>
            <a:ext cx="10789920" cy="777240"/>
          </a:xfrm>
          <a:prstGeom prst="rect">
            <a:avLst/>
          </a:prstGeom>
          <a:noFill/>
        </p:spPr>
        <p:txBody>
          <a:bodyPr wrap="square">
            <a:spAutoFit/>
          </a:bodyPr>
          <a:lstStyle/>
          <a:p>
            <a:pPr algn="l">
              <a:spcBef>
                <a:spcPts val="0"/>
              </a:spcBef>
              <a:spcAft>
                <a:spcPts val="0"/>
              </a:spcAft>
            </a:pPr>
            <a:r>
              <a:rPr sz="1600" b="1" i="0">
                <a:solidFill>
                  <a:srgbClr val="1A1A1A"/>
                </a:solidFill>
                <a:latin typeface="Cambria"/>
                <a:ea typeface="Cambria"/>
                <a:cs typeface="Cambria"/>
              </a:rPr>
              <a:t>「亚洲不需要冷战思维，不欢迎阵营对抗。……霍尔木兹海峡和红海等重要航道应当保持畅通。」——王毅，亚信第七次峰会</a:t>
            </a:r>
          </a:p>
        </p:txBody>
      </p:sp>
      <p:sp>
        <p:nvSpPr>
          <p:cNvPr id="14" name="Rounded Rectangle 13"/>
          <p:cNvSpPr/>
          <p:nvPr/>
        </p:nvSpPr>
        <p:spPr>
          <a:xfrm>
            <a:off x="457200" y="3200400"/>
            <a:ext cx="3566160" cy="315468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310128"/>
            <a:ext cx="3154680" cy="640080"/>
          </a:xfrm>
          <a:prstGeom prst="rect">
            <a:avLst/>
          </a:prstGeom>
          <a:noFill/>
        </p:spPr>
        <p:txBody>
          <a:bodyPr wrap="square" lIns="0" rIns="0" tIns="0" bIns="0" anchor="t"/>
          <a:lstStyle/>
          <a:p>
            <a:pPr algn="l">
              <a:spcBef>
                <a:spcPts val="0"/>
              </a:spcBef>
              <a:spcAft>
                <a:spcPts val="0"/>
              </a:spcAft>
            </a:pPr>
            <a:r>
              <a:rPr sz="3200" b="1" i="0">
                <a:solidFill>
                  <a:srgbClr val="C41E3A"/>
                </a:solidFill>
                <a:latin typeface="Cambria"/>
                <a:ea typeface="Cambria"/>
                <a:cs typeface="Cambria"/>
              </a:rPr>
              <a:t>四点</a:t>
            </a:r>
          </a:p>
        </p:txBody>
      </p:sp>
      <p:sp>
        <p:nvSpPr>
          <p:cNvPr id="16" name="TextBox 15"/>
          <p:cNvSpPr txBox="1"/>
          <p:nvPr/>
        </p:nvSpPr>
        <p:spPr>
          <a:xfrm>
            <a:off x="658368" y="3950208"/>
            <a:ext cx="3154680" cy="292608"/>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亚信倡议</a:t>
            </a:r>
          </a:p>
        </p:txBody>
      </p:sp>
      <p:sp>
        <p:nvSpPr>
          <p:cNvPr id="17" name="TextBox 16"/>
          <p:cNvSpPr txBox="1"/>
          <p:nvPr/>
        </p:nvSpPr>
        <p:spPr>
          <a:xfrm>
            <a:off x="658368" y="4315968"/>
            <a:ext cx="3154680" cy="178308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和平稳定、繁荣振兴、文明互鉴、全球治理。会议通过《亚信第七次峰会宣言》。</a:t>
            </a:r>
          </a:p>
        </p:txBody>
      </p:sp>
      <p:sp>
        <p:nvSpPr>
          <p:cNvPr id="18" name="Rounded Rectangle 17"/>
          <p:cNvSpPr/>
          <p:nvPr/>
        </p:nvSpPr>
        <p:spPr>
          <a:xfrm>
            <a:off x="4215384" y="3200400"/>
            <a:ext cx="3566160" cy="315468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3310128"/>
            <a:ext cx="3154680" cy="640080"/>
          </a:xfrm>
          <a:prstGeom prst="rect">
            <a:avLst/>
          </a:prstGeom>
          <a:noFill/>
        </p:spPr>
        <p:txBody>
          <a:bodyPr wrap="square" lIns="0" rIns="0" tIns="0" bIns="0" anchor="t"/>
          <a:lstStyle/>
          <a:p>
            <a:pPr algn="l">
              <a:spcBef>
                <a:spcPts val="0"/>
              </a:spcBef>
              <a:spcAft>
                <a:spcPts val="0"/>
              </a:spcAft>
            </a:pPr>
            <a:r>
              <a:rPr sz="3200" b="1" i="0">
                <a:solidFill>
                  <a:srgbClr val="C41E3A"/>
                </a:solidFill>
                <a:latin typeface="Cambria"/>
                <a:ea typeface="Cambria"/>
                <a:cs typeface="Cambria"/>
              </a:rPr>
              <a:t>新桥</a:t>
            </a:r>
          </a:p>
        </p:txBody>
      </p:sp>
      <p:sp>
        <p:nvSpPr>
          <p:cNvPr id="20" name="TextBox 19"/>
          <p:cNvSpPr txBox="1"/>
          <p:nvPr/>
        </p:nvSpPr>
        <p:spPr>
          <a:xfrm>
            <a:off x="4416552" y="3950208"/>
            <a:ext cx="3154680" cy="292608"/>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中朝通道</a:t>
            </a:r>
          </a:p>
        </p:txBody>
      </p:sp>
      <p:sp>
        <p:nvSpPr>
          <p:cNvPr id="21" name="TextBox 20"/>
          <p:cNvSpPr txBox="1"/>
          <p:nvPr/>
        </p:nvSpPr>
        <p:spPr>
          <a:xfrm>
            <a:off x="4416552" y="4315968"/>
            <a:ext cx="3154680" cy="178308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连接辽宁与平安北道。李强与朴泰成同日发表视频致辞。</a:t>
            </a:r>
          </a:p>
        </p:txBody>
      </p:sp>
      <p:sp>
        <p:nvSpPr>
          <p:cNvPr id="22" name="Rounded Rectangle 21"/>
          <p:cNvSpPr/>
          <p:nvPr/>
        </p:nvSpPr>
        <p:spPr>
          <a:xfrm>
            <a:off x="7973568" y="3200400"/>
            <a:ext cx="3566160" cy="315468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4736" y="3310128"/>
            <a:ext cx="3154680" cy="640080"/>
          </a:xfrm>
          <a:prstGeom prst="rect">
            <a:avLst/>
          </a:prstGeom>
          <a:noFill/>
        </p:spPr>
        <p:txBody>
          <a:bodyPr wrap="square" lIns="0" rIns="0" tIns="0" bIns="0" anchor="t"/>
          <a:lstStyle/>
          <a:p>
            <a:pPr algn="l">
              <a:spcBef>
                <a:spcPts val="0"/>
              </a:spcBef>
              <a:spcAft>
                <a:spcPts val="0"/>
              </a:spcAft>
            </a:pPr>
            <a:r>
              <a:rPr sz="3200" b="1" i="0">
                <a:solidFill>
                  <a:srgbClr val="C41E3A"/>
                </a:solidFill>
                <a:latin typeface="Cambria"/>
                <a:ea typeface="Cambria"/>
                <a:cs typeface="Cambria"/>
              </a:rPr>
              <a:t>17–22</a:t>
            </a:r>
          </a:p>
        </p:txBody>
      </p:sp>
      <p:sp>
        <p:nvSpPr>
          <p:cNvPr id="24" name="TextBox 23"/>
          <p:cNvSpPr txBox="1"/>
          <p:nvPr/>
        </p:nvSpPr>
        <p:spPr>
          <a:xfrm>
            <a:off x="8174736" y="3950208"/>
            <a:ext cx="3154680" cy="292608"/>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日行程</a:t>
            </a:r>
          </a:p>
        </p:txBody>
      </p:sp>
      <p:sp>
        <p:nvSpPr>
          <p:cNvPr id="25" name="TextBox 24"/>
          <p:cNvSpPr txBox="1"/>
          <p:nvPr/>
        </p:nvSpPr>
        <p:spPr>
          <a:xfrm>
            <a:off x="8174736" y="4315968"/>
            <a:ext cx="3154680" cy="178308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李强访乌、塔并出席上合总理会，再赴莫斯科举行中俄总理定期会晤。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01</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11274552"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914400"/>
            <a:ext cx="1828800" cy="777240"/>
          </a:xfrm>
          <a:prstGeom prst="rect">
            <a:avLst/>
          </a:prstGeom>
          <a:noFill/>
        </p:spPr>
        <p:txBody>
          <a:bodyPr wrap="square" lIns="0" rIns="0" tIns="0" bIns="0" anchor="t"/>
          <a:lstStyle/>
          <a:p>
            <a:pPr algn="l">
              <a:spcBef>
                <a:spcPts val="0"/>
              </a:spcBef>
              <a:spcAft>
                <a:spcPts val="0"/>
              </a:spcAft>
            </a:pPr>
            <a:r>
              <a:rPr sz="5200" b="1" i="0">
                <a:solidFill>
                  <a:srgbClr val="C41E3A"/>
                </a:solidFill>
                <a:latin typeface="Cambria"/>
                <a:ea typeface="Cambria"/>
                <a:cs typeface="Cambria"/>
              </a:rPr>
              <a:t>01</a:t>
            </a:r>
          </a:p>
        </p:txBody>
      </p:sp>
      <p:sp>
        <p:nvSpPr>
          <p:cNvPr id="10" name="TextBox 9"/>
          <p:cNvSpPr txBox="1"/>
          <p:nvPr/>
        </p:nvSpPr>
        <p:spPr>
          <a:xfrm>
            <a:off x="658368" y="1691640"/>
            <a:ext cx="1828800" cy="64008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外交
巴库</a:t>
            </a:r>
          </a:p>
        </p:txBody>
      </p:sp>
      <p:sp>
        <p:nvSpPr>
          <p:cNvPr id="11" name="TextBox 10"/>
          <p:cNvSpPr txBox="1"/>
          <p:nvPr/>
        </p:nvSpPr>
        <p:spPr>
          <a:xfrm>
            <a:off x="2743200" y="932688"/>
            <a:ext cx="850392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新华社 / 外交部 · 15日见报</a:t>
            </a:r>
          </a:p>
        </p:txBody>
      </p:sp>
      <p:sp>
        <p:nvSpPr>
          <p:cNvPr id="12" name="TextBox 11"/>
          <p:cNvSpPr txBox="1"/>
          <p:nvPr/>
        </p:nvSpPr>
        <p:spPr>
          <a:xfrm>
            <a:off x="2743200" y="1207008"/>
            <a:ext cx="8503920" cy="640080"/>
          </a:xfrm>
          <a:prstGeom prst="rect">
            <a:avLst/>
          </a:prstGeom>
          <a:noFill/>
        </p:spPr>
        <p:txBody>
          <a:bodyPr wrap="square" lIns="0" rIns="0" tIns="0" bIns="0" anchor="t"/>
          <a:lstStyle/>
          <a:p>
            <a:pPr algn="l">
              <a:spcBef>
                <a:spcPts val="0"/>
              </a:spcBef>
              <a:spcAft>
                <a:spcPts val="0"/>
              </a:spcAft>
            </a:pPr>
            <a:r>
              <a:rPr sz="3200" b="1" i="0">
                <a:solidFill>
                  <a:srgbClr val="1A1A1A"/>
                </a:solidFill>
                <a:latin typeface="Cambria"/>
                <a:ea typeface="Cambria"/>
                <a:cs typeface="Cambria"/>
              </a:rPr>
              <a:t>亚信峰会写四点倡议</a:t>
            </a:r>
          </a:p>
        </p:txBody>
      </p:sp>
      <p:sp>
        <p:nvSpPr>
          <p:cNvPr id="13" name="TextBox 12"/>
          <p:cNvSpPr txBox="1"/>
          <p:nvPr/>
        </p:nvSpPr>
        <p:spPr>
          <a:xfrm>
            <a:off x="2743200" y="1847088"/>
            <a:ext cx="850392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来源：新华社 / 外交部 / APA  ·  news.cn  ·  fmprc.gov.cn</a:t>
            </a:r>
          </a:p>
        </p:txBody>
      </p:sp>
      <p:sp>
        <p:nvSpPr>
          <p:cNvPr id="14" name="TextBox 13"/>
          <p:cNvSpPr txBox="1"/>
          <p:nvPr/>
        </p:nvSpPr>
        <p:spPr>
          <a:xfrm>
            <a:off x="2743200" y="2176272"/>
            <a:ext cx="8503920" cy="2331720"/>
          </a:xfrm>
          <a:prstGeom prst="rect">
            <a:avLst/>
          </a:prstGeom>
          <a:noFill/>
        </p:spPr>
        <p:txBody>
          <a:bodyPr wrap="square">
            <a:spAutoFit/>
          </a:bodyPr>
          <a:lstStyle/>
          <a:p>
            <a:pPr algn="l">
              <a:spcBef>
                <a:spcPts val="0"/>
              </a:spcBef>
              <a:spcAft>
                <a:spcPts val="0"/>
              </a:spcAft>
            </a:pPr>
            <a:r>
              <a:rPr sz="1500" b="0" i="0">
                <a:solidFill>
                  <a:srgbClr val="1A1A1A"/>
                </a:solidFill>
                <a:latin typeface="Calibri"/>
                <a:ea typeface="Calibri"/>
                <a:cs typeface="Calibri"/>
              </a:rPr>
              <a:t>习近平主席特别代表、外交部长王毅15日在巴库出席亚洲相互协作与信任措施会议第七次峰会。他提出共同维护和平稳定、推动繁荣振兴、促进文明互鉴、完善全球治理四点倡议，鼓励美伊重回政治外交轨道，呼吁也门当事方克制，强调霍尔木兹与红海应保持畅通。会议通过《亚信第七次峰会宣言》。会间他还会见以色列总统赫尔佐格、俄罗斯外长拉夫罗夫、巴林外交大臣扎耶尼、土耳其外长费丹、巴勒斯坦外长法尔辛。</a:t>
            </a:r>
          </a:p>
        </p:txBody>
      </p:sp>
      <p:sp>
        <p:nvSpPr>
          <p:cNvPr id="15" name="Rectangle 14"/>
          <p:cNvSpPr/>
          <p:nvPr/>
        </p:nvSpPr>
        <p:spPr>
          <a:xfrm>
            <a:off x="2743200" y="4663440"/>
            <a:ext cx="850392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4773168"/>
            <a:ext cx="8503920" cy="14173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14日刊只写会见阿利耶夫。15日才把亚信峰会本身写成可引用的四点，并把海峡航行从地区新闻抬到亚洲安全平台。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02–03</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02　边境 · 丹东</a:t>
            </a:r>
          </a:p>
        </p:txBody>
      </p:sp>
      <p:sp>
        <p:nvSpPr>
          <p:cNvPr id="10" name="TextBox 9"/>
          <p:cNvSpPr txBox="1"/>
          <p:nvPr/>
        </p:nvSpPr>
        <p:spPr>
          <a:xfrm>
            <a:off x="658368" y="1170432"/>
            <a:ext cx="4937760" cy="914400"/>
          </a:xfrm>
          <a:prstGeom prst="rect">
            <a:avLst/>
          </a:prstGeom>
          <a:noFill/>
        </p:spPr>
        <p:txBody>
          <a:bodyPr wrap="square" lIns="0" rIns="0" tIns="0" bIns="0" anchor="t"/>
          <a:lstStyle/>
          <a:p>
            <a:pPr algn="l">
              <a:spcBef>
                <a:spcPts val="0"/>
              </a:spcBef>
              <a:spcAft>
                <a:spcPts val="0"/>
              </a:spcAft>
            </a:pPr>
            <a:r>
              <a:rPr sz="2800" b="1" i="0">
                <a:solidFill>
                  <a:srgbClr val="1A1A1A"/>
                </a:solidFill>
                <a:latin typeface="Cambria"/>
                <a:ea typeface="Cambria"/>
                <a:cs typeface="Cambria"/>
              </a:rPr>
              <a:t>新鸭绿江大桥开通</a:t>
            </a:r>
          </a:p>
        </p:txBody>
      </p:sp>
      <p:sp>
        <p:nvSpPr>
          <p:cNvPr id="11" name="TextBox 10"/>
          <p:cNvSpPr txBox="1"/>
          <p:nvPr/>
        </p:nvSpPr>
        <p:spPr>
          <a:xfrm>
            <a:off x="658368" y="2084831"/>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来源：新华社 / 外交部  ·  news.cn</a:t>
            </a:r>
          </a:p>
        </p:txBody>
      </p:sp>
      <p:sp>
        <p:nvSpPr>
          <p:cNvPr id="12" name="TextBox 11"/>
          <p:cNvSpPr txBox="1"/>
          <p:nvPr/>
        </p:nvSpPr>
        <p:spPr>
          <a:xfrm>
            <a:off x="658368" y="2395728"/>
            <a:ext cx="4937760" cy="246888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李强15日在中朝新鸭绿江大桥开通仪式上发表视频致辞，称大桥是习近平与金正恩共同关心推动的跨境基础设施，将促进经贸合作与人员往来。他重申中方三个“不会改变”。朝鲜内阁总理朴泰成同日视频致辞。大桥连接辽宁与平安北道。</a:t>
            </a:r>
          </a:p>
        </p:txBody>
      </p:sp>
      <p:sp>
        <p:nvSpPr>
          <p:cNvPr id="13" name="Rectangle 12"/>
          <p:cNvSpPr/>
          <p:nvPr/>
        </p:nvSpPr>
        <p:spPr>
          <a:xfrm>
            <a:off x="658368"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047488"/>
            <a:ext cx="4937760" cy="123444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14日只宣布通车日期。15日才有开通仪式与双方总理致辞，把边境通道写成可核验的基础设施事实。</a:t>
            </a:r>
          </a:p>
        </p:txBody>
      </p:sp>
      <p:sp>
        <p:nvSpPr>
          <p:cNvPr id="15" name="Rounded Rectangle 14"/>
          <p:cNvSpPr/>
          <p:nvPr/>
        </p:nvSpPr>
        <p:spPr>
          <a:xfrm>
            <a:off x="6291072"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03　出访 · 北京</a:t>
            </a:r>
          </a:p>
        </p:txBody>
      </p:sp>
      <p:sp>
        <p:nvSpPr>
          <p:cNvPr id="17" name="TextBox 16"/>
          <p:cNvSpPr txBox="1"/>
          <p:nvPr/>
        </p:nvSpPr>
        <p:spPr>
          <a:xfrm>
            <a:off x="6492240" y="1170432"/>
            <a:ext cx="4937760" cy="914400"/>
          </a:xfrm>
          <a:prstGeom prst="rect">
            <a:avLst/>
          </a:prstGeom>
          <a:noFill/>
        </p:spPr>
        <p:txBody>
          <a:bodyPr wrap="square" lIns="0" rIns="0" tIns="0" bIns="0" anchor="t"/>
          <a:lstStyle/>
          <a:p>
            <a:pPr algn="l">
              <a:spcBef>
                <a:spcPts val="0"/>
              </a:spcBef>
              <a:spcAft>
                <a:spcPts val="0"/>
              </a:spcAft>
            </a:pPr>
            <a:r>
              <a:rPr sz="2800" b="1" i="0">
                <a:solidFill>
                  <a:srgbClr val="1A1A1A"/>
                </a:solidFill>
                <a:latin typeface="Cambria"/>
                <a:ea typeface="Cambria"/>
                <a:cs typeface="Cambria"/>
              </a:rPr>
              <a:t>中亚俄一周行程</a:t>
            </a:r>
          </a:p>
        </p:txBody>
      </p:sp>
      <p:sp>
        <p:nvSpPr>
          <p:cNvPr id="18" name="TextBox 17"/>
          <p:cNvSpPr txBox="1"/>
          <p:nvPr/>
        </p:nvSpPr>
        <p:spPr>
          <a:xfrm>
            <a:off x="6492240" y="2084831"/>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来源：中国政府网 / 新华社  ·  gov.cn</a:t>
            </a:r>
          </a:p>
        </p:txBody>
      </p:sp>
      <p:sp>
        <p:nvSpPr>
          <p:cNvPr id="19" name="TextBox 18"/>
          <p:cNvSpPr txBox="1"/>
          <p:nvPr/>
        </p:nvSpPr>
        <p:spPr>
          <a:xfrm>
            <a:off x="6492240" y="2395728"/>
            <a:ext cx="4937760" cy="246888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外交部15日宣布：李强将于17–18日访乌兹别克斯坦；18–20日访塔吉克斯坦并出席上合组织成员国政府首脑理事会第二十五次会议；20–22日赴俄罗斯举行中俄总理第三十一次定期会晤。毛宁称此访将落实元首共识并讨论天津峰会与比什凯克峰会成果。</a:t>
            </a:r>
          </a:p>
        </p:txBody>
      </p:sp>
      <p:sp>
        <p:nvSpPr>
          <p:cNvPr id="20" name="Rectangle 19"/>
          <p:cNvSpPr/>
          <p:nvPr/>
        </p:nvSpPr>
        <p:spPr>
          <a:xfrm>
            <a:off x="6492240"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5047488"/>
            <a:ext cx="4937760" cy="123444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这是国庆后第一份完整的总理出访时间表，把中亚互联互通、上合总理会与中俄总理定期会晤写成同一条线。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04–05</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21792"/>
            <a:ext cx="11247120" cy="384048"/>
          </a:xfrm>
          <a:prstGeom prst="rect">
            <a:avLst/>
          </a:prstGeom>
          <a:noFill/>
        </p:spPr>
        <p:txBody>
          <a:bodyPr wrap="square" lIns="0" rIns="0" tIns="0" bIns="0" anchor="t"/>
          <a:lstStyle/>
          <a:p>
            <a:pPr algn="l">
              <a:spcBef>
                <a:spcPts val="0"/>
              </a:spcBef>
              <a:spcAft>
                <a:spcPts val="0"/>
              </a:spcAft>
            </a:pPr>
            <a:r>
              <a:rPr sz="2800" b="1" i="0">
                <a:solidFill>
                  <a:srgbClr val="1A1A1A"/>
                </a:solidFill>
                <a:latin typeface="Cambria"/>
                <a:ea typeface="Cambria"/>
                <a:cs typeface="Cambria"/>
              </a:rPr>
              <a:t>人民大会堂的非洲后续</a:t>
            </a:r>
          </a:p>
        </p:txBody>
      </p:sp>
      <p:sp>
        <p:nvSpPr>
          <p:cNvPr id="9" name="TextBox 8"/>
          <p:cNvSpPr txBox="1"/>
          <p:nvPr/>
        </p:nvSpPr>
        <p:spPr>
          <a:xfrm>
            <a:off x="457200" y="987552"/>
            <a:ext cx="11247120" cy="292608"/>
          </a:xfrm>
          <a:prstGeom prst="rect">
            <a:avLst/>
          </a:prstGeom>
          <a:noFill/>
        </p:spPr>
        <p:txBody>
          <a:bodyPr wrap="square" lIns="0" rIns="0" tIns="0" bIns="0" anchor="t"/>
          <a:lstStyle/>
          <a:p>
            <a:pPr algn="l">
              <a:spcBef>
                <a:spcPts val="0"/>
              </a:spcBef>
              <a:spcAft>
                <a:spcPts val="0"/>
              </a:spcAft>
            </a:pPr>
            <a:r>
              <a:rPr sz="1300" b="0" i="0">
                <a:solidFill>
                  <a:srgbClr val="4A5568"/>
                </a:solidFill>
                <a:latin typeface="Calibri"/>
                <a:ea typeface="Calibri"/>
                <a:cs typeface="Calibri"/>
              </a:rPr>
              <a:t>元首会谈在13日。15日是李强把定位写成文件与合作清单的一天。</a:t>
            </a:r>
          </a:p>
        </p:txBody>
      </p:sp>
      <p:sp>
        <p:nvSpPr>
          <p:cNvPr id="10" name="Rounded Rectangle 9"/>
          <p:cNvSpPr/>
          <p:nvPr/>
        </p:nvSpPr>
        <p:spPr>
          <a:xfrm>
            <a:off x="457200" y="1371600"/>
            <a:ext cx="5440680" cy="50749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50876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04　非洲 · 双会</a:t>
            </a:r>
          </a:p>
        </p:txBody>
      </p:sp>
      <p:sp>
        <p:nvSpPr>
          <p:cNvPr id="12" name="TextBox 11"/>
          <p:cNvSpPr txBox="1"/>
          <p:nvPr/>
        </p:nvSpPr>
        <p:spPr>
          <a:xfrm>
            <a:off x="658368" y="1783080"/>
            <a:ext cx="4937760" cy="64008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落实命运共同体</a:t>
            </a:r>
          </a:p>
        </p:txBody>
      </p:sp>
      <p:sp>
        <p:nvSpPr>
          <p:cNvPr id="13" name="TextBox 12"/>
          <p:cNvSpPr txBox="1"/>
          <p:nvPr/>
        </p:nvSpPr>
        <p:spPr>
          <a:xfrm>
            <a:off x="658368" y="242316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来源：外交部 / 中国政府网</a:t>
            </a:r>
          </a:p>
        </p:txBody>
      </p:sp>
      <p:sp>
        <p:nvSpPr>
          <p:cNvPr id="14" name="TextBox 13"/>
          <p:cNvSpPr txBox="1"/>
          <p:nvPr/>
        </p:nvSpPr>
        <p:spPr>
          <a:xfrm>
            <a:off x="658368" y="2724912"/>
            <a:ext cx="4937760" cy="21945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李强15日下午同多哥部长会议主席福雷会谈，并会见博茨瓦纳总统博科。中多双方发表构建新时代中多命运共同体联合声明，见证产供链、人力资源、数字贸易、海关检验检疫、媒体等领域合作文件。对博科重申矿业、数字、绿能与人工智能合作。</a:t>
            </a:r>
          </a:p>
        </p:txBody>
      </p:sp>
      <p:sp>
        <p:nvSpPr>
          <p:cNvPr id="15" name="Rectangle 14"/>
          <p:cNvSpPr/>
          <p:nvPr/>
        </p:nvSpPr>
        <p:spPr>
          <a:xfrm>
            <a:off x="658368" y="498348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074920"/>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13日刊已写元首会谈升格关系。15日才出现总理层落实与联合声明。</a:t>
            </a:r>
          </a:p>
        </p:txBody>
      </p:sp>
      <p:sp>
        <p:nvSpPr>
          <p:cNvPr id="17" name="Rounded Rectangle 16"/>
          <p:cNvSpPr/>
          <p:nvPr/>
        </p:nvSpPr>
        <p:spPr>
          <a:xfrm>
            <a:off x="6291072" y="1371600"/>
            <a:ext cx="5440680" cy="507492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50876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05　例会 · 靖国</a:t>
            </a:r>
          </a:p>
        </p:txBody>
      </p:sp>
      <p:sp>
        <p:nvSpPr>
          <p:cNvPr id="19" name="TextBox 18"/>
          <p:cNvSpPr txBox="1"/>
          <p:nvPr/>
        </p:nvSpPr>
        <p:spPr>
          <a:xfrm>
            <a:off x="6492240" y="1783080"/>
            <a:ext cx="4937760" cy="64008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甲级战犯供奉记录</a:t>
            </a:r>
          </a:p>
        </p:txBody>
      </p:sp>
      <p:sp>
        <p:nvSpPr>
          <p:cNvPr id="20" name="TextBox 19"/>
          <p:cNvSpPr txBox="1"/>
          <p:nvPr/>
        </p:nvSpPr>
        <p:spPr>
          <a:xfrm>
            <a:off x="6492240" y="242316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来源：外交部例行记者会  ·  mfa.gov.cn</a:t>
            </a:r>
          </a:p>
        </p:txBody>
      </p:sp>
      <p:sp>
        <p:nvSpPr>
          <p:cNvPr id="21" name="TextBox 20"/>
          <p:cNvSpPr txBox="1"/>
          <p:nvPr/>
        </p:nvSpPr>
        <p:spPr>
          <a:xfrm>
            <a:off x="6492240" y="2724912"/>
            <a:ext cx="4937760" cy="21945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毛宁15日被问及日本媒体首次公开靖国神社内部会议记录、披露东条英机等14名甲级战犯被供奉的决策过程。她说记录再次证明当年日本政府深知供奉极不光彩，处心积虑、秘而不宣，要求当政者正视历史、反省罪责。</a:t>
            </a:r>
          </a:p>
        </p:txBody>
      </p:sp>
      <p:sp>
        <p:nvSpPr>
          <p:cNvPr id="22" name="Rectangle 21"/>
          <p:cNvSpPr/>
          <p:nvPr/>
        </p:nvSpPr>
        <p:spPr>
          <a:xfrm>
            <a:off x="6492240" y="498348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5074920"/>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新公开的内部记录把供奉从“民间神社”改写成可核查的政府决策史。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06</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11274552" cy="457200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896112"/>
            <a:ext cx="1920240" cy="777240"/>
          </a:xfrm>
          <a:prstGeom prst="rect">
            <a:avLst/>
          </a:prstGeom>
          <a:noFill/>
        </p:spPr>
        <p:txBody>
          <a:bodyPr wrap="square" lIns="0" rIns="0" tIns="0" bIns="0" anchor="t"/>
          <a:lstStyle/>
          <a:p>
            <a:pPr algn="l">
              <a:spcBef>
                <a:spcPts val="0"/>
              </a:spcBef>
              <a:spcAft>
                <a:spcPts val="0"/>
              </a:spcAft>
            </a:pPr>
            <a:r>
              <a:rPr sz="5200" b="1" i="0">
                <a:solidFill>
                  <a:srgbClr val="C41E3A"/>
                </a:solidFill>
                <a:latin typeface="Cambria"/>
                <a:ea typeface="Cambria"/>
                <a:cs typeface="Cambria"/>
              </a:rPr>
              <a:t>06</a:t>
            </a:r>
          </a:p>
        </p:txBody>
      </p:sp>
      <p:sp>
        <p:nvSpPr>
          <p:cNvPr id="10" name="TextBox 9"/>
          <p:cNvSpPr txBox="1"/>
          <p:nvPr/>
        </p:nvSpPr>
        <p:spPr>
          <a:xfrm>
            <a:off x="658368" y="1664208"/>
            <a:ext cx="1920240" cy="64008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中东
海峡</a:t>
            </a:r>
          </a:p>
        </p:txBody>
      </p:sp>
      <p:sp>
        <p:nvSpPr>
          <p:cNvPr id="11" name="TextBox 10"/>
          <p:cNvSpPr txBox="1"/>
          <p:nvPr/>
        </p:nvSpPr>
        <p:spPr>
          <a:xfrm>
            <a:off x="2743200" y="914400"/>
            <a:ext cx="850392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CNN / 美中央司令部 · 15日对质</a:t>
            </a:r>
          </a:p>
        </p:txBody>
      </p:sp>
      <p:sp>
        <p:nvSpPr>
          <p:cNvPr id="12" name="TextBox 11"/>
          <p:cNvSpPr txBox="1"/>
          <p:nvPr/>
        </p:nvSpPr>
        <p:spPr>
          <a:xfrm>
            <a:off x="2743200" y="1188720"/>
            <a:ext cx="8503920" cy="594360"/>
          </a:xfrm>
          <a:prstGeom prst="rect">
            <a:avLst/>
          </a:prstGeom>
          <a:noFill/>
        </p:spPr>
        <p:txBody>
          <a:bodyPr wrap="square" lIns="0" rIns="0" tIns="0" bIns="0" anchor="t"/>
          <a:lstStyle/>
          <a:p>
            <a:pPr algn="l">
              <a:spcBef>
                <a:spcPts val="0"/>
              </a:spcBef>
              <a:spcAft>
                <a:spcPts val="0"/>
              </a:spcAft>
            </a:pPr>
            <a:r>
              <a:rPr sz="3000" b="1" i="0">
                <a:solidFill>
                  <a:srgbClr val="1A1A1A"/>
                </a:solidFill>
                <a:latin typeface="Cambria"/>
                <a:ea typeface="Cambria"/>
                <a:cs typeface="Cambria"/>
              </a:rPr>
              <a:t>控制权对质盖过沉船</a:t>
            </a:r>
          </a:p>
        </p:txBody>
      </p:sp>
      <p:sp>
        <p:nvSpPr>
          <p:cNvPr id="13" name="TextBox 12"/>
          <p:cNvSpPr txBox="1"/>
          <p:nvPr/>
        </p:nvSpPr>
        <p:spPr>
          <a:xfrm>
            <a:off x="2743200" y="1810512"/>
            <a:ext cx="850392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来源：CNN / CBS / 海湾新闻  ·  cnn.com  ·  cbsnews.com</a:t>
            </a:r>
          </a:p>
        </p:txBody>
      </p:sp>
      <p:sp>
        <p:nvSpPr>
          <p:cNvPr id="14" name="TextBox 13"/>
          <p:cNvSpPr txBox="1"/>
          <p:nvPr/>
        </p:nvSpPr>
        <p:spPr>
          <a:xfrm>
            <a:off x="2743200" y="2121408"/>
            <a:ext cx="8503920" cy="1828800"/>
          </a:xfrm>
          <a:prstGeom prst="rect">
            <a:avLst/>
          </a:prstGeom>
          <a:noFill/>
        </p:spPr>
        <p:txBody>
          <a:bodyPr wrap="square">
            <a:spAutoFit/>
          </a:bodyPr>
          <a:lstStyle/>
          <a:p>
            <a:pPr algn="l">
              <a:spcBef>
                <a:spcPts val="0"/>
              </a:spcBef>
              <a:spcAft>
                <a:spcPts val="0"/>
              </a:spcAft>
            </a:pPr>
            <a:r>
              <a:rPr sz="1500" b="0" i="0">
                <a:solidFill>
                  <a:srgbClr val="1A1A1A"/>
                </a:solidFill>
                <a:latin typeface="Calibri"/>
                <a:ea typeface="Calibri"/>
                <a:cs typeface="Calibri"/>
              </a:rPr>
              <a:t>美中央司令部15日驳斥革命卫队关于“控制霍尔木兹、货轮触雷、约旦数百美军死亡”的说法，称新加坡籍集装箱船GFS Pride遭投射物击中、在拖带中沉没，并强调商业与能源运输仍在通行。CNN汇总近24小时两艘货轮沉没；Kpler数据显示周一经海峡油运仅414.7万桶，不足战前四分之一。王毅同日在亚信峰会要求海峡与红海保持畅通。</a:t>
            </a:r>
          </a:p>
        </p:txBody>
      </p:sp>
      <p:sp>
        <p:nvSpPr>
          <p:cNvPr id="15" name="Rectangle 14"/>
          <p:cNvSpPr/>
          <p:nvPr/>
        </p:nvSpPr>
        <p:spPr>
          <a:xfrm>
            <a:off x="2743200" y="4023360"/>
            <a:ext cx="850392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4133087"/>
            <a:ext cx="8503920" cy="9601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14日刊已记首艘沉船。15日新事实是华盛顿与德黑兰就“谁控制海峡”公开对质，油运数字把选期前的能源压力写成可核对账本。</a:t>
            </a:r>
          </a:p>
        </p:txBody>
      </p:sp>
      <p:sp>
        <p:nvSpPr>
          <p:cNvPr id="17" name="Rounded Rectangle 16"/>
          <p:cNvSpPr/>
          <p:nvPr/>
        </p:nvSpPr>
        <p:spPr>
          <a:xfrm>
            <a:off x="457200" y="5440680"/>
            <a:ext cx="11274552" cy="1051560"/>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532120"/>
            <a:ext cx="1078992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对照 · 不重写前刊</a:t>
            </a:r>
          </a:p>
        </p:txBody>
      </p:sp>
      <p:sp>
        <p:nvSpPr>
          <p:cNvPr id="19" name="TextBox 18"/>
          <p:cNvSpPr txBox="1"/>
          <p:nvPr/>
        </p:nvSpPr>
        <p:spPr>
          <a:xfrm>
            <a:off x="658368" y="5779008"/>
            <a:ext cx="10789920" cy="594360"/>
          </a:xfrm>
          <a:prstGeom prst="rect">
            <a:avLst/>
          </a:prstGeom>
          <a:noFill/>
        </p:spPr>
        <p:txBody>
          <a:bodyPr wrap="square">
            <a:spAutoFit/>
          </a:bodyPr>
          <a:lstStyle/>
          <a:p>
            <a:pPr algn="l">
              <a:spcBef>
                <a:spcPts val="0"/>
              </a:spcBef>
              <a:spcAft>
                <a:spcPts val="0"/>
              </a:spcAft>
            </a:pPr>
            <a:r>
              <a:rPr sz="1300" b="0" i="0">
                <a:solidFill>
                  <a:srgbClr val="F7F4EF"/>
                </a:solidFill>
                <a:latin typeface="Calibri"/>
                <a:ea typeface="Calibri"/>
                <a:cs typeface="Calibri"/>
              </a:rPr>
              <a:t>广交会贺信与开幕式、海关39.94万亿元、CPI/PPI、王毅会见阿利耶夫、霍尔木兹首艘沉船、朱雀二号已入14日刊。15日广交会开展为续稿，不单列。求是15日刊发的是1月12日讲话摘编，不充当当日新政。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科技开篇</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8368"/>
            <a:ext cx="2011680" cy="777240"/>
          </a:xfrm>
          <a:prstGeom prst="rect">
            <a:avLst/>
          </a:prstGeom>
          <a:noFill/>
        </p:spPr>
        <p:txBody>
          <a:bodyPr wrap="square" lIns="0" rIns="0" tIns="0" bIns="0" anchor="t"/>
          <a:lstStyle/>
          <a:p>
            <a:pPr algn="l">
              <a:spcBef>
                <a:spcPts val="0"/>
              </a:spcBef>
              <a:spcAft>
                <a:spcPts val="0"/>
              </a:spcAft>
            </a:pPr>
            <a:r>
              <a:rPr sz="5400" b="1" i="0">
                <a:solidFill>
                  <a:srgbClr val="C41E3A"/>
                </a:solidFill>
                <a:latin typeface="Cambria"/>
                <a:ea typeface="Cambria"/>
                <a:cs typeface="Cambria"/>
              </a:rPr>
              <a:t>02</a:t>
            </a:r>
          </a:p>
        </p:txBody>
      </p:sp>
      <p:sp>
        <p:nvSpPr>
          <p:cNvPr id="9" name="TextBox 8"/>
          <p:cNvSpPr txBox="1"/>
          <p:nvPr/>
        </p:nvSpPr>
        <p:spPr>
          <a:xfrm>
            <a:off x="1737360" y="804672"/>
            <a:ext cx="9875520" cy="502920"/>
          </a:xfrm>
          <a:prstGeom prst="rect">
            <a:avLst/>
          </a:prstGeom>
          <a:noFill/>
        </p:spPr>
        <p:txBody>
          <a:bodyPr wrap="square" lIns="0" rIns="0" tIns="0" bIns="0" anchor="t"/>
          <a:lstStyle/>
          <a:p>
            <a:pPr algn="l">
              <a:spcBef>
                <a:spcPts val="0"/>
              </a:spcBef>
              <a:spcAft>
                <a:spcPts val="0"/>
              </a:spcAft>
            </a:pPr>
            <a:r>
              <a:rPr sz="3600" b="1" i="0">
                <a:solidFill>
                  <a:srgbClr val="1A1A1A"/>
                </a:solidFill>
                <a:latin typeface="Cambria"/>
                <a:ea typeface="Cambria"/>
                <a:cs typeface="Cambria"/>
              </a:rPr>
              <a:t>科技开篇</a:t>
            </a:r>
          </a:p>
        </p:txBody>
      </p:sp>
      <p:sp>
        <p:nvSpPr>
          <p:cNvPr id="10" name="TextBox 9"/>
          <p:cNvSpPr txBox="1"/>
          <p:nvPr/>
        </p:nvSpPr>
        <p:spPr>
          <a:xfrm>
            <a:off x="1737360" y="1298448"/>
            <a:ext cx="9875520" cy="502920"/>
          </a:xfrm>
          <a:prstGeom prst="rect">
            <a:avLst/>
          </a:prstGeom>
          <a:noFill/>
        </p:spPr>
        <p:txBody>
          <a:bodyPr wrap="square" lIns="0" rIns="0" tIns="0" bIns="0" anchor="t"/>
          <a:lstStyle/>
          <a:p>
            <a:pPr algn="l">
              <a:spcBef>
                <a:spcPts val="0"/>
              </a:spcBef>
              <a:spcAft>
                <a:spcPts val="0"/>
              </a:spcAft>
            </a:pPr>
            <a:r>
              <a:rPr sz="1400" b="0" i="0">
                <a:solidFill>
                  <a:srgbClr val="4A5568"/>
                </a:solidFill>
                <a:latin typeface="Calibri"/>
                <a:ea typeface="Calibri"/>
                <a:cs typeface="Calibri"/>
              </a:rPr>
              <a:t>新竹把人工智能需求写成连六季纪录利润。旧金山把原子模拟库折进沪时凌晨。北京把超流氦写成千瓦级国产冷压缩机。</a:t>
            </a:r>
          </a:p>
        </p:txBody>
      </p:sp>
      <p:sp>
        <p:nvSpPr>
          <p:cNvPr id="11" name="Rounded Rectangle 10"/>
          <p:cNvSpPr/>
          <p:nvPr/>
        </p:nvSpPr>
        <p:spPr>
          <a:xfrm>
            <a:off x="457200" y="1965960"/>
            <a:ext cx="2697480" cy="4434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2148840"/>
            <a:ext cx="2395728" cy="777240"/>
          </a:xfrm>
          <a:prstGeom prst="rect">
            <a:avLst/>
          </a:prstGeom>
          <a:noFill/>
        </p:spPr>
        <p:txBody>
          <a:bodyPr wrap="square" lIns="0" rIns="0" tIns="0" bIns="0" anchor="t"/>
          <a:lstStyle/>
          <a:p>
            <a:pPr algn="l">
              <a:spcBef>
                <a:spcPts val="0"/>
              </a:spcBef>
              <a:spcAft>
                <a:spcPts val="0"/>
              </a:spcAft>
            </a:pPr>
            <a:r>
              <a:rPr sz="2800" b="1" i="0">
                <a:solidFill>
                  <a:srgbClr val="C41E3A"/>
                </a:solidFill>
                <a:latin typeface="Cambria"/>
                <a:ea typeface="Cambria"/>
                <a:cs typeface="Cambria"/>
              </a:rPr>
              <a:t>7631</a:t>
            </a:r>
          </a:p>
        </p:txBody>
      </p:sp>
      <p:sp>
        <p:nvSpPr>
          <p:cNvPr id="13" name="TextBox 12"/>
          <p:cNvSpPr txBox="1"/>
          <p:nvPr/>
        </p:nvSpPr>
        <p:spPr>
          <a:xfrm>
            <a:off x="603504" y="2944368"/>
            <a:ext cx="2395728" cy="36576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亿新台币</a:t>
            </a:r>
          </a:p>
        </p:txBody>
      </p:sp>
      <p:sp>
        <p:nvSpPr>
          <p:cNvPr id="14" name="TextBox 13"/>
          <p:cNvSpPr txBox="1"/>
          <p:nvPr/>
        </p:nvSpPr>
        <p:spPr>
          <a:xfrm>
            <a:off x="603504" y="3383280"/>
            <a:ext cx="2395728" cy="26517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台积电第三季净利，同比增68.7%，连六季纪录。</a:t>
            </a:r>
          </a:p>
        </p:txBody>
      </p:sp>
      <p:sp>
        <p:nvSpPr>
          <p:cNvPr id="15" name="Rounded Rectangle 14"/>
          <p:cNvSpPr/>
          <p:nvPr/>
        </p:nvSpPr>
        <p:spPr>
          <a:xfrm>
            <a:off x="3273552" y="1965960"/>
            <a:ext cx="2697480" cy="4434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9856" y="2148840"/>
            <a:ext cx="2395728" cy="777240"/>
          </a:xfrm>
          <a:prstGeom prst="rect">
            <a:avLst/>
          </a:prstGeom>
          <a:noFill/>
        </p:spPr>
        <p:txBody>
          <a:bodyPr wrap="square" lIns="0" rIns="0" tIns="0" bIns="0" anchor="t"/>
          <a:lstStyle/>
          <a:p>
            <a:pPr algn="l">
              <a:spcBef>
                <a:spcPts val="0"/>
              </a:spcBef>
              <a:spcAft>
                <a:spcPts val="0"/>
              </a:spcAft>
            </a:pPr>
            <a:r>
              <a:rPr sz="2800" b="1" i="0">
                <a:solidFill>
                  <a:srgbClr val="C41E3A"/>
                </a:solidFill>
                <a:latin typeface="Cambria"/>
                <a:ea typeface="Cambria"/>
                <a:cs typeface="Cambria"/>
              </a:rPr>
              <a:t>2–3×</a:t>
            </a:r>
          </a:p>
        </p:txBody>
      </p:sp>
      <p:sp>
        <p:nvSpPr>
          <p:cNvPr id="17" name="TextBox 16"/>
          <p:cNvSpPr txBox="1"/>
          <p:nvPr/>
        </p:nvSpPr>
        <p:spPr>
          <a:xfrm>
            <a:off x="3419856" y="2944368"/>
            <a:ext cx="2395728" cy="36576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再加速</a:t>
            </a:r>
          </a:p>
        </p:txBody>
      </p:sp>
      <p:sp>
        <p:nvSpPr>
          <p:cNvPr id="18" name="TextBox 17"/>
          <p:cNvSpPr txBox="1"/>
          <p:nvPr/>
        </p:nvSpPr>
        <p:spPr>
          <a:xfrm>
            <a:off x="3419856" y="3383280"/>
            <a:ext cx="2395728" cy="26517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cuPotential在已GPU优化的原子模拟流程上的早鸟测试。</a:t>
            </a:r>
          </a:p>
        </p:txBody>
      </p:sp>
      <p:sp>
        <p:nvSpPr>
          <p:cNvPr id="19" name="Rounded Rectangle 18"/>
          <p:cNvSpPr/>
          <p:nvPr/>
        </p:nvSpPr>
        <p:spPr>
          <a:xfrm>
            <a:off x="6089904" y="1965960"/>
            <a:ext cx="2697480" cy="4434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6208" y="2148840"/>
            <a:ext cx="2395728" cy="777240"/>
          </a:xfrm>
          <a:prstGeom prst="rect">
            <a:avLst/>
          </a:prstGeom>
          <a:noFill/>
        </p:spPr>
        <p:txBody>
          <a:bodyPr wrap="square" lIns="0" rIns="0" tIns="0" bIns="0" anchor="t"/>
          <a:lstStyle/>
          <a:p>
            <a:pPr algn="l">
              <a:spcBef>
                <a:spcPts val="0"/>
              </a:spcBef>
              <a:spcAft>
                <a:spcPts val="0"/>
              </a:spcAft>
            </a:pPr>
            <a:r>
              <a:rPr sz="2800" b="1" i="0">
                <a:solidFill>
                  <a:srgbClr val="C41E3A"/>
                </a:solidFill>
                <a:latin typeface="Cambria"/>
                <a:ea typeface="Cambria"/>
                <a:cs typeface="Cambria"/>
              </a:rPr>
              <a:t>1000W</a:t>
            </a:r>
          </a:p>
        </p:txBody>
      </p:sp>
      <p:sp>
        <p:nvSpPr>
          <p:cNvPr id="21" name="TextBox 20"/>
          <p:cNvSpPr txBox="1"/>
          <p:nvPr/>
        </p:nvSpPr>
        <p:spPr>
          <a:xfrm>
            <a:off x="6236208" y="2944368"/>
            <a:ext cx="2395728" cy="36576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2K冷量</a:t>
            </a:r>
          </a:p>
        </p:txBody>
      </p:sp>
      <p:sp>
        <p:nvSpPr>
          <p:cNvPr id="22" name="TextBox 21"/>
          <p:cNvSpPr txBox="1"/>
          <p:nvPr/>
        </p:nvSpPr>
        <p:spPr>
          <a:xfrm>
            <a:off x="6236208" y="3383280"/>
            <a:ext cx="2395728" cy="26517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国产超流氦系统首次在约−271℃实现千瓦级制冷。</a:t>
            </a:r>
          </a:p>
        </p:txBody>
      </p:sp>
      <p:sp>
        <p:nvSpPr>
          <p:cNvPr id="23" name="Rounded Rectangle 22"/>
          <p:cNvSpPr/>
          <p:nvPr/>
        </p:nvSpPr>
        <p:spPr>
          <a:xfrm>
            <a:off x="8906256" y="1965960"/>
            <a:ext cx="2697480" cy="4434840"/>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2148840"/>
            <a:ext cx="2395728" cy="777240"/>
          </a:xfrm>
          <a:prstGeom prst="rect">
            <a:avLst/>
          </a:prstGeom>
          <a:noFill/>
        </p:spPr>
        <p:txBody>
          <a:bodyPr wrap="square" lIns="0" rIns="0" tIns="0" bIns="0" anchor="t"/>
          <a:lstStyle/>
          <a:p>
            <a:pPr algn="l">
              <a:spcBef>
                <a:spcPts val="0"/>
              </a:spcBef>
              <a:spcAft>
                <a:spcPts val="0"/>
              </a:spcAft>
            </a:pPr>
            <a:r>
              <a:rPr sz="2800" b="1" i="0">
                <a:solidFill>
                  <a:srgbClr val="C41E3A"/>
                </a:solidFill>
                <a:latin typeface="Cambria"/>
                <a:ea typeface="Cambria"/>
                <a:cs typeface="Cambria"/>
              </a:rPr>
              <a:t>44%</a:t>
            </a:r>
          </a:p>
        </p:txBody>
      </p:sp>
      <p:sp>
        <p:nvSpPr>
          <p:cNvPr id="25" name="TextBox 24"/>
          <p:cNvSpPr txBox="1"/>
          <p:nvPr/>
        </p:nvSpPr>
        <p:spPr>
          <a:xfrm>
            <a:off x="9052560" y="2944368"/>
            <a:ext cx="2395728" cy="36576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受威胁</a:t>
            </a:r>
          </a:p>
        </p:txBody>
      </p:sp>
      <p:sp>
        <p:nvSpPr>
          <p:cNvPr id="26" name="TextBox 25"/>
          <p:cNvSpPr txBox="1"/>
          <p:nvPr/>
        </p:nvSpPr>
        <p:spPr>
          <a:xfrm>
            <a:off x="9052560" y="3383280"/>
            <a:ext cx="2395728" cy="265176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造礁珊瑚可评估种中被列入最高风险类别的比例。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07</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11274552"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914400"/>
            <a:ext cx="1920240" cy="777240"/>
          </a:xfrm>
          <a:prstGeom prst="rect">
            <a:avLst/>
          </a:prstGeom>
          <a:noFill/>
        </p:spPr>
        <p:txBody>
          <a:bodyPr wrap="square" lIns="0" rIns="0" tIns="0" bIns="0" anchor="t"/>
          <a:lstStyle/>
          <a:p>
            <a:pPr algn="l">
              <a:spcBef>
                <a:spcPts val="0"/>
              </a:spcBef>
              <a:spcAft>
                <a:spcPts val="0"/>
              </a:spcAft>
            </a:pPr>
            <a:r>
              <a:rPr sz="5200" b="1" i="0">
                <a:solidFill>
                  <a:srgbClr val="C41E3A"/>
                </a:solidFill>
                <a:latin typeface="Cambria"/>
                <a:ea typeface="Cambria"/>
                <a:cs typeface="Cambria"/>
              </a:rPr>
              <a:t>07</a:t>
            </a:r>
          </a:p>
        </p:txBody>
      </p:sp>
      <p:sp>
        <p:nvSpPr>
          <p:cNvPr id="10" name="TextBox 9"/>
          <p:cNvSpPr txBox="1"/>
          <p:nvPr/>
        </p:nvSpPr>
        <p:spPr>
          <a:xfrm>
            <a:off x="658368" y="1691640"/>
            <a:ext cx="1920240" cy="640080"/>
          </a:xfrm>
          <a:prstGeom prst="rect">
            <a:avLst/>
          </a:prstGeom>
          <a:noFill/>
        </p:spPr>
        <p:txBody>
          <a:bodyPr wrap="square" lIns="0" rIns="0" tIns="0" bIns="0" anchor="t"/>
          <a:lstStyle/>
          <a:p>
            <a:pPr algn="l">
              <a:spcBef>
                <a:spcPts val="0"/>
              </a:spcBef>
              <a:spcAft>
                <a:spcPts val="0"/>
              </a:spcAft>
            </a:pPr>
            <a:r>
              <a:rPr sz="1400" b="1" i="0">
                <a:solidFill>
                  <a:srgbClr val="4A5568"/>
                </a:solidFill>
                <a:latin typeface="Calibri"/>
                <a:ea typeface="Calibri"/>
                <a:cs typeface="Calibri"/>
              </a:rPr>
              <a:t>芯片
新竹</a:t>
            </a:r>
          </a:p>
        </p:txBody>
      </p:sp>
      <p:sp>
        <p:nvSpPr>
          <p:cNvPr id="11" name="TextBox 10"/>
          <p:cNvSpPr txBox="1"/>
          <p:nvPr/>
        </p:nvSpPr>
        <p:spPr>
          <a:xfrm>
            <a:off x="2743200" y="932688"/>
            <a:ext cx="850392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台积电官方 · 15日沪时午间</a:t>
            </a:r>
          </a:p>
        </p:txBody>
      </p:sp>
      <p:sp>
        <p:nvSpPr>
          <p:cNvPr id="12" name="TextBox 11"/>
          <p:cNvSpPr txBox="1"/>
          <p:nvPr/>
        </p:nvSpPr>
        <p:spPr>
          <a:xfrm>
            <a:off x="2743200" y="1207008"/>
            <a:ext cx="8503920" cy="594360"/>
          </a:xfrm>
          <a:prstGeom prst="rect">
            <a:avLst/>
          </a:prstGeom>
          <a:noFill/>
        </p:spPr>
        <p:txBody>
          <a:bodyPr wrap="square" lIns="0" rIns="0" tIns="0" bIns="0" anchor="t"/>
          <a:lstStyle/>
          <a:p>
            <a:pPr algn="l">
              <a:spcBef>
                <a:spcPts val="0"/>
              </a:spcBef>
              <a:spcAft>
                <a:spcPts val="0"/>
              </a:spcAft>
            </a:pPr>
            <a:r>
              <a:rPr sz="3200" b="1" i="0">
                <a:solidFill>
                  <a:srgbClr val="1A1A1A"/>
                </a:solidFill>
                <a:latin typeface="Cambria"/>
                <a:ea typeface="Cambria"/>
                <a:cs typeface="Cambria"/>
              </a:rPr>
              <a:t>连六季纪录利润</a:t>
            </a:r>
          </a:p>
        </p:txBody>
      </p:sp>
      <p:sp>
        <p:nvSpPr>
          <p:cNvPr id="13" name="TextBox 12"/>
          <p:cNvSpPr txBox="1"/>
          <p:nvPr/>
        </p:nvSpPr>
        <p:spPr>
          <a:xfrm>
            <a:off x="2743200" y="1828800"/>
            <a:ext cx="850392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来源：台积电新闻稿 / CNBC  ·  pr.tsmc.com  ·  cnbc.com</a:t>
            </a:r>
          </a:p>
        </p:txBody>
      </p:sp>
      <p:sp>
        <p:nvSpPr>
          <p:cNvPr id="14" name="TextBox 13"/>
          <p:cNvSpPr txBox="1"/>
          <p:nvPr/>
        </p:nvSpPr>
        <p:spPr>
          <a:xfrm>
            <a:off x="2743200" y="2176272"/>
            <a:ext cx="8503920" cy="2331720"/>
          </a:xfrm>
          <a:prstGeom prst="rect">
            <a:avLst/>
          </a:prstGeom>
          <a:noFill/>
        </p:spPr>
        <p:txBody>
          <a:bodyPr wrap="square">
            <a:spAutoFit/>
          </a:bodyPr>
          <a:lstStyle/>
          <a:p>
            <a:pPr algn="l">
              <a:spcBef>
                <a:spcPts val="0"/>
              </a:spcBef>
              <a:spcAft>
                <a:spcPts val="0"/>
              </a:spcAft>
            </a:pPr>
            <a:r>
              <a:rPr sz="1500" b="0" i="0">
                <a:solidFill>
                  <a:srgbClr val="1A1A1A"/>
                </a:solidFill>
                <a:latin typeface="Calibri"/>
                <a:ea typeface="Calibri"/>
                <a:cs typeface="Calibri"/>
              </a:rPr>
              <a:t>台积电15日公布第三季合并营收1.49424万亿新台币，同比增50.9%；净利7630.6亿新台币，同比增68.7%；每股盈余29.43新台币。营业利益率58.7%。第四季营收指引523亿至543亿美元。先进制程占晶圆营收79%，3纳米居首、高性能计算占营收68%。亚利桑那二厂已完工、预计2027年第三季量产，并评估德州扩产。法人说明会上调全年美元营收增速指引至约44%。</a:t>
            </a:r>
          </a:p>
        </p:txBody>
      </p:sp>
      <p:sp>
        <p:nvSpPr>
          <p:cNvPr id="15" name="Rectangle 14"/>
          <p:cNvSpPr/>
          <p:nvPr/>
        </p:nvSpPr>
        <p:spPr>
          <a:xfrm>
            <a:off x="2743200" y="4663440"/>
            <a:ext cx="850392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4773168"/>
            <a:ext cx="8503920" cy="137160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这是当日最硬的产业账本：需求仍高于供给，扩产从亚利桑那延伸到德州评估，把“人工智能缺芯”写成可审计的季报。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08–09</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08　芯片 · 英伟达</a:t>
            </a:r>
          </a:p>
        </p:txBody>
      </p:sp>
      <p:sp>
        <p:nvSpPr>
          <p:cNvPr id="10" name="TextBox 9"/>
          <p:cNvSpPr txBox="1"/>
          <p:nvPr/>
        </p:nvSpPr>
        <p:spPr>
          <a:xfrm>
            <a:off x="658368" y="1170432"/>
            <a:ext cx="4937760" cy="82296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原子模拟库早鸟</a:t>
            </a:r>
          </a:p>
        </p:txBody>
      </p:sp>
      <p:sp>
        <p:nvSpPr>
          <p:cNvPr id="11" name="TextBox 10"/>
          <p:cNvSpPr txBox="1"/>
          <p:nvPr/>
        </p:nvSpPr>
        <p:spPr>
          <a:xfrm>
            <a:off x="658368" y="201168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来源：GlobeNewswire / NVIDIA</a:t>
            </a:r>
          </a:p>
        </p:txBody>
      </p:sp>
      <p:sp>
        <p:nvSpPr>
          <p:cNvPr id="12" name="TextBox 11"/>
          <p:cNvSpPr txBox="1"/>
          <p:nvPr/>
        </p:nvSpPr>
        <p:spPr>
          <a:xfrm>
            <a:off x="658368" y="2331720"/>
            <a:ext cx="4937760" cy="251460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英伟达于美西14日12:10（沪时15日00:10）在SEMICON West发布CUDA-X新库cuPotential，供开发者构建模拟原子与分子相互作用的人工智能智能体。早鸟测试显示，在已GPU优化的流程上再加速2至3倍。新思科技用其加速材料模拟。</a:t>
            </a:r>
          </a:p>
        </p:txBody>
      </p:sp>
      <p:sp>
        <p:nvSpPr>
          <p:cNvPr id="13" name="Rectangle 12"/>
          <p:cNvSpPr/>
          <p:nvPr/>
        </p:nvSpPr>
        <p:spPr>
          <a:xfrm>
            <a:off x="658368"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047488"/>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14日刊已预告此稿折沪时入15日。工厂侧的分子力学第一次被写成可被智能体调用的CUDA-X库。</a:t>
            </a:r>
          </a:p>
        </p:txBody>
      </p:sp>
      <p:sp>
        <p:nvSpPr>
          <p:cNvPr id="15" name="Rounded Rectangle 14"/>
          <p:cNvSpPr/>
          <p:nvPr/>
        </p:nvSpPr>
        <p:spPr>
          <a:xfrm>
            <a:off x="6291072"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09　大科学 · 理化所</a:t>
            </a:r>
          </a:p>
        </p:txBody>
      </p:sp>
      <p:sp>
        <p:nvSpPr>
          <p:cNvPr id="17" name="TextBox 16"/>
          <p:cNvSpPr txBox="1"/>
          <p:nvPr/>
        </p:nvSpPr>
        <p:spPr>
          <a:xfrm>
            <a:off x="6492240" y="1170432"/>
            <a:ext cx="4937760" cy="82296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超流氦千瓦级</a:t>
            </a:r>
          </a:p>
        </p:txBody>
      </p:sp>
      <p:sp>
        <p:nvSpPr>
          <p:cNvPr id="18" name="TextBox 17"/>
          <p:cNvSpPr txBox="1"/>
          <p:nvPr/>
        </p:nvSpPr>
        <p:spPr>
          <a:xfrm>
            <a:off x="6492240" y="201168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来源：科技日报 / 新华网  ·  news.cn</a:t>
            </a:r>
          </a:p>
        </p:txBody>
      </p:sp>
      <p:sp>
        <p:nvSpPr>
          <p:cNvPr id="19" name="TextBox 18"/>
          <p:cNvSpPr txBox="1"/>
          <p:nvPr/>
        </p:nvSpPr>
        <p:spPr>
          <a:xfrm>
            <a:off x="6492240" y="2331720"/>
            <a:ext cx="4937760" cy="251460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科技日报15日报道：中科院理化所自主研制的2K温区大功率冷压缩机通过性能验收，搭载该机的超流氦系统首次在约−271℃实现1000瓦制冷，为目前国内制冷量最大的国产超流氦系统，并实现国产冷压缩机首次商业化应用，服务中国散裂中子源二期。</a:t>
            </a:r>
          </a:p>
        </p:txBody>
      </p:sp>
      <p:sp>
        <p:nvSpPr>
          <p:cNvPr id="20" name="Rectangle 19"/>
          <p:cNvSpPr/>
          <p:nvPr/>
        </p:nvSpPr>
        <p:spPr>
          <a:xfrm>
            <a:off x="6492240"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5047488"/>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超导加速器与聚变装置的“心脏”长期被国外垄断。从实验室样机走到千瓦级工程产品。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稿件 10–11</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10　生态 · 《自然》</a:t>
            </a:r>
          </a:p>
        </p:txBody>
      </p:sp>
      <p:sp>
        <p:nvSpPr>
          <p:cNvPr id="10" name="TextBox 9"/>
          <p:cNvSpPr txBox="1"/>
          <p:nvPr/>
        </p:nvSpPr>
        <p:spPr>
          <a:xfrm>
            <a:off x="658368" y="1170432"/>
            <a:ext cx="4937760" cy="82296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珊瑚近半受威胁</a:t>
            </a:r>
          </a:p>
        </p:txBody>
      </p:sp>
      <p:sp>
        <p:nvSpPr>
          <p:cNvPr id="11" name="TextBox 10"/>
          <p:cNvSpPr txBox="1"/>
          <p:nvPr/>
        </p:nvSpPr>
        <p:spPr>
          <a:xfrm>
            <a:off x="658368" y="201168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来源：Nature / IUCN</a:t>
            </a:r>
          </a:p>
        </p:txBody>
      </p:sp>
      <p:sp>
        <p:nvSpPr>
          <p:cNvPr id="12" name="TextBox 11"/>
          <p:cNvSpPr txBox="1"/>
          <p:nvPr/>
        </p:nvSpPr>
        <p:spPr>
          <a:xfrm>
            <a:off x="658368" y="2331720"/>
            <a:ext cx="4937760" cy="251460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奥布拉等15日在《自然》发表对892种造礁珊瑚的红色名录再评估。774种数据充分种中，340种（44%）被列为受威胁，含极危33、濒危251、易危56，主因是预计热胁迫。评估截止于2020年数据，早于2023–2025年第四次全球白化。</a:t>
            </a:r>
          </a:p>
        </p:txBody>
      </p:sp>
      <p:sp>
        <p:nvSpPr>
          <p:cNvPr id="13" name="Rectangle 12"/>
          <p:cNvSpPr/>
          <p:nvPr/>
        </p:nvSpPr>
        <p:spPr>
          <a:xfrm>
            <a:off x="658368"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047488"/>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2008年约三分之一受威胁。新评估把气候写成九成高风险种的决定因素，并明确警告真实比例可能更高。</a:t>
            </a:r>
          </a:p>
        </p:txBody>
      </p:sp>
      <p:sp>
        <p:nvSpPr>
          <p:cNvPr id="15" name="Rounded Rectangle 14"/>
          <p:cNvSpPr/>
          <p:nvPr/>
        </p:nvSpPr>
        <p:spPr>
          <a:xfrm>
            <a:off x="6291072" y="713232"/>
            <a:ext cx="5440680"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868680"/>
            <a:ext cx="4937760" cy="219456"/>
          </a:xfrm>
          <a:prstGeom prst="rect">
            <a:avLst/>
          </a:prstGeom>
          <a:noFill/>
        </p:spPr>
        <p:txBody>
          <a:bodyPr wrap="square" lIns="0" rIns="0" tIns="0" bIns="0" anchor="t"/>
          <a:lstStyle/>
          <a:p>
            <a:pPr algn="l">
              <a:spcBef>
                <a:spcPts val="0"/>
              </a:spcBef>
              <a:spcAft>
                <a:spcPts val="0"/>
              </a:spcAft>
            </a:pPr>
            <a:r>
              <a:rPr sz="1100" b="1" i="0">
                <a:solidFill>
                  <a:srgbClr val="C41E3A"/>
                </a:solidFill>
                <a:latin typeface="Calibri"/>
                <a:ea typeface="Calibri"/>
                <a:cs typeface="Calibri"/>
              </a:rPr>
              <a:t>11　智能 · 自动化所</a:t>
            </a:r>
          </a:p>
        </p:txBody>
      </p:sp>
      <p:sp>
        <p:nvSpPr>
          <p:cNvPr id="17" name="TextBox 16"/>
          <p:cNvSpPr txBox="1"/>
          <p:nvPr/>
        </p:nvSpPr>
        <p:spPr>
          <a:xfrm>
            <a:off x="6492240" y="1170432"/>
            <a:ext cx="4937760" cy="822960"/>
          </a:xfrm>
          <a:prstGeom prst="rect">
            <a:avLst/>
          </a:prstGeom>
          <a:noFill/>
        </p:spPr>
        <p:txBody>
          <a:bodyPr wrap="square" lIns="0" rIns="0" tIns="0" bIns="0" anchor="t"/>
          <a:lstStyle/>
          <a:p>
            <a:pPr algn="l">
              <a:spcBef>
                <a:spcPts val="0"/>
              </a:spcBef>
              <a:spcAft>
                <a:spcPts val="0"/>
              </a:spcAft>
            </a:pPr>
            <a:r>
              <a:rPr sz="2600" b="1" i="0">
                <a:solidFill>
                  <a:srgbClr val="1A1A1A"/>
                </a:solidFill>
                <a:latin typeface="Cambria"/>
                <a:ea typeface="Cambria"/>
                <a:cs typeface="Cambria"/>
              </a:rPr>
              <a:t>树突映射注意力</a:t>
            </a:r>
          </a:p>
        </p:txBody>
      </p:sp>
      <p:sp>
        <p:nvSpPr>
          <p:cNvPr id="18" name="TextBox 17"/>
          <p:cNvSpPr txBox="1"/>
          <p:nvPr/>
        </p:nvSpPr>
        <p:spPr>
          <a:xfrm>
            <a:off x="6492240" y="2011680"/>
            <a:ext cx="4937760" cy="256032"/>
          </a:xfrm>
          <a:prstGeom prst="rect">
            <a:avLst/>
          </a:prstGeom>
          <a:noFill/>
        </p:spPr>
        <p:txBody>
          <a:bodyPr wrap="square" lIns="0" rIns="0" tIns="0" bIns="0" anchor="t"/>
          <a:lstStyle/>
          <a:p>
            <a:pPr algn="l">
              <a:spcBef>
                <a:spcPts val="0"/>
              </a:spcBef>
              <a:spcAft>
                <a:spcPts val="0"/>
              </a:spcAft>
            </a:pPr>
            <a:r>
              <a:rPr sz="1100" b="0" i="0">
                <a:solidFill>
                  <a:srgbClr val="4A5568"/>
                </a:solidFill>
                <a:latin typeface="Calibri"/>
                <a:ea typeface="Calibri"/>
                <a:cs typeface="Calibri"/>
              </a:rPr>
              <a:t>来源：Nature Communications</a:t>
            </a:r>
          </a:p>
        </p:txBody>
      </p:sp>
      <p:sp>
        <p:nvSpPr>
          <p:cNvPr id="19" name="TextBox 18"/>
          <p:cNvSpPr txBox="1"/>
          <p:nvPr/>
        </p:nvSpPr>
        <p:spPr>
          <a:xfrm>
            <a:off x="6492240" y="2331720"/>
            <a:ext cx="4937760" cy="2514600"/>
          </a:xfrm>
          <a:prstGeom prst="rect">
            <a:avLst/>
          </a:prstGeom>
          <a:noFill/>
        </p:spPr>
        <p:txBody>
          <a:bodyPr wrap="square">
            <a:spAutoFit/>
          </a:bodyPr>
          <a:lstStyle/>
          <a:p>
            <a:pPr algn="l">
              <a:spcBef>
                <a:spcPts val="0"/>
              </a:spcBef>
              <a:spcAft>
                <a:spcPts val="0"/>
              </a:spcAft>
            </a:pPr>
            <a:r>
              <a:rPr sz="1400" b="0" i="0">
                <a:solidFill>
                  <a:srgbClr val="1A1A1A"/>
                </a:solidFill>
                <a:latin typeface="Calibri"/>
                <a:ea typeface="Calibri"/>
                <a:cs typeface="Calibri"/>
              </a:rPr>
              <a:t>中科院自动化所姚曼、李国琪、徐波等15日发表论文，将简化树突神经元与基础模型注意力机制建立对应，并据此设计混合注意力、树突启发稀疏计算的模型，声称在降低计算量的同时增强记忆，支持约5000万词元的上下文窗口。</a:t>
            </a:r>
          </a:p>
        </p:txBody>
      </p:sp>
      <p:sp>
        <p:nvSpPr>
          <p:cNvPr id="20" name="Rectangle 19"/>
          <p:cNvSpPr/>
          <p:nvPr/>
        </p:nvSpPr>
        <p:spPr>
          <a:xfrm>
            <a:off x="6492240" y="4937760"/>
            <a:ext cx="4937760" cy="12700"/>
          </a:xfrm>
          <a:prstGeom prst="rect">
            <a:avLst/>
          </a:prstGeom>
          <a:solidFill>
            <a:srgbClr val="D6C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5047488"/>
            <a:ext cx="4937760" cy="1188720"/>
          </a:xfrm>
          <a:prstGeom prst="rect">
            <a:avLst/>
          </a:prstGeom>
          <a:noFill/>
        </p:spPr>
        <p:txBody>
          <a:bodyPr wrap="square" lIns="0" rIns="0">
            <a:spAutoFit/>
          </a:bodyPr>
          <a:lstStyle/>
          <a:p>
            <a:pPr algn="l">
              <a:spcBef>
                <a:spcPts val="0"/>
              </a:spcBef>
              <a:spcAft>
                <a:spcPts val="200"/>
              </a:spcAft>
            </a:pPr>
            <a:r>
              <a:rPr sz="1100" b="1" i="0">
                <a:solidFill>
                  <a:srgbClr val="C41E3A"/>
                </a:solidFill>
                <a:latin typeface="Calibri"/>
                <a:ea typeface="Calibri"/>
                <a:cs typeface="Calibri"/>
              </a:rPr>
              <a:t>为何重要</a:t>
            </a:r>
          </a:p>
          <a:p>
            <a:pPr algn="l">
              <a:spcBef>
                <a:spcPts val="0"/>
              </a:spcBef>
              <a:spcAft>
                <a:spcPts val="0"/>
              </a:spcAft>
            </a:pPr>
            <a:r>
              <a:rPr sz="1300" b="0" i="0">
                <a:solidFill>
                  <a:srgbClr val="4A5568"/>
                </a:solidFill>
                <a:latin typeface="Calibri"/>
                <a:ea typeface="Calibri"/>
                <a:cs typeface="Calibri"/>
              </a:rPr>
              <a:t>主流叙事认为神经科学已退出大模型主线。这篇把注意力从层间连接改写为神经元内部结构。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1A1A1A"/>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4A5568"/>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缺口</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512064"/>
            <a:ext cx="11277295" cy="1143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713232"/>
            <a:ext cx="11274552" cy="5779008"/>
          </a:xfrm>
          <a:prstGeom prst="roundRect">
            <a:avLst>
              <a:gd name="adj" fmla="val 8000"/>
            </a:avLst>
          </a:prstGeom>
          <a:solidFill>
            <a:srgbClr val="FFFCF7"/>
          </a:solidFill>
          <a:ln w="12700">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896112"/>
            <a:ext cx="10789920" cy="256032"/>
          </a:xfrm>
          <a:prstGeom prst="rect">
            <a:avLst/>
          </a:prstGeom>
          <a:noFill/>
        </p:spPr>
        <p:txBody>
          <a:bodyPr wrap="square" lIns="0" rIns="0" tIns="0" bIns="0" anchor="t"/>
          <a:lstStyle/>
          <a:p>
            <a:pPr algn="l">
              <a:spcBef>
                <a:spcPts val="0"/>
              </a:spcBef>
              <a:spcAft>
                <a:spcPts val="0"/>
              </a:spcAft>
            </a:pPr>
            <a:r>
              <a:rPr sz="1200" b="1" i="0">
                <a:solidFill>
                  <a:srgbClr val="C41E3A"/>
                </a:solidFill>
                <a:latin typeface="Calibri"/>
                <a:ea typeface="Calibri"/>
                <a:cs typeface="Calibri"/>
              </a:rPr>
              <a:t>信息不足</a:t>
            </a:r>
          </a:p>
        </p:txBody>
      </p:sp>
      <p:sp>
        <p:nvSpPr>
          <p:cNvPr id="10" name="TextBox 9"/>
          <p:cNvSpPr txBox="1"/>
          <p:nvPr/>
        </p:nvSpPr>
        <p:spPr>
          <a:xfrm>
            <a:off x="713232" y="1170432"/>
            <a:ext cx="10789920" cy="548640"/>
          </a:xfrm>
          <a:prstGeom prst="rect">
            <a:avLst/>
          </a:prstGeom>
          <a:noFill/>
        </p:spPr>
        <p:txBody>
          <a:bodyPr wrap="square" lIns="0" rIns="0" tIns="0" bIns="0" anchor="t"/>
          <a:lstStyle/>
          <a:p>
            <a:pPr algn="l">
              <a:spcBef>
                <a:spcPts val="0"/>
              </a:spcBef>
              <a:spcAft>
                <a:spcPts val="0"/>
              </a:spcAft>
            </a:pPr>
            <a:r>
              <a:rPr sz="2800" b="1" i="0">
                <a:solidFill>
                  <a:srgbClr val="1A1A1A"/>
                </a:solidFill>
                <a:latin typeface="Cambria"/>
                <a:ea typeface="Cambria"/>
                <a:cs typeface="Cambria"/>
              </a:rPr>
              <a:t>国内航天留白，美西午后稿不抢写</a:t>
            </a:r>
          </a:p>
        </p:txBody>
      </p:sp>
      <p:sp>
        <p:nvSpPr>
          <p:cNvPr id="11" name="TextBox 10"/>
          <p:cNvSpPr txBox="1"/>
          <p:nvPr/>
        </p:nvSpPr>
        <p:spPr>
          <a:xfrm>
            <a:off x="822960" y="1874519"/>
            <a:ext cx="10515600" cy="4297680"/>
          </a:xfrm>
          <a:prstGeom prst="rect">
            <a:avLst/>
          </a:prstGeom>
          <a:noFill/>
        </p:spPr>
        <p:txBody>
          <a:bodyPr wrap="square">
            <a:spAutoFit/>
          </a:bodyPr>
          <a:lstStyle/>
          <a:p>
            <a:pPr>
              <a:spcAft>
                <a:spcPts val="1000"/>
              </a:spcAft>
            </a:pPr>
            <a:r>
              <a:rPr sz="1500" b="0" i="0">
                <a:solidFill>
                  <a:srgbClr val="4A5568"/>
                </a:solidFill>
                <a:latin typeface="Calibri"/>
                <a:ea typeface="Calibri"/>
                <a:cs typeface="Calibri"/>
              </a:rPr>
              <a:t>·  未见15日国内航天发射。朱雀二号改进型遥四为14日19:40，已入14日刊；新华社15日视频为续稿。</a:t>
            </a:r>
          </a:p>
          <a:p>
            <a:pPr>
              <a:spcAft>
                <a:spcPts val="1000"/>
              </a:spcAft>
            </a:pPr>
            <a:r>
              <a:rPr sz="1500" b="0" i="0">
                <a:solidFill>
                  <a:srgbClr val="4A5568"/>
                </a:solidFill>
                <a:latin typeface="Calibri"/>
                <a:ea typeface="Calibri"/>
                <a:cs typeface="Calibri"/>
              </a:rPr>
              <a:t>·  Meta Muse Spark Open、苹果MLX联名、沃尔沃—英伟达自动驾驶扩容、谷歌Willow“魔法态培养”Science论文，美西/欧洲下午见报，折沪时已入16日。</a:t>
            </a:r>
          </a:p>
          <a:p>
            <a:pPr>
              <a:spcAft>
                <a:spcPts val="1000"/>
              </a:spcAft>
            </a:pPr>
            <a:r>
              <a:rPr sz="1500" b="0" i="0">
                <a:solidFill>
                  <a:srgbClr val="4A5568"/>
                </a:solidFill>
                <a:latin typeface="Calibri"/>
                <a:ea typeface="Calibri"/>
                <a:cs typeface="Calibri"/>
              </a:rPr>
              <a:t>·  RTX Spark全球发布定于16日；英伟达Run:ai开源博客元数据为13日，不充当15日首发。</a:t>
            </a:r>
          </a:p>
          <a:p>
            <a:pPr>
              <a:spcAft>
                <a:spcPts val="1000"/>
              </a:spcAft>
            </a:pPr>
            <a:r>
              <a:rPr sz="1500" b="0" i="0">
                <a:solidFill>
                  <a:srgbClr val="4A5568"/>
                </a:solidFill>
                <a:latin typeface="Calibri"/>
                <a:ea typeface="Calibri"/>
                <a:cs typeface="Calibri"/>
              </a:rPr>
              <a:t>·  中国电科58所“超宽带星载频率源芯片”仅见转载站，未见研究所或集团通稿，不立项。</a:t>
            </a:r>
          </a:p>
          <a:p>
            <a:pPr>
              <a:spcAft>
                <a:spcPts val="1000"/>
              </a:spcAft>
            </a:pPr>
            <a:r>
              <a:rPr sz="1500" b="0" i="0">
                <a:solidFill>
                  <a:srgbClr val="4A5568"/>
                </a:solidFill>
                <a:latin typeface="Calibri"/>
                <a:ea typeface="Calibri"/>
                <a:cs typeface="Calibri"/>
              </a:rPr>
              <a:t>·  7电子伏特宽带隙半导体《自然》论文为10月7日在线，本期只是纸本目录，不重写。</a:t>
            </a:r>
          </a:p>
          <a:p>
            <a:pPr>
              <a:spcAft>
                <a:spcPts val="1000"/>
              </a:spcAft>
            </a:pPr>
            <a:r>
              <a:rPr sz="1500" b="0" i="0">
                <a:solidFill>
                  <a:srgbClr val="4A5568"/>
                </a:solidFill>
                <a:latin typeface="Calibri"/>
                <a:ea typeface="Calibri"/>
                <a:cs typeface="Calibri"/>
              </a:rPr>
              <a:t>·  猎鹰9号USSF-481窗口15日17:01 PDT，折沪时16日08:01，不入本日。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3291840" cy="256032"/>
          </a:xfrm>
          <a:prstGeom prst="rect">
            <a:avLst/>
          </a:prstGeom>
          <a:noFill/>
        </p:spPr>
        <p:txBody>
          <a:bodyPr wrap="square" lIns="0" rIns="0" tIns="0" bIns="0" anchor="t"/>
          <a:lstStyle/>
          <a:p>
            <a:pPr algn="l">
              <a:spcBef>
                <a:spcPts val="0"/>
              </a:spcBef>
              <a:spcAft>
                <a:spcPts val="0"/>
              </a:spcAft>
            </a:pPr>
            <a:r>
              <a:rPr sz="1300" b="1" i="0">
                <a:solidFill>
                  <a:srgbClr val="F7F4EF"/>
                </a:solidFill>
                <a:latin typeface="Cambria"/>
                <a:ea typeface="Cambria"/>
                <a:cs typeface="Cambria"/>
              </a:rPr>
              <a:t>每日时政科技简报</a:t>
            </a:r>
          </a:p>
        </p:txBody>
      </p:sp>
      <p:sp>
        <p:nvSpPr>
          <p:cNvPr id="4" name="TextBox 3"/>
          <p:cNvSpPr txBox="1"/>
          <p:nvPr/>
        </p:nvSpPr>
        <p:spPr>
          <a:xfrm>
            <a:off x="4023360" y="201168"/>
            <a:ext cx="5120640" cy="256032"/>
          </a:xfrm>
          <a:prstGeom prst="rect">
            <a:avLst/>
          </a:prstGeom>
          <a:noFill/>
        </p:spPr>
        <p:txBody>
          <a:bodyPr wrap="square" lIns="0" rIns="0" tIns="0" bIns="0" anchor="t"/>
          <a:lstStyle/>
          <a:p>
            <a:pPr algn="ctr">
              <a:spcBef>
                <a:spcPts val="0"/>
              </a:spcBef>
              <a:spcAft>
                <a:spcPts val="0"/>
              </a:spcAft>
            </a:pPr>
            <a:r>
              <a:rPr sz="1100" b="0" i="0">
                <a:solidFill>
                  <a:srgbClr val="C9C2B6"/>
                </a:solidFill>
                <a:latin typeface="Calibri"/>
                <a:ea typeface="Calibri"/>
                <a:cs typeface="Calibri"/>
              </a:rPr>
              <a:t>第024期  ·  2026年10月15日  ·  星期四</a:t>
            </a:r>
          </a:p>
        </p:txBody>
      </p:sp>
      <p:sp>
        <p:nvSpPr>
          <p:cNvPr id="5" name="TextBox 4"/>
          <p:cNvSpPr txBox="1"/>
          <p:nvPr/>
        </p:nvSpPr>
        <p:spPr>
          <a:xfrm>
            <a:off x="10241280" y="201168"/>
            <a:ext cx="1463040" cy="256032"/>
          </a:xfrm>
          <a:prstGeom prst="rect">
            <a:avLst/>
          </a:prstGeom>
          <a:noFill/>
        </p:spPr>
        <p:txBody>
          <a:bodyPr wrap="square" lIns="0" rIns="0" tIns="0" bIns="0" anchor="t"/>
          <a:lstStyle/>
          <a:p>
            <a:pPr algn="r">
              <a:spcBef>
                <a:spcPts val="0"/>
              </a:spcBef>
              <a:spcAft>
                <a:spcPts val="0"/>
              </a:spcAft>
            </a:pPr>
            <a:r>
              <a:rPr sz="1200" b="1" i="0">
                <a:solidFill>
                  <a:srgbClr val="C41E3A"/>
                </a:solidFill>
                <a:latin typeface="Calibri"/>
                <a:ea typeface="Calibri"/>
                <a:cs typeface="Calibri"/>
              </a:rPr>
              <a:t>收束</a:t>
            </a:r>
          </a:p>
        </p:txBody>
      </p:sp>
      <p:sp>
        <p:nvSpPr>
          <p:cNvPr id="6" name="Rectangle 5"/>
          <p:cNvSpPr/>
          <p:nvPr/>
        </p:nvSpPr>
        <p:spPr>
          <a:xfrm>
            <a:off x="457200" y="475488"/>
            <a:ext cx="11277295" cy="2794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713232"/>
            <a:ext cx="5943600" cy="256032"/>
          </a:xfrm>
          <a:prstGeom prst="rect">
            <a:avLst/>
          </a:prstGeom>
          <a:noFill/>
        </p:spPr>
        <p:txBody>
          <a:bodyPr wrap="square" lIns="0" rIns="0" tIns="0" bIns="0" anchor="t"/>
          <a:lstStyle/>
          <a:p>
            <a:pPr algn="l">
              <a:spcBef>
                <a:spcPts val="0"/>
              </a:spcBef>
              <a:spcAft>
                <a:spcPts val="0"/>
              </a:spcAft>
            </a:pPr>
            <a:r>
              <a:rPr sz="1100" b="1" i="0">
                <a:solidFill>
                  <a:srgbClr val="C9C2B6"/>
                </a:solidFill>
                <a:latin typeface="Calibri"/>
                <a:ea typeface="Calibri"/>
                <a:cs typeface="Calibri"/>
              </a:rPr>
              <a:t>THE EVENING LEDGER</a:t>
            </a:r>
          </a:p>
        </p:txBody>
      </p:sp>
      <p:sp>
        <p:nvSpPr>
          <p:cNvPr id="8" name="TextBox 7"/>
          <p:cNvSpPr txBox="1"/>
          <p:nvPr/>
        </p:nvSpPr>
        <p:spPr>
          <a:xfrm>
            <a:off x="7498079" y="713232"/>
            <a:ext cx="4206240" cy="256032"/>
          </a:xfrm>
          <a:prstGeom prst="rect">
            <a:avLst/>
          </a:prstGeom>
          <a:noFill/>
        </p:spPr>
        <p:txBody>
          <a:bodyPr wrap="square" lIns="0" rIns="0" tIns="0" bIns="0" anchor="t"/>
          <a:lstStyle/>
          <a:p>
            <a:pPr algn="r">
              <a:spcBef>
                <a:spcPts val="0"/>
              </a:spcBef>
              <a:spcAft>
                <a:spcPts val="0"/>
              </a:spcAft>
            </a:pPr>
            <a:r>
              <a:rPr sz="1100" b="0" i="0">
                <a:solidFill>
                  <a:srgbClr val="C9C2B6"/>
                </a:solidFill>
                <a:latin typeface="Calibri"/>
                <a:ea typeface="Calibri"/>
                <a:cs typeface="Calibri"/>
              </a:rPr>
              <a:t>第024期 · 收束</a:t>
            </a:r>
          </a:p>
        </p:txBody>
      </p:sp>
      <p:sp>
        <p:nvSpPr>
          <p:cNvPr id="9" name="Rectangle 8"/>
          <p:cNvSpPr/>
          <p:nvPr/>
        </p:nvSpPr>
        <p:spPr>
          <a:xfrm>
            <a:off x="457200" y="1005840"/>
            <a:ext cx="11277295" cy="38100"/>
          </a:xfrm>
          <a:prstGeom prst="rect">
            <a:avLst/>
          </a:prstGeom>
          <a:solidFill>
            <a:srgbClr val="C4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70432"/>
            <a:ext cx="11247120" cy="777240"/>
          </a:xfrm>
          <a:prstGeom prst="rect">
            <a:avLst/>
          </a:prstGeom>
          <a:noFill/>
        </p:spPr>
        <p:txBody>
          <a:bodyPr wrap="square" lIns="0" rIns="0" tIns="0" bIns="0" anchor="t"/>
          <a:lstStyle/>
          <a:p>
            <a:pPr algn="l">
              <a:spcBef>
                <a:spcPts val="0"/>
              </a:spcBef>
              <a:spcAft>
                <a:spcPts val="0"/>
              </a:spcAft>
            </a:pPr>
            <a:r>
              <a:rPr sz="2800" b="1" i="0">
                <a:solidFill>
                  <a:srgbClr val="F7F4EF"/>
                </a:solidFill>
                <a:latin typeface="Cambria"/>
                <a:ea typeface="Cambria"/>
                <a:cs typeface="Cambria"/>
              </a:rPr>
              <a:t>巴库写倡议，新桥开通，晶圆交出纪录账</a:t>
            </a:r>
          </a:p>
        </p:txBody>
      </p:sp>
      <p:sp>
        <p:nvSpPr>
          <p:cNvPr id="11" name="TextBox 10"/>
          <p:cNvSpPr txBox="1"/>
          <p:nvPr/>
        </p:nvSpPr>
        <p:spPr>
          <a:xfrm>
            <a:off x="457200" y="1965960"/>
            <a:ext cx="11247120" cy="1417320"/>
          </a:xfrm>
          <a:prstGeom prst="rect">
            <a:avLst/>
          </a:prstGeom>
          <a:noFill/>
        </p:spPr>
        <p:txBody>
          <a:bodyPr wrap="square">
            <a:spAutoFit/>
          </a:bodyPr>
          <a:lstStyle/>
          <a:p>
            <a:pPr algn="l">
              <a:spcBef>
                <a:spcPts val="0"/>
              </a:spcBef>
              <a:spcAft>
                <a:spcPts val="0"/>
              </a:spcAft>
            </a:pPr>
            <a:r>
              <a:rPr sz="1400" b="0" i="0">
                <a:solidFill>
                  <a:srgbClr val="C9C2B6"/>
                </a:solidFill>
                <a:latin typeface="Calibri"/>
                <a:ea typeface="Calibri"/>
                <a:cs typeface="Calibri"/>
              </a:rPr>
              <a:t>王毅把亚信第七次峰会写成四点倡议，并点名霍尔木兹与红海应当畅通。李强为中朝新鸭绿江大桥开通致辞，宣布访乌、塔并赴莫斯科举行总理定期会晤。美中央司令部与革命卫队就海峡控制权对质。台积电连六季纪录利润。英伟达cuPotential折沪时入账。理化所把超流氦写成千瓦级。《自然》把造礁珊瑚的受威胁比例更新为44%。</a:t>
            </a:r>
          </a:p>
        </p:txBody>
      </p:sp>
      <p:sp>
        <p:nvSpPr>
          <p:cNvPr id="12" name="Rounded Rectangle 11"/>
          <p:cNvSpPr/>
          <p:nvPr/>
        </p:nvSpPr>
        <p:spPr>
          <a:xfrm>
            <a:off x="457200" y="3493008"/>
            <a:ext cx="5486400"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611880"/>
            <a:ext cx="5029200" cy="256032"/>
          </a:xfrm>
          <a:prstGeom prst="rect">
            <a:avLst/>
          </a:prstGeom>
          <a:noFill/>
        </p:spPr>
        <p:txBody>
          <a:bodyPr wrap="square" lIns="0" rIns="0" tIns="0" bIns="0" anchor="t"/>
          <a:lstStyle/>
          <a:p>
            <a:pPr algn="l">
              <a:spcBef>
                <a:spcPts val="0"/>
              </a:spcBef>
              <a:spcAft>
                <a:spcPts val="0"/>
              </a:spcAft>
            </a:pPr>
            <a:r>
              <a:rPr sz="1200" b="1" i="0">
                <a:solidFill>
                  <a:srgbClr val="C41E3A"/>
                </a:solidFill>
                <a:latin typeface="Calibri"/>
                <a:ea typeface="Calibri"/>
                <a:cs typeface="Calibri"/>
              </a:rPr>
              <a:t>时政六条</a:t>
            </a:r>
          </a:p>
        </p:txBody>
      </p:sp>
      <p:sp>
        <p:nvSpPr>
          <p:cNvPr id="14" name="TextBox 13"/>
          <p:cNvSpPr txBox="1"/>
          <p:nvPr/>
        </p:nvSpPr>
        <p:spPr>
          <a:xfrm>
            <a:off x="658368" y="3913632"/>
            <a:ext cx="5029200" cy="1600200"/>
          </a:xfrm>
          <a:prstGeom prst="rect">
            <a:avLst/>
          </a:prstGeom>
          <a:noFill/>
        </p:spPr>
        <p:txBody>
          <a:bodyPr wrap="square">
            <a:spAutoFit/>
          </a:bodyPr>
          <a:lstStyle/>
          <a:p>
            <a:pPr algn="l">
              <a:spcBef>
                <a:spcPts val="0"/>
              </a:spcBef>
              <a:spcAft>
                <a:spcPts val="200"/>
              </a:spcAft>
            </a:pPr>
            <a:r>
              <a:rPr sz="1300" b="0" i="0">
                <a:solidFill>
                  <a:srgbClr val="F7F4EF"/>
                </a:solidFill>
                <a:latin typeface="Calibri"/>
                <a:ea typeface="Calibri"/>
                <a:cs typeface="Calibri"/>
              </a:rPr>
              <a:t>1.  亚信峰会写四点倡议</a:t>
            </a:r>
          </a:p>
          <a:p>
            <a:pPr algn="l">
              <a:spcBef>
                <a:spcPts val="0"/>
              </a:spcBef>
              <a:spcAft>
                <a:spcPts val="200"/>
              </a:spcAft>
            </a:pPr>
            <a:r>
              <a:rPr sz="1300" b="0" i="0">
                <a:solidFill>
                  <a:srgbClr val="F7F4EF"/>
                </a:solidFill>
                <a:latin typeface="Calibri"/>
                <a:ea typeface="Calibri"/>
                <a:cs typeface="Calibri"/>
              </a:rPr>
              <a:t>2.  新鸭绿江大桥开通</a:t>
            </a:r>
          </a:p>
          <a:p>
            <a:pPr algn="l">
              <a:spcBef>
                <a:spcPts val="0"/>
              </a:spcBef>
              <a:spcAft>
                <a:spcPts val="200"/>
              </a:spcAft>
            </a:pPr>
            <a:r>
              <a:rPr sz="1300" b="0" i="0">
                <a:solidFill>
                  <a:srgbClr val="F7F4EF"/>
                </a:solidFill>
                <a:latin typeface="Calibri"/>
                <a:ea typeface="Calibri"/>
                <a:cs typeface="Calibri"/>
              </a:rPr>
              <a:t>3.  中亚俄一周行程</a:t>
            </a:r>
          </a:p>
          <a:p>
            <a:pPr algn="l">
              <a:spcBef>
                <a:spcPts val="0"/>
              </a:spcBef>
              <a:spcAft>
                <a:spcPts val="200"/>
              </a:spcAft>
            </a:pPr>
            <a:r>
              <a:rPr sz="1300" b="0" i="0">
                <a:solidFill>
                  <a:srgbClr val="F7F4EF"/>
                </a:solidFill>
                <a:latin typeface="Calibri"/>
                <a:ea typeface="Calibri"/>
                <a:cs typeface="Calibri"/>
              </a:rPr>
              <a:t>4.  落实命运共同体</a:t>
            </a:r>
          </a:p>
          <a:p>
            <a:pPr algn="l">
              <a:spcBef>
                <a:spcPts val="0"/>
              </a:spcBef>
              <a:spcAft>
                <a:spcPts val="200"/>
              </a:spcAft>
            </a:pPr>
            <a:r>
              <a:rPr sz="1300" b="0" i="0">
                <a:solidFill>
                  <a:srgbClr val="F7F4EF"/>
                </a:solidFill>
                <a:latin typeface="Calibri"/>
                <a:ea typeface="Calibri"/>
                <a:cs typeface="Calibri"/>
              </a:rPr>
              <a:t>5.  甲级战犯供奉记录</a:t>
            </a:r>
          </a:p>
          <a:p>
            <a:pPr algn="l">
              <a:spcBef>
                <a:spcPts val="0"/>
              </a:spcBef>
              <a:spcAft>
                <a:spcPts val="200"/>
              </a:spcAft>
            </a:pPr>
            <a:r>
              <a:rPr sz="1300" b="0" i="0">
                <a:solidFill>
                  <a:srgbClr val="F7F4EF"/>
                </a:solidFill>
                <a:latin typeface="Calibri"/>
                <a:ea typeface="Calibri"/>
                <a:cs typeface="Calibri"/>
              </a:rPr>
              <a:t>6.  控制权对质盖过沉船</a:t>
            </a:r>
          </a:p>
        </p:txBody>
      </p:sp>
      <p:sp>
        <p:nvSpPr>
          <p:cNvPr id="15" name="Rounded Rectangle 14"/>
          <p:cNvSpPr/>
          <p:nvPr/>
        </p:nvSpPr>
        <p:spPr>
          <a:xfrm>
            <a:off x="6245352" y="3493008"/>
            <a:ext cx="5486400"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611880"/>
            <a:ext cx="5029200" cy="256032"/>
          </a:xfrm>
          <a:prstGeom prst="rect">
            <a:avLst/>
          </a:prstGeom>
          <a:noFill/>
        </p:spPr>
        <p:txBody>
          <a:bodyPr wrap="square" lIns="0" rIns="0" tIns="0" bIns="0" anchor="t"/>
          <a:lstStyle/>
          <a:p>
            <a:pPr algn="l">
              <a:spcBef>
                <a:spcPts val="0"/>
              </a:spcBef>
              <a:spcAft>
                <a:spcPts val="0"/>
              </a:spcAft>
            </a:pPr>
            <a:r>
              <a:rPr sz="1200" b="1" i="0">
                <a:solidFill>
                  <a:srgbClr val="C41E3A"/>
                </a:solidFill>
                <a:latin typeface="Calibri"/>
                <a:ea typeface="Calibri"/>
                <a:cs typeface="Calibri"/>
              </a:rPr>
              <a:t>科技五条 · 缺口</a:t>
            </a:r>
          </a:p>
        </p:txBody>
      </p:sp>
      <p:sp>
        <p:nvSpPr>
          <p:cNvPr id="17" name="TextBox 16"/>
          <p:cNvSpPr txBox="1"/>
          <p:nvPr/>
        </p:nvSpPr>
        <p:spPr>
          <a:xfrm>
            <a:off x="6446520" y="3913632"/>
            <a:ext cx="5029200" cy="1600200"/>
          </a:xfrm>
          <a:prstGeom prst="rect">
            <a:avLst/>
          </a:prstGeom>
          <a:noFill/>
        </p:spPr>
        <p:txBody>
          <a:bodyPr wrap="square">
            <a:spAutoFit/>
          </a:bodyPr>
          <a:lstStyle/>
          <a:p>
            <a:pPr algn="l">
              <a:spcBef>
                <a:spcPts val="0"/>
              </a:spcBef>
              <a:spcAft>
                <a:spcPts val="200"/>
              </a:spcAft>
            </a:pPr>
            <a:r>
              <a:rPr sz="1300" b="0" i="0">
                <a:solidFill>
                  <a:srgbClr val="F7F4EF"/>
                </a:solidFill>
                <a:latin typeface="Calibri"/>
                <a:ea typeface="Calibri"/>
                <a:cs typeface="Calibri"/>
              </a:rPr>
              <a:t>1.  连六季纪录利润</a:t>
            </a:r>
          </a:p>
          <a:p>
            <a:pPr algn="l">
              <a:spcBef>
                <a:spcPts val="0"/>
              </a:spcBef>
              <a:spcAft>
                <a:spcPts val="200"/>
              </a:spcAft>
            </a:pPr>
            <a:r>
              <a:rPr sz="1300" b="0" i="0">
                <a:solidFill>
                  <a:srgbClr val="F7F4EF"/>
                </a:solidFill>
                <a:latin typeface="Calibri"/>
                <a:ea typeface="Calibri"/>
                <a:cs typeface="Calibri"/>
              </a:rPr>
              <a:t>2.  原子模拟库早鸟</a:t>
            </a:r>
          </a:p>
          <a:p>
            <a:pPr algn="l">
              <a:spcBef>
                <a:spcPts val="0"/>
              </a:spcBef>
              <a:spcAft>
                <a:spcPts val="200"/>
              </a:spcAft>
            </a:pPr>
            <a:r>
              <a:rPr sz="1300" b="0" i="0">
                <a:solidFill>
                  <a:srgbClr val="F7F4EF"/>
                </a:solidFill>
                <a:latin typeface="Calibri"/>
                <a:ea typeface="Calibri"/>
                <a:cs typeface="Calibri"/>
              </a:rPr>
              <a:t>3.  超流氦千瓦级</a:t>
            </a:r>
          </a:p>
          <a:p>
            <a:pPr algn="l">
              <a:spcBef>
                <a:spcPts val="0"/>
              </a:spcBef>
              <a:spcAft>
                <a:spcPts val="200"/>
              </a:spcAft>
            </a:pPr>
            <a:r>
              <a:rPr sz="1300" b="0" i="0">
                <a:solidFill>
                  <a:srgbClr val="F7F4EF"/>
                </a:solidFill>
                <a:latin typeface="Calibri"/>
                <a:ea typeface="Calibri"/>
                <a:cs typeface="Calibri"/>
              </a:rPr>
              <a:t>4.  珊瑚近半受威胁</a:t>
            </a:r>
          </a:p>
          <a:p>
            <a:pPr algn="l">
              <a:spcBef>
                <a:spcPts val="0"/>
              </a:spcBef>
              <a:spcAft>
                <a:spcPts val="200"/>
              </a:spcAft>
            </a:pPr>
            <a:r>
              <a:rPr sz="1300" b="0" i="0">
                <a:solidFill>
                  <a:srgbClr val="F7F4EF"/>
                </a:solidFill>
                <a:latin typeface="Calibri"/>
                <a:ea typeface="Calibri"/>
                <a:cs typeface="Calibri"/>
              </a:rPr>
              <a:t>5.  树突映射注意力</a:t>
            </a:r>
          </a:p>
        </p:txBody>
      </p:sp>
      <p:sp>
        <p:nvSpPr>
          <p:cNvPr id="18" name="TextBox 17"/>
          <p:cNvSpPr txBox="1"/>
          <p:nvPr/>
        </p:nvSpPr>
        <p:spPr>
          <a:xfrm>
            <a:off x="457200" y="5742432"/>
            <a:ext cx="11247120" cy="658368"/>
          </a:xfrm>
          <a:prstGeom prst="rect">
            <a:avLst/>
          </a:prstGeom>
          <a:noFill/>
        </p:spPr>
        <p:txBody>
          <a:bodyPr wrap="square">
            <a:spAutoFit/>
          </a:bodyPr>
          <a:lstStyle/>
          <a:p>
            <a:pPr algn="l">
              <a:spcBef>
                <a:spcPts val="0"/>
              </a:spcBef>
              <a:spcAft>
                <a:spcPts val="200"/>
              </a:spcAft>
            </a:pPr>
            <a:r>
              <a:rPr sz="1100" b="0" i="0">
                <a:solidFill>
                  <a:srgbClr val="C9C2B6"/>
                </a:solidFill>
                <a:latin typeface="Calibri"/>
                <a:ea typeface="Calibri"/>
                <a:cs typeface="Calibri"/>
              </a:rPr>
              <a:t>日期窗口：Asia/Shanghai 2026-10-15 00:00 至 2026-10-16 00:00。排除14日广交会贺信与开幕式、朱雀二号、霍尔木兹首艘沉船，以及折沪时已入16日的Muse Spark Open、Willow魔法态与USSF-481。</a:t>
            </a:r>
          </a:p>
        </p:txBody>
      </p:sp>
      <p:sp>
        <p:nvSpPr>
          <p:cNvPr id="19" name="TextBox 18"/>
          <p:cNvSpPr txBox="1"/>
          <p:nvPr/>
        </p:nvSpPr>
        <p:spPr>
          <a:xfrm>
            <a:off x="457200" y="6446520"/>
            <a:ext cx="11247120" cy="256032"/>
          </a:xfrm>
          <a:prstGeom prst="rect">
            <a:avLst/>
          </a:prstGeom>
          <a:noFill/>
        </p:spPr>
        <p:txBody>
          <a:bodyPr wrap="square" lIns="0" rIns="0" tIns="0" bIns="0" anchor="t"/>
          <a:lstStyle/>
          <a:p>
            <a:pPr algn="l">
              <a:spcBef>
                <a:spcPts val="0"/>
              </a:spcBef>
              <a:spcAft>
                <a:spcPts val="0"/>
              </a:spcAft>
            </a:pPr>
            <a:r>
              <a:rPr sz="1200" b="1" i="0">
                <a:solidFill>
                  <a:srgbClr val="C41E3A"/>
                </a:solidFill>
                <a:latin typeface="Calibri"/>
                <a:ea typeface="Calibri"/>
                <a:cs typeface="Calibri"/>
              </a:rPr>
              <a:t>每日时政科技简报 · 第024期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