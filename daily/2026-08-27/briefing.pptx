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417320"/>
            <a:ext cx="109728" cy="38404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u="none">
                <a:solidFill>
                  <a:srgbClr val="C41E3A"/>
                </a:solidFill>
                <a:latin typeface="Cambria"/>
                <a:ea typeface="SimSun"/>
                <a:cs typeface="Cambria"/>
              </a:rPr>
              <a:t>THE MORNING GAZETTE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106070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56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u="none">
                <a:solidFill>
                  <a:srgbClr val="F7F4EF"/>
                </a:solidFill>
                <a:latin typeface="Cambria"/>
                <a:ea typeface="SimSun"/>
                <a:cs typeface="Cambria"/>
              </a:rPr>
              <a:t>每日时政科技简报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5468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u="none">
                <a:solidFill>
                  <a:srgbClr val="C41E3A"/>
                </a:solidFill>
                <a:latin typeface="Cambria"/>
                <a:ea typeface="SimSun"/>
                <a:cs typeface="Cambria"/>
              </a:rPr>
              <a:t>第  2  3  9  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u="none">
                <a:solidFill>
                  <a:srgbClr val="C8C2B6"/>
                </a:solidFill>
                <a:latin typeface="Calibri"/>
                <a:ea typeface="Microsoft YaHei"/>
                <a:cs typeface="Calibri"/>
              </a:rPr>
              <a:t>二零二六年八月二十七日  ·  星期四  ·  亚洲/上海「昨日」纪事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709160"/>
            <a:ext cx="1783080" cy="123444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4773168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u="none">
                <a:solidFill>
                  <a:srgbClr val="F7F4EF"/>
                </a:solidFill>
                <a:latin typeface="Cambria"/>
                <a:ea typeface="SimSun"/>
                <a:cs typeface="Cambria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5532120"/>
            <a:ext cx="1554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时政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4709160"/>
            <a:ext cx="1783080" cy="123444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368" y="4773168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u="none">
                <a:solidFill>
                  <a:srgbClr val="F7F4EF"/>
                </a:solidFill>
                <a:latin typeface="Cambria"/>
                <a:ea typeface="SimSun"/>
                <a:cs typeface="Cambria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5532120"/>
            <a:ext cx="1554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科技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4709160"/>
            <a:ext cx="1783080" cy="123444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0328" y="4773168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u="none">
                <a:solidFill>
                  <a:srgbClr val="F7F4EF"/>
                </a:solidFill>
                <a:latin typeface="Cambria"/>
                <a:ea typeface="SimSun"/>
                <a:cs typeface="Cambria"/>
              </a:rPr>
              <a:t>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0328" y="5532120"/>
            <a:ext cx="1554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精选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4983480"/>
            <a:ext cx="47548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u="none">
                <a:solidFill>
                  <a:srgbClr val="A8AEB8"/>
                </a:solidFill>
                <a:latin typeface="Calibri"/>
                <a:ea typeface="Microsoft YaHei"/>
                <a:cs typeface="Calibri"/>
              </a:rPr>
              <a:t>只收该日发生或该日首发。交叉核验新华社、商务部、外交部及 Hot Chips 现场报道。拒绝营销稿与重复转载。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510528"/>
            <a:ext cx="13075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9AA1AB"/>
                </a:solidFill>
                <a:latin typeface="Calibri"/>
                <a:ea typeface="Microsoft YaHei"/>
                <a:cs typeface="Calibri"/>
              </a:rPr>
              <a:t>01  / 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680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C41E3A"/>
                </a:solidFill>
                <a:latin typeface="Cambria"/>
                <a:ea typeface="SimSun"/>
                <a:cs typeface="Cambria"/>
              </a:rPr>
              <a:t>THE MORNING GAZETTE  </a:t>
            </a:r>
            <a:r>
              <a:rPr sz="1200" b="1" u="none">
                <a:solidFill>
                  <a:srgbClr val="1A1A1A"/>
                </a:solidFill>
                <a:latin typeface="Cambria"/>
                <a:ea typeface="SimSun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256032"/>
            <a:ext cx="38679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第239期  ·  2026年8月27日 星期四  ·  时政五则 / 科技四则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03504"/>
            <a:ext cx="1234440" cy="3200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SECTION  ·  POLITICS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7863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u="none">
                <a:solidFill>
                  <a:srgbClr val="1A1A1A"/>
                </a:solidFill>
                <a:latin typeface="Cambria"/>
                <a:ea typeface="SimSun"/>
                <a:cs typeface="Cambria"/>
              </a:rPr>
              <a:t>时政开篇</a:t>
            </a:r>
          </a:p>
        </p:txBody>
      </p:sp>
      <p:sp>
        <p:nvSpPr>
          <p:cNvPr id="8" name="Rectangle 7"/>
          <p:cNvSpPr/>
          <p:nvPr/>
        </p:nvSpPr>
        <p:spPr>
          <a:xfrm>
            <a:off x="8732520" y="1051560"/>
            <a:ext cx="2999232" cy="1874519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143000"/>
            <a:ext cx="27432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u="none">
                <a:solidFill>
                  <a:srgbClr val="F7F4EF"/>
                </a:solidFill>
                <a:latin typeface="Cambria"/>
                <a:ea typeface="SimSun"/>
                <a:cs typeface="Cambria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4688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则时政精选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46120"/>
            <a:ext cx="11274552" cy="26060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429000"/>
            <a:ext cx="1083564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昨日的公共议程被两条线同时拉紧：一条是喜马拉雅边境的搜救，一条是华盛顿与北京之间尚未落锤的高层互动。关税、电网、自贸数字在同一天下午进入记者会，构成一份并不轻松的晨报头版。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10528"/>
            <a:ext cx="13075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6B7380"/>
                </a:solidFill>
                <a:latin typeface="Calibri"/>
                <a:ea typeface="Microsoft YaHei"/>
                <a:cs typeface="Calibri"/>
              </a:rPr>
              <a:t>02  / 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680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C41E3A"/>
                </a:solidFill>
                <a:latin typeface="Cambria"/>
                <a:ea typeface="SimSun"/>
                <a:cs typeface="Cambria"/>
              </a:rPr>
              <a:t>THE MORNING GAZETTE  </a:t>
            </a:r>
            <a:r>
              <a:rPr sz="1200" b="1" u="none">
                <a:solidFill>
                  <a:srgbClr val="1A1A1A"/>
                </a:solidFill>
                <a:latin typeface="Cambria"/>
                <a:ea typeface="SimSun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256032"/>
            <a:ext cx="38679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第239期  ·  2026年8月27日 星期四  ·  时政五则 / 科技四则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03504"/>
            <a:ext cx="1234440" cy="3200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时政  01  /  公共事务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3246120" cy="49834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2880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64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u="none">
                <a:solidFill>
                  <a:srgbClr val="F7F4EF"/>
                </a:solidFill>
                <a:latin typeface="Cambria"/>
                <a:ea typeface="SimSun"/>
                <a:cs typeface="Cambria"/>
              </a:rPr>
              <a:t>558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2880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人仍失联  ·  外籍 260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u="none">
                <a:solidFill>
                  <a:srgbClr val="C8C2B6"/>
                </a:solidFill>
                <a:latin typeface="Calibri"/>
                <a:ea typeface="Microsoft YaHei"/>
                <a:cs typeface="Calibri"/>
              </a:rPr>
              <a:t>新华社  ·  吉隆镇发布会  ·  8月27日13:09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143000"/>
            <a:ext cx="7754112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u="none">
                <a:solidFill>
                  <a:srgbClr val="1A1A1A"/>
                </a:solidFill>
                <a:latin typeface="Cambria"/>
                <a:ea typeface="SimSun"/>
                <a:cs typeface="Cambria"/>
              </a:rPr>
              <a:t>西藏吉隆泥石流搜救出 2 人，遇难 3 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2514600"/>
            <a:ext cx="7754112" cy="19659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2651760"/>
            <a:ext cx="7388352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27日上午，救援指挥部通报：8月26日尼泊尔一侧泥石流冲击吉隆口岸。截至27日8时，搜救出热索村村民2人，遇难3人、失联558人。日喀则已启动自然灾害救助一级应急响应。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77639" y="4663440"/>
            <a:ext cx="7754112" cy="146304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4773168"/>
            <a:ext cx="73883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5047488"/>
            <a:ext cx="738835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跨境地质灾害造成重大人员伤亡，搜救、外籍人员核验与次生灾害防范将持续牵动中尼双边与多国领事协调。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10528"/>
            <a:ext cx="13075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6B7380"/>
                </a:solidFill>
                <a:latin typeface="Calibri"/>
                <a:ea typeface="Microsoft YaHei"/>
                <a:cs typeface="Calibri"/>
              </a:rPr>
              <a:t>03  / 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680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C41E3A"/>
                </a:solidFill>
                <a:latin typeface="Cambria"/>
                <a:ea typeface="SimSun"/>
                <a:cs typeface="Cambria"/>
              </a:rPr>
              <a:t>THE MORNING GAZETTE  </a:t>
            </a:r>
            <a:r>
              <a:rPr sz="1200" b="1" u="none">
                <a:solidFill>
                  <a:srgbClr val="1A1A1A"/>
                </a:solidFill>
                <a:latin typeface="Cambria"/>
                <a:ea typeface="SimSun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256032"/>
            <a:ext cx="38679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第239期  ·  2026年8月27日 星期四  ·  时政五则 / 科技四则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03504"/>
            <a:ext cx="1234440" cy="3200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时政  02  /  外交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11247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u="none">
                <a:solidFill>
                  <a:srgbClr val="1A1A1A"/>
                </a:solidFill>
                <a:latin typeface="Cambria"/>
                <a:ea typeface="SimSun"/>
                <a:cs typeface="Cambria"/>
              </a:rPr>
              <a:t>王毅会见美驻华大使，外交部称中美就元首互动保持沟通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11274552" cy="1417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108356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u="none">
                <a:solidFill>
                  <a:srgbClr val="F7F4EF"/>
                </a:solidFill>
                <a:latin typeface="Cambria"/>
                <a:ea typeface="SimSun"/>
                <a:cs typeface="Cambria"/>
              </a:rPr>
              <a:t>“中美关系仍面临各种风险挑战。双方应聚焦积极议程，妥善管控分歧，为两国高层交往排除干扰、克服障碍。”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—— 外交部长王毅，新华社8月27日电（会见发生于26日，该日首发）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94760"/>
            <a:ext cx="5486400" cy="233172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3794760"/>
            <a:ext cx="5486400" cy="233172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512064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北京口径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林剑27日仅称：中美双方就年内元首互动安排保持着沟通。中方尚未正式公布访美行程。庞德伟转达对吉隆灾情的慰问。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931920"/>
            <a:ext cx="512064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元首会晤筹备与分歧管控同步推进。官方用语克制，显示日程仍在谈，而不是已经敲定的巡礼式宣布。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510528"/>
            <a:ext cx="13075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6B7380"/>
                </a:solidFill>
                <a:latin typeface="Calibri"/>
                <a:ea typeface="Microsoft YaHei"/>
                <a:cs typeface="Calibri"/>
              </a:rPr>
              <a:t>04  / 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680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C41E3A"/>
                </a:solidFill>
                <a:latin typeface="Cambria"/>
                <a:ea typeface="SimSun"/>
                <a:cs typeface="Cambria"/>
              </a:rPr>
              <a:t>THE MORNING GAZETTE  </a:t>
            </a:r>
            <a:r>
              <a:rPr sz="1200" b="1" u="none">
                <a:solidFill>
                  <a:srgbClr val="1A1A1A"/>
                </a:solidFill>
                <a:latin typeface="Cambria"/>
                <a:ea typeface="SimSun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256032"/>
            <a:ext cx="38679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第239期  ·  2026年8月27日 星期四  ·  时政五则 / 科技四则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03504"/>
            <a:ext cx="1234440" cy="3200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时政  03–04  /  对照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u="none">
                <a:solidFill>
                  <a:srgbClr val="1A1A1A"/>
                </a:solidFill>
                <a:latin typeface="Cambria"/>
                <a:ea typeface="SimSun"/>
                <a:cs typeface="Cambria"/>
              </a:rPr>
              <a:t>关税传闻与电网紧急令，同日进入中美议程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463540" cy="44348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8212" y="1691640"/>
            <a:ext cx="5463540" cy="44348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109728" cy="44348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8212" y="1691640"/>
            <a:ext cx="109728" cy="4434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874519"/>
            <a:ext cx="4983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03  ·  经贸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176272"/>
            <a:ext cx="4983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u="none">
                <a:solidFill>
                  <a:srgbClr val="1A1A1A"/>
                </a:solidFill>
                <a:latin typeface="Cambria"/>
                <a:ea typeface="SimSun"/>
                <a:cs typeface="Cambria"/>
              </a:rPr>
              <a:t>商务部反对美拟加征 7.5% 关税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063240"/>
            <a:ext cx="49834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黄玲27日称，美方以“产能过剩”为由对16个经济体发起301调查，将经贸问题政治化，是典型单边主义、保护主义。中方坚决反对，并保留采取一切必要措施的权利。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709160"/>
            <a:ext cx="49834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为何重要  ·  新华社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传闻正值元首会晤筹备窗口，中方公开留权，贸易摩擦可能成为会前博弈变量。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0820" y="1874519"/>
            <a:ext cx="4983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04  ·  安全 / 供应链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176272"/>
            <a:ext cx="4983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u="none">
                <a:solidFill>
                  <a:srgbClr val="1A1A1A"/>
                </a:solidFill>
                <a:latin typeface="Cambria"/>
                <a:ea typeface="SimSun"/>
                <a:cs typeface="Cambria"/>
              </a:rPr>
              <a:t>美限制外国电网设备，中方反对泛化国安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0820" y="3063240"/>
            <a:ext cx="49834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特朗普26日签署行政令，授权限制变压器、逆变器、储能系统等大容量电力设备。林剑27日回应：中方一贯反对泛化国家安全概念、打压别国企业。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0820" y="4709160"/>
            <a:ext cx="49834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为何重要  ·  美国之音 / 外交部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命令可评估已装设备，或冲击全球逆变器与变压器供应链。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3075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6B7380"/>
                </a:solidFill>
                <a:latin typeface="Calibri"/>
                <a:ea typeface="Microsoft YaHei"/>
                <a:cs typeface="Calibri"/>
              </a:rPr>
              <a:t>05  / 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680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C41E3A"/>
                </a:solidFill>
                <a:latin typeface="Cambria"/>
                <a:ea typeface="SimSun"/>
                <a:cs typeface="Cambria"/>
              </a:rPr>
              <a:t>THE MORNING GAZETTE  </a:t>
            </a:r>
            <a:r>
              <a:rPr sz="1200" b="1" u="none">
                <a:solidFill>
                  <a:srgbClr val="1A1A1A"/>
                </a:solidFill>
                <a:latin typeface="Cambria"/>
                <a:ea typeface="SimSun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256032"/>
            <a:ext cx="38679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第239期  ·  2026年8月27日 星期四  ·  时政五则 / 科技四则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03504"/>
            <a:ext cx="1234440" cy="3200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时政  05  /  开放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76809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u="none">
                <a:solidFill>
                  <a:srgbClr val="1A1A1A"/>
                </a:solidFill>
                <a:latin typeface="Cambria"/>
                <a:ea typeface="SimSun"/>
                <a:cs typeface="Cambria"/>
              </a:rPr>
              <a:t>中瑞自贸协定升级：双方零关税进口占比将超99%</a:t>
            </a:r>
          </a:p>
        </p:txBody>
      </p:sp>
      <p:sp>
        <p:nvSpPr>
          <p:cNvPr id="8" name="Rectangle 7"/>
          <p:cNvSpPr/>
          <p:nvPr/>
        </p:nvSpPr>
        <p:spPr>
          <a:xfrm>
            <a:off x="8549640" y="1051560"/>
            <a:ext cx="3182112" cy="12344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115568"/>
            <a:ext cx="290779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u="none">
                <a:solidFill>
                  <a:srgbClr val="F7F4EF"/>
                </a:solidFill>
                <a:latin typeface="Cambria"/>
                <a:ea typeface="SimSun"/>
                <a:cs typeface="Cambria"/>
              </a:rPr>
              <a:t>99%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874519"/>
            <a:ext cx="29077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零关税进口占比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11274552" cy="1874519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10835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商务部新任发言人黄玲27日介绍：升级后货物、服务、投资均作出更高水平双向开放，并完善原产地规则与贸易便利化。双方还将在数字贸易、人工智能、医药、机械与钟表等领域深化合作，目前正履行国内程序以便正式签署议定书。谈判完成于8月20日，99%这一关键数字于27日发布会首次对外说明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526280"/>
            <a:ext cx="11274552" cy="155448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681728"/>
            <a:ext cx="10835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  ·  中国新闻社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保护主义升温之际，中国与欧洲大陆国家把自贸安排再升一级，是制度型开放的对冲样本，也给供应链企业一张可预期的关税时间表。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10528"/>
            <a:ext cx="13075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6B7380"/>
                </a:solidFill>
                <a:latin typeface="Calibri"/>
                <a:ea typeface="Microsoft YaHei"/>
                <a:cs typeface="Calibri"/>
              </a:rPr>
              <a:t>06  / 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680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C41E3A"/>
                </a:solidFill>
                <a:latin typeface="Cambria"/>
                <a:ea typeface="SimSun"/>
                <a:cs typeface="Cambria"/>
              </a:rPr>
              <a:t>THE MORNING GAZETTE  </a:t>
            </a:r>
            <a:r>
              <a:rPr sz="1200" b="1" u="none">
                <a:solidFill>
                  <a:srgbClr val="1A1A1A"/>
                </a:solidFill>
                <a:latin typeface="Cambria"/>
                <a:ea typeface="SimSun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256032"/>
            <a:ext cx="38679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第239期  ·  2026年8月27日 星期四  ·  时政五则 / 科技四则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03504"/>
            <a:ext cx="1234440" cy="3200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SECTION  · 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7863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u="none">
                <a:solidFill>
                  <a:srgbClr val="1A1A1A"/>
                </a:solidFill>
                <a:latin typeface="Cambria"/>
                <a:ea typeface="SimSun"/>
                <a:cs typeface="Cambria"/>
              </a:rPr>
              <a:t>科技开篇</a:t>
            </a:r>
          </a:p>
        </p:txBody>
      </p:sp>
      <p:sp>
        <p:nvSpPr>
          <p:cNvPr id="8" name="Rectangle 7"/>
          <p:cNvSpPr/>
          <p:nvPr/>
        </p:nvSpPr>
        <p:spPr>
          <a:xfrm>
            <a:off x="8732520" y="1051560"/>
            <a:ext cx="2999232" cy="1874519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143000"/>
            <a:ext cx="27432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7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u="none">
                <a:solidFill>
                  <a:srgbClr val="F7F4EF"/>
                </a:solidFill>
                <a:latin typeface="Cambria"/>
                <a:ea typeface="SimSun"/>
                <a:cs typeface="Cambria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4688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则科技精选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46120"/>
            <a:ext cx="11274552" cy="26060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429000"/>
            <a:ext cx="1083564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8月27日的科技主场在斯坦福一带的 Hot Chips 会场。谷歌、AMD、微软同一天把自研加速器从路线图讲到机架。国内产业政策多见于26日国新办发布会，本期不混入；科学侧以中科院27日通报的 UGCG 结构为补。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10528"/>
            <a:ext cx="13075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6B7380"/>
                </a:solidFill>
                <a:latin typeface="Calibri"/>
                <a:ea typeface="Microsoft YaHei"/>
                <a:cs typeface="Calibri"/>
              </a:rPr>
              <a:t>07  / 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680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C41E3A"/>
                </a:solidFill>
                <a:latin typeface="Cambria"/>
                <a:ea typeface="SimSun"/>
                <a:cs typeface="Cambria"/>
              </a:rPr>
              <a:t>THE MORNING GAZETTE  </a:t>
            </a:r>
            <a:r>
              <a:rPr sz="1200" b="1" u="none">
                <a:solidFill>
                  <a:srgbClr val="1A1A1A"/>
                </a:solidFill>
                <a:latin typeface="Cambria"/>
                <a:ea typeface="SimSun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256032"/>
            <a:ext cx="38679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第239期  ·  2026年8月27日 星期四  ·  时政五则 / 科技四则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03504"/>
            <a:ext cx="1234440" cy="3200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科技  现场  /  Hot Chips 第三日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u="none">
                <a:solidFill>
                  <a:srgbClr val="1A1A1A"/>
                </a:solidFill>
                <a:latin typeface="Cambria"/>
                <a:ea typeface="SimSun"/>
                <a:cs typeface="Cambria"/>
              </a:rPr>
              <a:t>三家超大规模厂商，同一天下午交出自己的硅片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3520440" cy="44805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3520440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8288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01  ·  Google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76272"/>
            <a:ext cx="3200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u="none">
                <a:solidFill>
                  <a:srgbClr val="1A1A1A"/>
                </a:solidFill>
                <a:latin typeface="Cambria"/>
                <a:ea typeface="SimSun"/>
                <a:cs typeface="Cambria"/>
              </a:rPr>
              <a:t>TPUv8 训练与推理分芯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999232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8i 配自研 Axion CPU、8 堆 HBM；8t 超节点规划 9600 颗芯片、2PB 共享 HBM、121 EFLOPS FP4，能效约为上代 Ironwood 两倍。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663440"/>
            <a:ext cx="3200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云厂商同时自研训练与推理芯片，正在把采购从通用 GPU 拆成场景专用硅片。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4256" y="1645920"/>
            <a:ext cx="3520440" cy="44805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645920"/>
            <a:ext cx="3520440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8288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02  ·  AMD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176272"/>
            <a:ext cx="3200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u="none">
                <a:solidFill>
                  <a:srgbClr val="1A1A1A"/>
                </a:solidFill>
                <a:latin typeface="Cambria"/>
                <a:ea typeface="SimSun"/>
                <a:cs typeface="Cambria"/>
              </a:rPr>
              <a:t>Helios 72 卡机架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999232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单架 72 颗 MI455X、31TB HBM4、宣称 2.9 EFLOPS，搭配 96 核 Venice 与 Vulcano 网卡。UALoE 走开放以太网。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4663440"/>
            <a:ext cx="3200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这是对标英伟达机架系统的完整答卷，开放互连将影响云厂商选型。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11312" y="1645920"/>
            <a:ext cx="3520440" cy="44805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11312" y="1645920"/>
            <a:ext cx="3520440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5904" y="18288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03  ·  Microsoft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2176272"/>
            <a:ext cx="3200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u="none">
                <a:solidFill>
                  <a:srgbClr val="1A1A1A"/>
                </a:solidFill>
                <a:latin typeface="Cambria"/>
                <a:ea typeface="SimSun"/>
                <a:cs typeface="Cambria"/>
              </a:rPr>
              <a:t>Maia 200 入 Azure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2999232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台积电 3nm、1400 亿晶体管、6 堆 HBM3e、7TB/s、750W、约 1 万 TFLOPS FP4。软件定义数据流，全以太网规模扩展。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4663440"/>
            <a:ext cx="3200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微软把自研加速器从“宣布存在”推进到可部署的系统叙事。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510528"/>
            <a:ext cx="13075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6B7380"/>
                </a:solidFill>
                <a:latin typeface="Calibri"/>
                <a:ea typeface="Microsoft YaHei"/>
                <a:cs typeface="Calibri"/>
              </a:rPr>
              <a:t>08  / 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680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C41E3A"/>
                </a:solidFill>
                <a:latin typeface="Cambria"/>
                <a:ea typeface="SimSun"/>
                <a:cs typeface="Cambria"/>
              </a:rPr>
              <a:t>THE MORNING GAZETTE  </a:t>
            </a:r>
            <a:r>
              <a:rPr sz="1200" b="1" u="none">
                <a:solidFill>
                  <a:srgbClr val="1A1A1A"/>
                </a:solidFill>
                <a:latin typeface="Cambria"/>
                <a:ea typeface="SimSun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256032"/>
            <a:ext cx="38679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第239期  ·  2026年8月27日 星期四  ·  时政五则 / 科技四则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03504"/>
            <a:ext cx="1234440" cy="3200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科技  04  /  生命科学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112471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u="none">
                <a:solidFill>
                  <a:srgbClr val="1A1A1A"/>
                </a:solidFill>
                <a:latin typeface="Cambria"/>
                <a:ea typeface="SimSun"/>
                <a:cs typeface="Cambria"/>
              </a:rPr>
              <a:t>中科院通报：人源 UGCG 酶八态结构揭示糖鞘脂“总闸门”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3566160" cy="12344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u="none">
                <a:solidFill>
                  <a:srgbClr val="F7F4EF"/>
                </a:solidFill>
                <a:latin typeface="Cambria"/>
                <a:ea typeface="SimSun"/>
                <a:cs typeface="Cambria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4436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功能态结构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15384" y="2194560"/>
            <a:ext cx="3566160" cy="12344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8264" y="228600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u="none">
                <a:solidFill>
                  <a:srgbClr val="1A1A1A"/>
                </a:solidFill>
                <a:latin typeface="Cambria"/>
                <a:ea typeface="SimSun"/>
                <a:cs typeface="Cambria"/>
              </a:rPr>
              <a:t>2.9–3.4Å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8264" y="294436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冷冻电镜分辨率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73568" y="2194560"/>
            <a:ext cx="3566160" cy="12344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228600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u="none">
                <a:solidFill>
                  <a:srgbClr val="1A1A1A"/>
                </a:solidFill>
                <a:latin typeface="Cambria"/>
                <a:ea typeface="SimSun"/>
                <a:cs typeface="Cambria"/>
              </a:rPr>
              <a:t>Nature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294436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26日夜间上线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11880"/>
            <a:ext cx="11274552" cy="246888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49039"/>
            <a:ext cx="108356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上海药物所徐华强团队解析人源 UGCG 如何同时抓取水溶性与膜内底物，并发现灵长类特有调控开关。抑制剂或堵住脂质通道，或干扰糖结合口袋。《自然》于26日23时上线，中科院英文科研通报见于27日。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UGCG 是戈谢病等溶酶体贮积病的关键药靶。高清结构把药物设计从筛选试错，推进到可按结合口袋做机制导向优化。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10528"/>
            <a:ext cx="13075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6B7380"/>
                </a:solidFill>
                <a:latin typeface="Calibri"/>
                <a:ea typeface="Microsoft YaHei"/>
                <a:cs typeface="Calibri"/>
              </a:rPr>
              <a:t>09  / 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u="none">
                <a:solidFill>
                  <a:srgbClr val="F7F4EF"/>
                </a:solidFill>
                <a:latin typeface="Cambria"/>
                <a:ea typeface="SimSun"/>
                <a:cs typeface="Cambria"/>
              </a:rPr>
              <a:t>THE MORNING GAZETTE  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292608"/>
            <a:ext cx="38679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B8BEC8"/>
                </a:solidFill>
                <a:latin typeface="Calibri"/>
                <a:ea typeface="Microsoft YaHei"/>
                <a:cs typeface="Calibri"/>
              </a:rPr>
              <a:t>第239期  ·  2026年8月27日 星期四  ·  时政五则 / 科技四则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"/>
            <a:ext cx="1234440" cy="3200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u="none">
                <a:solidFill>
                  <a:srgbClr val="F7F4EF"/>
                </a:solidFill>
                <a:latin typeface="Cambria"/>
                <a:ea typeface="SimSun"/>
                <a:cs typeface="Cambria"/>
              </a:rPr>
              <a:t>一日收束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73152" cy="5029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公共事务：吉隆口岸泥石流失联规模扩大至558人，中尼搜救与领事核验并行。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13432"/>
            <a:ext cx="73152" cy="50292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1343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中美关系：元首互动仍在沟通，关税传闻与电网紧急令同日成为公开交锋点。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35224"/>
            <a:ext cx="73152" cy="50292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35224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开放对照：中瑞自贸升级给出99%零关税数字，与保护主义叙事形成对照。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57016"/>
            <a:ext cx="73152" cy="50292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5701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科技主场：Hot Chips 第三日，谷歌、AMD、微软同时深化自研加速器叙事。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78808"/>
            <a:ext cx="73152" cy="50292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17880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科学侧记：UGCG 结构为糖脂药靶提供机制模板；国内产业政策稿多见于26日发布会，本期未混入。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u="none">
                <a:solidFill>
                  <a:srgbClr val="9AA1AB"/>
                </a:solidFill>
                <a:latin typeface="Calibri"/>
                <a:ea typeface="Microsoft YaHei"/>
                <a:cs typeface="Calibri"/>
              </a:rPr>
              <a:t>来源：新华社、人民网、中国新闻社、美国之音、ServeTheHome、中国科学院 / Nature。日期口径：Asia/Shanghai 昨日。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510528"/>
            <a:ext cx="13075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9AA1AB"/>
                </a:solidFill>
                <a:latin typeface="Calibri"/>
                <a:ea typeface="Microsoft YaHei"/>
                <a:cs typeface="Calibri"/>
              </a:rPr>
              <a:t>10  /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