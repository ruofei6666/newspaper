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C9C2B6"/>
                </a:solidFill>
                <a:latin typeface="Calibri"/>
                <a:ea typeface="WenQuanYi Micro Hei"/>
                <a:cs typeface="WenQuanYi Micro Hei"/>
              </a:rPr>
              <a:t>●  THE MORNING 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384048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C9C2B6"/>
                </a:solidFill>
                <a:latin typeface="Calibri"/>
                <a:ea typeface="WenQuanYi Micro Hei"/>
                <a:cs typeface="WenQuanYi Micro Hei"/>
              </a:rPr>
              <a:t>ASIA / SHANGHAI　昨日新闻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13232"/>
            <a:ext cx="11185855" cy="304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786384"/>
            <a:ext cx="11185855" cy="127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9728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C41E3A"/>
                </a:solidFill>
                <a:latin typeface="Calibri"/>
                <a:ea typeface="WenQuanYi Micro Hei"/>
                <a:cs typeface="WenQuanYi Micro Hei"/>
              </a:rPr>
              <a:t>第贰肆捌期  ·  二零二六年九月五日  ·  星期六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15568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>
                <a:solidFill>
                  <a:srgbClr val="F7F4EF"/>
                </a:solidFill>
                <a:latin typeface="Cambria"/>
                <a:ea typeface="WenQuanYi Micro Hei"/>
                <a:cs typeface="WenQuanYi Micro Hei"/>
              </a:rPr>
              <a:t>每日时政科技简报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0604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C9C2B6"/>
                </a:solidFill>
                <a:latin typeface="Calibri"/>
                <a:ea typeface="WenQuanYi Micro Hei"/>
                <a:cs typeface="WenQuanYi Micro Hei"/>
              </a:rPr>
              <a:t>只收录该日发生或该日首发的稿件，拒绝转载拼盘。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154680"/>
            <a:ext cx="3529584" cy="1874519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246120"/>
            <a:ext cx="316382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>
                <a:solidFill>
                  <a:srgbClr val="C41E3A"/>
                </a:solidFill>
                <a:latin typeface="Cambria"/>
                <a:ea typeface="WenQuanYi Micro Hei"/>
                <a:cs typeface="WenQuanYi Micro Hei"/>
              </a:rPr>
              <a:t>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096512"/>
            <a:ext cx="31638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7F4EF"/>
                </a:solidFill>
                <a:latin typeface="Calibri"/>
                <a:ea typeface="WenQuanYi Micro Hei"/>
                <a:cs typeface="WenQuanYi Micro Hei"/>
              </a:rPr>
              <a:t>时政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443984"/>
            <a:ext cx="316382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A847A"/>
                </a:solidFill>
                <a:latin typeface="Calibri"/>
                <a:ea typeface="WenQuanYi Micro Hei"/>
                <a:cs typeface="WenQuanYi Micro Hei"/>
              </a:rPr>
              <a:t>停火 · 油轮 · 隧道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3154680"/>
            <a:ext cx="3529584" cy="1874519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3246120"/>
            <a:ext cx="316382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>
                <a:solidFill>
                  <a:srgbClr val="C41E3A"/>
                </a:solidFill>
                <a:latin typeface="Cambria"/>
                <a:ea typeface="WenQuanYi Micro Hei"/>
                <a:cs typeface="WenQuanYi Micro He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4096512"/>
            <a:ext cx="31638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7F4EF"/>
                </a:solidFill>
                <a:latin typeface="Calibri"/>
                <a:ea typeface="WenQuanYi Micro Hei"/>
                <a:cs typeface="WenQuanYi Micro Hei"/>
              </a:rPr>
              <a:t>科技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4443984"/>
            <a:ext cx="316382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A847A"/>
                </a:solidFill>
                <a:latin typeface="Calibri"/>
                <a:ea typeface="WenQuanYi Micro Hei"/>
                <a:cs typeface="WenQuanYi Micro Hei"/>
              </a:rPr>
              <a:t>费马 · Astra配额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3154680"/>
            <a:ext cx="3529584" cy="1874519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2" y="3246120"/>
            <a:ext cx="316382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>
                <a:solidFill>
                  <a:srgbClr val="C41E3A"/>
                </a:solidFill>
                <a:latin typeface="Cambria"/>
                <a:ea typeface="WenQuanYi Micro Hei"/>
                <a:cs typeface="WenQuanYi Micro Hei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4096512"/>
            <a:ext cx="31638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7F4EF"/>
                </a:solidFill>
                <a:latin typeface="Calibri"/>
                <a:ea typeface="WenQuanYi Micro Hei"/>
                <a:cs typeface="WenQuanYi Micro Hei"/>
              </a:rPr>
              <a:t>合计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4443984"/>
            <a:ext cx="316382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A847A"/>
                </a:solidFill>
                <a:latin typeface="Calibri"/>
                <a:ea typeface="WenQuanYi Micro Hei"/>
                <a:cs typeface="WenQuanYi Micro Hei"/>
              </a:rPr>
              <a:t>周六首发可核验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257800"/>
            <a:ext cx="111556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7F4EF"/>
                </a:solidFill>
                <a:latin typeface="Calibri"/>
                <a:ea typeface="WenQuanYi Micro Hei"/>
                <a:cs typeface="WenQuanYi Micro Hei"/>
              </a:rPr>
              <a:t>今日主线：克里姆林宫把一份未公开的停火方案摆上桌，霍尔木兹把报复写成三艘油轮；同一条冰川的南岸抬出中国工人，北岸第一次报出全国捐赠账。科技栏：上期未赶上的费马形式化在沪时凌晨进入公共视野，Astra从白名单走进付费席位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mbria"/>
                <a:ea typeface="WenQuanYi Micro Hei"/>
                <a:cs typeface="WenQuanYi Micro Hei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6032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  <a:ea typeface="WenQuanYi Micro Hei"/>
                <a:cs typeface="WenQuanYi Micro Hei"/>
              </a:rPr>
              <a:t>第248期  ·  2026年9月5日  ·  星期六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56032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C41E3A"/>
                </a:solidFill>
                <a:latin typeface="Calibri"/>
                <a:ea typeface="WenQuanYi Micro Hei"/>
                <a:cs typeface="WenQuanYi Micro 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10108"/>
            <a:ext cx="11185855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49808"/>
            <a:ext cx="1280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400" b="1">
                <a:solidFill>
                  <a:srgbClr val="C41E3A"/>
                </a:solidFill>
                <a:latin typeface="Cambria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841248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1A1A1A"/>
                </a:solidFill>
                <a:latin typeface="Cambria"/>
                <a:ea typeface="WenQuanYi Micro Hei"/>
                <a:cs typeface="WenQuanYi Micro Hei"/>
              </a:rPr>
              <a:t>时政开篇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353312"/>
            <a:ext cx="97840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WenQuanYi Micro Hei"/>
                <a:cs typeface="WenQuanYi Micro Hei"/>
              </a:rPr>
              <a:t>星期六把两场战争同时写进日程：莫斯科谈三天不打首都，波斯湾按「两艘换三艘」拆油轮。河谷这边，一条隧道抬出活人，另一条江南山沟从头开账。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65960"/>
            <a:ext cx="11183112" cy="12344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048256"/>
            <a:ext cx="106070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WenQuanYi Micro Hei"/>
                <a:cs typeface="WenQuanYi Micro Hei"/>
              </a:rPr>
              <a:t>引　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286000"/>
            <a:ext cx="106070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1A1A"/>
                </a:solidFill>
                <a:latin typeface="Cambria"/>
                <a:ea typeface="WenQuanYi Micro Hei"/>
                <a:cs typeface="WenQuanYi Micro Hei"/>
              </a:rPr>
              <a:t>「亲爱的同事们，我热烈欢迎你们来到莫斯科。局势当然并不简单。」——普京在克里姆林宫迎接维特科夫与库什纳，俄媒播出的开场白。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401568"/>
            <a:ext cx="3557016" cy="28803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547872"/>
            <a:ext cx="3191256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200" b="1">
                <a:solidFill>
                  <a:srgbClr val="C41E3A"/>
                </a:solidFill>
                <a:latin typeface="Cambria"/>
                <a:ea typeface="WenQuanYi Micro Hei"/>
                <a:cs typeface="WenQuanYi Micro 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343400"/>
            <a:ext cx="3191256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4A5568"/>
                </a:solidFill>
                <a:latin typeface="Calibri"/>
                <a:ea typeface="WenQuanYi Micro Hei"/>
                <a:cs typeface="WenQuanYi Micro Hei"/>
              </a:rPr>
              <a:t>日不打首都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709160"/>
            <a:ext cx="3191256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  <a:ea typeface="WenQuanYi Micro Hei"/>
                <a:cs typeface="WenQuanYi Micro Hei"/>
              </a:rPr>
              <a:t>佩斯科夫称自午夜起三日不打基辅；泽连斯基承诺同期不打莫斯科。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3401568"/>
            <a:ext cx="3557016" cy="28803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8848" y="3547872"/>
            <a:ext cx="3191256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200" b="1">
                <a:solidFill>
                  <a:srgbClr val="C41E3A"/>
                </a:solidFill>
                <a:latin typeface="Cambria"/>
                <a:ea typeface="WenQuanYi Micro Hei"/>
                <a:cs typeface="WenQuanYi Micro 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4343400"/>
            <a:ext cx="3191256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4A5568"/>
                </a:solidFill>
                <a:latin typeface="Calibri"/>
                <a:ea typeface="WenQuanYi Micro Hei"/>
                <a:cs typeface="WenQuanYi Micro Hei"/>
              </a:rPr>
              <a:t>艘油轮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4709160"/>
            <a:ext cx="3191256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  <a:ea typeface="WenQuanYi Micro Hei"/>
                <a:cs typeface="WenQuanYi Micro Hei"/>
              </a:rPr>
              <a:t>Downy、Stark 1被永久失能，空载Kylo在阿曼湾被摧毁。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9016" y="3401568"/>
            <a:ext cx="3557016" cy="28803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1896" y="3547872"/>
            <a:ext cx="3191256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200" b="1">
                <a:solidFill>
                  <a:srgbClr val="C41E3A"/>
                </a:solidFill>
                <a:latin typeface="Cambria"/>
                <a:ea typeface="WenQuanYi Micro Hei"/>
                <a:cs typeface="WenQuanYi Micro Hei"/>
              </a:rPr>
              <a:t>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6" y="4343400"/>
            <a:ext cx="3191256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4A5568"/>
                </a:solidFill>
                <a:latin typeface="Calibri"/>
                <a:ea typeface="WenQuanYi Micro Hei"/>
                <a:cs typeface="WenQuanYi Micro Hei"/>
              </a:rPr>
              <a:t>日困隧道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1896" y="4709160"/>
            <a:ext cx="3191256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  <a:ea typeface="WenQuanYi Micro Hei"/>
                <a:cs typeface="WenQuanYi Micro Hei"/>
              </a:rPr>
              <a:t>陆海涛从上特里苏里1号225米处获救，是该洞第一名中国籍生还者。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mbria"/>
                <a:ea typeface="WenQuanYi Micro Hei"/>
                <a:cs typeface="WenQuanYi Micro Hei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6032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  <a:ea typeface="WenQuanYi Micro Hei"/>
                <a:cs typeface="WenQuanYi Micro Hei"/>
              </a:rPr>
              <a:t>第248期  ·  2026年9月5日  ·  星期六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56032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C41E3A"/>
                </a:solidFill>
                <a:latin typeface="Calibri"/>
                <a:ea typeface="WenQuanYi Micro Hei"/>
                <a:cs typeface="WenQuanYi Micro 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10108"/>
            <a:ext cx="11185855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49808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A1A1A"/>
                </a:solidFill>
                <a:latin typeface="Cambria"/>
                <a:ea typeface="WenQuanYi Micro Hei"/>
                <a:cs typeface="WenQuanYi Micro Hei"/>
              </a:rPr>
              <a:t>两场战争的星期六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07008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WenQuanYi Micro Hei"/>
                <a:cs typeface="WenQuanYi Micro Hei"/>
              </a:rPr>
              <a:t>一份未公开方案被带进克里姆林宫；同一天，中央司令部把报复写成三艘油轮。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45920"/>
            <a:ext cx="5440680" cy="47091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773936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WenQuanYi Micro Hei"/>
                <a:cs typeface="WenQuanYi Micro Hei"/>
              </a:rPr>
              <a:t>01　外交 · 莫斯科 / 基辅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011680"/>
            <a:ext cx="511149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A1A1A"/>
                </a:solidFill>
                <a:latin typeface="Cambria"/>
                <a:ea typeface="WenQuanYi Micro Hei"/>
                <a:cs typeface="WenQuanYi Micro Hei"/>
              </a:rPr>
              <a:t>普京会见美特使，双方承诺三日不打首都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035808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  <a:ea typeface="WenQuanYi Micro Hei"/>
                <a:cs typeface="WenQuanYi Micro Hei"/>
              </a:rPr>
              <a:t>来源：半岛电视台 / 卫报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310128"/>
            <a:ext cx="5111496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  <a:ea typeface="WenQuanYi Micro Hei"/>
                <a:cs typeface="WenQuanYi Micro Hei"/>
              </a:rPr>
              <a:t>周六普京在克里姆林宫会见特朗普特使维特科夫与库什纳，闭门逾三小时。佩斯科夫称俄军自午夜起三日不打基辅；泽连斯基承诺同期不打莫斯科。特使周日首访基辅。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" y="5276088"/>
            <a:ext cx="5111496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5330952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C41E3A"/>
                </a:solidFill>
                <a:latin typeface="Calibri"/>
                <a:ea typeface="WenQuanYi Micro Hei"/>
                <a:cs typeface="WenQuanYi Micro He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5532120"/>
            <a:ext cx="5111496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WenQuanYi Micro Hei"/>
                <a:cs typeface="WenQuanYi Micro Hei"/>
              </a:rPr>
              <a:t>四年半战争后，华盛顿把一份未公开方案重新摆上桌，但克里姆林宫仍坚持四州与不入约。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1645920"/>
            <a:ext cx="5440680" cy="47091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773936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WenQuanYi Micro Hei"/>
                <a:cs typeface="WenQuanYi Micro Hei"/>
              </a:rPr>
              <a:t>02　军事 · 波斯湾 / 阿曼湾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011680"/>
            <a:ext cx="511149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A1A1A"/>
                </a:solidFill>
                <a:latin typeface="Cambria"/>
                <a:ea typeface="WenQuanYi Micro Hei"/>
                <a:cs typeface="WenQuanYi Micro Hei"/>
              </a:rPr>
              <a:t>美军打击三艘伊朗油轮，报复对军舰的导弹攻击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35808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  <a:ea typeface="WenQuanYi Micro Hei"/>
                <a:cs typeface="WenQuanYi Micro Hei"/>
              </a:rPr>
              <a:t>来源：CNN / 半岛电视台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310128"/>
            <a:ext cx="5111496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  <a:ea typeface="WenQuanYi Micro Hei"/>
                <a:cs typeface="WenQuanYi Micro Hei"/>
              </a:rPr>
              <a:t>中央司令部称，航母与驱逐舰周六躲开革命卫队多枚弹道导弹后，在哈尔克岛外与阿曼湾打击三艘原油船：Downy、Stark 1被永久失能，空载Kylo被摧毁。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5276088"/>
            <a:ext cx="5111496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5330952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C41E3A"/>
                </a:solidFill>
                <a:latin typeface="Calibri"/>
                <a:ea typeface="WenQuanYi Micro Hei"/>
                <a:cs typeface="WenQuanYi Micro He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532120"/>
            <a:ext cx="5111496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WenQuanYi Micro Hei"/>
                <a:cs typeface="WenQuanYi Micro Hei"/>
              </a:rPr>
              <a:t>霍尔木兹航运战从军舰对射升级到油轮对等报复，能源通道风险再抬升。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mbria"/>
                <a:ea typeface="WenQuanYi Micro Hei"/>
                <a:cs typeface="WenQuanYi Micro Hei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6032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  <a:ea typeface="WenQuanYi Micro Hei"/>
                <a:cs typeface="WenQuanYi Micro Hei"/>
              </a:rPr>
              <a:t>第248期  ·  2026年9月5日  ·  星期六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56032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C41E3A"/>
                </a:solidFill>
                <a:latin typeface="Calibri"/>
                <a:ea typeface="WenQuanYi Micro Hei"/>
                <a:cs typeface="WenQuanYi Micro 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10108"/>
            <a:ext cx="11185855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49808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A1A1A"/>
                </a:solidFill>
                <a:latin typeface="Cambria"/>
                <a:ea typeface="WenQuanYi Micro Hei"/>
                <a:cs typeface="WenQuanYi Micro Hei"/>
              </a:rPr>
              <a:t>南岸隧道与北岸捐赠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07008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WenQuanYi Micro Hei"/>
                <a:cs typeface="WenQuanYi Micro Hei"/>
              </a:rPr>
              <a:t>一条洞抬出中国工人，另一条洞宣告搜完。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45920"/>
            <a:ext cx="5440680" cy="47091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773936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WenQuanYi Micro Hei"/>
                <a:cs typeface="WenQuanYi Micro Hei"/>
              </a:rPr>
              <a:t>03　救灾 · 热索瓦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011680"/>
            <a:ext cx="511149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A1A1A"/>
                </a:solidFill>
                <a:latin typeface="Cambria"/>
                <a:ea typeface="WenQuanYi Micro Hei"/>
                <a:cs typeface="WenQuanYi Micro Hei"/>
              </a:rPr>
              <a:t>陆海涛受困十一日后从尼泊尔隧道获救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035808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  <a:ea typeface="WenQuanYi Micro Hei"/>
                <a:cs typeface="WenQuanYi Micro Hei"/>
              </a:rPr>
              <a:t>来源：中新社 / 联合早报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310128"/>
            <a:ext cx="5111496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  <a:ea typeface="WenQuanYi Micro Hei"/>
                <a:cs typeface="WenQuanYi Micro Hei"/>
              </a:rPr>
              <a:t>当地时间5日，尼军与韩国专家从上特里苏里1号隧道入口约225米处救出河南安阳籍工人陆海涛，受困11天。直升机转运加德满都尼军总医院，生命体征平稳。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" y="5276088"/>
            <a:ext cx="5111496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5330952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C41E3A"/>
                </a:solidFill>
                <a:latin typeface="Calibri"/>
                <a:ea typeface="WenQuanYi Micro Hei"/>
                <a:cs typeface="WenQuanYi Micro He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5532120"/>
            <a:ext cx="5111496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WenQuanYi Micro Hei"/>
                <a:cs typeface="WenQuanYi Micro Hei"/>
              </a:rPr>
              <a:t>上特里苏里1号此前被认为数百人受困，这是该洞第一名被证实的中国籍生还者。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1645920"/>
            <a:ext cx="5440680" cy="47091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773936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WenQuanYi Micro Hei"/>
                <a:cs typeface="WenQuanYi Micro Hei"/>
              </a:rPr>
              <a:t>04　救灾 · 尼泊尔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011680"/>
            <a:ext cx="511149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A1A1A"/>
                </a:solidFill>
                <a:latin typeface="Cambria"/>
                <a:ea typeface="WenQuanYi Micro Hei"/>
                <a:cs typeface="WenQuanYi Micro Hei"/>
              </a:rPr>
              <a:t>尼泊尔遇难升至1344人，3A隧道再无生还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35808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  <a:ea typeface="WenQuanYi Micro Hei"/>
                <a:cs typeface="WenQuanYi Micro Hei"/>
              </a:rPr>
              <a:t>来源：香港01 / 尼警方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310128"/>
            <a:ext cx="5111496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  <a:ea typeface="WenQuanYi Micro Hei"/>
                <a:cs typeface="WenQuanYi Micro Hei"/>
              </a:rPr>
              <a:t>尼警方称截至5日5时已发现1344具遗体、4898人失联。上翠苏里3A隧道4日救出2人后，武装警察称已搜遍各段，除两名生还者与一具遗体再无发现。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5276088"/>
            <a:ext cx="5111496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5330952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C41E3A"/>
                </a:solidFill>
                <a:latin typeface="Calibri"/>
                <a:ea typeface="WenQuanYi Micro Hei"/>
                <a:cs typeface="WenQuanYi Micro He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532120"/>
            <a:ext cx="5111496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WenQuanYi Micro Hei"/>
                <a:cs typeface="WenQuanYi Micro Hei"/>
              </a:rPr>
              <a:t>南岸从「隧道里还有活人」转到「这条洞搜完了」，搜救窗口正在收窄。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mbria"/>
                <a:ea typeface="WenQuanYi Micro Hei"/>
                <a:cs typeface="WenQuanYi Micro Hei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6032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  <a:ea typeface="WenQuanYi Micro Hei"/>
                <a:cs typeface="WenQuanYi Micro Hei"/>
              </a:rPr>
              <a:t>第248期  ·  2026年9月5日  ·  星期六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56032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C41E3A"/>
                </a:solidFill>
                <a:latin typeface="Calibri"/>
                <a:ea typeface="WenQuanYi Micro Hei"/>
                <a:cs typeface="WenQuanYi Micro 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10108"/>
            <a:ext cx="11185855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49808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A1A1A"/>
                </a:solidFill>
                <a:latin typeface="Cambria"/>
                <a:ea typeface="WenQuanYi Micro Hei"/>
                <a:cs typeface="WenQuanYi Micro Hei"/>
              </a:rPr>
              <a:t>江南新账与慈善日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07008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WenQuanYi Micro Hei"/>
                <a:cs typeface="WenQuanYi Micro Hei"/>
              </a:rPr>
              <a:t>吉隆搜救未歇，沙德尔又在遂川撕开一条山沟；北岸伤亡未改写，捐赠第一次被写成全国数字。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45920"/>
            <a:ext cx="5440680" cy="47091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773936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WenQuanYi Micro Hei"/>
                <a:cs typeface="WenQuanYi Micro Hei"/>
              </a:rPr>
              <a:t>05　公共事务 · 江西遂川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011680"/>
            <a:ext cx="511149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A1A1A"/>
                </a:solidFill>
                <a:latin typeface="Cambria"/>
                <a:ea typeface="WenQuanYi Micro Hei"/>
                <a:cs typeface="WenQuanYi Micro Hei"/>
              </a:rPr>
              <a:t>台风沙德尔致遂川泥石流，1死11失联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035808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  <a:ea typeface="WenQuanYi Micro Hei"/>
                <a:cs typeface="WenQuanYi Micro Hei"/>
              </a:rPr>
              <a:t>来源：新华社 / 央广网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310128"/>
            <a:ext cx="5111496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  <a:ea typeface="WenQuanYi Micro Hei"/>
                <a:cs typeface="WenQuanYi Micro Hei"/>
              </a:rPr>
              <a:t>5日凌晨4时许，遂川县高坪镇明坑村石下组发生泥石流，12栋房屋受损、8栋全毁，塌方超3万立方米。已救出3人（1人遇难），11人失联。国家防减救灾委启动四级响应。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" y="5276088"/>
            <a:ext cx="5111496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5330952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C41E3A"/>
                </a:solidFill>
                <a:latin typeface="Calibri"/>
                <a:ea typeface="WenQuanYi Micro Hei"/>
                <a:cs typeface="WenQuanYi Micro He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5532120"/>
            <a:ext cx="5111496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WenQuanYi Micro Hei"/>
                <a:cs typeface="WenQuanYi Micro Hei"/>
              </a:rPr>
              <a:t>吉隆搜救未歇，江南又开一条泥石流前线，极端降水正在叠成多点灾情。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1645920"/>
            <a:ext cx="5440680" cy="47091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773936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WenQuanYi Micro Hei"/>
                <a:cs typeface="WenQuanYi Micro Hei"/>
              </a:rPr>
              <a:t>06　社会 · 北京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011680"/>
            <a:ext cx="511149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A1A1A"/>
                </a:solidFill>
                <a:latin typeface="Cambria"/>
                <a:ea typeface="WenQuanYi Micro Hei"/>
                <a:cs typeface="WenQuanYi Micro Hei"/>
              </a:rPr>
              <a:t>民政部：吉隆灾害慈善捐赠已超6.6亿元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35808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  <a:ea typeface="WenQuanYi Micro Hei"/>
                <a:cs typeface="WenQuanYi Micro Hei"/>
              </a:rPr>
              <a:t>来源：新华社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310128"/>
            <a:ext cx="5111496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  <a:ea typeface="WenQuanYi Micro Hei"/>
                <a:cs typeface="WenQuanYi Micro Hei"/>
              </a:rPr>
              <a:t>5日是第十一个中华慈善日。新华社从民政部获悉，吉隆泥石流发生以来慈善捐赠超6.6亿元，其中147万人次经互联网平台捐出5016万元。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5276088"/>
            <a:ext cx="5111496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5330952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C41E3A"/>
                </a:solidFill>
                <a:latin typeface="Calibri"/>
                <a:ea typeface="WenQuanYi Micro Hei"/>
                <a:cs typeface="WenQuanYi Micro He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532120"/>
            <a:ext cx="5111496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WenQuanYi Micro Hei"/>
                <a:cs typeface="WenQuanYi Micro Hei"/>
              </a:rPr>
              <a:t>北岸伤亡账本未再改写，社会捐助第一次被写成可核对的全国数字。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mbria"/>
                <a:ea typeface="WenQuanYi Micro Hei"/>
                <a:cs typeface="WenQuanYi Micro Hei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6032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  <a:ea typeface="WenQuanYi Micro Hei"/>
                <a:cs typeface="WenQuanYi Micro Hei"/>
              </a:rPr>
              <a:t>第248期  ·  2026年9月5日  ·  星期六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56032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C41E3A"/>
                </a:solidFill>
                <a:latin typeface="Calibri"/>
                <a:ea typeface="WenQuanYi Micro Hei"/>
                <a:cs typeface="WenQuanYi Micro 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10108"/>
            <a:ext cx="11185855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49808"/>
            <a:ext cx="1280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400" b="1">
                <a:solidFill>
                  <a:srgbClr val="C41E3A"/>
                </a:solidFill>
                <a:latin typeface="Cambria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841248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1A1A1A"/>
                </a:solidFill>
                <a:latin typeface="Cambria"/>
                <a:ea typeface="WenQuanYi Micro Hei"/>
                <a:cs typeface="WenQuanYi Micro Hei"/>
              </a:rPr>
              <a:t>科技开篇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353312"/>
            <a:ext cx="9784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WenQuanYi Micro Hei"/>
                <a:cs typeface="WenQuanYi Micro Hei"/>
              </a:rPr>
              <a:t>上期截稿后才进入沪时视野的形式化证明，和付费席位终于摸到的Astra，把星期六的科技栏写成核验与配额两件事。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65960"/>
            <a:ext cx="2688336" cy="19659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2057400"/>
            <a:ext cx="243230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C41E3A"/>
                </a:solidFill>
                <a:latin typeface="Cambria"/>
                <a:ea typeface="WenQuanYi Micro Hei"/>
                <a:cs typeface="WenQuanYi Micro Hei"/>
              </a:rPr>
              <a:t>1300万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2670048"/>
            <a:ext cx="243230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  <a:ea typeface="WenQuanYi Micro Hei"/>
                <a:cs typeface="WenQuanYi Micro Hei"/>
              </a:rPr>
              <a:t>行 Lean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980944"/>
            <a:ext cx="243230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WenQuanYi Micro Hei"/>
                <a:cs typeface="WenQuanYi Micro Hei"/>
              </a:rPr>
              <a:t>Claude形式化费马大定理的公开仓库体量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92424" y="1965960"/>
            <a:ext cx="2688336" cy="19659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2057400"/>
            <a:ext cx="243230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C41E3A"/>
                </a:solidFill>
                <a:latin typeface="Cambria"/>
                <a:ea typeface="WenQuanYi Micro Hei"/>
                <a:cs typeface="WenQuanYi Micro Hei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670048"/>
            <a:ext cx="243230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  <a:ea typeface="WenQuanYi Micro Hei"/>
                <a:cs typeface="WenQuanYi Micro Hei"/>
              </a:rPr>
              <a:t>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980944"/>
            <a:ext cx="243230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WenQuanYi Micro Hei"/>
                <a:cs typeface="WenQuanYi Micro Hei"/>
              </a:rPr>
              <a:t>Prove2Me多智能体跑完全程的官方用时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1928" y="1965960"/>
            <a:ext cx="2688336" cy="19659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9944" y="2057400"/>
            <a:ext cx="243230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C41E3A"/>
                </a:solidFill>
                <a:latin typeface="Cambria"/>
                <a:ea typeface="WenQuanYi Micro Hei"/>
                <a:cs typeface="WenQuanYi Micro Hei"/>
              </a:rPr>
              <a:t>200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2670048"/>
            <a:ext cx="243230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  <a:ea typeface="WenQuanYi Micro Hei"/>
                <a:cs typeface="WenQuanYi Micro Hei"/>
              </a:rPr>
              <a:t>条 / 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2980944"/>
            <a:ext cx="243230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WenQuanYi Micro Hei"/>
                <a:cs typeface="WenQuanYi Micro Hei"/>
              </a:rPr>
              <a:t>200美元Pro档GPT-6 Pro的周配额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71432" y="1965960"/>
            <a:ext cx="2688336" cy="19659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9448" y="2057400"/>
            <a:ext cx="243230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C41E3A"/>
                </a:solidFill>
                <a:latin typeface="Cambria"/>
                <a:ea typeface="WenQuanYi Micro Hei"/>
                <a:cs typeface="WenQuanYi Micro Hei"/>
              </a:rPr>
              <a:t>1/2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448" y="2670048"/>
            <a:ext cx="243230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  <a:ea typeface="WenQuanYi Micro Hei"/>
                <a:cs typeface="WenQuanYi Micro Hei"/>
              </a:rPr>
              <a:t>相对Sol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9448" y="2980944"/>
            <a:ext cx="243230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WenQuanYi Micro Hei"/>
                <a:cs typeface="WenQuanYi Micro Hei"/>
              </a:rPr>
              <a:t>标准Astra在五小时窗口约为Sol一半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114800"/>
            <a:ext cx="11183112" cy="233172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4224528"/>
            <a:ext cx="10607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Calibri"/>
                <a:ea typeface="WenQuanYi Micro Hei"/>
                <a:cs typeface="WenQuanYi Micro Hei"/>
              </a:rPr>
              <a:t>编辑观察 · 排除清单与缺口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526280"/>
            <a:ext cx="1060704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7F4EF"/>
                </a:solidFill>
                <a:latin typeface="Calibri"/>
                <a:ea typeface="WenQuanYi Micro Hei"/>
                <a:cs typeface="WenQuanYi Micro Hei"/>
              </a:rPr>
              <a:t>未混入：习近平访美企业家团与国宴、央行5000亿续作、吉隆31/531、3A第九日救人（均4日）；Astra沪时4日凌晨首发与Critical门槛；华为韬定律、三星Arm、微软Zenith、古尔曼苹果长文（4日）；WeatherNext 3、英伟达收购HF、RTX Spark/PAIR、小米IFA（3日）。芯片与整机产业周六未见可交叉核验的首发，已标明缺口。Firecrawl 未安装鉴权。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mbria"/>
                <a:ea typeface="WenQuanYi Micro Hei"/>
                <a:cs typeface="WenQuanYi Micro Hei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6032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  <a:ea typeface="WenQuanYi Micro Hei"/>
                <a:cs typeface="WenQuanYi Micro Hei"/>
              </a:rPr>
              <a:t>第248期  ·  2026年9月5日  ·  星期六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56032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C41E3A"/>
                </a:solidFill>
                <a:latin typeface="Calibri"/>
                <a:ea typeface="WenQuanYi Micro Hei"/>
                <a:cs typeface="WenQuanYi Micro 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10108"/>
            <a:ext cx="11185855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49808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A1A1A"/>
                </a:solidFill>
                <a:latin typeface="Cambria"/>
                <a:ea typeface="WenQuanYi Micro Hei"/>
                <a:cs typeface="WenQuanYi Micro Hei"/>
              </a:rPr>
              <a:t>机器核验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07008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WenQuanYi Micro Hei"/>
                <a:cs typeface="WenQuanYi Micro Hei"/>
              </a:rPr>
              <a:t>公司写出1300万行Lean；最有动机找茬的人自己编译了一遍。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45920"/>
            <a:ext cx="5440680" cy="47091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773936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WenQuanYi Micro Hei"/>
                <a:cs typeface="WenQuanYi Micro Hei"/>
              </a:rPr>
              <a:t>07　科学 · 旧金山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011680"/>
            <a:ext cx="511149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A1A1A"/>
                </a:solidFill>
                <a:latin typeface="Cambria"/>
                <a:ea typeface="WenQuanYi Micro Hei"/>
                <a:cs typeface="WenQuanYi Micro Hei"/>
              </a:rPr>
              <a:t>Claude十一日形式化费马大定理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035808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  <a:ea typeface="WenQuanYi Micro Hei"/>
                <a:cs typeface="WenQuanYi Micro Hei"/>
              </a:rPr>
              <a:t>来源：Anthropic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310128"/>
            <a:ext cx="5111496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  <a:ea typeface="WenQuanYi Micro Hei"/>
                <a:cs typeface="WenQuanYi Micro Hei"/>
              </a:rPr>
              <a:t>内部模型在Prove2Me上用11天、约60亿输出token写出1300万行Lean，证明29500条中间定理。这是对怀尔斯1995年证明的机器可检查翻译，不是新数学。UTC晚间首发，折沪时为5日凌晨。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" y="5276088"/>
            <a:ext cx="5111496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5330952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C41E3A"/>
                </a:solidFill>
                <a:latin typeface="Calibri"/>
                <a:ea typeface="WenQuanYi Micro Hei"/>
                <a:cs typeface="WenQuanYi Micro He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5532120"/>
            <a:ext cx="5111496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WenQuanYi Micro Hei"/>
                <a:cs typeface="WenQuanYi Micro Hei"/>
              </a:rPr>
              <a:t>自动形式化第一次把「千页文献端到端核验」写成可复现的公开仓库。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1645920"/>
            <a:ext cx="5440680" cy="47091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773936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WenQuanYi Micro Hei"/>
                <a:cs typeface="WenQuanYi Micro Hei"/>
              </a:rPr>
              <a:t>08　科学 · 伦敦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011680"/>
            <a:ext cx="511149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A1A1A"/>
                </a:solidFill>
                <a:latin typeface="Cambria"/>
                <a:ea typeface="WenQuanYi Micro Hei"/>
                <a:cs typeface="WenQuanYi Micro Hei"/>
              </a:rPr>
              <a:t>巴泽德独立编译：证明成立，但不是新数学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35808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  <a:ea typeface="WenQuanYi Micro Hei"/>
                <a:cs typeface="WenQuanYi Micro Hei"/>
              </a:rPr>
              <a:t>来源：Xena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310128"/>
            <a:ext cx="5111496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  <a:ea typeface="WenQuanYi Micro Hei"/>
                <a:cs typeface="WenQuanYi Micro Hei"/>
              </a:rPr>
              <a:t>帝国理工巴泽德下载公开仓库并自行编译，确认sorry-free、与Mathlib的FLT陈述一致。他写道这完成了Wiedijk百题最后一题，但EPSRC项目仍要向Mathlib提交。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5276088"/>
            <a:ext cx="5111496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5330952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C41E3A"/>
                </a:solidFill>
                <a:latin typeface="Calibri"/>
                <a:ea typeface="WenQuanYi Micro Hei"/>
                <a:cs typeface="WenQuanYi Micro He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532120"/>
            <a:ext cx="5111496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WenQuanYi Micro Hei"/>
                <a:cs typeface="WenQuanYi Micro Hei"/>
              </a:rPr>
              <a:t>最有动机找茬的竞争者完成了对抗性核验，把公司声明变成可核对的学术事实。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mbria"/>
                <a:ea typeface="WenQuanYi Micro Hei"/>
                <a:cs typeface="WenQuanYi Micro Hei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6032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  <a:ea typeface="WenQuanYi Micro Hei"/>
                <a:cs typeface="WenQuanYi Micro Hei"/>
              </a:rPr>
              <a:t>第248期  ·  2026年9月5日  ·  星期六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56032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C41E3A"/>
                </a:solidFill>
                <a:latin typeface="Calibri"/>
                <a:ea typeface="WenQuanYi Micro Hei"/>
                <a:cs typeface="WenQuanYi Micro 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10108"/>
            <a:ext cx="11185855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49808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A1A1A"/>
                </a:solidFill>
                <a:latin typeface="Cambria"/>
                <a:ea typeface="WenQuanYi Micro Hei"/>
                <a:cs typeface="WenQuanYi Micro Hei"/>
              </a:rPr>
              <a:t>付费席位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07008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WenQuanYi Micro Hei"/>
                <a:cs typeface="WenQuanYi Micro Hei"/>
              </a:rPr>
              <a:t>发布两日后，Astra从白名单走进Work与API；真正的分配规则是配额表。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45920"/>
            <a:ext cx="6537960" cy="47091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773936"/>
            <a:ext cx="620877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WenQuanYi Micro Hei"/>
                <a:cs typeface="WenQuanYi Micro Hei"/>
              </a:rPr>
              <a:t>09　人工智能 · 旧金山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011680"/>
            <a:ext cx="620877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A1A1A"/>
                </a:solidFill>
                <a:latin typeface="Cambria"/>
                <a:ea typeface="WenQuanYi Micro Hei"/>
                <a:cs typeface="WenQuanYi Micro Hei"/>
              </a:rPr>
              <a:t>GPT-6 Astra向Pro、企业与API开放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035808"/>
            <a:ext cx="620877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  <a:ea typeface="WenQuanYi Micro Hei"/>
                <a:cs typeface="WenQuanYi Micro Hei"/>
              </a:rPr>
              <a:t>来源：OpenAI / THE DECODER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310128"/>
            <a:ext cx="6208776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  <a:ea typeface="WenQuanYi Micro Hei"/>
                <a:cs typeface="WenQuanYi Micro Hei"/>
              </a:rPr>
              <a:t>奥尔特曼称Astra已对所有Pro、Enterprise、Business Premium用户在ChatGPT Work与Codex开放，API同步上线，Plus与普通Business仍分批。美中部4日午后声明，折沪时为5日凌晨。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" y="5276088"/>
            <a:ext cx="6208776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5330952"/>
            <a:ext cx="620877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C41E3A"/>
                </a:solidFill>
                <a:latin typeface="Calibri"/>
                <a:ea typeface="WenQuanYi Micro Hei"/>
                <a:cs typeface="WenQuanYi Micro He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5532120"/>
            <a:ext cx="6208776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WenQuanYi Micro Hei"/>
                <a:cs typeface="WenQuanYi Micro Hei"/>
              </a:rPr>
              <a:t>旗舰模型从白名单走进付费席位，发布与可用之间的空窗被写进产品节奏。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33488" y="1645920"/>
            <a:ext cx="4352544" cy="28803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1773936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WenQuanYi Micro Hei"/>
                <a:cs typeface="WenQuanYi Micro Hei"/>
              </a:rPr>
              <a:t>10　产品 · 旧金山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2011680"/>
            <a:ext cx="402336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A1A1A"/>
                </a:solidFill>
                <a:latin typeface="Cambria"/>
                <a:ea typeface="WenQuanYi Micro Hei"/>
                <a:cs typeface="WenQuanYi Micro Hei"/>
              </a:rPr>
              <a:t>Astra额度约为Sol一半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3035808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  <a:ea typeface="WenQuanYi Micro Hei"/>
                <a:cs typeface="WenQuanYi Micro Hei"/>
              </a:rPr>
              <a:t>来源：THE DECODER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3310128"/>
            <a:ext cx="402336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  <a:ea typeface="WenQuanYi Micro Hei"/>
                <a:cs typeface="WenQuanYi Micro Hei"/>
              </a:rPr>
              <a:t>200美元Pro每周200条GPT-6 Pro；100美元档每周50条并与Sol Pro共用。标准Astra在五小时窗口约为Sol一半。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0" y="3447288"/>
            <a:ext cx="4023360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0" y="3502152"/>
            <a:ext cx="40233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C41E3A"/>
                </a:solidFill>
                <a:latin typeface="Calibri"/>
                <a:ea typeface="WenQuanYi Micro Hei"/>
                <a:cs typeface="WenQuanYi Micro He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3703320"/>
            <a:ext cx="4023360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WenQuanYi Micro Hei"/>
                <a:cs typeface="WenQuanYi Micro Hei"/>
              </a:rPr>
              <a:t>电脑操作被写成AGI节点之后，真正的分配规则是配额，不是无限席位。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33488" y="4663440"/>
            <a:ext cx="4352544" cy="169164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79" y="4754880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WenQuanYi Micro Hei"/>
                <a:cs typeface="WenQuanYi Micro Hei"/>
              </a:rPr>
              <a:t>信息不足 · 芯片与整机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5029200"/>
            <a:ext cx="4023360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F7F4EF"/>
                </a:solidFill>
                <a:latin typeface="Calibri"/>
                <a:ea typeface="WenQuanYi Micro Hei"/>
                <a:cs typeface="WenQuanYi Micro Hei"/>
              </a:rPr>
              <a:t>周六未见可交叉核验的芯片流片、整机上市或《自然》《科学》级论文首发。不以韬定律、三星Arm、Zenith或IFA复述凑数。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7F4EF"/>
                </a:solidFill>
                <a:latin typeface="Cambria"/>
                <a:ea typeface="WenQuanYi Micro Hei"/>
                <a:cs typeface="WenQuanYi Micro Hei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6032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B8B0A4"/>
                </a:solidFill>
                <a:latin typeface="Calibri"/>
                <a:ea typeface="WenQuanYi Micro Hei"/>
                <a:cs typeface="WenQuanYi Micro Hei"/>
              </a:rPr>
              <a:t>第248期  ·  2026年9月5日  ·  星期六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56032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C41E3A"/>
                </a:solidFill>
                <a:latin typeface="Calibri"/>
                <a:ea typeface="WenQuanYi Micro Hei"/>
                <a:cs typeface="WenQuanYi Micro Hei"/>
              </a:rPr>
              <a:t>10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10108"/>
            <a:ext cx="11185855" cy="127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7F4EF"/>
                </a:solidFill>
                <a:latin typeface="Cambria"/>
                <a:ea typeface="WenQuanYi Micro Hei"/>
                <a:cs typeface="WenQuanYi Micro Hei"/>
              </a:rPr>
              <a:t>本日判断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1115568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F7F4EF"/>
                </a:solidFill>
                <a:latin typeface="Cambria"/>
                <a:ea typeface="WenQuanYi Micro Hei"/>
                <a:cs typeface="WenQuanYi Micro Hei"/>
              </a:rPr>
              <a:t>星期六不是星期五的复述：莫斯科谈三天不打首都，波斯湾按「两艘换三艘」拆油轮；南岸隧道抬出陆海涛，3A洞宣告搜完，江南遂川另开一本泥石流账。科技栏把上期截稿后的费马形式化写成可编译的公开仓库，又把Astra从白名单写成配额表。芯片与整机首发不足，不拿周四周五的论文和展台补页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60320"/>
            <a:ext cx="5440680" cy="260604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70048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Calibri"/>
                <a:ea typeface="WenQuanYi Micro Hei"/>
                <a:cs typeface="WenQuanYi Micro Hei"/>
              </a:rPr>
              <a:t>时政六条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62656"/>
            <a:ext cx="5029200" cy="2057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F7F4EF"/>
                </a:solidFill>
                <a:latin typeface="Calibri"/>
                <a:ea typeface="WenQuanYi Micro Hei"/>
                <a:cs typeface="WenQuanYi Micro Hei"/>
              </a:rPr>
              <a:t>1. 普京会见美特使，双方承诺三日不打首都
2. 美军打击三艘伊朗油轮
3. 陆海涛受困十一日后从尼泊尔隧道获救
4. 尼泊尔遇难升至1344人，3A隧道再无生还
5. 台风沙德尔致遂川泥石流，1死11失联
6. 民政部：吉隆灾害慈善捐赠已超6.6亿元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2560320"/>
            <a:ext cx="5440680" cy="260604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670048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Calibri"/>
                <a:ea typeface="WenQuanYi Micro Hei"/>
                <a:cs typeface="WenQuanYi Micro Hei"/>
              </a:rPr>
              <a:t>科技四条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962656"/>
            <a:ext cx="5029200" cy="2057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F7F4EF"/>
                </a:solidFill>
                <a:latin typeface="Calibri"/>
                <a:ea typeface="WenQuanYi Micro Hei"/>
                <a:cs typeface="WenQuanYi Micro Hei"/>
              </a:rPr>
              <a:t>1. Claude十一日形式化费马大定理
2. 巴泽德独立编译：证明成立，但不是新数学
3. GPT-6 Astra向Pro、企业与API开放
4. Astra额度约为Sol一半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303520"/>
            <a:ext cx="1115568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C9C2B6"/>
                </a:solidFill>
                <a:latin typeface="Calibri"/>
                <a:ea typeface="WenQuanYi Micro Hei"/>
                <a:cs typeface="WenQuanYi Micro Hei"/>
              </a:rPr>
              <a:t>方法：以 Asia/Shanghai 的昨天（2026-09-05，星期六）为采编窗口；只收该日发生或该日首发。未混入4日访美企业家团、央行续作、吉隆31/531、Astra凌晨首发、韬定律与古尔曼苹果长文。费马形式化UTC晚间进入公共索引，折沪时为5日凌晨。芯片与整机产业首发不足。Firecrawl 未安装鉴权。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309360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Calibri"/>
                <a:ea typeface="WenQuanYi Micro Hei"/>
                <a:cs typeface="WenQuanYi Micro Hei"/>
              </a:rPr>
              <a:t>完 · 可与 briefing.html 对照阅读 · 非投资建议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