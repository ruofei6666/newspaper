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F7F4EF"/>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C9C2B6"/>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封面</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
            <a:ext cx="5943600" cy="256032"/>
          </a:xfrm>
          <a:prstGeom prst="rect">
            <a:avLst/>
          </a:prstGeom>
          <a:noFill/>
        </p:spPr>
        <p:txBody>
          <a:bodyPr wrap="square" anchor="t"/>
          <a:lstStyle/>
          <a:p>
            <a:pPr algn="l">
              <a:lnSpc>
                <a:spcPct val="115000"/>
              </a:lnSpc>
              <a:spcBef>
                <a:spcPts val="0"/>
              </a:spcBef>
              <a:spcAft>
                <a:spcPts val="0"/>
              </a:spcAft>
            </a:pPr>
            <a:r>
              <a:rPr sz="1100" b="0" i="0">
                <a:solidFill>
                  <a:srgbClr val="C9C2B6"/>
                </a:solidFill>
                <a:latin typeface="Calibri"/>
                <a:ea typeface="Microsoft YaHei"/>
                <a:cs typeface="Microsoft YaHei"/>
              </a:rPr>
              <a:t>●  THE MORNING DISPATCH</a:t>
            </a:r>
          </a:p>
        </p:txBody>
      </p:sp>
      <p:sp>
        <p:nvSpPr>
          <p:cNvPr id="8" name="TextBox 7"/>
          <p:cNvSpPr txBox="1"/>
          <p:nvPr/>
        </p:nvSpPr>
        <p:spPr>
          <a:xfrm>
            <a:off x="6766560" y="658368"/>
            <a:ext cx="4965192" cy="256032"/>
          </a:xfrm>
          <a:prstGeom prst="rect">
            <a:avLst/>
          </a:prstGeom>
          <a:noFill/>
        </p:spPr>
        <p:txBody>
          <a:bodyPr wrap="square" anchor="t"/>
          <a:lstStyle/>
          <a:p>
            <a:pPr algn="r">
              <a:lnSpc>
                <a:spcPct val="115000"/>
              </a:lnSpc>
              <a:spcBef>
                <a:spcPts val="0"/>
              </a:spcBef>
              <a:spcAft>
                <a:spcPts val="0"/>
              </a:spcAft>
            </a:pPr>
            <a:r>
              <a:rPr sz="1100" b="0" i="0">
                <a:solidFill>
                  <a:srgbClr val="C9C2B6"/>
                </a:solidFill>
                <a:latin typeface="Calibri"/>
                <a:ea typeface="Microsoft YaHei"/>
                <a:cs typeface="Microsoft YaHei"/>
              </a:rPr>
              <a:t>ASIA / SHANGHAI　昨日新闻</a:t>
            </a:r>
          </a:p>
        </p:txBody>
      </p:sp>
      <p:sp>
        <p:nvSpPr>
          <p:cNvPr id="9" name="Rectangle 8"/>
          <p:cNvSpPr/>
          <p:nvPr/>
        </p:nvSpPr>
        <p:spPr>
          <a:xfrm>
            <a:off x="457200" y="969264"/>
            <a:ext cx="112745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24128"/>
            <a:ext cx="11274552" cy="10972"/>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152144"/>
            <a:ext cx="11155680" cy="292608"/>
          </a:xfrm>
          <a:prstGeom prst="rect">
            <a:avLst/>
          </a:prstGeom>
          <a:noFill/>
        </p:spPr>
        <p:txBody>
          <a:bodyPr wrap="square" anchor="t"/>
          <a:lstStyle/>
          <a:p>
            <a:pPr algn="l">
              <a:lnSpc>
                <a:spcPct val="115000"/>
              </a:lnSpc>
              <a:spcBef>
                <a:spcPts val="0"/>
              </a:spcBef>
              <a:spcAft>
                <a:spcPts val="0"/>
              </a:spcAft>
            </a:pPr>
            <a:r>
              <a:rPr sz="1400" b="0" i="0">
                <a:solidFill>
                  <a:srgbClr val="C41E3A"/>
                </a:solidFill>
                <a:latin typeface="Calibri"/>
                <a:ea typeface="Microsoft YaHei"/>
                <a:cs typeface="Microsoft YaHei"/>
              </a:rPr>
              <a:t>第零贰伍期  ·  二零二六年十月十六日  ·  星期五</a:t>
            </a:r>
          </a:p>
        </p:txBody>
      </p:sp>
      <p:sp>
        <p:nvSpPr>
          <p:cNvPr id="12" name="TextBox 11"/>
          <p:cNvSpPr txBox="1"/>
          <p:nvPr/>
        </p:nvSpPr>
        <p:spPr>
          <a:xfrm>
            <a:off x="457200" y="1444752"/>
            <a:ext cx="11155680" cy="1005840"/>
          </a:xfrm>
          <a:prstGeom prst="rect">
            <a:avLst/>
          </a:prstGeom>
          <a:noFill/>
        </p:spPr>
        <p:txBody>
          <a:bodyPr wrap="square" anchor="t"/>
          <a:lstStyle/>
          <a:p>
            <a:pPr algn="l">
              <a:lnSpc>
                <a:spcPct val="115000"/>
              </a:lnSpc>
              <a:spcBef>
                <a:spcPts val="0"/>
              </a:spcBef>
              <a:spcAft>
                <a:spcPts val="0"/>
              </a:spcAft>
            </a:pPr>
            <a:r>
              <a:rPr sz="4800" b="1" i="0">
                <a:solidFill>
                  <a:srgbClr val="F7F4EF"/>
                </a:solidFill>
                <a:latin typeface="Cambria"/>
                <a:ea typeface="Cambria"/>
                <a:cs typeface="Cambria"/>
              </a:rPr>
              <a:t>每日时政科技简报</a:t>
            </a:r>
          </a:p>
        </p:txBody>
      </p:sp>
      <p:sp>
        <p:nvSpPr>
          <p:cNvPr id="13" name="TextBox 12"/>
          <p:cNvSpPr txBox="1"/>
          <p:nvPr/>
        </p:nvSpPr>
        <p:spPr>
          <a:xfrm>
            <a:off x="457200" y="2487168"/>
            <a:ext cx="11247120" cy="777240"/>
          </a:xfrm>
          <a:prstGeom prst="rect">
            <a:avLst/>
          </a:prstGeom>
          <a:noFill/>
        </p:spPr>
        <p:txBody>
          <a:bodyPr wrap="square" anchor="t"/>
          <a:lstStyle/>
          <a:p>
            <a:pPr algn="l">
              <a:lnSpc>
                <a:spcPct val="115000"/>
              </a:lnSpc>
              <a:spcBef>
                <a:spcPts val="0"/>
              </a:spcBef>
              <a:spcAft>
                <a:spcPts val="0"/>
              </a:spcAft>
            </a:pPr>
            <a:r>
              <a:rPr sz="1600" b="0" i="0">
                <a:solidFill>
                  <a:srgbClr val="C9C2B6"/>
                </a:solidFill>
                <a:latin typeface="Calibri"/>
                <a:ea typeface="Microsoft YaHei"/>
                <a:cs typeface="Microsoft YaHei"/>
              </a:rPr>
              <a:t>只收录该日发生或该日首发的稿件。习近平把黄旗海湿地与绿色算力写成同一天行程。李强把「人工智能+」写进国常会。英伟达把统一内存笔记本写成货架上的价格。</a:t>
            </a:r>
          </a:p>
        </p:txBody>
      </p:sp>
      <p:sp>
        <p:nvSpPr>
          <p:cNvPr id="14" name="Rounded Rectangle 13"/>
          <p:cNvSpPr/>
          <p:nvPr/>
        </p:nvSpPr>
        <p:spPr>
          <a:xfrm>
            <a:off x="457200" y="3401568"/>
            <a:ext cx="3566160" cy="1572768"/>
          </a:xfrm>
          <a:prstGeom prst="roundRect">
            <a:avLst>
              <a:gd name="adj" fmla="val 8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493008"/>
            <a:ext cx="3163824" cy="777240"/>
          </a:xfrm>
          <a:prstGeom prst="rect">
            <a:avLst/>
          </a:prstGeom>
          <a:noFill/>
        </p:spPr>
        <p:txBody>
          <a:bodyPr wrap="square" anchor="t"/>
          <a:lstStyle/>
          <a:p>
            <a:pPr algn="l">
              <a:lnSpc>
                <a:spcPct val="115000"/>
              </a:lnSpc>
              <a:spcBef>
                <a:spcPts val="0"/>
              </a:spcBef>
              <a:spcAft>
                <a:spcPts val="0"/>
              </a:spcAft>
            </a:pPr>
            <a:r>
              <a:rPr sz="4800" b="1" i="0">
                <a:solidFill>
                  <a:srgbClr val="C41E3A"/>
                </a:solidFill>
                <a:latin typeface="Cambria"/>
                <a:ea typeface="Cambria"/>
                <a:cs typeface="Cambria"/>
              </a:rPr>
              <a:t>06</a:t>
            </a:r>
          </a:p>
        </p:txBody>
      </p:sp>
      <p:sp>
        <p:nvSpPr>
          <p:cNvPr id="16" name="TextBox 15"/>
          <p:cNvSpPr txBox="1"/>
          <p:nvPr/>
        </p:nvSpPr>
        <p:spPr>
          <a:xfrm>
            <a:off x="658368" y="4261104"/>
            <a:ext cx="3163824" cy="274320"/>
          </a:xfrm>
          <a:prstGeom prst="rect">
            <a:avLst/>
          </a:prstGeom>
          <a:noFill/>
        </p:spPr>
        <p:txBody>
          <a:bodyPr wrap="square" anchor="t"/>
          <a:lstStyle/>
          <a:p>
            <a:pPr algn="l">
              <a:lnSpc>
                <a:spcPct val="115000"/>
              </a:lnSpc>
              <a:spcBef>
                <a:spcPts val="0"/>
              </a:spcBef>
              <a:spcAft>
                <a:spcPts val="0"/>
              </a:spcAft>
            </a:pPr>
            <a:r>
              <a:rPr sz="1800" b="0" i="0">
                <a:solidFill>
                  <a:srgbClr val="F7F4EF"/>
                </a:solidFill>
                <a:latin typeface="Calibri"/>
                <a:ea typeface="Microsoft YaHei"/>
                <a:cs typeface="Microsoft YaHei"/>
              </a:rPr>
              <a:t>时政</a:t>
            </a:r>
          </a:p>
        </p:txBody>
      </p:sp>
      <p:sp>
        <p:nvSpPr>
          <p:cNvPr id="17" name="TextBox 16"/>
          <p:cNvSpPr txBox="1"/>
          <p:nvPr/>
        </p:nvSpPr>
        <p:spPr>
          <a:xfrm>
            <a:off x="658368" y="4553712"/>
            <a:ext cx="3163824" cy="274320"/>
          </a:xfrm>
          <a:prstGeom prst="rect">
            <a:avLst/>
          </a:prstGeom>
          <a:noFill/>
        </p:spPr>
        <p:txBody>
          <a:bodyPr wrap="square" anchor="t"/>
          <a:lstStyle/>
          <a:p>
            <a:pPr algn="l">
              <a:lnSpc>
                <a:spcPct val="115000"/>
              </a:lnSpc>
              <a:spcBef>
                <a:spcPts val="0"/>
              </a:spcBef>
              <a:spcAft>
                <a:spcPts val="0"/>
              </a:spcAft>
            </a:pPr>
            <a:r>
              <a:rPr sz="1200" b="0" i="0">
                <a:solidFill>
                  <a:srgbClr val="B8B0A4"/>
                </a:solidFill>
                <a:latin typeface="Calibri"/>
                <a:ea typeface="Microsoft YaHei"/>
                <a:cs typeface="Microsoft YaHei"/>
              </a:rPr>
              <a:t>北疆 · 国常会 · 萨格勒布</a:t>
            </a:r>
          </a:p>
        </p:txBody>
      </p:sp>
      <p:sp>
        <p:nvSpPr>
          <p:cNvPr id="18" name="Rounded Rectangle 17"/>
          <p:cNvSpPr/>
          <p:nvPr/>
        </p:nvSpPr>
        <p:spPr>
          <a:xfrm>
            <a:off x="4215384" y="3401568"/>
            <a:ext cx="3566160" cy="1572768"/>
          </a:xfrm>
          <a:prstGeom prst="roundRect">
            <a:avLst>
              <a:gd name="adj" fmla="val 8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6552" y="3493008"/>
            <a:ext cx="3163824" cy="777240"/>
          </a:xfrm>
          <a:prstGeom prst="rect">
            <a:avLst/>
          </a:prstGeom>
          <a:noFill/>
        </p:spPr>
        <p:txBody>
          <a:bodyPr wrap="square" anchor="t"/>
          <a:lstStyle/>
          <a:p>
            <a:pPr algn="l">
              <a:lnSpc>
                <a:spcPct val="115000"/>
              </a:lnSpc>
              <a:spcBef>
                <a:spcPts val="0"/>
              </a:spcBef>
              <a:spcAft>
                <a:spcPts val="0"/>
              </a:spcAft>
            </a:pPr>
            <a:r>
              <a:rPr sz="4800" b="1" i="0">
                <a:solidFill>
                  <a:srgbClr val="C41E3A"/>
                </a:solidFill>
                <a:latin typeface="Cambria"/>
                <a:ea typeface="Cambria"/>
                <a:cs typeface="Cambria"/>
              </a:rPr>
              <a:t>06</a:t>
            </a:r>
          </a:p>
        </p:txBody>
      </p:sp>
      <p:sp>
        <p:nvSpPr>
          <p:cNvPr id="20" name="TextBox 19"/>
          <p:cNvSpPr txBox="1"/>
          <p:nvPr/>
        </p:nvSpPr>
        <p:spPr>
          <a:xfrm>
            <a:off x="4416552" y="4261104"/>
            <a:ext cx="3163824" cy="274320"/>
          </a:xfrm>
          <a:prstGeom prst="rect">
            <a:avLst/>
          </a:prstGeom>
          <a:noFill/>
        </p:spPr>
        <p:txBody>
          <a:bodyPr wrap="square" anchor="t"/>
          <a:lstStyle/>
          <a:p>
            <a:pPr algn="l">
              <a:lnSpc>
                <a:spcPct val="115000"/>
              </a:lnSpc>
              <a:spcBef>
                <a:spcPts val="0"/>
              </a:spcBef>
              <a:spcAft>
                <a:spcPts val="0"/>
              </a:spcAft>
            </a:pPr>
            <a:r>
              <a:rPr sz="1800" b="0" i="0">
                <a:solidFill>
                  <a:srgbClr val="F7F4EF"/>
                </a:solidFill>
                <a:latin typeface="Calibri"/>
                <a:ea typeface="Microsoft YaHei"/>
                <a:cs typeface="Microsoft YaHei"/>
              </a:rPr>
              <a:t>科技</a:t>
            </a:r>
          </a:p>
        </p:txBody>
      </p:sp>
      <p:sp>
        <p:nvSpPr>
          <p:cNvPr id="21" name="TextBox 20"/>
          <p:cNvSpPr txBox="1"/>
          <p:nvPr/>
        </p:nvSpPr>
        <p:spPr>
          <a:xfrm>
            <a:off x="4416552" y="4553712"/>
            <a:ext cx="3163824" cy="274320"/>
          </a:xfrm>
          <a:prstGeom prst="rect">
            <a:avLst/>
          </a:prstGeom>
          <a:noFill/>
        </p:spPr>
        <p:txBody>
          <a:bodyPr wrap="square" anchor="t"/>
          <a:lstStyle/>
          <a:p>
            <a:pPr algn="l">
              <a:lnSpc>
                <a:spcPct val="115000"/>
              </a:lnSpc>
              <a:spcBef>
                <a:spcPts val="0"/>
              </a:spcBef>
              <a:spcAft>
                <a:spcPts val="0"/>
              </a:spcAft>
            </a:pPr>
            <a:r>
              <a:rPr sz="1200" b="0" i="0">
                <a:solidFill>
                  <a:srgbClr val="B8B0A4"/>
                </a:solidFill>
                <a:latin typeface="Calibri"/>
                <a:ea typeface="Microsoft YaHei"/>
                <a:cs typeface="Microsoft YaHei"/>
              </a:rPr>
              <a:t>超芯 · 魔法态 · 开权</a:t>
            </a:r>
          </a:p>
        </p:txBody>
      </p:sp>
      <p:sp>
        <p:nvSpPr>
          <p:cNvPr id="22" name="Rounded Rectangle 21"/>
          <p:cNvSpPr/>
          <p:nvPr/>
        </p:nvSpPr>
        <p:spPr>
          <a:xfrm>
            <a:off x="7973568" y="3401568"/>
            <a:ext cx="3566160" cy="1572768"/>
          </a:xfrm>
          <a:prstGeom prst="roundRect">
            <a:avLst>
              <a:gd name="adj" fmla="val 8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4736" y="3493008"/>
            <a:ext cx="3163824" cy="777240"/>
          </a:xfrm>
          <a:prstGeom prst="rect">
            <a:avLst/>
          </a:prstGeom>
          <a:noFill/>
        </p:spPr>
        <p:txBody>
          <a:bodyPr wrap="square" anchor="t"/>
          <a:lstStyle/>
          <a:p>
            <a:pPr algn="l">
              <a:lnSpc>
                <a:spcPct val="115000"/>
              </a:lnSpc>
              <a:spcBef>
                <a:spcPts val="0"/>
              </a:spcBef>
              <a:spcAft>
                <a:spcPts val="0"/>
              </a:spcAft>
            </a:pPr>
            <a:r>
              <a:rPr sz="4800" b="1" i="0">
                <a:solidFill>
                  <a:srgbClr val="C41E3A"/>
                </a:solidFill>
                <a:latin typeface="Cambria"/>
                <a:ea typeface="Cambria"/>
                <a:cs typeface="Cambria"/>
              </a:rPr>
              <a:t>12</a:t>
            </a:r>
          </a:p>
        </p:txBody>
      </p:sp>
      <p:sp>
        <p:nvSpPr>
          <p:cNvPr id="24" name="TextBox 23"/>
          <p:cNvSpPr txBox="1"/>
          <p:nvPr/>
        </p:nvSpPr>
        <p:spPr>
          <a:xfrm>
            <a:off x="8174736" y="4261104"/>
            <a:ext cx="3163824" cy="274320"/>
          </a:xfrm>
          <a:prstGeom prst="rect">
            <a:avLst/>
          </a:prstGeom>
          <a:noFill/>
        </p:spPr>
        <p:txBody>
          <a:bodyPr wrap="square" anchor="t"/>
          <a:lstStyle/>
          <a:p>
            <a:pPr algn="l">
              <a:lnSpc>
                <a:spcPct val="115000"/>
              </a:lnSpc>
              <a:spcBef>
                <a:spcPts val="0"/>
              </a:spcBef>
              <a:spcAft>
                <a:spcPts val="0"/>
              </a:spcAft>
            </a:pPr>
            <a:r>
              <a:rPr sz="1800" b="0" i="0">
                <a:solidFill>
                  <a:srgbClr val="F7F4EF"/>
                </a:solidFill>
                <a:latin typeface="Calibri"/>
                <a:ea typeface="Microsoft YaHei"/>
                <a:cs typeface="Microsoft YaHei"/>
              </a:rPr>
              <a:t>合计</a:t>
            </a:r>
          </a:p>
        </p:txBody>
      </p:sp>
      <p:sp>
        <p:nvSpPr>
          <p:cNvPr id="25" name="TextBox 24"/>
          <p:cNvSpPr txBox="1"/>
          <p:nvPr/>
        </p:nvSpPr>
        <p:spPr>
          <a:xfrm>
            <a:off x="8174736" y="4553712"/>
            <a:ext cx="3163824" cy="274320"/>
          </a:xfrm>
          <a:prstGeom prst="rect">
            <a:avLst/>
          </a:prstGeom>
          <a:noFill/>
        </p:spPr>
        <p:txBody>
          <a:bodyPr wrap="square" anchor="t"/>
          <a:lstStyle/>
          <a:p>
            <a:pPr algn="l">
              <a:lnSpc>
                <a:spcPct val="115000"/>
              </a:lnSpc>
              <a:spcBef>
                <a:spcPts val="0"/>
              </a:spcBef>
              <a:spcAft>
                <a:spcPts val="0"/>
              </a:spcAft>
            </a:pPr>
            <a:r>
              <a:rPr sz="1200" b="0" i="0">
                <a:solidFill>
                  <a:srgbClr val="B8B0A4"/>
                </a:solidFill>
                <a:latin typeface="Calibri"/>
                <a:ea typeface="Microsoft YaHei"/>
                <a:cs typeface="Microsoft YaHei"/>
              </a:rPr>
              <a:t>周五沪时首发可核验</a:t>
            </a:r>
          </a:p>
        </p:txBody>
      </p:sp>
      <p:sp>
        <p:nvSpPr>
          <p:cNvPr id="26" name="TextBox 25"/>
          <p:cNvSpPr txBox="1"/>
          <p:nvPr/>
        </p:nvSpPr>
        <p:spPr>
          <a:xfrm>
            <a:off x="457200" y="5138928"/>
            <a:ext cx="11247120" cy="1325880"/>
          </a:xfrm>
          <a:prstGeom prst="rect">
            <a:avLst/>
          </a:prstGeom>
          <a:noFill/>
        </p:spPr>
        <p:txBody>
          <a:bodyPr wrap="square" anchor="t"/>
          <a:lstStyle/>
          <a:p>
            <a:pPr algn="l">
              <a:lnSpc>
                <a:spcPct val="115000"/>
              </a:lnSpc>
              <a:spcBef>
                <a:spcPts val="0"/>
              </a:spcBef>
              <a:spcAft>
                <a:spcPts val="0"/>
              </a:spcAft>
            </a:pPr>
            <a:r>
              <a:rPr sz="1400" b="0" i="0">
                <a:solidFill>
                  <a:srgbClr val="F7F4EF"/>
                </a:solidFill>
                <a:latin typeface="Calibri"/>
                <a:ea typeface="Microsoft YaHei"/>
                <a:cs typeface="Microsoft YaHei"/>
              </a:rPr>
              <a:t>今日主线：乌兰察布把生态保护与东数西算一并定调。国常会讨论教师法、价格法，并听「人工智能+」进度。王毅三十三年后再访克罗地亚。特朗普点名镐山。RTX Spark 开售。Willow 的魔法态培养折入沪时凌晨。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时政开篇</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2194560" cy="822960"/>
          </a:xfrm>
          <a:prstGeom prst="rect">
            <a:avLst/>
          </a:prstGeom>
          <a:noFill/>
        </p:spPr>
        <p:txBody>
          <a:bodyPr wrap="square" anchor="t"/>
          <a:lstStyle/>
          <a:p>
            <a:pPr algn="l">
              <a:lnSpc>
                <a:spcPct val="115000"/>
              </a:lnSpc>
              <a:spcBef>
                <a:spcPts val="0"/>
              </a:spcBef>
              <a:spcAft>
                <a:spcPts val="0"/>
              </a:spcAft>
            </a:pPr>
            <a:r>
              <a:rPr sz="6400" b="1" i="0">
                <a:solidFill>
                  <a:srgbClr val="C41E3A"/>
                </a:solidFill>
                <a:latin typeface="Cambria"/>
                <a:ea typeface="Cambria"/>
                <a:cs typeface="Cambria"/>
              </a:rPr>
              <a:t>01</a:t>
            </a:r>
          </a:p>
        </p:txBody>
      </p:sp>
      <p:sp>
        <p:nvSpPr>
          <p:cNvPr id="8" name="TextBox 7"/>
          <p:cNvSpPr txBox="1"/>
          <p:nvPr/>
        </p:nvSpPr>
        <p:spPr>
          <a:xfrm>
            <a:off x="2560320" y="749808"/>
            <a:ext cx="8686800" cy="640080"/>
          </a:xfrm>
          <a:prstGeom prst="rect">
            <a:avLst/>
          </a:prstGeom>
          <a:noFill/>
        </p:spPr>
        <p:txBody>
          <a:bodyPr wrap="square" anchor="t"/>
          <a:lstStyle/>
          <a:p>
            <a:pPr algn="l">
              <a:lnSpc>
                <a:spcPct val="115000"/>
              </a:lnSpc>
              <a:spcBef>
                <a:spcPts val="0"/>
              </a:spcBef>
              <a:spcAft>
                <a:spcPts val="0"/>
              </a:spcAft>
            </a:pPr>
            <a:r>
              <a:rPr sz="4000" b="1" i="0">
                <a:solidFill>
                  <a:srgbClr val="1A1A1A"/>
                </a:solidFill>
                <a:latin typeface="Cambria"/>
                <a:ea typeface="Cambria"/>
                <a:cs typeface="Cambria"/>
              </a:rPr>
              <a:t>时政开篇</a:t>
            </a:r>
          </a:p>
        </p:txBody>
      </p:sp>
      <p:sp>
        <p:nvSpPr>
          <p:cNvPr id="9" name="TextBox 8"/>
          <p:cNvSpPr txBox="1"/>
          <p:nvPr/>
        </p:nvSpPr>
        <p:spPr>
          <a:xfrm>
            <a:off x="2560320" y="1389888"/>
            <a:ext cx="8686800" cy="640080"/>
          </a:xfrm>
          <a:prstGeom prst="rect">
            <a:avLst/>
          </a:prstGeom>
          <a:noFill/>
        </p:spPr>
        <p:txBody>
          <a:bodyPr wrap="square" anchor="t"/>
          <a:lstStyle/>
          <a:p>
            <a:pPr algn="l">
              <a:lnSpc>
                <a:spcPct val="115000"/>
              </a:lnSpc>
              <a:spcBef>
                <a:spcPts val="0"/>
              </a:spcBef>
              <a:spcAft>
                <a:spcPts val="0"/>
              </a:spcAft>
            </a:pPr>
            <a:r>
              <a:rPr sz="1500" b="0" i="0">
                <a:solidFill>
                  <a:srgbClr val="4A5568"/>
                </a:solidFill>
                <a:latin typeface="Calibri"/>
                <a:ea typeface="Microsoft YaHei"/>
                <a:cs typeface="Microsoft YaHei"/>
              </a:rPr>
              <a:t>乌兰察布把干涸过的内陆湖写成湿地法。中南海把「人工智能+」写成落地账。萨格勒布把三十三年空白写成外长到访。</a:t>
            </a:r>
          </a:p>
        </p:txBody>
      </p:sp>
      <p:sp>
        <p:nvSpPr>
          <p:cNvPr id="10" name="Rounded Rectangle 9"/>
          <p:cNvSpPr/>
          <p:nvPr/>
        </p:nvSpPr>
        <p:spPr>
          <a:xfrm>
            <a:off x="457200" y="2194560"/>
            <a:ext cx="11274552" cy="1234440"/>
          </a:xfrm>
          <a:prstGeom prst="roundRect">
            <a:avLst>
              <a:gd name="adj" fmla="val 4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267712"/>
            <a:ext cx="10881360" cy="219456"/>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刊头摘句 · 乌兰察布</a:t>
            </a:r>
          </a:p>
        </p:txBody>
      </p:sp>
      <p:sp>
        <p:nvSpPr>
          <p:cNvPr id="12" name="TextBox 11"/>
          <p:cNvSpPr txBox="1"/>
          <p:nvPr/>
        </p:nvSpPr>
        <p:spPr>
          <a:xfrm>
            <a:off x="658368" y="2505456"/>
            <a:ext cx="10881360" cy="777240"/>
          </a:xfrm>
          <a:prstGeom prst="rect">
            <a:avLst/>
          </a:prstGeom>
          <a:noFill/>
        </p:spPr>
        <p:txBody>
          <a:bodyPr wrap="square" anchor="t"/>
          <a:lstStyle/>
          <a:p>
            <a:pPr algn="l">
              <a:lnSpc>
                <a:spcPct val="115000"/>
              </a:lnSpc>
              <a:spcBef>
                <a:spcPts val="0"/>
              </a:spcBef>
              <a:spcAft>
                <a:spcPts val="0"/>
              </a:spcAft>
            </a:pPr>
            <a:r>
              <a:rPr sz="1800" b="1" i="0">
                <a:solidFill>
                  <a:srgbClr val="1A1A1A"/>
                </a:solidFill>
                <a:latin typeface="Cambria"/>
                <a:ea typeface="Cambria"/>
                <a:cs typeface="Cambria"/>
              </a:rPr>
              <a:t>「绿色发展是高质量发展的应有之义。……算力网是国家规划建设的『六张网』之一。」——习近平</a:t>
            </a:r>
          </a:p>
        </p:txBody>
      </p:sp>
      <p:sp>
        <p:nvSpPr>
          <p:cNvPr id="13" name="Rounded Rectangle 12"/>
          <p:cNvSpPr/>
          <p:nvPr/>
        </p:nvSpPr>
        <p:spPr>
          <a:xfrm>
            <a:off x="457200" y="3611880"/>
            <a:ext cx="3566160" cy="260604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730752"/>
            <a:ext cx="3163824"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黄旗海</a:t>
            </a:r>
          </a:p>
        </p:txBody>
      </p:sp>
      <p:sp>
        <p:nvSpPr>
          <p:cNvPr id="15" name="TextBox 14"/>
          <p:cNvSpPr txBox="1"/>
          <p:nvPr/>
        </p:nvSpPr>
        <p:spPr>
          <a:xfrm>
            <a:off x="658368" y="4370832"/>
            <a:ext cx="3163824" cy="256032"/>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Microsoft YaHei"/>
                <a:cs typeface="Microsoft YaHei"/>
              </a:rPr>
              <a:t>湿地修复</a:t>
            </a:r>
          </a:p>
        </p:txBody>
      </p:sp>
      <p:sp>
        <p:nvSpPr>
          <p:cNvPr id="16" name="TextBox 15"/>
          <p:cNvSpPr txBox="1"/>
          <p:nvPr/>
        </p:nvSpPr>
        <p:spPr>
          <a:xfrm>
            <a:off x="658368" y="4681728"/>
            <a:ext cx="3163824" cy="13258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内陆封闭湖泊一度濒临干涸。考察强调自然恢复为主、人工干预为辅。</a:t>
            </a:r>
          </a:p>
        </p:txBody>
      </p:sp>
      <p:sp>
        <p:nvSpPr>
          <p:cNvPr id="17" name="Rounded Rectangle 16"/>
          <p:cNvSpPr/>
          <p:nvPr/>
        </p:nvSpPr>
        <p:spPr>
          <a:xfrm>
            <a:off x="4215384" y="3611880"/>
            <a:ext cx="3566160" cy="260604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6552" y="3730752"/>
            <a:ext cx="3163824"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东数西算</a:t>
            </a:r>
          </a:p>
        </p:txBody>
      </p:sp>
      <p:sp>
        <p:nvSpPr>
          <p:cNvPr id="19" name="TextBox 18"/>
          <p:cNvSpPr txBox="1"/>
          <p:nvPr/>
        </p:nvSpPr>
        <p:spPr>
          <a:xfrm>
            <a:off x="4416552" y="4370832"/>
            <a:ext cx="3163824" cy="256032"/>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Microsoft YaHei"/>
                <a:cs typeface="Microsoft YaHei"/>
              </a:rPr>
              <a:t>绿色算力</a:t>
            </a:r>
          </a:p>
        </p:txBody>
      </p:sp>
      <p:sp>
        <p:nvSpPr>
          <p:cNvPr id="20" name="TextBox 19"/>
          <p:cNvSpPr txBox="1"/>
          <p:nvPr/>
        </p:nvSpPr>
        <p:spPr>
          <a:xfrm>
            <a:off x="4416552" y="4681728"/>
            <a:ext cx="3163824" cy="13258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察哈尔高新区听枢纽节点。要求算电协同、算水协同。</a:t>
            </a:r>
          </a:p>
        </p:txBody>
      </p:sp>
      <p:sp>
        <p:nvSpPr>
          <p:cNvPr id="21" name="Rounded Rectangle 20"/>
          <p:cNvSpPr/>
          <p:nvPr/>
        </p:nvSpPr>
        <p:spPr>
          <a:xfrm>
            <a:off x="7973568" y="3611880"/>
            <a:ext cx="3566160" cy="260604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3730752"/>
            <a:ext cx="3163824"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33年</a:t>
            </a:r>
          </a:p>
        </p:txBody>
      </p:sp>
      <p:sp>
        <p:nvSpPr>
          <p:cNvPr id="23" name="TextBox 22"/>
          <p:cNvSpPr txBox="1"/>
          <p:nvPr/>
        </p:nvSpPr>
        <p:spPr>
          <a:xfrm>
            <a:off x="8174736" y="4370832"/>
            <a:ext cx="3163824" cy="256032"/>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Microsoft YaHei"/>
                <a:cs typeface="Microsoft YaHei"/>
              </a:rPr>
              <a:t>首次访克</a:t>
            </a:r>
          </a:p>
        </p:txBody>
      </p:sp>
      <p:sp>
        <p:nvSpPr>
          <p:cNvPr id="24" name="TextBox 23"/>
          <p:cNvSpPr txBox="1"/>
          <p:nvPr/>
        </p:nvSpPr>
        <p:spPr>
          <a:xfrm>
            <a:off x="8174736" y="4681728"/>
            <a:ext cx="3163824" cy="13258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王毅在萨格勒布会见总统、总理并会谈外长。克方重申一个中国。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01</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11274552"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822960"/>
            <a:ext cx="1920240" cy="822960"/>
          </a:xfrm>
          <a:prstGeom prst="rect">
            <a:avLst/>
          </a:prstGeom>
          <a:noFill/>
        </p:spPr>
        <p:txBody>
          <a:bodyPr wrap="square" anchor="t"/>
          <a:lstStyle/>
          <a:p>
            <a:pPr algn="l">
              <a:lnSpc>
                <a:spcPct val="115000"/>
              </a:lnSpc>
              <a:spcBef>
                <a:spcPts val="0"/>
              </a:spcBef>
              <a:spcAft>
                <a:spcPts val="0"/>
              </a:spcAft>
            </a:pPr>
            <a:r>
              <a:rPr sz="5200" b="1" i="0">
                <a:solidFill>
                  <a:srgbClr val="C41E3A"/>
                </a:solidFill>
                <a:latin typeface="Cambria"/>
                <a:ea typeface="Cambria"/>
                <a:cs typeface="Cambria"/>
              </a:rPr>
              <a:t>01</a:t>
            </a:r>
          </a:p>
        </p:txBody>
      </p:sp>
      <p:sp>
        <p:nvSpPr>
          <p:cNvPr id="9" name="TextBox 8"/>
          <p:cNvSpPr txBox="1"/>
          <p:nvPr/>
        </p:nvSpPr>
        <p:spPr>
          <a:xfrm>
            <a:off x="658368" y="1664208"/>
            <a:ext cx="1920240" cy="640080"/>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Microsoft YaHei"/>
                <a:cs typeface="Microsoft YaHei"/>
              </a:rPr>
              <a:t>考察 / 乌兰察布</a:t>
            </a:r>
          </a:p>
        </p:txBody>
      </p:sp>
      <p:sp>
        <p:nvSpPr>
          <p:cNvPr id="10" name="TextBox 9"/>
          <p:cNvSpPr txBox="1"/>
          <p:nvPr/>
        </p:nvSpPr>
        <p:spPr>
          <a:xfrm>
            <a:off x="2834640" y="804672"/>
            <a:ext cx="8595360"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新华社 · 16日 18:04 见报</a:t>
            </a:r>
          </a:p>
        </p:txBody>
      </p:sp>
      <p:sp>
        <p:nvSpPr>
          <p:cNvPr id="11" name="TextBox 10"/>
          <p:cNvSpPr txBox="1"/>
          <p:nvPr/>
        </p:nvSpPr>
        <p:spPr>
          <a:xfrm>
            <a:off x="2834640" y="1078992"/>
            <a:ext cx="8595360" cy="77724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黄旗海与绿色算力同日</a:t>
            </a:r>
          </a:p>
        </p:txBody>
      </p:sp>
      <p:sp>
        <p:nvSpPr>
          <p:cNvPr id="12" name="TextBox 11"/>
          <p:cNvSpPr txBox="1"/>
          <p:nvPr/>
        </p:nvSpPr>
        <p:spPr>
          <a:xfrm>
            <a:off x="2834640" y="1901952"/>
            <a:ext cx="8595360" cy="329184"/>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来源：新华社  ·  news.cn/politics/leaders/20261016</a:t>
            </a:r>
          </a:p>
        </p:txBody>
      </p:sp>
      <p:sp>
        <p:nvSpPr>
          <p:cNvPr id="13" name="TextBox 12"/>
          <p:cNvSpPr txBox="1"/>
          <p:nvPr/>
        </p:nvSpPr>
        <p:spPr>
          <a:xfrm>
            <a:off x="2834640" y="2286000"/>
            <a:ext cx="8595360" cy="1691640"/>
          </a:xfrm>
          <a:prstGeom prst="rect">
            <a:avLst/>
          </a:prstGeom>
          <a:noFill/>
        </p:spPr>
        <p:txBody>
          <a:bodyPr wrap="square" anchor="t"/>
          <a:lstStyle/>
          <a:p>
            <a:pPr algn="l">
              <a:lnSpc>
                <a:spcPct val="115000"/>
              </a:lnSpc>
              <a:spcBef>
                <a:spcPts val="0"/>
              </a:spcBef>
              <a:spcAft>
                <a:spcPts val="0"/>
              </a:spcAft>
            </a:pPr>
            <a:r>
              <a:rPr sz="1600" b="0" i="0">
                <a:solidFill>
                  <a:srgbClr val="1A1A1A"/>
                </a:solidFill>
                <a:latin typeface="Calibri"/>
                <a:ea typeface="Microsoft YaHei"/>
                <a:cs typeface="Microsoft YaHei"/>
              </a:rPr>
              <a:t>习近平16日上午在乌兰察布考察黄旗海自然保护区与察哈尔高新技术开发区。他强调绿色发展是高质量发展的应有之义，湿地保护贵在保持原生态；并指出东数西算与全国一体化算力网是党中央部署，算力网属「六张网」之一，要求算电协同、算水协同，推动绿色算力。</a:t>
            </a:r>
          </a:p>
        </p:txBody>
      </p:sp>
      <p:sp>
        <p:nvSpPr>
          <p:cNvPr id="14" name="Rectangle 13"/>
          <p:cNvSpPr/>
          <p:nvPr/>
        </p:nvSpPr>
        <p:spPr>
          <a:xfrm>
            <a:off x="2834640" y="4114800"/>
            <a:ext cx="8595360"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4169664"/>
            <a:ext cx="8595360"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6" name="TextBox 15"/>
          <p:cNvSpPr txBox="1"/>
          <p:nvPr/>
        </p:nvSpPr>
        <p:spPr>
          <a:xfrm>
            <a:off x="2834640" y="4352544"/>
            <a:ext cx="8595360" cy="149961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把北疆湿地修复与绿色算力写进同一天行程，等于给「十五五」开局的生态优先和算力网同时定调。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02–03</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04672"/>
            <a:ext cx="4974336"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02　国常会 · 北京</a:t>
            </a:r>
          </a:p>
        </p:txBody>
      </p:sp>
      <p:sp>
        <p:nvSpPr>
          <p:cNvPr id="9" name="TextBox 8"/>
          <p:cNvSpPr txBox="1"/>
          <p:nvPr/>
        </p:nvSpPr>
        <p:spPr>
          <a:xfrm>
            <a:off x="713232" y="1060704"/>
            <a:ext cx="4974336" cy="118872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落地应用牵引「人工智能+」</a:t>
            </a:r>
          </a:p>
        </p:txBody>
      </p:sp>
      <p:sp>
        <p:nvSpPr>
          <p:cNvPr id="10" name="TextBox 9"/>
          <p:cNvSpPr txBox="1"/>
          <p:nvPr/>
        </p:nvSpPr>
        <p:spPr>
          <a:xfrm>
            <a:off x="713232" y="2286000"/>
            <a:ext cx="4974336" cy="25603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来源：新华社  ·  news.cn/politics/20261016</a:t>
            </a:r>
          </a:p>
        </p:txBody>
      </p:sp>
      <p:sp>
        <p:nvSpPr>
          <p:cNvPr id="11" name="TextBox 10"/>
          <p:cNvSpPr txBox="1"/>
          <p:nvPr/>
        </p:nvSpPr>
        <p:spPr>
          <a:xfrm>
            <a:off x="713232" y="2560320"/>
            <a:ext cx="4974336" cy="192024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李强16日主持国务院常务会议，听取「人工智能+」行动进展，强调以落地应用牵引技术创新、算电协同与实体经济赋能，并守牢安全底线。会议原则通过教师法修订草案、价格法修正草案，将提请全国人大常委会审议，明确依法治理低价无序竞争。</a:t>
            </a:r>
          </a:p>
        </p:txBody>
      </p:sp>
      <p:sp>
        <p:nvSpPr>
          <p:cNvPr id="12" name="Rectangle 11"/>
          <p:cNvSpPr/>
          <p:nvPr/>
        </p:nvSpPr>
        <p:spPr>
          <a:xfrm>
            <a:off x="713232" y="466344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71830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4" name="TextBox 13"/>
          <p:cNvSpPr txBox="1"/>
          <p:nvPr/>
        </p:nvSpPr>
        <p:spPr>
          <a:xfrm>
            <a:off x="713232" y="4901184"/>
            <a:ext cx="4974336" cy="122529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国常会把9日《意见》里的「人工智能+」写成执行账，并把低价内卷写进价格法修正。</a:t>
            </a:r>
          </a:p>
        </p:txBody>
      </p:sp>
      <p:sp>
        <p:nvSpPr>
          <p:cNvPr id="15" name="Rounded Rectangle 14"/>
          <p:cNvSpPr/>
          <p:nvPr/>
        </p:nvSpPr>
        <p:spPr>
          <a:xfrm>
            <a:off x="6144768"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804672"/>
            <a:ext cx="4974336"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03　外交 · 萨格勒布</a:t>
            </a:r>
          </a:p>
        </p:txBody>
      </p:sp>
      <p:sp>
        <p:nvSpPr>
          <p:cNvPr id="17" name="TextBox 16"/>
          <p:cNvSpPr txBox="1"/>
          <p:nvPr/>
        </p:nvSpPr>
        <p:spPr>
          <a:xfrm>
            <a:off x="6400800" y="1060704"/>
            <a:ext cx="4974336" cy="118872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三十三年首次访克</a:t>
            </a:r>
          </a:p>
        </p:txBody>
      </p:sp>
      <p:sp>
        <p:nvSpPr>
          <p:cNvPr id="18" name="TextBox 17"/>
          <p:cNvSpPr txBox="1"/>
          <p:nvPr/>
        </p:nvSpPr>
        <p:spPr>
          <a:xfrm>
            <a:off x="6400800" y="2286000"/>
            <a:ext cx="4974336" cy="25603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来源：外交部 / 新华社  ·  mfa.gov.cn</a:t>
            </a:r>
          </a:p>
        </p:txBody>
      </p:sp>
      <p:sp>
        <p:nvSpPr>
          <p:cNvPr id="19" name="TextBox 18"/>
          <p:cNvSpPr txBox="1"/>
          <p:nvPr/>
        </p:nvSpPr>
        <p:spPr>
          <a:xfrm>
            <a:off x="6400800" y="2560320"/>
            <a:ext cx="4974336" cy="192024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王毅16日在萨格勒布会见总统米拉诺维奇，并同外长拉德曼会谈、会见总理普连科维奇。这是33年来中国外长首次访克。克方重申一个中国、不支持「台独」；双方谈交通物流、可再生能源、汽车制造与直航。</a:t>
            </a:r>
          </a:p>
        </p:txBody>
      </p:sp>
      <p:sp>
        <p:nvSpPr>
          <p:cNvPr id="20" name="Rectangle 19"/>
          <p:cNvSpPr/>
          <p:nvPr/>
        </p:nvSpPr>
        <p:spPr>
          <a:xfrm>
            <a:off x="6400800" y="466344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71830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22" name="TextBox 21"/>
          <p:cNvSpPr txBox="1"/>
          <p:nvPr/>
        </p:nvSpPr>
        <p:spPr>
          <a:xfrm>
            <a:off x="6400800" y="4901184"/>
            <a:ext cx="4974336" cy="122529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亚信之后把欧洲线落到中东欧枢纽。33年首次到访本身就是可核验的外交日程。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04–05</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66928"/>
            <a:ext cx="11247120" cy="475488"/>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例会与民生立法前夜</a:t>
            </a:r>
          </a:p>
        </p:txBody>
      </p:sp>
      <p:sp>
        <p:nvSpPr>
          <p:cNvPr id="8" name="Rounded Rectangle 7"/>
          <p:cNvSpPr/>
          <p:nvPr/>
        </p:nvSpPr>
        <p:spPr>
          <a:xfrm>
            <a:off x="457200" y="1060704"/>
            <a:ext cx="5486400" cy="5340096"/>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188720"/>
            <a:ext cx="4974336" cy="237744"/>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04　例会 · 核松绑</a:t>
            </a:r>
          </a:p>
        </p:txBody>
      </p:sp>
      <p:sp>
        <p:nvSpPr>
          <p:cNvPr id="10" name="TextBox 9"/>
          <p:cNvSpPr txBox="1"/>
          <p:nvPr/>
        </p:nvSpPr>
        <p:spPr>
          <a:xfrm>
            <a:off x="713232" y="1426464"/>
            <a:ext cx="4974336" cy="109728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无核三原则没有探讨余地</a:t>
            </a:r>
          </a:p>
        </p:txBody>
      </p:sp>
      <p:sp>
        <p:nvSpPr>
          <p:cNvPr id="11" name="TextBox 10"/>
          <p:cNvSpPr txBox="1"/>
          <p:nvPr/>
        </p:nvSpPr>
        <p:spPr>
          <a:xfrm>
            <a:off x="713232" y="2560320"/>
            <a:ext cx="4974336" cy="25603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来源：外交部例行记者会  ·  mfa.gov.cn</a:t>
            </a:r>
          </a:p>
        </p:txBody>
      </p:sp>
      <p:sp>
        <p:nvSpPr>
          <p:cNvPr id="12" name="TextBox 11"/>
          <p:cNvSpPr txBox="1"/>
          <p:nvPr/>
        </p:nvSpPr>
        <p:spPr>
          <a:xfrm>
            <a:off x="713232" y="2834640"/>
            <a:ext cx="4974336" cy="169164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毛宁16日宣布吉布提外长奥马尔、刚果（布）外长邦达19–25日访华。她谈国际消除贫困日、中欧磋商后勿出台保护主义、加沙停火与「两国方案」，批高市早苗讨论无核三原则例外与核潜艇，并称中美俄三边核裁军现阶段不公平、不可行。</a:t>
            </a:r>
          </a:p>
        </p:txBody>
      </p:sp>
      <p:sp>
        <p:nvSpPr>
          <p:cNvPr id="13" name="Rectangle 12"/>
          <p:cNvSpPr/>
          <p:nvPr/>
        </p:nvSpPr>
        <p:spPr>
          <a:xfrm>
            <a:off x="713232" y="466344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71830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5" name="TextBox 14"/>
          <p:cNvSpPr txBox="1"/>
          <p:nvPr/>
        </p:nvSpPr>
        <p:spPr>
          <a:xfrm>
            <a:off x="713232" y="4901184"/>
            <a:ext cx="4974336" cy="122529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把日本核松绑与美方拉中国进三边核裁军写成同场对质，是国庆后最硬的安全表态。</a:t>
            </a:r>
          </a:p>
        </p:txBody>
      </p:sp>
      <p:sp>
        <p:nvSpPr>
          <p:cNvPr id="16" name="Rounded Rectangle 15"/>
          <p:cNvSpPr/>
          <p:nvPr/>
        </p:nvSpPr>
        <p:spPr>
          <a:xfrm>
            <a:off x="6144768" y="1060704"/>
            <a:ext cx="5486400" cy="5340096"/>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188720"/>
            <a:ext cx="4974336" cy="237744"/>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05　民生 · 养老价</a:t>
            </a:r>
          </a:p>
        </p:txBody>
      </p:sp>
      <p:sp>
        <p:nvSpPr>
          <p:cNvPr id="18" name="TextBox 17"/>
          <p:cNvSpPr txBox="1"/>
          <p:nvPr/>
        </p:nvSpPr>
        <p:spPr>
          <a:xfrm>
            <a:off x="6400800" y="1426464"/>
            <a:ext cx="4974336" cy="109728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普惠养老首次标价</a:t>
            </a:r>
          </a:p>
        </p:txBody>
      </p:sp>
      <p:sp>
        <p:nvSpPr>
          <p:cNvPr id="19" name="TextBox 18"/>
          <p:cNvSpPr txBox="1"/>
          <p:nvPr/>
        </p:nvSpPr>
        <p:spPr>
          <a:xfrm>
            <a:off x="6400800" y="2560320"/>
            <a:ext cx="4974336" cy="25603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来源：发改委 / 新华社  ·  ndrc.gov.cn</a:t>
            </a:r>
          </a:p>
        </p:txBody>
      </p:sp>
      <p:sp>
        <p:nvSpPr>
          <p:cNvPr id="20" name="TextBox 19"/>
          <p:cNvSpPr txBox="1"/>
          <p:nvPr/>
        </p:nvSpPr>
        <p:spPr>
          <a:xfrm>
            <a:off x="6400800" y="2834640"/>
            <a:ext cx="4974336" cy="169164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发改委、民政部、卫健委16日公布《指导意见》（发改价格〔2026〕1476号），首次明确普惠养老收费：兜底和普惠机构基本服务费实行政府指导价或参考区间，市场型机构市场调节；所有收费进目录清单，清单外不得收费。</a:t>
            </a:r>
          </a:p>
        </p:txBody>
      </p:sp>
      <p:sp>
        <p:nvSpPr>
          <p:cNvPr id="21" name="Rectangle 20"/>
          <p:cNvSpPr/>
          <p:nvPr/>
        </p:nvSpPr>
        <p:spPr>
          <a:xfrm>
            <a:off x="6400800" y="466344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71830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23" name="TextBox 22"/>
          <p:cNvSpPr txBox="1"/>
          <p:nvPr/>
        </p:nvSpPr>
        <p:spPr>
          <a:xfrm>
            <a:off x="6400800" y="4901184"/>
            <a:ext cx="4974336" cy="122529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把「普惠养老」从口号写成可执行的价格治理，直接对准老龄化下的收费乱象。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06</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11274552"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822960"/>
            <a:ext cx="1920240" cy="822960"/>
          </a:xfrm>
          <a:prstGeom prst="rect">
            <a:avLst/>
          </a:prstGeom>
          <a:noFill/>
        </p:spPr>
        <p:txBody>
          <a:bodyPr wrap="square" anchor="t"/>
          <a:lstStyle/>
          <a:p>
            <a:pPr algn="l">
              <a:lnSpc>
                <a:spcPct val="115000"/>
              </a:lnSpc>
              <a:spcBef>
                <a:spcPts val="0"/>
              </a:spcBef>
              <a:spcAft>
                <a:spcPts val="0"/>
              </a:spcAft>
            </a:pPr>
            <a:r>
              <a:rPr sz="5200" b="1" i="0">
                <a:solidFill>
                  <a:srgbClr val="C41E3A"/>
                </a:solidFill>
                <a:latin typeface="Cambria"/>
                <a:ea typeface="Cambria"/>
                <a:cs typeface="Cambria"/>
              </a:rPr>
              <a:t>06</a:t>
            </a:r>
          </a:p>
        </p:txBody>
      </p:sp>
      <p:sp>
        <p:nvSpPr>
          <p:cNvPr id="9" name="TextBox 8"/>
          <p:cNvSpPr txBox="1"/>
          <p:nvPr/>
        </p:nvSpPr>
        <p:spPr>
          <a:xfrm>
            <a:off x="658368" y="1664208"/>
            <a:ext cx="1920240" cy="640080"/>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Microsoft YaHei"/>
                <a:cs typeface="Microsoft YaHei"/>
              </a:rPr>
              <a:t>中东 / 镐山</a:t>
            </a:r>
          </a:p>
        </p:txBody>
      </p:sp>
      <p:sp>
        <p:nvSpPr>
          <p:cNvPr id="10" name="TextBox 9"/>
          <p:cNvSpPr txBox="1"/>
          <p:nvPr/>
        </p:nvSpPr>
        <p:spPr>
          <a:xfrm>
            <a:off x="2834640" y="804672"/>
            <a:ext cx="8595360"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路透 / 伊海军 · 16日首发</a:t>
            </a:r>
          </a:p>
        </p:txBody>
      </p:sp>
      <p:sp>
        <p:nvSpPr>
          <p:cNvPr id="11" name="TextBox 10"/>
          <p:cNvSpPr txBox="1"/>
          <p:nvPr/>
        </p:nvSpPr>
        <p:spPr>
          <a:xfrm>
            <a:off x="2834640" y="1078992"/>
            <a:ext cx="8595360" cy="73152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再点名深埋的镐山</a:t>
            </a:r>
          </a:p>
        </p:txBody>
      </p:sp>
      <p:sp>
        <p:nvSpPr>
          <p:cNvPr id="12" name="TextBox 11"/>
          <p:cNvSpPr txBox="1"/>
          <p:nvPr/>
        </p:nvSpPr>
        <p:spPr>
          <a:xfrm>
            <a:off x="2834640" y="1865376"/>
            <a:ext cx="8595360" cy="329184"/>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来源：路透 / 伊朗国际  ·  wtbx.com  ·  straitstimes.com  ·  iranintl.com</a:t>
            </a:r>
          </a:p>
        </p:txBody>
      </p:sp>
      <p:sp>
        <p:nvSpPr>
          <p:cNvPr id="13" name="TextBox 12"/>
          <p:cNvSpPr txBox="1"/>
          <p:nvPr/>
        </p:nvSpPr>
        <p:spPr>
          <a:xfrm>
            <a:off x="2834640" y="2249424"/>
            <a:ext cx="8595360" cy="1737360"/>
          </a:xfrm>
          <a:prstGeom prst="rect">
            <a:avLst/>
          </a:prstGeom>
          <a:noFill/>
        </p:spPr>
        <p:txBody>
          <a:bodyPr wrap="square" anchor="t"/>
          <a:lstStyle/>
          <a:p>
            <a:pPr algn="l">
              <a:lnSpc>
                <a:spcPct val="115000"/>
              </a:lnSpc>
              <a:spcBef>
                <a:spcPts val="0"/>
              </a:spcBef>
              <a:spcAft>
                <a:spcPts val="0"/>
              </a:spcAft>
            </a:pPr>
            <a:r>
              <a:rPr sz="1600" b="0" i="0">
                <a:solidFill>
                  <a:srgbClr val="1A1A1A"/>
                </a:solidFill>
                <a:latin typeface="Calibri"/>
                <a:ea typeface="Microsoft YaHei"/>
                <a:cs typeface="Microsoft YaHei"/>
              </a:rPr>
              <a:t>路透16日引特朗普Newsmax访谈：美方「可能不得不」打击纳坦兹附近深埋的镐山，同时排除核武器与地面部队。同日独家称至少8艘液化气船7月中以来出阿曼湾、一艘航空煤油船抵缅甸；伊海军称海峡以东油轮起火。</a:t>
            </a:r>
          </a:p>
        </p:txBody>
      </p:sp>
      <p:sp>
        <p:nvSpPr>
          <p:cNvPr id="14" name="Rectangle 13"/>
          <p:cNvSpPr/>
          <p:nvPr/>
        </p:nvSpPr>
        <p:spPr>
          <a:xfrm>
            <a:off x="2834640" y="4114800"/>
            <a:ext cx="8595360"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4169664"/>
            <a:ext cx="8595360"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6" name="TextBox 15"/>
          <p:cNvSpPr txBox="1"/>
          <p:nvPr/>
        </p:nvSpPr>
        <p:spPr>
          <a:xfrm>
            <a:off x="2834640" y="4352544"/>
            <a:ext cx="8595360" cy="149961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选期前把「再打一处深埋核设施」与「封锁并非铁板一块」写成同一天账本。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科技开篇</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21792"/>
            <a:ext cx="2194560" cy="777240"/>
          </a:xfrm>
          <a:prstGeom prst="rect">
            <a:avLst/>
          </a:prstGeom>
          <a:noFill/>
        </p:spPr>
        <p:txBody>
          <a:bodyPr wrap="square" anchor="t"/>
          <a:lstStyle/>
          <a:p>
            <a:pPr algn="l">
              <a:lnSpc>
                <a:spcPct val="115000"/>
              </a:lnSpc>
              <a:spcBef>
                <a:spcPts val="0"/>
              </a:spcBef>
              <a:spcAft>
                <a:spcPts val="0"/>
              </a:spcAft>
            </a:pPr>
            <a:r>
              <a:rPr sz="6400" b="1" i="0">
                <a:solidFill>
                  <a:srgbClr val="C41E3A"/>
                </a:solidFill>
                <a:latin typeface="Cambria"/>
                <a:ea typeface="Cambria"/>
                <a:cs typeface="Cambria"/>
              </a:rPr>
              <a:t>02</a:t>
            </a:r>
          </a:p>
        </p:txBody>
      </p:sp>
      <p:sp>
        <p:nvSpPr>
          <p:cNvPr id="8" name="TextBox 7"/>
          <p:cNvSpPr txBox="1"/>
          <p:nvPr/>
        </p:nvSpPr>
        <p:spPr>
          <a:xfrm>
            <a:off x="2560320" y="713232"/>
            <a:ext cx="8686800" cy="566928"/>
          </a:xfrm>
          <a:prstGeom prst="rect">
            <a:avLst/>
          </a:prstGeom>
          <a:noFill/>
        </p:spPr>
        <p:txBody>
          <a:bodyPr wrap="square" anchor="t"/>
          <a:lstStyle/>
          <a:p>
            <a:pPr algn="l">
              <a:lnSpc>
                <a:spcPct val="115000"/>
              </a:lnSpc>
              <a:spcBef>
                <a:spcPts val="0"/>
              </a:spcBef>
              <a:spcAft>
                <a:spcPts val="0"/>
              </a:spcAft>
            </a:pPr>
            <a:r>
              <a:rPr sz="4000" b="1" i="0">
                <a:solidFill>
                  <a:srgbClr val="1A1A1A"/>
                </a:solidFill>
                <a:latin typeface="Cambria"/>
                <a:ea typeface="Cambria"/>
                <a:cs typeface="Cambria"/>
              </a:rPr>
              <a:t>科技开篇</a:t>
            </a:r>
          </a:p>
        </p:txBody>
      </p:sp>
      <p:sp>
        <p:nvSpPr>
          <p:cNvPr id="9" name="TextBox 8"/>
          <p:cNvSpPr txBox="1"/>
          <p:nvPr/>
        </p:nvSpPr>
        <p:spPr>
          <a:xfrm>
            <a:off x="2560320" y="1298448"/>
            <a:ext cx="8686800" cy="502920"/>
          </a:xfrm>
          <a:prstGeom prst="rect">
            <a:avLst/>
          </a:prstGeom>
          <a:noFill/>
        </p:spPr>
        <p:txBody>
          <a:bodyPr wrap="square" anchor="t"/>
          <a:lstStyle/>
          <a:p>
            <a:pPr algn="l">
              <a:lnSpc>
                <a:spcPct val="115000"/>
              </a:lnSpc>
              <a:spcBef>
                <a:spcPts val="0"/>
              </a:spcBef>
              <a:spcAft>
                <a:spcPts val="0"/>
              </a:spcAft>
            </a:pPr>
            <a:r>
              <a:rPr sz="1500" b="0" i="0">
                <a:solidFill>
                  <a:srgbClr val="4A5568"/>
                </a:solidFill>
                <a:latin typeface="Calibri"/>
                <a:ea typeface="Microsoft YaHei"/>
                <a:cs typeface="Microsoft YaHei"/>
              </a:rPr>
              <a:t>圣克拉拉把统一内存写成货架价。山景城把魔法态培养折进沪时凌晨。深圳把一万个触觉单元写成分层编码。</a:t>
            </a:r>
          </a:p>
        </p:txBody>
      </p:sp>
      <p:sp>
        <p:nvSpPr>
          <p:cNvPr id="10" name="Rounded Rectangle 9"/>
          <p:cNvSpPr/>
          <p:nvPr/>
        </p:nvSpPr>
        <p:spPr>
          <a:xfrm>
            <a:off x="457200" y="1965960"/>
            <a:ext cx="2670048" cy="233172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066543"/>
            <a:ext cx="2377440"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2599</a:t>
            </a:r>
          </a:p>
        </p:txBody>
      </p:sp>
      <p:sp>
        <p:nvSpPr>
          <p:cNvPr id="12" name="TextBox 11"/>
          <p:cNvSpPr txBox="1"/>
          <p:nvPr/>
        </p:nvSpPr>
        <p:spPr>
          <a:xfrm>
            <a:off x="603504" y="2706624"/>
            <a:ext cx="23774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libri"/>
                <a:ea typeface="Microsoft YaHei"/>
                <a:cs typeface="Microsoft YaHei"/>
              </a:rPr>
              <a:t>美元起</a:t>
            </a:r>
          </a:p>
        </p:txBody>
      </p:sp>
      <p:sp>
        <p:nvSpPr>
          <p:cNvPr id="13" name="TextBox 12"/>
          <p:cNvSpPr txBox="1"/>
          <p:nvPr/>
        </p:nvSpPr>
        <p:spPr>
          <a:xfrm>
            <a:off x="603504" y="2999232"/>
            <a:ext cx="2377440" cy="1097280"/>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RTX Spark 笔记本全球开售，六家整机厂首发。</a:t>
            </a:r>
          </a:p>
        </p:txBody>
      </p:sp>
      <p:sp>
        <p:nvSpPr>
          <p:cNvPr id="14" name="Rounded Rectangle 13"/>
          <p:cNvSpPr/>
          <p:nvPr/>
        </p:nvSpPr>
        <p:spPr>
          <a:xfrm>
            <a:off x="3273552" y="1965960"/>
            <a:ext cx="2670048" cy="233172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9856" y="2066543"/>
            <a:ext cx="2377440"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40×</a:t>
            </a:r>
          </a:p>
        </p:txBody>
      </p:sp>
      <p:sp>
        <p:nvSpPr>
          <p:cNvPr id="16" name="TextBox 15"/>
          <p:cNvSpPr txBox="1"/>
          <p:nvPr/>
        </p:nvSpPr>
        <p:spPr>
          <a:xfrm>
            <a:off x="3419856" y="2706624"/>
            <a:ext cx="23774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libri"/>
                <a:ea typeface="Microsoft YaHei"/>
                <a:cs typeface="Microsoft YaHei"/>
              </a:rPr>
              <a:t>误差下降</a:t>
            </a:r>
          </a:p>
        </p:txBody>
      </p:sp>
      <p:sp>
        <p:nvSpPr>
          <p:cNvPr id="17" name="TextBox 16"/>
          <p:cNvSpPr txBox="1"/>
          <p:nvPr/>
        </p:nvSpPr>
        <p:spPr>
          <a:xfrm>
            <a:off x="3419856" y="2999232"/>
            <a:ext cx="2377440" cy="1097280"/>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Willow 上培养魔法态，相对未培养态约降四十倍。</a:t>
            </a:r>
          </a:p>
        </p:txBody>
      </p:sp>
      <p:sp>
        <p:nvSpPr>
          <p:cNvPr id="18" name="Rounded Rectangle 17"/>
          <p:cNvSpPr/>
          <p:nvPr/>
        </p:nvSpPr>
        <p:spPr>
          <a:xfrm>
            <a:off x="6089904" y="1965960"/>
            <a:ext cx="2670048" cy="233172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2066543"/>
            <a:ext cx="2377440"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816B</a:t>
            </a:r>
          </a:p>
        </p:txBody>
      </p:sp>
      <p:sp>
        <p:nvSpPr>
          <p:cNvPr id="20" name="TextBox 19"/>
          <p:cNvSpPr txBox="1"/>
          <p:nvPr/>
        </p:nvSpPr>
        <p:spPr>
          <a:xfrm>
            <a:off x="6236208" y="2706624"/>
            <a:ext cx="23774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libri"/>
                <a:ea typeface="Microsoft YaHei"/>
                <a:cs typeface="Microsoft YaHei"/>
              </a:rPr>
              <a:t>总参数</a:t>
            </a:r>
          </a:p>
        </p:txBody>
      </p:sp>
      <p:sp>
        <p:nvSpPr>
          <p:cNvPr id="21" name="TextBox 20"/>
          <p:cNvSpPr txBox="1"/>
          <p:nvPr/>
        </p:nvSpPr>
        <p:spPr>
          <a:xfrm>
            <a:off x="6236208" y="2999232"/>
            <a:ext cx="2377440" cy="1097280"/>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Muse Spark Open 开权 MoE，激活 42B。</a:t>
            </a:r>
          </a:p>
        </p:txBody>
      </p:sp>
      <p:sp>
        <p:nvSpPr>
          <p:cNvPr id="22" name="Rounded Rectangle 21"/>
          <p:cNvSpPr/>
          <p:nvPr/>
        </p:nvSpPr>
        <p:spPr>
          <a:xfrm>
            <a:off x="8906256" y="1965960"/>
            <a:ext cx="2670048" cy="2331720"/>
          </a:xfrm>
          <a:prstGeom prst="roundRect">
            <a:avLst>
              <a:gd name="adj" fmla="val 6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2066543"/>
            <a:ext cx="2377440" cy="640080"/>
          </a:xfrm>
          <a:prstGeom prst="rect">
            <a:avLst/>
          </a:prstGeom>
          <a:noFill/>
        </p:spPr>
        <p:txBody>
          <a:bodyPr wrap="square" anchor="t"/>
          <a:lstStyle/>
          <a:p>
            <a:pPr algn="l">
              <a:lnSpc>
                <a:spcPct val="115000"/>
              </a:lnSpc>
              <a:spcBef>
                <a:spcPts val="0"/>
              </a:spcBef>
              <a:spcAft>
                <a:spcPts val="0"/>
              </a:spcAft>
            </a:pPr>
            <a:r>
              <a:rPr sz="3200" b="1" i="0">
                <a:solidFill>
                  <a:srgbClr val="C41E3A"/>
                </a:solidFill>
                <a:latin typeface="Cambria"/>
                <a:ea typeface="Cambria"/>
                <a:cs typeface="Cambria"/>
              </a:rPr>
              <a:t>1110</a:t>
            </a:r>
          </a:p>
        </p:txBody>
      </p:sp>
      <p:sp>
        <p:nvSpPr>
          <p:cNvPr id="24" name="TextBox 23"/>
          <p:cNvSpPr txBox="1"/>
          <p:nvPr/>
        </p:nvSpPr>
        <p:spPr>
          <a:xfrm>
            <a:off x="9052560" y="2706624"/>
            <a:ext cx="23774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libri"/>
                <a:ea typeface="Microsoft YaHei"/>
                <a:cs typeface="Microsoft YaHei"/>
              </a:rPr>
              <a:t>单元/厘米²</a:t>
            </a:r>
          </a:p>
        </p:txBody>
      </p:sp>
      <p:sp>
        <p:nvSpPr>
          <p:cNvPr id="25" name="TextBox 24"/>
          <p:cNvSpPr txBox="1"/>
          <p:nvPr/>
        </p:nvSpPr>
        <p:spPr>
          <a:xfrm>
            <a:off x="9052560" y="2999232"/>
            <a:ext cx="2377440" cy="1097280"/>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南科大离子电子皮肤，规模超一万单元。</a:t>
            </a:r>
          </a:p>
        </p:txBody>
      </p:sp>
      <p:sp>
        <p:nvSpPr>
          <p:cNvPr id="26" name="Rounded Rectangle 25"/>
          <p:cNvSpPr/>
          <p:nvPr/>
        </p:nvSpPr>
        <p:spPr>
          <a:xfrm>
            <a:off x="457200" y="4480560"/>
            <a:ext cx="11274552" cy="1920240"/>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617720"/>
            <a:ext cx="10881360" cy="237744"/>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对照 · 15日刊预告兑现</a:t>
            </a:r>
          </a:p>
        </p:txBody>
      </p:sp>
      <p:sp>
        <p:nvSpPr>
          <p:cNvPr id="28" name="TextBox 27"/>
          <p:cNvSpPr txBox="1"/>
          <p:nvPr/>
        </p:nvSpPr>
        <p:spPr>
          <a:xfrm>
            <a:off x="658368" y="4919472"/>
            <a:ext cx="10881360" cy="1280160"/>
          </a:xfrm>
          <a:prstGeom prst="rect">
            <a:avLst/>
          </a:prstGeom>
          <a:noFill/>
        </p:spPr>
        <p:txBody>
          <a:bodyPr wrap="square" anchor="t"/>
          <a:lstStyle/>
          <a:p>
            <a:pPr algn="l">
              <a:lnSpc>
                <a:spcPct val="115000"/>
              </a:lnSpc>
              <a:spcBef>
                <a:spcPts val="0"/>
              </a:spcBef>
              <a:spcAft>
                <a:spcPts val="0"/>
              </a:spcAft>
            </a:pPr>
            <a:r>
              <a:rPr sz="1500" b="0" i="0">
                <a:solidFill>
                  <a:srgbClr val="F7F4EF"/>
                </a:solidFill>
                <a:latin typeface="Calibri"/>
                <a:ea typeface="Microsoft YaHei"/>
                <a:cs typeface="Microsoft YaHei"/>
              </a:rPr>
              <a:t>Muse Spark Open / 苹果 MLX、Willow 魔法态培养、《科学》论文、RTX Spark 全球发布、USSF-481 窗口，均按15日刊预告折沪时入本日。沃尔沃—英伟达自动驾驶扩容同理。国内航天当日留白。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07</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11274552"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822960"/>
            <a:ext cx="1920240" cy="822960"/>
          </a:xfrm>
          <a:prstGeom prst="rect">
            <a:avLst/>
          </a:prstGeom>
          <a:noFill/>
        </p:spPr>
        <p:txBody>
          <a:bodyPr wrap="square" anchor="t"/>
          <a:lstStyle/>
          <a:p>
            <a:pPr algn="l">
              <a:lnSpc>
                <a:spcPct val="115000"/>
              </a:lnSpc>
              <a:spcBef>
                <a:spcPts val="0"/>
              </a:spcBef>
              <a:spcAft>
                <a:spcPts val="0"/>
              </a:spcAft>
            </a:pPr>
            <a:r>
              <a:rPr sz="5200" b="1" i="0">
                <a:solidFill>
                  <a:srgbClr val="C41E3A"/>
                </a:solidFill>
                <a:latin typeface="Cambria"/>
                <a:ea typeface="Cambria"/>
                <a:cs typeface="Cambria"/>
              </a:rPr>
              <a:t>07</a:t>
            </a:r>
          </a:p>
        </p:txBody>
      </p:sp>
      <p:sp>
        <p:nvSpPr>
          <p:cNvPr id="9" name="TextBox 8"/>
          <p:cNvSpPr txBox="1"/>
          <p:nvPr/>
        </p:nvSpPr>
        <p:spPr>
          <a:xfrm>
            <a:off x="658368" y="1664208"/>
            <a:ext cx="1920240" cy="640080"/>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Microsoft YaHei"/>
                <a:cs typeface="Microsoft YaHei"/>
              </a:rPr>
              <a:t>芯片 / 超芯</a:t>
            </a:r>
          </a:p>
        </p:txBody>
      </p:sp>
      <p:sp>
        <p:nvSpPr>
          <p:cNvPr id="10" name="TextBox 9"/>
          <p:cNvSpPr txBox="1"/>
          <p:nvPr/>
        </p:nvSpPr>
        <p:spPr>
          <a:xfrm>
            <a:off x="2834640" y="804672"/>
            <a:ext cx="8595360"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英伟达新闻室 · 16日开售</a:t>
            </a:r>
          </a:p>
        </p:txBody>
      </p:sp>
      <p:sp>
        <p:nvSpPr>
          <p:cNvPr id="11" name="TextBox 10"/>
          <p:cNvSpPr txBox="1"/>
          <p:nvPr/>
        </p:nvSpPr>
        <p:spPr>
          <a:xfrm>
            <a:off x="2834640" y="1078992"/>
            <a:ext cx="8595360" cy="73152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统一内存笔记本开售</a:t>
            </a:r>
          </a:p>
        </p:txBody>
      </p:sp>
      <p:sp>
        <p:nvSpPr>
          <p:cNvPr id="12" name="TextBox 11"/>
          <p:cNvSpPr txBox="1"/>
          <p:nvPr/>
        </p:nvSpPr>
        <p:spPr>
          <a:xfrm>
            <a:off x="2834640" y="1865376"/>
            <a:ext cx="8595360" cy="329184"/>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来源：NVIDIA Newsroom / 联发科  ·  nvidianews.nvidia.com</a:t>
            </a:r>
          </a:p>
        </p:txBody>
      </p:sp>
      <p:sp>
        <p:nvSpPr>
          <p:cNvPr id="13" name="TextBox 12"/>
          <p:cNvSpPr txBox="1"/>
          <p:nvPr/>
        </p:nvSpPr>
        <p:spPr>
          <a:xfrm>
            <a:off x="2834640" y="2249424"/>
            <a:ext cx="8595360" cy="1737360"/>
          </a:xfrm>
          <a:prstGeom prst="rect">
            <a:avLst/>
          </a:prstGeom>
          <a:noFill/>
        </p:spPr>
        <p:txBody>
          <a:bodyPr wrap="square" anchor="t"/>
          <a:lstStyle/>
          <a:p>
            <a:pPr algn="l">
              <a:lnSpc>
                <a:spcPct val="115000"/>
              </a:lnSpc>
              <a:spcBef>
                <a:spcPts val="0"/>
              </a:spcBef>
              <a:spcAft>
                <a:spcPts val="0"/>
              </a:spcAft>
            </a:pPr>
            <a:r>
              <a:rPr sz="1600" b="0" i="0">
                <a:solidFill>
                  <a:srgbClr val="1A1A1A"/>
                </a:solidFill>
                <a:latin typeface="Calibri"/>
                <a:ea typeface="Microsoft YaHei"/>
                <a:cs typeface="Microsoft YaHei"/>
              </a:rPr>
              <a:t>英伟达16日宣布RTX Spark笔记本全球开售，六家整机厂首发，起价2599美元。超芯整合Blackwell RTX与Grace CPU，最高128GB统一内存、1 petaflop FP4算力，联发科参与定制，可本机跑智能体。</a:t>
            </a:r>
          </a:p>
        </p:txBody>
      </p:sp>
      <p:sp>
        <p:nvSpPr>
          <p:cNvPr id="14" name="Rectangle 13"/>
          <p:cNvSpPr/>
          <p:nvPr/>
        </p:nvSpPr>
        <p:spPr>
          <a:xfrm>
            <a:off x="2834640" y="4114800"/>
            <a:ext cx="8595360"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4169664"/>
            <a:ext cx="8595360"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6" name="TextBox 15"/>
          <p:cNvSpPr txBox="1"/>
          <p:nvPr/>
        </p:nvSpPr>
        <p:spPr>
          <a:xfrm>
            <a:off x="2834640" y="4352544"/>
            <a:ext cx="8595360" cy="149961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把数据中心级统一内存第一次写成可买到的Windows笔记本，而不是发布会幻灯。15日刊已预告档期。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08–09</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04672"/>
            <a:ext cx="4974336"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08　量子 · Willow</a:t>
            </a:r>
          </a:p>
        </p:txBody>
      </p:sp>
      <p:sp>
        <p:nvSpPr>
          <p:cNvPr id="9" name="TextBox 8"/>
          <p:cNvSpPr txBox="1"/>
          <p:nvPr/>
        </p:nvSpPr>
        <p:spPr>
          <a:xfrm>
            <a:off x="713232" y="1097280"/>
            <a:ext cx="4974336" cy="100584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魔法态培养写成实验</a:t>
            </a:r>
          </a:p>
        </p:txBody>
      </p:sp>
      <p:sp>
        <p:nvSpPr>
          <p:cNvPr id="10" name="TextBox 9"/>
          <p:cNvSpPr txBox="1"/>
          <p:nvPr/>
        </p:nvSpPr>
        <p:spPr>
          <a:xfrm>
            <a:off x="713232" y="2139696"/>
            <a:ext cx="4974336" cy="292608"/>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来源：Science / 谷歌博客  ·  science.org</a:t>
            </a:r>
          </a:p>
        </p:txBody>
      </p:sp>
      <p:sp>
        <p:nvSpPr>
          <p:cNvPr id="11" name="TextBox 10"/>
          <p:cNvSpPr txBox="1"/>
          <p:nvPr/>
        </p:nvSpPr>
        <p:spPr>
          <a:xfrm>
            <a:off x="713232" y="2468880"/>
            <a:ext cx="4974336" cy="20116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谷歌Quantum AI于15日18:00 UTC（沪时16日02:00）在《科学》发表Willow处理器上的「魔法态培养」实验：培养使误差约降40倍，T态逻辑保真度至少99.99(1)%，保留约8%尝试，并完成到距离5表面码的切换。</a:t>
            </a:r>
          </a:p>
        </p:txBody>
      </p:sp>
      <p:sp>
        <p:nvSpPr>
          <p:cNvPr id="12" name="Rectangle 11"/>
          <p:cNvSpPr/>
          <p:nvPr/>
        </p:nvSpPr>
        <p:spPr>
          <a:xfrm>
            <a:off x="713232" y="4626864"/>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681728"/>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4" name="TextBox 13"/>
          <p:cNvSpPr txBox="1"/>
          <p:nvPr/>
        </p:nvSpPr>
        <p:spPr>
          <a:xfrm>
            <a:off x="713232" y="4864608"/>
            <a:ext cx="4974336" cy="122529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容错量子计算最贵的非Clifford资源第一次在超导硬件上被写成可培养，而不是只靠蒸馏。</a:t>
            </a:r>
          </a:p>
        </p:txBody>
      </p:sp>
      <p:sp>
        <p:nvSpPr>
          <p:cNvPr id="15" name="Rounded Rectangle 14"/>
          <p:cNvSpPr/>
          <p:nvPr/>
        </p:nvSpPr>
        <p:spPr>
          <a:xfrm>
            <a:off x="6144768"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804672"/>
            <a:ext cx="4974336"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09　开权 · 桌面</a:t>
            </a:r>
          </a:p>
        </p:txBody>
      </p:sp>
      <p:sp>
        <p:nvSpPr>
          <p:cNvPr id="17" name="TextBox 16"/>
          <p:cNvSpPr txBox="1"/>
          <p:nvPr/>
        </p:nvSpPr>
        <p:spPr>
          <a:xfrm>
            <a:off x="6400800" y="1097280"/>
            <a:ext cx="4974336" cy="100584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开权模型跑上桌面Mac</a:t>
            </a:r>
          </a:p>
        </p:txBody>
      </p:sp>
      <p:sp>
        <p:nvSpPr>
          <p:cNvPr id="18" name="TextBox 17"/>
          <p:cNvSpPr txBox="1"/>
          <p:nvPr/>
        </p:nvSpPr>
        <p:spPr>
          <a:xfrm>
            <a:off x="6400800" y="2139696"/>
            <a:ext cx="4974336" cy="292608"/>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来源：Meta / 苹果机器学习  ·  research.meta.ai</a:t>
            </a:r>
          </a:p>
        </p:txBody>
      </p:sp>
      <p:sp>
        <p:nvSpPr>
          <p:cNvPr id="19" name="TextBox 18"/>
          <p:cNvSpPr txBox="1"/>
          <p:nvPr/>
        </p:nvSpPr>
        <p:spPr>
          <a:xfrm>
            <a:off x="6400800" y="2468880"/>
            <a:ext cx="4974336" cy="20116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Meta于美西15日发布开权模型Muse Spark Open：8160亿总参、420亿激活、百万词元上下文。苹果同日更新MLX，称四台M5 Ultra Mac Studio可跑超36 token/秒。15日刊已预告折入本日。</a:t>
            </a:r>
          </a:p>
        </p:txBody>
      </p:sp>
      <p:sp>
        <p:nvSpPr>
          <p:cNvPr id="20" name="Rectangle 19"/>
          <p:cNvSpPr/>
          <p:nvPr/>
        </p:nvSpPr>
        <p:spPr>
          <a:xfrm>
            <a:off x="6400800" y="4626864"/>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681728"/>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22" name="TextBox 21"/>
          <p:cNvSpPr txBox="1"/>
          <p:nvPr/>
        </p:nvSpPr>
        <p:spPr>
          <a:xfrm>
            <a:off x="6400800" y="4864608"/>
            <a:ext cx="4974336" cy="122529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把「开权前沿模型」第一次写成可在两台桌面Mac上本地跑，而不是只在云上租卡。</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10–11</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04672"/>
            <a:ext cx="4974336"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10　具身 · 南科大</a:t>
            </a:r>
          </a:p>
        </p:txBody>
      </p:sp>
      <p:sp>
        <p:nvSpPr>
          <p:cNvPr id="9" name="TextBox 8"/>
          <p:cNvSpPr txBox="1"/>
          <p:nvPr/>
        </p:nvSpPr>
        <p:spPr>
          <a:xfrm>
            <a:off x="713232" y="1097280"/>
            <a:ext cx="4974336" cy="91440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万单元分层触觉</a:t>
            </a:r>
          </a:p>
        </p:txBody>
      </p:sp>
      <p:sp>
        <p:nvSpPr>
          <p:cNvPr id="10" name="TextBox 9"/>
          <p:cNvSpPr txBox="1"/>
          <p:nvPr/>
        </p:nvSpPr>
        <p:spPr>
          <a:xfrm>
            <a:off x="713232" y="2048256"/>
            <a:ext cx="4974336" cy="292608"/>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来源：Nature Machine Intelligence  ·  nature.com</a:t>
            </a:r>
          </a:p>
        </p:txBody>
      </p:sp>
      <p:sp>
        <p:nvSpPr>
          <p:cNvPr id="11" name="TextBox 10"/>
          <p:cNvSpPr txBox="1"/>
          <p:nvPr/>
        </p:nvSpPr>
        <p:spPr>
          <a:xfrm>
            <a:off x="713232" y="2377440"/>
            <a:ext cx="4974336" cy="20116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南科大郭传飞、王太宏等16日发表神经分层离子电子皮肤：密度1110单元/平方厘米、规模超1万单元，频率编码并行读出100帧/秒，后端压缩带宽数百倍，人形机器人可分辨300微米表面并做伤害性自我保护。</a:t>
            </a:r>
          </a:p>
        </p:txBody>
      </p:sp>
      <p:sp>
        <p:nvSpPr>
          <p:cNvPr id="12" name="Rectangle 11"/>
          <p:cNvSpPr/>
          <p:nvPr/>
        </p:nvSpPr>
        <p:spPr>
          <a:xfrm>
            <a:off x="713232" y="457200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62686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4" name="TextBox 13"/>
          <p:cNvSpPr txBox="1"/>
          <p:nvPr/>
        </p:nvSpPr>
        <p:spPr>
          <a:xfrm>
            <a:off x="713232" y="4809744"/>
            <a:ext cx="4974336" cy="131673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把电子皮肤的瓶颈从「堆传感器」改写成分层编码，是具身智能可核验的感知台阶。</a:t>
            </a:r>
          </a:p>
        </p:txBody>
      </p:sp>
      <p:sp>
        <p:nvSpPr>
          <p:cNvPr id="15" name="Rounded Rectangle 14"/>
          <p:cNvSpPr/>
          <p:nvPr/>
        </p:nvSpPr>
        <p:spPr>
          <a:xfrm>
            <a:off x="6144768"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804672"/>
            <a:ext cx="4974336"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11　航天 · 范登堡</a:t>
            </a:r>
          </a:p>
        </p:txBody>
      </p:sp>
      <p:sp>
        <p:nvSpPr>
          <p:cNvPr id="17" name="TextBox 16"/>
          <p:cNvSpPr txBox="1"/>
          <p:nvPr/>
        </p:nvSpPr>
        <p:spPr>
          <a:xfrm>
            <a:off x="6400800" y="1097280"/>
            <a:ext cx="4974336" cy="91440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保密载荷折入清晨</a:t>
            </a:r>
          </a:p>
        </p:txBody>
      </p:sp>
      <p:sp>
        <p:nvSpPr>
          <p:cNvPr id="18" name="TextBox 17"/>
          <p:cNvSpPr txBox="1"/>
          <p:nvPr/>
        </p:nvSpPr>
        <p:spPr>
          <a:xfrm>
            <a:off x="6400800" y="2048256"/>
            <a:ext cx="4974336" cy="292608"/>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来源：SpaceX / Spaceflight Now  ·  spacex.com</a:t>
            </a:r>
          </a:p>
        </p:txBody>
      </p:sp>
      <p:sp>
        <p:nvSpPr>
          <p:cNvPr id="19" name="TextBox 18"/>
          <p:cNvSpPr txBox="1"/>
          <p:nvPr/>
        </p:nvSpPr>
        <p:spPr>
          <a:xfrm>
            <a:off x="6400800" y="2377440"/>
            <a:ext cx="4974336" cy="201168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猎鹰9号于16日00:01 UTC（沪时08:01）从范登堡4E发射美军太空部队保密任务USSF-481（亦称TH-2），助推器B1081第28飞，回收至太平洋无人船。载荷未披露，轨迹指向约80度倾角近极地低轨。</a:t>
            </a:r>
          </a:p>
        </p:txBody>
      </p:sp>
      <p:sp>
        <p:nvSpPr>
          <p:cNvPr id="20" name="Rectangle 19"/>
          <p:cNvSpPr/>
          <p:nvPr/>
        </p:nvSpPr>
        <p:spPr>
          <a:xfrm>
            <a:off x="6400800" y="457200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62686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22" name="TextBox 21"/>
          <p:cNvSpPr txBox="1"/>
          <p:nvPr/>
        </p:nvSpPr>
        <p:spPr>
          <a:xfrm>
            <a:off x="6400800" y="4809744"/>
            <a:ext cx="4974336" cy="131673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15日刊已预告窗口折沪时入本日。这是周五可核验的轨道发射，国内航天当日留白。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4A5568"/>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稿件 12 · 缺口</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658368"/>
            <a:ext cx="5486400"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04672"/>
            <a:ext cx="4974336" cy="237744"/>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12　汽车 · 斯德哥尔摩</a:t>
            </a:r>
          </a:p>
        </p:txBody>
      </p:sp>
      <p:sp>
        <p:nvSpPr>
          <p:cNvPr id="9" name="TextBox 8"/>
          <p:cNvSpPr txBox="1"/>
          <p:nvPr/>
        </p:nvSpPr>
        <p:spPr>
          <a:xfrm>
            <a:off x="713232" y="1060704"/>
            <a:ext cx="4974336" cy="109728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自动驾驶交给Hyperion</a:t>
            </a:r>
          </a:p>
        </p:txBody>
      </p:sp>
      <p:sp>
        <p:nvSpPr>
          <p:cNvPr id="10" name="TextBox 9"/>
          <p:cNvSpPr txBox="1"/>
          <p:nvPr/>
        </p:nvSpPr>
        <p:spPr>
          <a:xfrm>
            <a:off x="713232" y="2194560"/>
            <a:ext cx="4974336" cy="274320"/>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Microsoft YaHei"/>
                <a:cs typeface="Microsoft YaHei"/>
              </a:rPr>
              <a:t>来源：Volvo / NVIDIA  ·  volvocars.com</a:t>
            </a:r>
          </a:p>
        </p:txBody>
      </p:sp>
      <p:sp>
        <p:nvSpPr>
          <p:cNvPr id="11" name="TextBox 10"/>
          <p:cNvSpPr txBox="1"/>
          <p:nvPr/>
        </p:nvSpPr>
        <p:spPr>
          <a:xfrm>
            <a:off x="713232" y="2487168"/>
            <a:ext cx="4974336" cy="1828800"/>
          </a:xfrm>
          <a:prstGeom prst="rect">
            <a:avLst/>
          </a:prstGeom>
          <a:noFill/>
        </p:spPr>
        <p:txBody>
          <a:bodyPr wrap="square" anchor="t"/>
          <a:lstStyle/>
          <a:p>
            <a:pPr algn="l">
              <a:lnSpc>
                <a:spcPct val="115000"/>
              </a:lnSpc>
              <a:spcBef>
                <a:spcPts val="0"/>
              </a:spcBef>
              <a:spcAft>
                <a:spcPts val="0"/>
              </a:spcAft>
            </a:pPr>
            <a:r>
              <a:rPr sz="1400" b="0" i="0">
                <a:solidFill>
                  <a:srgbClr val="1A1A1A"/>
                </a:solidFill>
                <a:latin typeface="Calibri"/>
                <a:ea typeface="Microsoft YaHei"/>
                <a:cs typeface="Microsoft YaHei"/>
              </a:rPr>
              <a:t>沃尔沃15日宣布扩大与英伟达合作，未来车将用Hyperion传感计算、Halos操作系统与Alpamayo驾驶软件，逐步引入eyes-off/mind-off，软件负责人称目标2030年前多区域同步、不含中国。15日刊已预告，折沪时入本日。</a:t>
            </a:r>
          </a:p>
        </p:txBody>
      </p:sp>
      <p:sp>
        <p:nvSpPr>
          <p:cNvPr id="12" name="Rectangle 11"/>
          <p:cNvSpPr/>
          <p:nvPr/>
        </p:nvSpPr>
        <p:spPr>
          <a:xfrm>
            <a:off x="713232" y="4480560"/>
            <a:ext cx="4974336" cy="10972"/>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535424"/>
            <a:ext cx="4974336" cy="182880"/>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Microsoft YaHei"/>
                <a:cs typeface="Microsoft YaHei"/>
              </a:rPr>
              <a:t>为何重要</a:t>
            </a:r>
          </a:p>
        </p:txBody>
      </p:sp>
      <p:sp>
        <p:nvSpPr>
          <p:cNvPr id="14" name="TextBox 13"/>
          <p:cNvSpPr txBox="1"/>
          <p:nvPr/>
        </p:nvSpPr>
        <p:spPr>
          <a:xfrm>
            <a:off x="713232" y="4718304"/>
            <a:ext cx="4974336" cy="1408176"/>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Microsoft YaHei"/>
                <a:cs typeface="Microsoft YaHei"/>
              </a:rPr>
              <a:t>把「安全第一的渐进自动驾驶」写成可点名的三件套，而不是又一份模糊的战略备忘录。</a:t>
            </a:r>
          </a:p>
        </p:txBody>
      </p:sp>
      <p:sp>
        <p:nvSpPr>
          <p:cNvPr id="15" name="Rounded Rectangle 14"/>
          <p:cNvSpPr/>
          <p:nvPr/>
        </p:nvSpPr>
        <p:spPr>
          <a:xfrm>
            <a:off x="6144768" y="658368"/>
            <a:ext cx="5586984" cy="5742432"/>
          </a:xfrm>
          <a:prstGeom prst="roundRect">
            <a:avLst>
              <a:gd name="adj" fmla="val 5000"/>
            </a:avLst>
          </a:prstGeom>
          <a:solidFill>
            <a:srgbClr val="FFFCF7"/>
          </a:solidFill>
          <a:ln w="12700">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804672"/>
            <a:ext cx="5074920" cy="237744"/>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信息不足</a:t>
            </a:r>
          </a:p>
        </p:txBody>
      </p:sp>
      <p:sp>
        <p:nvSpPr>
          <p:cNvPr id="17" name="TextBox 16"/>
          <p:cNvSpPr txBox="1"/>
          <p:nvPr/>
        </p:nvSpPr>
        <p:spPr>
          <a:xfrm>
            <a:off x="6400800" y="1060704"/>
            <a:ext cx="5074920" cy="64008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cs typeface="Cambria"/>
              </a:rPr>
              <a:t>国内航天留白</a:t>
            </a:r>
          </a:p>
        </p:txBody>
      </p:sp>
      <p:sp>
        <p:nvSpPr>
          <p:cNvPr id="18" name="TextBox 17"/>
          <p:cNvSpPr txBox="1"/>
          <p:nvPr/>
        </p:nvSpPr>
        <p:spPr>
          <a:xfrm>
            <a:off x="6400800" y="1783080"/>
            <a:ext cx="5074920" cy="4297680"/>
          </a:xfrm>
          <a:prstGeom prst="rect">
            <a:avLst/>
          </a:prstGeom>
          <a:noFill/>
        </p:spPr>
        <p:txBody>
          <a:bodyPr wrap="square" anchor="t"/>
          <a:lstStyle/>
          <a:p>
            <a:pPr algn="l">
              <a:lnSpc>
                <a:spcPct val="115000"/>
              </a:lnSpc>
              <a:spcBef>
                <a:spcPts val="0"/>
              </a:spcBef>
              <a:spcAft>
                <a:spcPts val="800"/>
              </a:spcAft>
            </a:pPr>
            <a:r>
              <a:rPr sz="1300" b="0" i="0">
                <a:solidFill>
                  <a:srgbClr val="4A5568"/>
                </a:solidFill>
                <a:latin typeface="Calibri"/>
                <a:ea typeface="Microsoft YaHei"/>
                <a:cs typeface="Microsoft YaHei"/>
              </a:rPr>
              <a:t>·  未见16日国内航天发射。朱雀二号遥四已入14日刊。</a:t>
            </a:r>
          </a:p>
          <a:p>
            <a:pPr algn="l">
              <a:lnSpc>
                <a:spcPct val="115000"/>
              </a:lnSpc>
              <a:spcBef>
                <a:spcPts val="0"/>
              </a:spcBef>
              <a:spcAft>
                <a:spcPts val="800"/>
              </a:spcAft>
            </a:pPr>
            <a:r>
              <a:rPr sz="1300" b="0" i="0">
                <a:solidFill>
                  <a:srgbClr val="4A5568"/>
                </a:solidFill>
                <a:latin typeface="Calibri"/>
                <a:ea typeface="Microsoft YaHei"/>
                <a:cs typeface="Microsoft YaHei"/>
              </a:rPr>
              <a:t>·  凡尔赛取消闰秒为15日决议，新华社16日跟进不重写。</a:t>
            </a:r>
          </a:p>
          <a:p>
            <a:pPr algn="l">
              <a:lnSpc>
                <a:spcPct val="115000"/>
              </a:lnSpc>
              <a:spcBef>
                <a:spcPts val="0"/>
              </a:spcBef>
              <a:spcAft>
                <a:spcPts val="800"/>
              </a:spcAft>
            </a:pPr>
            <a:r>
              <a:rPr sz="1300" b="0" i="0">
                <a:solidFill>
                  <a:srgbClr val="4A5568"/>
                </a:solidFill>
                <a:latin typeface="Calibri"/>
                <a:ea typeface="Microsoft YaHei"/>
                <a:cs typeface="Microsoft YaHei"/>
              </a:rPr>
              <a:t>·  湖南大学贺信、丁薛祥职教大会可核验但不单列。</a:t>
            </a:r>
          </a:p>
          <a:p>
            <a:pPr algn="l">
              <a:lnSpc>
                <a:spcPct val="115000"/>
              </a:lnSpc>
              <a:spcBef>
                <a:spcPts val="0"/>
              </a:spcBef>
              <a:spcAft>
                <a:spcPts val="800"/>
              </a:spcAft>
            </a:pPr>
            <a:r>
              <a:rPr sz="1300" b="0" i="0">
                <a:solidFill>
                  <a:srgbClr val="4A5568"/>
                </a:solidFill>
                <a:latin typeface="Calibri"/>
                <a:ea typeface="Microsoft YaHei"/>
                <a:cs typeface="Microsoft YaHei"/>
              </a:rPr>
              <a:t>·  梅赛德斯—英伟达十年扩容与沃尔沃条重叠，不另立。</a:t>
            </a:r>
          </a:p>
          <a:p>
            <a:pPr algn="l">
              <a:lnSpc>
                <a:spcPct val="115000"/>
              </a:lnSpc>
              <a:spcBef>
                <a:spcPts val="0"/>
              </a:spcBef>
              <a:spcAft>
                <a:spcPts val="800"/>
              </a:spcAft>
            </a:pPr>
            <a:r>
              <a:rPr sz="1300" b="0" i="0">
                <a:solidFill>
                  <a:srgbClr val="4A5568"/>
                </a:solidFill>
                <a:latin typeface="Calibri"/>
                <a:ea typeface="Microsoft YaHei"/>
                <a:cs typeface="Microsoft YaHei"/>
              </a:rPr>
              <a:t>·  产业芯片与中国大模型无16日产品首发。</a:t>
            </a:r>
          </a:p>
          <a:p>
            <a:pPr algn="l">
              <a:lnSpc>
                <a:spcPct val="115000"/>
              </a:lnSpc>
              <a:spcBef>
                <a:spcPts val="0"/>
              </a:spcBef>
              <a:spcAft>
                <a:spcPts val="800"/>
              </a:spcAft>
            </a:pPr>
            <a:r>
              <a:rPr sz="1300" b="0" i="0">
                <a:solidFill>
                  <a:srgbClr val="4A5568"/>
                </a:solidFill>
                <a:latin typeface="Calibri"/>
                <a:ea typeface="Microsoft YaHei"/>
                <a:cs typeface="Microsoft YaHei"/>
              </a:rPr>
              <a:t>·  勿重刊亚信、新桥、台积电Q3、cuPotential、珊瑚44%。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3291840" cy="256032"/>
          </a:xfrm>
          <a:prstGeom prst="rect">
            <a:avLst/>
          </a:prstGeom>
          <a:noFill/>
        </p:spPr>
        <p:txBody>
          <a:bodyPr wrap="square" anchor="t"/>
          <a:lstStyle/>
          <a:p>
            <a:pPr algn="l">
              <a:lnSpc>
                <a:spcPct val="115000"/>
              </a:lnSpc>
              <a:spcBef>
                <a:spcPts val="0"/>
              </a:spcBef>
              <a:spcAft>
                <a:spcPts val="0"/>
              </a:spcAft>
            </a:pPr>
            <a:r>
              <a:rPr sz="1300" b="1" i="0">
                <a:solidFill>
                  <a:srgbClr val="F7F4EF"/>
                </a:solidFill>
                <a:latin typeface="Cambria"/>
                <a:ea typeface="Cambria"/>
                <a:cs typeface="Cambria"/>
              </a:rPr>
              <a:t>每日时政科技简报</a:t>
            </a:r>
          </a:p>
        </p:txBody>
      </p:sp>
      <p:sp>
        <p:nvSpPr>
          <p:cNvPr id="4" name="TextBox 3"/>
          <p:cNvSpPr txBox="1"/>
          <p:nvPr/>
        </p:nvSpPr>
        <p:spPr>
          <a:xfrm>
            <a:off x="4023360" y="182880"/>
            <a:ext cx="5303520" cy="256032"/>
          </a:xfrm>
          <a:prstGeom prst="rect">
            <a:avLst/>
          </a:prstGeom>
          <a:noFill/>
        </p:spPr>
        <p:txBody>
          <a:bodyPr wrap="square" anchor="t"/>
          <a:lstStyle/>
          <a:p>
            <a:pPr algn="ctr">
              <a:lnSpc>
                <a:spcPct val="115000"/>
              </a:lnSpc>
              <a:spcBef>
                <a:spcPts val="0"/>
              </a:spcBef>
              <a:spcAft>
                <a:spcPts val="0"/>
              </a:spcAft>
            </a:pPr>
            <a:r>
              <a:rPr sz="1100" b="0" i="0">
                <a:solidFill>
                  <a:srgbClr val="C9C2B6"/>
                </a:solidFill>
                <a:latin typeface="Calibri"/>
                <a:ea typeface="Microsoft YaHei"/>
                <a:cs typeface="Microsoft YaHei"/>
              </a:rPr>
              <a:t>第025期  ·  2026年10月16日  ·  星期五</a:t>
            </a:r>
          </a:p>
        </p:txBody>
      </p:sp>
      <p:sp>
        <p:nvSpPr>
          <p:cNvPr id="5" name="TextBox 4"/>
          <p:cNvSpPr txBox="1"/>
          <p:nvPr/>
        </p:nvSpPr>
        <p:spPr>
          <a:xfrm>
            <a:off x="10241280" y="182880"/>
            <a:ext cx="1490472" cy="256032"/>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Microsoft YaHei"/>
                <a:cs typeface="Microsoft YaHei"/>
              </a:rPr>
              <a:t>收束</a:t>
            </a:r>
          </a:p>
        </p:txBody>
      </p:sp>
      <p:sp>
        <p:nvSpPr>
          <p:cNvPr id="6" name="Rectangle 5"/>
          <p:cNvSpPr/>
          <p:nvPr/>
        </p:nvSpPr>
        <p:spPr>
          <a:xfrm>
            <a:off x="457200" y="457200"/>
            <a:ext cx="11274552" cy="25603"/>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5943600" cy="237744"/>
          </a:xfrm>
          <a:prstGeom prst="rect">
            <a:avLst/>
          </a:prstGeom>
          <a:noFill/>
        </p:spPr>
        <p:txBody>
          <a:bodyPr wrap="square" anchor="t"/>
          <a:lstStyle/>
          <a:p>
            <a:pPr algn="l">
              <a:lnSpc>
                <a:spcPct val="115000"/>
              </a:lnSpc>
              <a:spcBef>
                <a:spcPts val="0"/>
              </a:spcBef>
              <a:spcAft>
                <a:spcPts val="0"/>
              </a:spcAft>
            </a:pPr>
            <a:r>
              <a:rPr sz="1100" b="0" i="0">
                <a:solidFill>
                  <a:srgbClr val="C9C2B6"/>
                </a:solidFill>
                <a:latin typeface="Calibri"/>
                <a:ea typeface="Microsoft YaHei"/>
                <a:cs typeface="Microsoft YaHei"/>
              </a:rPr>
              <a:t>THE EVENING LEDGER</a:t>
            </a:r>
          </a:p>
        </p:txBody>
      </p:sp>
      <p:sp>
        <p:nvSpPr>
          <p:cNvPr id="8" name="TextBox 7"/>
          <p:cNvSpPr txBox="1"/>
          <p:nvPr/>
        </p:nvSpPr>
        <p:spPr>
          <a:xfrm>
            <a:off x="7680960" y="640080"/>
            <a:ext cx="4050791" cy="237744"/>
          </a:xfrm>
          <a:prstGeom prst="rect">
            <a:avLst/>
          </a:prstGeom>
          <a:noFill/>
        </p:spPr>
        <p:txBody>
          <a:bodyPr wrap="square" anchor="t"/>
          <a:lstStyle/>
          <a:p>
            <a:pPr algn="r">
              <a:lnSpc>
                <a:spcPct val="115000"/>
              </a:lnSpc>
              <a:spcBef>
                <a:spcPts val="0"/>
              </a:spcBef>
              <a:spcAft>
                <a:spcPts val="0"/>
              </a:spcAft>
            </a:pPr>
            <a:r>
              <a:rPr sz="1100" b="0" i="0">
                <a:solidFill>
                  <a:srgbClr val="C9C2B6"/>
                </a:solidFill>
                <a:latin typeface="Calibri"/>
                <a:ea typeface="Microsoft YaHei"/>
                <a:cs typeface="Microsoft YaHei"/>
              </a:rPr>
              <a:t>第025期 · 收束</a:t>
            </a:r>
          </a:p>
        </p:txBody>
      </p:sp>
      <p:sp>
        <p:nvSpPr>
          <p:cNvPr id="9" name="Rectangle 8"/>
          <p:cNvSpPr/>
          <p:nvPr/>
        </p:nvSpPr>
        <p:spPr>
          <a:xfrm>
            <a:off x="457200" y="932688"/>
            <a:ext cx="112745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987552"/>
            <a:ext cx="11274552" cy="10972"/>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115568"/>
            <a:ext cx="11247120" cy="777240"/>
          </a:xfrm>
          <a:prstGeom prst="rect">
            <a:avLst/>
          </a:prstGeom>
          <a:noFill/>
        </p:spPr>
        <p:txBody>
          <a:bodyPr wrap="square" anchor="t"/>
          <a:lstStyle/>
          <a:p>
            <a:pPr algn="l">
              <a:lnSpc>
                <a:spcPct val="115000"/>
              </a:lnSpc>
              <a:spcBef>
                <a:spcPts val="0"/>
              </a:spcBef>
              <a:spcAft>
                <a:spcPts val="0"/>
              </a:spcAft>
            </a:pPr>
            <a:r>
              <a:rPr sz="3600" b="1" i="0">
                <a:solidFill>
                  <a:srgbClr val="F7F4EF"/>
                </a:solidFill>
                <a:latin typeface="Cambria"/>
                <a:ea typeface="Cambria"/>
                <a:cs typeface="Cambria"/>
              </a:rPr>
              <a:t>北疆写算力，国常会写落地，货架上出现超芯</a:t>
            </a:r>
          </a:p>
        </p:txBody>
      </p:sp>
      <p:sp>
        <p:nvSpPr>
          <p:cNvPr id="12" name="TextBox 11"/>
          <p:cNvSpPr txBox="1"/>
          <p:nvPr/>
        </p:nvSpPr>
        <p:spPr>
          <a:xfrm>
            <a:off x="457200" y="1920240"/>
            <a:ext cx="11247120" cy="1051560"/>
          </a:xfrm>
          <a:prstGeom prst="rect">
            <a:avLst/>
          </a:prstGeom>
          <a:noFill/>
        </p:spPr>
        <p:txBody>
          <a:bodyPr wrap="square" anchor="t"/>
          <a:lstStyle/>
          <a:p>
            <a:pPr algn="l">
              <a:lnSpc>
                <a:spcPct val="115000"/>
              </a:lnSpc>
              <a:spcBef>
                <a:spcPts val="0"/>
              </a:spcBef>
              <a:spcAft>
                <a:spcPts val="0"/>
              </a:spcAft>
            </a:pPr>
            <a:r>
              <a:rPr sz="1400" b="0" i="0">
                <a:solidFill>
                  <a:srgbClr val="E8E2D8"/>
                </a:solidFill>
                <a:latin typeface="Calibri"/>
                <a:ea typeface="Microsoft YaHei"/>
                <a:cs typeface="Microsoft YaHei"/>
              </a:rPr>
              <a:t>习近平在乌兰察布把黄旗海湿地与东数西算绿色算力写成同一天行程。李强主持国常会，听「人工智能+」进度。王毅三十三年后再访萨格勒布。特朗普点名镐山。RTX Spark 开售。Willow 魔法态与 Muse Spark Open 按预告折入本日。</a:t>
            </a:r>
          </a:p>
        </p:txBody>
      </p:sp>
      <p:sp>
        <p:nvSpPr>
          <p:cNvPr id="13" name="Rounded Rectangle 12"/>
          <p:cNvSpPr/>
          <p:nvPr/>
        </p:nvSpPr>
        <p:spPr>
          <a:xfrm>
            <a:off x="457200" y="3108960"/>
            <a:ext cx="5486400" cy="2606040"/>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18688"/>
            <a:ext cx="5084064" cy="256032"/>
          </a:xfrm>
          <a:prstGeom prst="rect">
            <a:avLst/>
          </a:prstGeom>
          <a:noFill/>
        </p:spPr>
        <p:txBody>
          <a:bodyPr wrap="square" anchor="t"/>
          <a:lstStyle/>
          <a:p>
            <a:pPr algn="l">
              <a:lnSpc>
                <a:spcPct val="115000"/>
              </a:lnSpc>
              <a:spcBef>
                <a:spcPts val="0"/>
              </a:spcBef>
              <a:spcAft>
                <a:spcPts val="0"/>
              </a:spcAft>
            </a:pPr>
            <a:r>
              <a:rPr sz="1300" b="1" i="0">
                <a:solidFill>
                  <a:srgbClr val="C41E3A"/>
                </a:solidFill>
                <a:latin typeface="Calibri"/>
                <a:ea typeface="Microsoft YaHei"/>
                <a:cs typeface="Microsoft YaHei"/>
              </a:rPr>
              <a:t>时政六条</a:t>
            </a:r>
          </a:p>
        </p:txBody>
      </p:sp>
      <p:sp>
        <p:nvSpPr>
          <p:cNvPr id="15" name="TextBox 14"/>
          <p:cNvSpPr txBox="1"/>
          <p:nvPr/>
        </p:nvSpPr>
        <p:spPr>
          <a:xfrm>
            <a:off x="658368" y="3529584"/>
            <a:ext cx="5084064" cy="2011680"/>
          </a:xfrm>
          <a:prstGeom prst="rect">
            <a:avLst/>
          </a:prstGeom>
          <a:noFill/>
        </p:spPr>
        <p:txBody>
          <a:bodyPr wrap="square" anchor="t"/>
          <a:lstStyle/>
          <a:p>
            <a:pPr algn="l">
              <a:lnSpc>
                <a:spcPct val="115000"/>
              </a:lnSpc>
              <a:spcBef>
                <a:spcPts val="0"/>
              </a:spcBef>
              <a:spcAft>
                <a:spcPts val="300"/>
              </a:spcAft>
            </a:pPr>
            <a:r>
              <a:rPr sz="1300" b="0" i="0">
                <a:solidFill>
                  <a:srgbClr val="F7F4EF"/>
                </a:solidFill>
                <a:latin typeface="Calibri"/>
                <a:ea typeface="Microsoft YaHei"/>
                <a:cs typeface="Microsoft YaHei"/>
              </a:rPr>
              <a:t>1.  黄旗海与绿色算力同日</a:t>
            </a:r>
          </a:p>
          <a:p>
            <a:pPr algn="l">
              <a:lnSpc>
                <a:spcPct val="115000"/>
              </a:lnSpc>
              <a:spcBef>
                <a:spcPts val="0"/>
              </a:spcBef>
              <a:spcAft>
                <a:spcPts val="300"/>
              </a:spcAft>
            </a:pPr>
            <a:r>
              <a:rPr sz="1300" b="0" i="0">
                <a:solidFill>
                  <a:srgbClr val="F7F4EF"/>
                </a:solidFill>
                <a:latin typeface="Calibri"/>
                <a:ea typeface="Microsoft YaHei"/>
                <a:cs typeface="Microsoft YaHei"/>
              </a:rPr>
              <a:t>2.  落地应用牵引「人工智能+」</a:t>
            </a:r>
          </a:p>
          <a:p>
            <a:pPr algn="l">
              <a:lnSpc>
                <a:spcPct val="115000"/>
              </a:lnSpc>
              <a:spcBef>
                <a:spcPts val="0"/>
              </a:spcBef>
              <a:spcAft>
                <a:spcPts val="300"/>
              </a:spcAft>
            </a:pPr>
            <a:r>
              <a:rPr sz="1300" b="0" i="0">
                <a:solidFill>
                  <a:srgbClr val="F7F4EF"/>
                </a:solidFill>
                <a:latin typeface="Calibri"/>
                <a:ea typeface="Microsoft YaHei"/>
                <a:cs typeface="Microsoft YaHei"/>
              </a:rPr>
              <a:t>3.  三十三年首次访克</a:t>
            </a:r>
          </a:p>
          <a:p>
            <a:pPr algn="l">
              <a:lnSpc>
                <a:spcPct val="115000"/>
              </a:lnSpc>
              <a:spcBef>
                <a:spcPts val="0"/>
              </a:spcBef>
              <a:spcAft>
                <a:spcPts val="300"/>
              </a:spcAft>
            </a:pPr>
            <a:r>
              <a:rPr sz="1300" b="0" i="0">
                <a:solidFill>
                  <a:srgbClr val="F7F4EF"/>
                </a:solidFill>
                <a:latin typeface="Calibri"/>
                <a:ea typeface="Microsoft YaHei"/>
                <a:cs typeface="Microsoft YaHei"/>
              </a:rPr>
              <a:t>4.  无核三原则没有探讨余地</a:t>
            </a:r>
          </a:p>
          <a:p>
            <a:pPr algn="l">
              <a:lnSpc>
                <a:spcPct val="115000"/>
              </a:lnSpc>
              <a:spcBef>
                <a:spcPts val="0"/>
              </a:spcBef>
              <a:spcAft>
                <a:spcPts val="300"/>
              </a:spcAft>
            </a:pPr>
            <a:r>
              <a:rPr sz="1300" b="0" i="0">
                <a:solidFill>
                  <a:srgbClr val="F7F4EF"/>
                </a:solidFill>
                <a:latin typeface="Calibri"/>
                <a:ea typeface="Microsoft YaHei"/>
                <a:cs typeface="Microsoft YaHei"/>
              </a:rPr>
              <a:t>5.  普惠养老首次标价</a:t>
            </a:r>
          </a:p>
          <a:p>
            <a:pPr algn="l">
              <a:lnSpc>
                <a:spcPct val="115000"/>
              </a:lnSpc>
              <a:spcBef>
                <a:spcPts val="0"/>
              </a:spcBef>
              <a:spcAft>
                <a:spcPts val="300"/>
              </a:spcAft>
            </a:pPr>
            <a:r>
              <a:rPr sz="1300" b="0" i="0">
                <a:solidFill>
                  <a:srgbClr val="F7F4EF"/>
                </a:solidFill>
                <a:latin typeface="Calibri"/>
                <a:ea typeface="Microsoft YaHei"/>
                <a:cs typeface="Microsoft YaHei"/>
              </a:rPr>
              <a:t>6.  再点名深埋的镐山</a:t>
            </a:r>
          </a:p>
        </p:txBody>
      </p:sp>
      <p:sp>
        <p:nvSpPr>
          <p:cNvPr id="16" name="Rounded Rectangle 15"/>
          <p:cNvSpPr/>
          <p:nvPr/>
        </p:nvSpPr>
        <p:spPr>
          <a:xfrm>
            <a:off x="6245352" y="3108960"/>
            <a:ext cx="5486400" cy="2606040"/>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218688"/>
            <a:ext cx="5084064" cy="256032"/>
          </a:xfrm>
          <a:prstGeom prst="rect">
            <a:avLst/>
          </a:prstGeom>
          <a:noFill/>
        </p:spPr>
        <p:txBody>
          <a:bodyPr wrap="square" anchor="t"/>
          <a:lstStyle/>
          <a:p>
            <a:pPr algn="l">
              <a:lnSpc>
                <a:spcPct val="115000"/>
              </a:lnSpc>
              <a:spcBef>
                <a:spcPts val="0"/>
              </a:spcBef>
              <a:spcAft>
                <a:spcPts val="0"/>
              </a:spcAft>
            </a:pPr>
            <a:r>
              <a:rPr sz="1300" b="1" i="0">
                <a:solidFill>
                  <a:srgbClr val="C41E3A"/>
                </a:solidFill>
                <a:latin typeface="Calibri"/>
                <a:ea typeface="Microsoft YaHei"/>
                <a:cs typeface="Microsoft YaHei"/>
              </a:rPr>
              <a:t>科技六条</a:t>
            </a:r>
          </a:p>
        </p:txBody>
      </p:sp>
      <p:sp>
        <p:nvSpPr>
          <p:cNvPr id="18" name="TextBox 17"/>
          <p:cNvSpPr txBox="1"/>
          <p:nvPr/>
        </p:nvSpPr>
        <p:spPr>
          <a:xfrm>
            <a:off x="6446520" y="3529584"/>
            <a:ext cx="5084064" cy="2011680"/>
          </a:xfrm>
          <a:prstGeom prst="rect">
            <a:avLst/>
          </a:prstGeom>
          <a:noFill/>
        </p:spPr>
        <p:txBody>
          <a:bodyPr wrap="square" anchor="t"/>
          <a:lstStyle/>
          <a:p>
            <a:pPr algn="l">
              <a:lnSpc>
                <a:spcPct val="115000"/>
              </a:lnSpc>
              <a:spcBef>
                <a:spcPts val="0"/>
              </a:spcBef>
              <a:spcAft>
                <a:spcPts val="300"/>
              </a:spcAft>
            </a:pPr>
            <a:r>
              <a:rPr sz="1300" b="0" i="0">
                <a:solidFill>
                  <a:srgbClr val="F7F4EF"/>
                </a:solidFill>
                <a:latin typeface="Calibri"/>
                <a:ea typeface="Microsoft YaHei"/>
                <a:cs typeface="Microsoft YaHei"/>
              </a:rPr>
              <a:t>7.  统一内存笔记本开售</a:t>
            </a:r>
          </a:p>
          <a:p>
            <a:pPr algn="l">
              <a:lnSpc>
                <a:spcPct val="115000"/>
              </a:lnSpc>
              <a:spcBef>
                <a:spcPts val="0"/>
              </a:spcBef>
              <a:spcAft>
                <a:spcPts val="300"/>
              </a:spcAft>
            </a:pPr>
            <a:r>
              <a:rPr sz="1300" b="0" i="0">
                <a:solidFill>
                  <a:srgbClr val="F7F4EF"/>
                </a:solidFill>
                <a:latin typeface="Calibri"/>
                <a:ea typeface="Microsoft YaHei"/>
                <a:cs typeface="Microsoft YaHei"/>
              </a:rPr>
              <a:t>8.  魔法态培养写成实验</a:t>
            </a:r>
          </a:p>
          <a:p>
            <a:pPr algn="l">
              <a:lnSpc>
                <a:spcPct val="115000"/>
              </a:lnSpc>
              <a:spcBef>
                <a:spcPts val="0"/>
              </a:spcBef>
              <a:spcAft>
                <a:spcPts val="300"/>
              </a:spcAft>
            </a:pPr>
            <a:r>
              <a:rPr sz="1300" b="0" i="0">
                <a:solidFill>
                  <a:srgbClr val="F7F4EF"/>
                </a:solidFill>
                <a:latin typeface="Calibri"/>
                <a:ea typeface="Microsoft YaHei"/>
                <a:cs typeface="Microsoft YaHei"/>
              </a:rPr>
              <a:t>9.  开权模型跑上桌面Mac</a:t>
            </a:r>
          </a:p>
          <a:p>
            <a:pPr algn="l">
              <a:lnSpc>
                <a:spcPct val="115000"/>
              </a:lnSpc>
              <a:spcBef>
                <a:spcPts val="0"/>
              </a:spcBef>
              <a:spcAft>
                <a:spcPts val="300"/>
              </a:spcAft>
            </a:pPr>
            <a:r>
              <a:rPr sz="1300" b="0" i="0">
                <a:solidFill>
                  <a:srgbClr val="F7F4EF"/>
                </a:solidFill>
                <a:latin typeface="Calibri"/>
                <a:ea typeface="Microsoft YaHei"/>
                <a:cs typeface="Microsoft YaHei"/>
              </a:rPr>
              <a:t>10.  万单元分层触觉</a:t>
            </a:r>
          </a:p>
          <a:p>
            <a:pPr algn="l">
              <a:lnSpc>
                <a:spcPct val="115000"/>
              </a:lnSpc>
              <a:spcBef>
                <a:spcPts val="0"/>
              </a:spcBef>
              <a:spcAft>
                <a:spcPts val="300"/>
              </a:spcAft>
            </a:pPr>
            <a:r>
              <a:rPr sz="1300" b="0" i="0">
                <a:solidFill>
                  <a:srgbClr val="F7F4EF"/>
                </a:solidFill>
                <a:latin typeface="Calibri"/>
                <a:ea typeface="Microsoft YaHei"/>
                <a:cs typeface="Microsoft YaHei"/>
              </a:rPr>
              <a:t>11.  保密载荷折入清晨</a:t>
            </a:r>
          </a:p>
          <a:p>
            <a:pPr algn="l">
              <a:lnSpc>
                <a:spcPct val="115000"/>
              </a:lnSpc>
              <a:spcBef>
                <a:spcPts val="0"/>
              </a:spcBef>
              <a:spcAft>
                <a:spcPts val="300"/>
              </a:spcAft>
            </a:pPr>
            <a:r>
              <a:rPr sz="1300" b="0" i="0">
                <a:solidFill>
                  <a:srgbClr val="F7F4EF"/>
                </a:solidFill>
                <a:latin typeface="Calibri"/>
                <a:ea typeface="Microsoft YaHei"/>
                <a:cs typeface="Microsoft YaHei"/>
              </a:rPr>
              <a:t>12.  自动驾驶交给Hyperion</a:t>
            </a:r>
          </a:p>
        </p:txBody>
      </p:sp>
      <p:sp>
        <p:nvSpPr>
          <p:cNvPr id="19" name="TextBox 18"/>
          <p:cNvSpPr txBox="1"/>
          <p:nvPr/>
        </p:nvSpPr>
        <p:spPr>
          <a:xfrm>
            <a:off x="457200" y="5833872"/>
            <a:ext cx="11247120" cy="502920"/>
          </a:xfrm>
          <a:prstGeom prst="rect">
            <a:avLst/>
          </a:prstGeom>
          <a:noFill/>
        </p:spPr>
        <p:txBody>
          <a:bodyPr wrap="square" anchor="t"/>
          <a:lstStyle/>
          <a:p>
            <a:pPr algn="l">
              <a:lnSpc>
                <a:spcPct val="115000"/>
              </a:lnSpc>
              <a:spcBef>
                <a:spcPts val="0"/>
              </a:spcBef>
              <a:spcAft>
                <a:spcPts val="0"/>
              </a:spcAft>
            </a:pPr>
            <a:r>
              <a:rPr sz="1100" b="0" i="0">
                <a:solidFill>
                  <a:srgbClr val="C9C2B6"/>
                </a:solidFill>
                <a:latin typeface="Calibri"/>
                <a:ea typeface="Microsoft YaHei"/>
                <a:cs typeface="Microsoft YaHei"/>
              </a:rPr>
              <a:t>日期窗口：Asia/Shanghai 2026-10-16 00:00 至 2026-10-17 00:00。交叉来源：新华社/外交部/发改委、路透、NVIDIA、《科学》、Meta/苹果MLX、《自然·机器智能》、SpaceX、Volvo。</a:t>
            </a:r>
          </a:p>
        </p:txBody>
      </p:sp>
      <p:sp>
        <p:nvSpPr>
          <p:cNvPr id="20" name="TextBox 19"/>
          <p:cNvSpPr txBox="1"/>
          <p:nvPr/>
        </p:nvSpPr>
        <p:spPr>
          <a:xfrm>
            <a:off x="457200" y="6355080"/>
            <a:ext cx="11247120" cy="274320"/>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Microsoft YaHei"/>
                <a:cs typeface="Microsoft YaHei"/>
              </a:rPr>
              <a:t>每日时政科技简报 · 第025期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