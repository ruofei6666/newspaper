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F7F4EF"/>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C9C2B6"/>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49808"/>
            <a:ext cx="128016" cy="128016"/>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713232"/>
            <a:ext cx="5669280" cy="256032"/>
          </a:xfrm>
          <a:prstGeom prst="rect">
            <a:avLst/>
          </a:prstGeom>
          <a:noFill/>
        </p:spPr>
        <p:txBody>
          <a:bodyPr wrap="square" anchor="t"/>
          <a:lstStyle/>
          <a:p>
            <a:pPr algn="l"/>
            <a:r>
              <a:rPr sz="1100" b="0">
                <a:solidFill>
                  <a:srgbClr val="C9C2B6"/>
                </a:solidFill>
                <a:latin typeface="Calibri"/>
                <a:ea typeface="Microsoft YaHei"/>
              </a:rPr>
              <a:t>THE MORNING DISPATCH</a:t>
            </a:r>
          </a:p>
        </p:txBody>
      </p:sp>
      <p:sp>
        <p:nvSpPr>
          <p:cNvPr id="9" name="TextBox 8"/>
          <p:cNvSpPr txBox="1"/>
          <p:nvPr/>
        </p:nvSpPr>
        <p:spPr>
          <a:xfrm>
            <a:off x="6766560" y="713232"/>
            <a:ext cx="4937760" cy="256032"/>
          </a:xfrm>
          <a:prstGeom prst="rect">
            <a:avLst/>
          </a:prstGeom>
          <a:noFill/>
        </p:spPr>
        <p:txBody>
          <a:bodyPr wrap="square" anchor="t"/>
          <a:lstStyle/>
          <a:p>
            <a:pPr algn="r"/>
            <a:r>
              <a:rPr sz="1100" b="0">
                <a:solidFill>
                  <a:srgbClr val="C9C2B6"/>
                </a:solidFill>
                <a:latin typeface="Calibri"/>
                <a:ea typeface="Microsoft YaHei"/>
              </a:rPr>
              <a:t>ASIA / SHANGHAI　昨日新闻</a:t>
            </a:r>
          </a:p>
        </p:txBody>
      </p:sp>
      <p:sp>
        <p:nvSpPr>
          <p:cNvPr id="10" name="Rectangle 9"/>
          <p:cNvSpPr/>
          <p:nvPr/>
        </p:nvSpPr>
        <p:spPr>
          <a:xfrm>
            <a:off x="457200" y="1060704"/>
            <a:ext cx="11274552" cy="27432"/>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15568"/>
            <a:ext cx="11274552" cy="9144"/>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61872"/>
            <a:ext cx="11247120" cy="292608"/>
          </a:xfrm>
          <a:prstGeom prst="rect">
            <a:avLst/>
          </a:prstGeom>
          <a:noFill/>
        </p:spPr>
        <p:txBody>
          <a:bodyPr wrap="square" anchor="t"/>
          <a:lstStyle/>
          <a:p>
            <a:pPr algn="l"/>
            <a:r>
              <a:rPr sz="1400" b="0">
                <a:solidFill>
                  <a:srgbClr val="C41E3A"/>
                </a:solidFill>
                <a:latin typeface="Calibri"/>
                <a:ea typeface="Microsoft YaHei"/>
              </a:rPr>
              <a:t>第贰肆叁期  ·  二零二六年八月三十一日  ·  星期一</a:t>
            </a:r>
          </a:p>
        </p:txBody>
      </p:sp>
      <p:sp>
        <p:nvSpPr>
          <p:cNvPr id="13" name="TextBox 12"/>
          <p:cNvSpPr txBox="1"/>
          <p:nvPr/>
        </p:nvSpPr>
        <p:spPr>
          <a:xfrm>
            <a:off x="457200" y="1572768"/>
            <a:ext cx="11247120" cy="1051560"/>
          </a:xfrm>
          <a:prstGeom prst="rect">
            <a:avLst/>
          </a:prstGeom>
          <a:noFill/>
        </p:spPr>
        <p:txBody>
          <a:bodyPr wrap="square" anchor="t"/>
          <a:lstStyle/>
          <a:p>
            <a:pPr algn="l"/>
            <a:r>
              <a:rPr sz="4400" b="1">
                <a:solidFill>
                  <a:srgbClr val="F7F4EF"/>
                </a:solidFill>
                <a:latin typeface="Cambria"/>
                <a:ea typeface="Cambria"/>
              </a:rPr>
              <a:t>每日时政科技简报</a:t>
            </a:r>
          </a:p>
        </p:txBody>
      </p:sp>
      <p:sp>
        <p:nvSpPr>
          <p:cNvPr id="14" name="TextBox 13"/>
          <p:cNvSpPr txBox="1"/>
          <p:nvPr/>
        </p:nvSpPr>
        <p:spPr>
          <a:xfrm>
            <a:off x="457200" y="2670048"/>
            <a:ext cx="11247120" cy="365760"/>
          </a:xfrm>
          <a:prstGeom prst="rect">
            <a:avLst/>
          </a:prstGeom>
          <a:noFill/>
        </p:spPr>
        <p:txBody>
          <a:bodyPr wrap="square" anchor="t"/>
          <a:lstStyle/>
          <a:p>
            <a:pPr algn="l"/>
            <a:r>
              <a:rPr sz="1600" b="0">
                <a:solidFill>
                  <a:srgbClr val="C9C2B6"/>
                </a:solidFill>
                <a:latin typeface="Calibri"/>
                <a:ea typeface="Microsoft YaHei"/>
              </a:rPr>
              <a:t>只收录该日发生或该日首发的稿件，拒绝转载拼盘。</a:t>
            </a:r>
          </a:p>
        </p:txBody>
      </p:sp>
      <p:sp>
        <p:nvSpPr>
          <p:cNvPr id="15" name="Rounded Rectangle 14"/>
          <p:cNvSpPr/>
          <p:nvPr/>
        </p:nvSpPr>
        <p:spPr>
          <a:xfrm>
            <a:off x="457200" y="3246120"/>
            <a:ext cx="3602736" cy="1874519"/>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364992"/>
            <a:ext cx="3200400" cy="868680"/>
          </a:xfrm>
          <a:prstGeom prst="rect">
            <a:avLst/>
          </a:prstGeom>
          <a:noFill/>
        </p:spPr>
        <p:txBody>
          <a:bodyPr wrap="square" anchor="t"/>
          <a:lstStyle/>
          <a:p>
            <a:pPr algn="l"/>
            <a:r>
              <a:rPr sz="4800" b="1">
                <a:solidFill>
                  <a:srgbClr val="C41E3A"/>
                </a:solidFill>
                <a:latin typeface="Cambria"/>
                <a:ea typeface="Cambria"/>
              </a:rPr>
              <a:t>05</a:t>
            </a:r>
          </a:p>
        </p:txBody>
      </p:sp>
      <p:sp>
        <p:nvSpPr>
          <p:cNvPr id="17" name="TextBox 16"/>
          <p:cNvSpPr txBox="1"/>
          <p:nvPr/>
        </p:nvSpPr>
        <p:spPr>
          <a:xfrm>
            <a:off x="658368" y="4224528"/>
            <a:ext cx="3200400" cy="329184"/>
          </a:xfrm>
          <a:prstGeom prst="rect">
            <a:avLst/>
          </a:prstGeom>
          <a:noFill/>
        </p:spPr>
        <p:txBody>
          <a:bodyPr wrap="square" anchor="t"/>
          <a:lstStyle/>
          <a:p>
            <a:pPr algn="l"/>
            <a:r>
              <a:rPr sz="1800" b="0">
                <a:solidFill>
                  <a:srgbClr val="F7F4EF"/>
                </a:solidFill>
                <a:latin typeface="Calibri"/>
                <a:ea typeface="Microsoft YaHei"/>
              </a:rPr>
              <a:t>时政</a:t>
            </a:r>
          </a:p>
        </p:txBody>
      </p:sp>
      <p:sp>
        <p:nvSpPr>
          <p:cNvPr id="18" name="TextBox 17"/>
          <p:cNvSpPr txBox="1"/>
          <p:nvPr/>
        </p:nvSpPr>
        <p:spPr>
          <a:xfrm>
            <a:off x="658368" y="4572000"/>
            <a:ext cx="3200400" cy="329184"/>
          </a:xfrm>
          <a:prstGeom prst="rect">
            <a:avLst/>
          </a:prstGeom>
          <a:noFill/>
        </p:spPr>
        <p:txBody>
          <a:bodyPr wrap="square" anchor="t"/>
          <a:lstStyle/>
          <a:p>
            <a:pPr algn="l"/>
            <a:r>
              <a:rPr sz="1200" b="0">
                <a:solidFill>
                  <a:srgbClr val="C9C2B6"/>
                </a:solidFill>
                <a:latin typeface="Calibri"/>
                <a:ea typeface="Microsoft YaHei"/>
              </a:rPr>
              <a:t>外交 · 救灾 · 海峡</a:t>
            </a:r>
          </a:p>
        </p:txBody>
      </p:sp>
      <p:sp>
        <p:nvSpPr>
          <p:cNvPr id="19" name="Rounded Rectangle 18"/>
          <p:cNvSpPr/>
          <p:nvPr/>
        </p:nvSpPr>
        <p:spPr>
          <a:xfrm>
            <a:off x="4242816" y="3246120"/>
            <a:ext cx="3602736" cy="1874519"/>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43984" y="3364992"/>
            <a:ext cx="3200400" cy="868680"/>
          </a:xfrm>
          <a:prstGeom prst="rect">
            <a:avLst/>
          </a:prstGeom>
          <a:noFill/>
        </p:spPr>
        <p:txBody>
          <a:bodyPr wrap="square" anchor="t"/>
          <a:lstStyle/>
          <a:p>
            <a:pPr algn="l"/>
            <a:r>
              <a:rPr sz="4800" b="1">
                <a:solidFill>
                  <a:srgbClr val="C41E3A"/>
                </a:solidFill>
                <a:latin typeface="Cambria"/>
                <a:ea typeface="Cambria"/>
              </a:rPr>
              <a:t>04</a:t>
            </a:r>
          </a:p>
        </p:txBody>
      </p:sp>
      <p:sp>
        <p:nvSpPr>
          <p:cNvPr id="21" name="TextBox 20"/>
          <p:cNvSpPr txBox="1"/>
          <p:nvPr/>
        </p:nvSpPr>
        <p:spPr>
          <a:xfrm>
            <a:off x="4443984" y="4224528"/>
            <a:ext cx="3200400" cy="329184"/>
          </a:xfrm>
          <a:prstGeom prst="rect">
            <a:avLst/>
          </a:prstGeom>
          <a:noFill/>
        </p:spPr>
        <p:txBody>
          <a:bodyPr wrap="square" anchor="t"/>
          <a:lstStyle/>
          <a:p>
            <a:pPr algn="l"/>
            <a:r>
              <a:rPr sz="1800" b="0">
                <a:solidFill>
                  <a:srgbClr val="F7F4EF"/>
                </a:solidFill>
                <a:latin typeface="Calibri"/>
                <a:ea typeface="Microsoft YaHei"/>
              </a:rPr>
              <a:t>科技</a:t>
            </a:r>
          </a:p>
        </p:txBody>
      </p:sp>
      <p:sp>
        <p:nvSpPr>
          <p:cNvPr id="22" name="TextBox 21"/>
          <p:cNvSpPr txBox="1"/>
          <p:nvPr/>
        </p:nvSpPr>
        <p:spPr>
          <a:xfrm>
            <a:off x="4443984" y="4572000"/>
            <a:ext cx="3200400" cy="329184"/>
          </a:xfrm>
          <a:prstGeom prst="rect">
            <a:avLst/>
          </a:prstGeom>
          <a:noFill/>
        </p:spPr>
        <p:txBody>
          <a:bodyPr wrap="square" anchor="t"/>
          <a:lstStyle/>
          <a:p>
            <a:pPr algn="l"/>
            <a:r>
              <a:rPr sz="1200" b="0">
                <a:solidFill>
                  <a:srgbClr val="C9C2B6"/>
                </a:solidFill>
                <a:latin typeface="Calibri"/>
                <a:ea typeface="Microsoft YaHei"/>
              </a:rPr>
              <a:t>芯片 · 政策 · 航天</a:t>
            </a:r>
          </a:p>
        </p:txBody>
      </p:sp>
      <p:sp>
        <p:nvSpPr>
          <p:cNvPr id="23" name="Rounded Rectangle 22"/>
          <p:cNvSpPr/>
          <p:nvPr/>
        </p:nvSpPr>
        <p:spPr>
          <a:xfrm>
            <a:off x="8028431" y="3246120"/>
            <a:ext cx="3602736" cy="1874519"/>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9" y="3364992"/>
            <a:ext cx="3200400" cy="868680"/>
          </a:xfrm>
          <a:prstGeom prst="rect">
            <a:avLst/>
          </a:prstGeom>
          <a:noFill/>
        </p:spPr>
        <p:txBody>
          <a:bodyPr wrap="square" anchor="t"/>
          <a:lstStyle/>
          <a:p>
            <a:pPr algn="l"/>
            <a:r>
              <a:rPr sz="4800" b="1">
                <a:solidFill>
                  <a:srgbClr val="C41E3A"/>
                </a:solidFill>
                <a:latin typeface="Cambria"/>
                <a:ea typeface="Cambria"/>
              </a:rPr>
              <a:t>09</a:t>
            </a:r>
          </a:p>
        </p:txBody>
      </p:sp>
      <p:sp>
        <p:nvSpPr>
          <p:cNvPr id="25" name="TextBox 24"/>
          <p:cNvSpPr txBox="1"/>
          <p:nvPr/>
        </p:nvSpPr>
        <p:spPr>
          <a:xfrm>
            <a:off x="8229599" y="4224528"/>
            <a:ext cx="3200400" cy="329184"/>
          </a:xfrm>
          <a:prstGeom prst="rect">
            <a:avLst/>
          </a:prstGeom>
          <a:noFill/>
        </p:spPr>
        <p:txBody>
          <a:bodyPr wrap="square" anchor="t"/>
          <a:lstStyle/>
          <a:p>
            <a:pPr algn="l"/>
            <a:r>
              <a:rPr sz="1800" b="0">
                <a:solidFill>
                  <a:srgbClr val="F7F4EF"/>
                </a:solidFill>
                <a:latin typeface="Calibri"/>
                <a:ea typeface="Microsoft YaHei"/>
              </a:rPr>
              <a:t>合计</a:t>
            </a:r>
          </a:p>
        </p:txBody>
      </p:sp>
      <p:sp>
        <p:nvSpPr>
          <p:cNvPr id="26" name="TextBox 25"/>
          <p:cNvSpPr txBox="1"/>
          <p:nvPr/>
        </p:nvSpPr>
        <p:spPr>
          <a:xfrm>
            <a:off x="8229599" y="4572000"/>
            <a:ext cx="3200400" cy="329184"/>
          </a:xfrm>
          <a:prstGeom prst="rect">
            <a:avLst/>
          </a:prstGeom>
          <a:noFill/>
        </p:spPr>
        <p:txBody>
          <a:bodyPr wrap="square" anchor="t"/>
          <a:lstStyle/>
          <a:p>
            <a:pPr algn="l"/>
            <a:r>
              <a:rPr sz="1200" b="0">
                <a:solidFill>
                  <a:srgbClr val="C9C2B6"/>
                </a:solidFill>
                <a:latin typeface="Calibri"/>
                <a:ea typeface="Microsoft YaHei"/>
              </a:rPr>
              <a:t>周一首发可核验</a:t>
            </a:r>
          </a:p>
        </p:txBody>
      </p:sp>
      <p:sp>
        <p:nvSpPr>
          <p:cNvPr id="27" name="TextBox 26"/>
          <p:cNvSpPr txBox="1"/>
          <p:nvPr/>
        </p:nvSpPr>
        <p:spPr>
          <a:xfrm>
            <a:off x="457200" y="5321808"/>
            <a:ext cx="11247120" cy="1097280"/>
          </a:xfrm>
          <a:prstGeom prst="rect">
            <a:avLst/>
          </a:prstGeom>
          <a:noFill/>
        </p:spPr>
        <p:txBody>
          <a:bodyPr wrap="square" anchor="t"/>
          <a:lstStyle/>
          <a:p>
            <a:pPr algn="l"/>
            <a:r>
              <a:rPr sz="1400" b="0">
                <a:solidFill>
                  <a:srgbClr val="F7F4EF"/>
                </a:solidFill>
                <a:latin typeface="Calibri"/>
                <a:ea typeface="Microsoft YaHei"/>
              </a:rPr>
              <a:t>今日主线：中吉条约落到和谐宫；习普会把免签推到「永久化」；吉隆信号抢通、尼侧伤亡破九百；霍尔木兹「触雷」与「否认」对撞。科技栏：英伟达入股联发科，工信部给应用服务商立名册，库克卸任前最后一天，罗曼完成第一次轨道修正。</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
            <a:ext cx="1828800" cy="777240"/>
          </a:xfrm>
          <a:prstGeom prst="rect">
            <a:avLst/>
          </a:prstGeom>
          <a:noFill/>
        </p:spPr>
        <p:txBody>
          <a:bodyPr wrap="square" anchor="t"/>
          <a:lstStyle/>
          <a:p>
            <a:pPr algn="l"/>
            <a:r>
              <a:rPr sz="5600" b="1">
                <a:solidFill>
                  <a:srgbClr val="C41E3A"/>
                </a:solidFill>
                <a:latin typeface="Cambria"/>
                <a:ea typeface="Cambria"/>
              </a:rPr>
              <a:t>01</a:t>
            </a:r>
          </a:p>
        </p:txBody>
      </p:sp>
      <p:sp>
        <p:nvSpPr>
          <p:cNvPr id="8" name="TextBox 7"/>
          <p:cNvSpPr txBox="1"/>
          <p:nvPr/>
        </p:nvSpPr>
        <p:spPr>
          <a:xfrm>
            <a:off x="2103120" y="713232"/>
            <a:ext cx="9601200" cy="566928"/>
          </a:xfrm>
          <a:prstGeom prst="rect">
            <a:avLst/>
          </a:prstGeom>
          <a:noFill/>
        </p:spPr>
        <p:txBody>
          <a:bodyPr wrap="square" anchor="t"/>
          <a:lstStyle/>
          <a:p>
            <a:pPr algn="l"/>
            <a:r>
              <a:rPr sz="3600" b="1">
                <a:solidFill>
                  <a:srgbClr val="1A1A1A"/>
                </a:solidFill>
                <a:latin typeface="Cambria"/>
                <a:ea typeface="Cambria"/>
              </a:rPr>
              <a:t>时政开篇</a:t>
            </a:r>
          </a:p>
        </p:txBody>
      </p:sp>
      <p:sp>
        <p:nvSpPr>
          <p:cNvPr id="9" name="TextBox 8"/>
          <p:cNvSpPr txBox="1"/>
          <p:nvPr/>
        </p:nvSpPr>
        <p:spPr>
          <a:xfrm>
            <a:off x="2103120" y="1280160"/>
            <a:ext cx="9601200" cy="384048"/>
          </a:xfrm>
          <a:prstGeom prst="rect">
            <a:avLst/>
          </a:prstGeom>
          <a:noFill/>
        </p:spPr>
        <p:txBody>
          <a:bodyPr wrap="square" anchor="t"/>
          <a:lstStyle/>
          <a:p>
            <a:pPr algn="l"/>
            <a:r>
              <a:rPr sz="1400" b="0">
                <a:solidFill>
                  <a:srgbClr val="4A5568"/>
                </a:solidFill>
                <a:latin typeface="Calibri"/>
                <a:ea typeface="Microsoft YaHei"/>
              </a:rPr>
              <a:t>比什凯克把峰会开成签约日；喜马拉雅两侧把同一条冰川写成两本伤亡账。</a:t>
            </a:r>
          </a:p>
        </p:txBody>
      </p:sp>
      <p:sp>
        <p:nvSpPr>
          <p:cNvPr id="10" name="Rounded Rectangle 9"/>
          <p:cNvSpPr/>
          <p:nvPr/>
        </p:nvSpPr>
        <p:spPr>
          <a:xfrm>
            <a:off x="457200" y="1783080"/>
            <a:ext cx="11274552" cy="123444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874519"/>
            <a:ext cx="10789920" cy="237744"/>
          </a:xfrm>
          <a:prstGeom prst="rect">
            <a:avLst/>
          </a:prstGeom>
          <a:noFill/>
        </p:spPr>
        <p:txBody>
          <a:bodyPr wrap="square" anchor="t"/>
          <a:lstStyle/>
          <a:p>
            <a:pPr algn="l"/>
            <a:r>
              <a:rPr sz="1100" b="1">
                <a:solidFill>
                  <a:srgbClr val="C41E3A"/>
                </a:solidFill>
                <a:latin typeface="Calibri"/>
                <a:ea typeface="Microsoft YaHei"/>
              </a:rPr>
              <a:t>引　言</a:t>
            </a:r>
          </a:p>
        </p:txBody>
      </p:sp>
      <p:sp>
        <p:nvSpPr>
          <p:cNvPr id="12" name="TextBox 11"/>
          <p:cNvSpPr txBox="1"/>
          <p:nvPr/>
        </p:nvSpPr>
        <p:spPr>
          <a:xfrm>
            <a:off x="658368" y="2121408"/>
            <a:ext cx="10789920" cy="749808"/>
          </a:xfrm>
          <a:prstGeom prst="rect">
            <a:avLst/>
          </a:prstGeom>
          <a:noFill/>
        </p:spPr>
        <p:txBody>
          <a:bodyPr wrap="square" anchor="t"/>
          <a:lstStyle/>
          <a:p>
            <a:pPr algn="l"/>
            <a:r>
              <a:rPr sz="1600" b="1">
                <a:solidFill>
                  <a:srgbClr val="1A1A1A"/>
                </a:solidFill>
                <a:latin typeface="Cambria"/>
                <a:ea typeface="Cambria"/>
              </a:rPr>
              <a:t>“我们准备共同努力，将免签制度永久化——如果中方认为这可能而且有益。”——普京在比什凯克对习近平说，据塔斯社。</a:t>
            </a:r>
          </a:p>
        </p:txBody>
      </p:sp>
      <p:sp>
        <p:nvSpPr>
          <p:cNvPr id="13" name="Rounded Rectangle 12"/>
          <p:cNvSpPr/>
          <p:nvPr/>
        </p:nvSpPr>
        <p:spPr>
          <a:xfrm>
            <a:off x="457200" y="3200400"/>
            <a:ext cx="3602736" cy="306324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346704"/>
            <a:ext cx="3200400" cy="777240"/>
          </a:xfrm>
          <a:prstGeom prst="rect">
            <a:avLst/>
          </a:prstGeom>
          <a:noFill/>
        </p:spPr>
        <p:txBody>
          <a:bodyPr wrap="square" anchor="t"/>
          <a:lstStyle/>
          <a:p>
            <a:pPr algn="l"/>
            <a:r>
              <a:rPr sz="4000" b="1">
                <a:solidFill>
                  <a:srgbClr val="C41E3A"/>
                </a:solidFill>
                <a:latin typeface="Cambria"/>
                <a:ea typeface="Cambria"/>
              </a:rPr>
              <a:t>2</a:t>
            </a:r>
          </a:p>
        </p:txBody>
      </p:sp>
      <p:sp>
        <p:nvSpPr>
          <p:cNvPr id="15" name="TextBox 14"/>
          <p:cNvSpPr txBox="1"/>
          <p:nvPr/>
        </p:nvSpPr>
        <p:spPr>
          <a:xfrm>
            <a:off x="658368" y="4160520"/>
            <a:ext cx="3200400" cy="329184"/>
          </a:xfrm>
          <a:prstGeom prst="rect">
            <a:avLst/>
          </a:prstGeom>
          <a:noFill/>
        </p:spPr>
        <p:txBody>
          <a:bodyPr wrap="square" anchor="t"/>
          <a:lstStyle/>
          <a:p>
            <a:pPr algn="l"/>
            <a:r>
              <a:rPr sz="1400" b="1">
                <a:solidFill>
                  <a:srgbClr val="4A5568"/>
                </a:solidFill>
                <a:latin typeface="Calibri"/>
                <a:ea typeface="Microsoft YaHei"/>
              </a:rPr>
              <a:t>份法律文本</a:t>
            </a:r>
          </a:p>
        </p:txBody>
      </p:sp>
      <p:sp>
        <p:nvSpPr>
          <p:cNvPr id="16" name="TextBox 15"/>
          <p:cNvSpPr txBox="1"/>
          <p:nvPr/>
        </p:nvSpPr>
        <p:spPr>
          <a:xfrm>
            <a:off x="658368" y="4572000"/>
            <a:ext cx="3200400" cy="1371600"/>
          </a:xfrm>
          <a:prstGeom prst="rect">
            <a:avLst/>
          </a:prstGeom>
          <a:noFill/>
        </p:spPr>
        <p:txBody>
          <a:bodyPr wrap="square" anchor="t"/>
          <a:lstStyle/>
          <a:p>
            <a:pPr algn="l"/>
            <a:r>
              <a:rPr sz="1300" b="0">
                <a:solidFill>
                  <a:srgbClr val="1A1A1A"/>
                </a:solidFill>
                <a:latin typeface="Calibri"/>
                <a:ea typeface="Microsoft YaHei"/>
              </a:rPr>
              <a:t>中吉签署永久睦邻条约与全面战略伙伴关系联合宣言。</a:t>
            </a:r>
          </a:p>
        </p:txBody>
      </p:sp>
      <p:sp>
        <p:nvSpPr>
          <p:cNvPr id="17" name="Rounded Rectangle 16"/>
          <p:cNvSpPr/>
          <p:nvPr/>
        </p:nvSpPr>
        <p:spPr>
          <a:xfrm>
            <a:off x="4242816" y="3200400"/>
            <a:ext cx="3602736" cy="306324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4" y="3346704"/>
            <a:ext cx="3200400" cy="777240"/>
          </a:xfrm>
          <a:prstGeom prst="rect">
            <a:avLst/>
          </a:prstGeom>
          <a:noFill/>
        </p:spPr>
        <p:txBody>
          <a:bodyPr wrap="square" anchor="t"/>
          <a:lstStyle/>
          <a:p>
            <a:pPr algn="l"/>
            <a:r>
              <a:rPr sz="4000" b="1">
                <a:solidFill>
                  <a:srgbClr val="C41E3A"/>
                </a:solidFill>
                <a:latin typeface="Cambria"/>
                <a:ea typeface="Cambria"/>
              </a:rPr>
              <a:t>903</a:t>
            </a:r>
          </a:p>
        </p:txBody>
      </p:sp>
      <p:sp>
        <p:nvSpPr>
          <p:cNvPr id="19" name="TextBox 18"/>
          <p:cNvSpPr txBox="1"/>
          <p:nvPr/>
        </p:nvSpPr>
        <p:spPr>
          <a:xfrm>
            <a:off x="4443984" y="4160520"/>
            <a:ext cx="3200400" cy="329184"/>
          </a:xfrm>
          <a:prstGeom prst="rect">
            <a:avLst/>
          </a:prstGeom>
          <a:noFill/>
        </p:spPr>
        <p:txBody>
          <a:bodyPr wrap="square" anchor="t"/>
          <a:lstStyle/>
          <a:p>
            <a:pPr algn="l"/>
            <a:r>
              <a:rPr sz="1400" b="1">
                <a:solidFill>
                  <a:srgbClr val="4A5568"/>
                </a:solidFill>
                <a:latin typeface="Calibri"/>
                <a:ea typeface="Microsoft YaHei"/>
              </a:rPr>
              <a:t>遇难 · 尼方</a:t>
            </a:r>
          </a:p>
        </p:txBody>
      </p:sp>
      <p:sp>
        <p:nvSpPr>
          <p:cNvPr id="20" name="TextBox 19"/>
          <p:cNvSpPr txBox="1"/>
          <p:nvPr/>
        </p:nvSpPr>
        <p:spPr>
          <a:xfrm>
            <a:off x="4443984" y="4572000"/>
            <a:ext cx="3200400" cy="1371600"/>
          </a:xfrm>
          <a:prstGeom prst="rect">
            <a:avLst/>
          </a:prstGeom>
          <a:noFill/>
        </p:spPr>
        <p:txBody>
          <a:bodyPr wrap="square" anchor="t"/>
          <a:lstStyle/>
          <a:p>
            <a:pPr algn="l"/>
            <a:r>
              <a:rPr sz="1300" b="0">
                <a:solidFill>
                  <a:srgbClr val="1A1A1A"/>
                </a:solidFill>
                <a:latin typeface="Calibri"/>
                <a:ea typeface="Microsoft YaHei"/>
              </a:rPr>
              <a:t>尼泊尔当局31日确认903人遇难，当日后续升至939。</a:t>
            </a:r>
          </a:p>
        </p:txBody>
      </p:sp>
      <p:sp>
        <p:nvSpPr>
          <p:cNvPr id="21" name="Rounded Rectangle 20"/>
          <p:cNvSpPr/>
          <p:nvPr/>
        </p:nvSpPr>
        <p:spPr>
          <a:xfrm>
            <a:off x="8028431" y="3200400"/>
            <a:ext cx="3602736" cy="306324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9" y="3346704"/>
            <a:ext cx="3200400" cy="777240"/>
          </a:xfrm>
          <a:prstGeom prst="rect">
            <a:avLst/>
          </a:prstGeom>
          <a:noFill/>
        </p:spPr>
        <p:txBody>
          <a:bodyPr wrap="square" anchor="t"/>
          <a:lstStyle/>
          <a:p>
            <a:pPr algn="l"/>
            <a:r>
              <a:rPr sz="4000" b="1">
                <a:solidFill>
                  <a:srgbClr val="C41E3A"/>
                </a:solidFill>
                <a:latin typeface="Cambria"/>
                <a:ea typeface="Cambria"/>
              </a:rPr>
              <a:t>35</a:t>
            </a:r>
          </a:p>
        </p:txBody>
      </p:sp>
      <p:sp>
        <p:nvSpPr>
          <p:cNvPr id="23" name="TextBox 22"/>
          <p:cNvSpPr txBox="1"/>
          <p:nvPr/>
        </p:nvSpPr>
        <p:spPr>
          <a:xfrm>
            <a:off x="8229599" y="4160520"/>
            <a:ext cx="3200400" cy="329184"/>
          </a:xfrm>
          <a:prstGeom prst="rect">
            <a:avLst/>
          </a:prstGeom>
          <a:noFill/>
        </p:spPr>
        <p:txBody>
          <a:bodyPr wrap="square" anchor="t"/>
          <a:lstStyle/>
          <a:p>
            <a:pPr algn="l"/>
            <a:r>
              <a:rPr sz="1400" b="1">
                <a:solidFill>
                  <a:srgbClr val="4A5568"/>
                </a:solidFill>
                <a:latin typeface="Calibri"/>
                <a:ea typeface="Microsoft YaHei"/>
              </a:rPr>
              <a:t>亿美元</a:t>
            </a:r>
          </a:p>
        </p:txBody>
      </p:sp>
      <p:sp>
        <p:nvSpPr>
          <p:cNvPr id="24" name="TextBox 23"/>
          <p:cNvSpPr txBox="1"/>
          <p:nvPr/>
        </p:nvSpPr>
        <p:spPr>
          <a:xfrm>
            <a:off x="8229599" y="4572000"/>
            <a:ext cx="3200400" cy="1371600"/>
          </a:xfrm>
          <a:prstGeom prst="rect">
            <a:avLst/>
          </a:prstGeom>
          <a:noFill/>
        </p:spPr>
        <p:txBody>
          <a:bodyPr wrap="square" anchor="t"/>
          <a:lstStyle/>
          <a:p>
            <a:pPr algn="l"/>
            <a:r>
              <a:rPr sz="1300" b="0">
                <a:solidFill>
                  <a:srgbClr val="1A1A1A"/>
                </a:solidFill>
                <a:latin typeface="Calibri"/>
                <a:ea typeface="Microsoft YaHei"/>
              </a:rPr>
              <a:t>英伟达认购联发科可转债，并把NVLink向定制芯片开放。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11247120" cy="502920"/>
          </a:xfrm>
          <a:prstGeom prst="rect">
            <a:avLst/>
          </a:prstGeom>
          <a:noFill/>
        </p:spPr>
        <p:txBody>
          <a:bodyPr wrap="square" anchor="t"/>
          <a:lstStyle/>
          <a:p>
            <a:pPr algn="l"/>
            <a:r>
              <a:rPr sz="3600" b="1">
                <a:solidFill>
                  <a:srgbClr val="1A1A1A"/>
                </a:solidFill>
                <a:latin typeface="Cambria"/>
                <a:ea typeface="Cambria"/>
              </a:rPr>
              <a:t>条约与会晤</a:t>
            </a:r>
          </a:p>
        </p:txBody>
      </p:sp>
      <p:sp>
        <p:nvSpPr>
          <p:cNvPr id="8" name="TextBox 7"/>
          <p:cNvSpPr txBox="1"/>
          <p:nvPr/>
        </p:nvSpPr>
        <p:spPr>
          <a:xfrm>
            <a:off x="457200" y="1115568"/>
            <a:ext cx="11247120" cy="292608"/>
          </a:xfrm>
          <a:prstGeom prst="rect">
            <a:avLst/>
          </a:prstGeom>
          <a:noFill/>
        </p:spPr>
        <p:txBody>
          <a:bodyPr wrap="square" anchor="t"/>
          <a:lstStyle/>
          <a:p>
            <a:pPr algn="l"/>
            <a:r>
              <a:rPr sz="1400" b="0">
                <a:solidFill>
                  <a:srgbClr val="4A5568"/>
                </a:solidFill>
                <a:latin typeface="Calibri"/>
                <a:ea typeface="Microsoft YaHei"/>
              </a:rPr>
              <a:t>一端是和谐宫的签字笔，一端是免签安排要不要写成永久制度。</a:t>
            </a:r>
          </a:p>
        </p:txBody>
      </p:sp>
      <p:sp>
        <p:nvSpPr>
          <p:cNvPr id="9" name="Rounded Rectangle 8"/>
          <p:cNvSpPr/>
          <p:nvPr/>
        </p:nvSpPr>
        <p:spPr>
          <a:xfrm>
            <a:off x="45720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0784"/>
            <a:ext cx="4937760" cy="256032"/>
          </a:xfrm>
          <a:prstGeom prst="rect">
            <a:avLst/>
          </a:prstGeom>
          <a:noFill/>
        </p:spPr>
        <p:txBody>
          <a:bodyPr wrap="square" anchor="t"/>
          <a:lstStyle/>
          <a:p>
            <a:pPr algn="l"/>
            <a:r>
              <a:rPr sz="1100" b="1">
                <a:solidFill>
                  <a:srgbClr val="C41E3A"/>
                </a:solidFill>
                <a:latin typeface="Calibri"/>
                <a:ea typeface="Microsoft YaHei"/>
              </a:rPr>
              <a:t>01　外交 · 比什凯克</a:t>
            </a:r>
          </a:p>
        </p:txBody>
      </p:sp>
      <p:sp>
        <p:nvSpPr>
          <p:cNvPr id="12" name="TextBox 11"/>
          <p:cNvSpPr txBox="1"/>
          <p:nvPr/>
        </p:nvSpPr>
        <p:spPr>
          <a:xfrm>
            <a:off x="658368" y="1975104"/>
            <a:ext cx="5065776" cy="868680"/>
          </a:xfrm>
          <a:prstGeom prst="rect">
            <a:avLst/>
          </a:prstGeom>
          <a:noFill/>
        </p:spPr>
        <p:txBody>
          <a:bodyPr wrap="square" anchor="t"/>
          <a:lstStyle/>
          <a:p>
            <a:pPr algn="l"/>
            <a:r>
              <a:rPr sz="2200" b="1">
                <a:solidFill>
                  <a:srgbClr val="1A1A1A"/>
                </a:solidFill>
                <a:latin typeface="Cambria"/>
                <a:ea typeface="Cambria"/>
              </a:rPr>
              <a:t>中吉签署永久睦邻条约，力推中吉乌铁路</a:t>
            </a:r>
          </a:p>
        </p:txBody>
      </p:sp>
      <p:sp>
        <p:nvSpPr>
          <p:cNvPr id="13" name="TextBox 12"/>
          <p:cNvSpPr txBox="1"/>
          <p:nvPr/>
        </p:nvSpPr>
        <p:spPr>
          <a:xfrm>
            <a:off x="658368" y="2834640"/>
            <a:ext cx="5065776" cy="292608"/>
          </a:xfrm>
          <a:prstGeom prst="rect">
            <a:avLst/>
          </a:prstGeom>
          <a:noFill/>
        </p:spPr>
        <p:txBody>
          <a:bodyPr wrap="square" anchor="t"/>
          <a:lstStyle/>
          <a:p>
            <a:pPr algn="l"/>
            <a:r>
              <a:rPr sz="1100" b="0">
                <a:solidFill>
                  <a:srgbClr val="4A5568"/>
                </a:solidFill>
                <a:latin typeface="Calibri"/>
                <a:ea typeface="Microsoft YaHei"/>
              </a:rPr>
              <a:t>来源：新华社 / 央视  ·  news.cn</a:t>
            </a:r>
          </a:p>
        </p:txBody>
      </p:sp>
      <p:sp>
        <p:nvSpPr>
          <p:cNvPr id="14" name="TextBox 13"/>
          <p:cNvSpPr txBox="1"/>
          <p:nvPr/>
        </p:nvSpPr>
        <p:spPr>
          <a:xfrm>
            <a:off x="658368" y="3127248"/>
            <a:ext cx="5065776" cy="1417320"/>
          </a:xfrm>
          <a:prstGeom prst="rect">
            <a:avLst/>
          </a:prstGeom>
          <a:noFill/>
        </p:spPr>
        <p:txBody>
          <a:bodyPr wrap="square" anchor="t"/>
          <a:lstStyle/>
          <a:p>
            <a:pPr algn="l"/>
            <a:r>
              <a:rPr sz="1300" b="0">
                <a:solidFill>
                  <a:srgbClr val="1A1A1A"/>
                </a:solidFill>
                <a:latin typeface="Calibri"/>
                <a:ea typeface="Microsoft YaHei"/>
              </a:rPr>
              <a:t>当地时间31日上午，习近平同扎帕罗夫在和谐宫会谈，签署永久睦邻友好合作条约与高质量发展新时代全面战略伙伴关系联合宣言，并交换投资、交通、海关、友城文本。习强调高质量建设中吉乌铁路，拓展数字贸易、人工智能与绿色矿产。</a:t>
            </a:r>
          </a:p>
        </p:txBody>
      </p:sp>
      <p:sp>
        <p:nvSpPr>
          <p:cNvPr id="15" name="Rectangle 14"/>
          <p:cNvSpPr/>
          <p:nvPr/>
        </p:nvSpPr>
        <p:spPr>
          <a:xfrm>
            <a:off x="65836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17" name="TextBox 16"/>
          <p:cNvSpPr txBox="1"/>
          <p:nvPr/>
        </p:nvSpPr>
        <p:spPr>
          <a:xfrm>
            <a:off x="658368" y="5358384"/>
            <a:ext cx="5065776" cy="804672"/>
          </a:xfrm>
          <a:prstGeom prst="rect">
            <a:avLst/>
          </a:prstGeom>
          <a:noFill/>
        </p:spPr>
        <p:txBody>
          <a:bodyPr wrap="square" anchor="t"/>
          <a:lstStyle/>
          <a:p>
            <a:pPr algn="l"/>
            <a:r>
              <a:rPr sz="1200" b="0">
                <a:solidFill>
                  <a:srgbClr val="4A5568"/>
                </a:solidFill>
                <a:latin typeface="Calibri"/>
                <a:ea typeface="Microsoft YaHei"/>
              </a:rPr>
              <a:t>条约把中吉世代友好落到法律文本，中吉乌铁路从倡议进入元首共同背书的施工议程。</a:t>
            </a:r>
          </a:p>
        </p:txBody>
      </p:sp>
      <p:sp>
        <p:nvSpPr>
          <p:cNvPr id="18" name="Rounded Rectangle 17"/>
          <p:cNvSpPr/>
          <p:nvPr/>
        </p:nvSpPr>
        <p:spPr>
          <a:xfrm>
            <a:off x="626364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6480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700784"/>
            <a:ext cx="4937760" cy="256032"/>
          </a:xfrm>
          <a:prstGeom prst="rect">
            <a:avLst/>
          </a:prstGeom>
          <a:noFill/>
        </p:spPr>
        <p:txBody>
          <a:bodyPr wrap="square" anchor="t"/>
          <a:lstStyle/>
          <a:p>
            <a:pPr algn="l"/>
            <a:r>
              <a:rPr sz="1100" b="1">
                <a:solidFill>
                  <a:srgbClr val="C41E3A"/>
                </a:solidFill>
                <a:latin typeface="Calibri"/>
                <a:ea typeface="Microsoft YaHei"/>
              </a:rPr>
              <a:t>02　外交 · 比什凯克</a:t>
            </a:r>
          </a:p>
        </p:txBody>
      </p:sp>
      <p:sp>
        <p:nvSpPr>
          <p:cNvPr id="21" name="TextBox 20"/>
          <p:cNvSpPr txBox="1"/>
          <p:nvPr/>
        </p:nvSpPr>
        <p:spPr>
          <a:xfrm>
            <a:off x="6464808" y="1975104"/>
            <a:ext cx="5065776" cy="868680"/>
          </a:xfrm>
          <a:prstGeom prst="rect">
            <a:avLst/>
          </a:prstGeom>
          <a:noFill/>
        </p:spPr>
        <p:txBody>
          <a:bodyPr wrap="square" anchor="t"/>
          <a:lstStyle/>
          <a:p>
            <a:pPr algn="l"/>
            <a:r>
              <a:rPr sz="2200" b="1">
                <a:solidFill>
                  <a:srgbClr val="1A1A1A"/>
                </a:solidFill>
                <a:latin typeface="Cambria"/>
                <a:ea typeface="Cambria"/>
              </a:rPr>
              <a:t>习近平会见普京，俄方提议免签永久化</a:t>
            </a:r>
          </a:p>
        </p:txBody>
      </p:sp>
      <p:sp>
        <p:nvSpPr>
          <p:cNvPr id="22" name="TextBox 21"/>
          <p:cNvSpPr txBox="1"/>
          <p:nvPr/>
        </p:nvSpPr>
        <p:spPr>
          <a:xfrm>
            <a:off x="6464808" y="2834640"/>
            <a:ext cx="5065776" cy="292608"/>
          </a:xfrm>
          <a:prstGeom prst="rect">
            <a:avLst/>
          </a:prstGeom>
          <a:noFill/>
        </p:spPr>
        <p:txBody>
          <a:bodyPr wrap="square" anchor="t"/>
          <a:lstStyle/>
          <a:p>
            <a:pPr algn="l"/>
            <a:r>
              <a:rPr sz="1100" b="0">
                <a:solidFill>
                  <a:srgbClr val="4A5568"/>
                </a:solidFill>
                <a:latin typeface="Calibri"/>
                <a:ea typeface="Microsoft YaHei"/>
              </a:rPr>
              <a:t>来源：新华社 / 塔斯社  ·  news.cn</a:t>
            </a:r>
          </a:p>
        </p:txBody>
      </p:sp>
      <p:sp>
        <p:nvSpPr>
          <p:cNvPr id="23" name="TextBox 22"/>
          <p:cNvSpPr txBox="1"/>
          <p:nvPr/>
        </p:nvSpPr>
        <p:spPr>
          <a:xfrm>
            <a:off x="6464808" y="3127248"/>
            <a:ext cx="5065776" cy="1417320"/>
          </a:xfrm>
          <a:prstGeom prst="rect">
            <a:avLst/>
          </a:prstGeom>
          <a:noFill/>
        </p:spPr>
        <p:txBody>
          <a:bodyPr wrap="square" anchor="t"/>
          <a:lstStyle/>
          <a:p>
            <a:pPr algn="l"/>
            <a:r>
              <a:rPr sz="1300" b="0">
                <a:solidFill>
                  <a:srgbClr val="1A1A1A"/>
                </a:solidFill>
                <a:latin typeface="Calibri"/>
                <a:ea typeface="Microsoft YaHei"/>
              </a:rPr>
              <a:t>当地时间31日下午，习近平在比什凯克会见普京。习称国际不确定因素明显增多，中俄关系根基将更牢固。普京称俄中全面战略协作迅速发展。据塔斯社，普京提议将免签安排永久化；上半年双向旅游增43%。</a:t>
            </a:r>
          </a:p>
        </p:txBody>
      </p:sp>
      <p:sp>
        <p:nvSpPr>
          <p:cNvPr id="24" name="Rectangle 23"/>
          <p:cNvSpPr/>
          <p:nvPr/>
        </p:nvSpPr>
        <p:spPr>
          <a:xfrm>
            <a:off x="646480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26" name="TextBox 25"/>
          <p:cNvSpPr txBox="1"/>
          <p:nvPr/>
        </p:nvSpPr>
        <p:spPr>
          <a:xfrm>
            <a:off x="6464808" y="5358384"/>
            <a:ext cx="5065776" cy="804672"/>
          </a:xfrm>
          <a:prstGeom prst="rect">
            <a:avLst/>
          </a:prstGeom>
          <a:noFill/>
        </p:spPr>
        <p:txBody>
          <a:bodyPr wrap="square" anchor="t"/>
          <a:lstStyle/>
          <a:p>
            <a:pPr algn="l"/>
            <a:r>
              <a:rPr sz="1200" b="0">
                <a:solidFill>
                  <a:srgbClr val="4A5568"/>
                </a:solidFill>
                <a:latin typeface="Calibri"/>
                <a:ea typeface="Microsoft YaHei"/>
              </a:rPr>
              <a:t>上合峰会开幕日，中俄先以双边会晤标定战略协作，免签议题把人员往来推到制度层面。</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11247120" cy="502920"/>
          </a:xfrm>
          <a:prstGeom prst="rect">
            <a:avLst/>
          </a:prstGeom>
          <a:noFill/>
        </p:spPr>
        <p:txBody>
          <a:bodyPr wrap="square" anchor="t"/>
          <a:lstStyle/>
          <a:p>
            <a:pPr algn="l"/>
            <a:r>
              <a:rPr sz="3600" b="1">
                <a:solidFill>
                  <a:srgbClr val="1A1A1A"/>
                </a:solidFill>
                <a:latin typeface="Cambria"/>
                <a:ea typeface="Cambria"/>
              </a:rPr>
              <a:t>口岸与河谷</a:t>
            </a:r>
          </a:p>
        </p:txBody>
      </p:sp>
      <p:sp>
        <p:nvSpPr>
          <p:cNvPr id="8" name="TextBox 7"/>
          <p:cNvSpPr txBox="1"/>
          <p:nvPr/>
        </p:nvSpPr>
        <p:spPr>
          <a:xfrm>
            <a:off x="457200" y="1115568"/>
            <a:ext cx="11247120" cy="292608"/>
          </a:xfrm>
          <a:prstGeom prst="rect">
            <a:avLst/>
          </a:prstGeom>
          <a:noFill/>
        </p:spPr>
        <p:txBody>
          <a:bodyPr wrap="square" anchor="t"/>
          <a:lstStyle/>
          <a:p>
            <a:pPr algn="l"/>
            <a:r>
              <a:rPr sz="1400" b="0">
                <a:solidFill>
                  <a:srgbClr val="4A5568"/>
                </a:solidFill>
                <a:latin typeface="Calibri"/>
                <a:ea typeface="Microsoft YaHei"/>
              </a:rPr>
              <a:t>同一条冰川：北岸抢通信号，南岸在挖隧道口。</a:t>
            </a:r>
          </a:p>
        </p:txBody>
      </p:sp>
      <p:sp>
        <p:nvSpPr>
          <p:cNvPr id="9" name="Rounded Rectangle 8"/>
          <p:cNvSpPr/>
          <p:nvPr/>
        </p:nvSpPr>
        <p:spPr>
          <a:xfrm>
            <a:off x="45720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0784"/>
            <a:ext cx="4937760" cy="256032"/>
          </a:xfrm>
          <a:prstGeom prst="rect">
            <a:avLst/>
          </a:prstGeom>
          <a:noFill/>
        </p:spPr>
        <p:txBody>
          <a:bodyPr wrap="square" anchor="t"/>
          <a:lstStyle/>
          <a:p>
            <a:pPr algn="l"/>
            <a:r>
              <a:rPr sz="1100" b="1">
                <a:solidFill>
                  <a:srgbClr val="C41E3A"/>
                </a:solidFill>
                <a:latin typeface="Calibri"/>
                <a:ea typeface="Microsoft YaHei"/>
              </a:rPr>
              <a:t>03　公共事务 · 吉隆</a:t>
            </a:r>
          </a:p>
        </p:txBody>
      </p:sp>
      <p:sp>
        <p:nvSpPr>
          <p:cNvPr id="12" name="TextBox 11"/>
          <p:cNvSpPr txBox="1"/>
          <p:nvPr/>
        </p:nvSpPr>
        <p:spPr>
          <a:xfrm>
            <a:off x="658368" y="1975104"/>
            <a:ext cx="5065776" cy="868680"/>
          </a:xfrm>
          <a:prstGeom prst="rect">
            <a:avLst/>
          </a:prstGeom>
          <a:noFill/>
        </p:spPr>
        <p:txBody>
          <a:bodyPr wrap="square" anchor="t"/>
          <a:lstStyle/>
          <a:p>
            <a:pPr algn="l"/>
            <a:r>
              <a:rPr sz="2200" b="1">
                <a:solidFill>
                  <a:srgbClr val="1A1A1A"/>
                </a:solidFill>
                <a:latin typeface="Cambria"/>
                <a:ea typeface="Cambria"/>
              </a:rPr>
              <a:t>吉隆口岸信号抢通，新堰塞湖基本排空</a:t>
            </a:r>
          </a:p>
        </p:txBody>
      </p:sp>
      <p:sp>
        <p:nvSpPr>
          <p:cNvPr id="13" name="TextBox 12"/>
          <p:cNvSpPr txBox="1"/>
          <p:nvPr/>
        </p:nvSpPr>
        <p:spPr>
          <a:xfrm>
            <a:off x="658368" y="2834640"/>
            <a:ext cx="5065776" cy="292608"/>
          </a:xfrm>
          <a:prstGeom prst="rect">
            <a:avLst/>
          </a:prstGeom>
          <a:noFill/>
        </p:spPr>
        <p:txBody>
          <a:bodyPr wrap="square" anchor="t"/>
          <a:lstStyle/>
          <a:p>
            <a:pPr algn="l"/>
            <a:r>
              <a:rPr sz="1100" b="0">
                <a:solidFill>
                  <a:srgbClr val="4A5568"/>
                </a:solidFill>
                <a:latin typeface="Calibri"/>
                <a:ea typeface="Microsoft YaHei"/>
              </a:rPr>
              <a:t>来源：央视新闻 / 中新网  ·  chinanews.com.cn</a:t>
            </a:r>
          </a:p>
        </p:txBody>
      </p:sp>
      <p:sp>
        <p:nvSpPr>
          <p:cNvPr id="14" name="TextBox 13"/>
          <p:cNvSpPr txBox="1"/>
          <p:nvPr/>
        </p:nvSpPr>
        <p:spPr>
          <a:xfrm>
            <a:off x="658368" y="3127248"/>
            <a:ext cx="5065776" cy="1417320"/>
          </a:xfrm>
          <a:prstGeom prst="rect">
            <a:avLst/>
          </a:prstGeom>
          <a:noFill/>
        </p:spPr>
        <p:txBody>
          <a:bodyPr wrap="square" anchor="t"/>
          <a:lstStyle/>
          <a:p>
            <a:pPr algn="l"/>
            <a:r>
              <a:rPr sz="1300" b="0">
                <a:solidFill>
                  <a:srgbClr val="1A1A1A"/>
                </a:solidFill>
                <a:latin typeface="Calibri"/>
                <a:ea typeface="Microsoft YaHei"/>
              </a:rPr>
              <a:t>31日央视称，紧邻国门的应急基站开通，截至30日20时37分已抢通修复1个基站、新增9个。30日下午新堰塞湖已自然过流、基本排空。核心区两轮浅表搜索后将转入深层次搜寻。伤亡数字仍为16遇难、546失联。</a:t>
            </a:r>
          </a:p>
        </p:txBody>
      </p:sp>
      <p:sp>
        <p:nvSpPr>
          <p:cNvPr id="15" name="Rectangle 14"/>
          <p:cNvSpPr/>
          <p:nvPr/>
        </p:nvSpPr>
        <p:spPr>
          <a:xfrm>
            <a:off x="65836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17" name="TextBox 16"/>
          <p:cNvSpPr txBox="1"/>
          <p:nvPr/>
        </p:nvSpPr>
        <p:spPr>
          <a:xfrm>
            <a:off x="658368" y="5358384"/>
            <a:ext cx="5065776" cy="804672"/>
          </a:xfrm>
          <a:prstGeom prst="rect">
            <a:avLst/>
          </a:prstGeom>
          <a:noFill/>
        </p:spPr>
        <p:txBody>
          <a:bodyPr wrap="square" anchor="t"/>
          <a:lstStyle/>
          <a:p>
            <a:pPr algn="l"/>
            <a:r>
              <a:rPr sz="1200" b="0">
                <a:solidFill>
                  <a:srgbClr val="4A5568"/>
                </a:solidFill>
                <a:latin typeface="Calibri"/>
                <a:ea typeface="Microsoft YaHei"/>
              </a:rPr>
              <a:t>救援从「进得去」转入「搜得深」，堰塞湖退水降低二次溃决风险，但降雨预报仍压在现场。</a:t>
            </a:r>
          </a:p>
        </p:txBody>
      </p:sp>
      <p:sp>
        <p:nvSpPr>
          <p:cNvPr id="18" name="Rounded Rectangle 17"/>
          <p:cNvSpPr/>
          <p:nvPr/>
        </p:nvSpPr>
        <p:spPr>
          <a:xfrm>
            <a:off x="626364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6480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700784"/>
            <a:ext cx="4937760" cy="256032"/>
          </a:xfrm>
          <a:prstGeom prst="rect">
            <a:avLst/>
          </a:prstGeom>
          <a:noFill/>
        </p:spPr>
        <p:txBody>
          <a:bodyPr wrap="square" anchor="t"/>
          <a:lstStyle/>
          <a:p>
            <a:pPr algn="l"/>
            <a:r>
              <a:rPr sz="1100" b="1">
                <a:solidFill>
                  <a:srgbClr val="C41E3A"/>
                </a:solidFill>
                <a:latin typeface="Calibri"/>
                <a:ea typeface="Microsoft YaHei"/>
              </a:rPr>
              <a:t>04　救灾 · 加德满都</a:t>
            </a:r>
          </a:p>
        </p:txBody>
      </p:sp>
      <p:sp>
        <p:nvSpPr>
          <p:cNvPr id="21" name="TextBox 20"/>
          <p:cNvSpPr txBox="1"/>
          <p:nvPr/>
        </p:nvSpPr>
        <p:spPr>
          <a:xfrm>
            <a:off x="6464808" y="1975104"/>
            <a:ext cx="5065776" cy="868680"/>
          </a:xfrm>
          <a:prstGeom prst="rect">
            <a:avLst/>
          </a:prstGeom>
          <a:noFill/>
        </p:spPr>
        <p:txBody>
          <a:bodyPr wrap="square" anchor="t"/>
          <a:lstStyle/>
          <a:p>
            <a:pPr algn="l"/>
            <a:r>
              <a:rPr sz="2200" b="1">
                <a:solidFill>
                  <a:srgbClr val="1A1A1A"/>
                </a:solidFill>
                <a:latin typeface="Cambria"/>
                <a:ea typeface="Cambria"/>
              </a:rPr>
              <a:t>尼泊尔洪灾遇难逾900，水电隧道约900人受困</a:t>
            </a:r>
          </a:p>
        </p:txBody>
      </p:sp>
      <p:sp>
        <p:nvSpPr>
          <p:cNvPr id="22" name="TextBox 21"/>
          <p:cNvSpPr txBox="1"/>
          <p:nvPr/>
        </p:nvSpPr>
        <p:spPr>
          <a:xfrm>
            <a:off x="6464808" y="2834640"/>
            <a:ext cx="5065776" cy="292608"/>
          </a:xfrm>
          <a:prstGeom prst="rect">
            <a:avLst/>
          </a:prstGeom>
          <a:noFill/>
        </p:spPr>
        <p:txBody>
          <a:bodyPr wrap="square" anchor="t"/>
          <a:lstStyle/>
          <a:p>
            <a:pPr algn="l"/>
            <a:r>
              <a:rPr sz="1100" b="0">
                <a:solidFill>
                  <a:srgbClr val="4A5568"/>
                </a:solidFill>
                <a:latin typeface="Calibri"/>
                <a:ea typeface="Microsoft YaHei"/>
              </a:rPr>
              <a:t>来源：半岛电视台 / 美联社  ·  aljazeera.com</a:t>
            </a:r>
          </a:p>
        </p:txBody>
      </p:sp>
      <p:sp>
        <p:nvSpPr>
          <p:cNvPr id="23" name="TextBox 22"/>
          <p:cNvSpPr txBox="1"/>
          <p:nvPr/>
        </p:nvSpPr>
        <p:spPr>
          <a:xfrm>
            <a:off x="6464808" y="3127248"/>
            <a:ext cx="5065776" cy="1417320"/>
          </a:xfrm>
          <a:prstGeom prst="rect">
            <a:avLst/>
          </a:prstGeom>
          <a:noFill/>
        </p:spPr>
        <p:txBody>
          <a:bodyPr wrap="square" anchor="t"/>
          <a:lstStyle/>
          <a:p>
            <a:pPr algn="l"/>
            <a:r>
              <a:rPr sz="1300" b="0">
                <a:solidFill>
                  <a:srgbClr val="1A1A1A"/>
                </a:solidFill>
                <a:latin typeface="Calibri"/>
                <a:ea typeface="Microsoft YaHei"/>
              </a:rPr>
              <a:t>尼泊尔灾害当局31日称已确认903人遇难、4247人失联；当日后续统计升至939人。约12处水电工地隧道被泥石封堵，逾900名工人受困，中印各派隧道救援专家协助。红十字会估计受影响超9万人。</a:t>
            </a:r>
          </a:p>
        </p:txBody>
      </p:sp>
      <p:sp>
        <p:nvSpPr>
          <p:cNvPr id="24" name="Rectangle 23"/>
          <p:cNvSpPr/>
          <p:nvPr/>
        </p:nvSpPr>
        <p:spPr>
          <a:xfrm>
            <a:off x="646480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26" name="TextBox 25"/>
          <p:cNvSpPr txBox="1"/>
          <p:nvPr/>
        </p:nvSpPr>
        <p:spPr>
          <a:xfrm>
            <a:off x="6464808" y="5358384"/>
            <a:ext cx="5065776" cy="804672"/>
          </a:xfrm>
          <a:prstGeom prst="rect">
            <a:avLst/>
          </a:prstGeom>
          <a:noFill/>
        </p:spPr>
        <p:txBody>
          <a:bodyPr wrap="square" anchor="t"/>
          <a:lstStyle/>
          <a:p>
            <a:pPr algn="l"/>
            <a:r>
              <a:rPr sz="1200" b="0">
                <a:solidFill>
                  <a:srgbClr val="4A5568"/>
                </a:solidFill>
                <a:latin typeface="Calibri"/>
                <a:ea typeface="Microsoft YaHei"/>
              </a:rPr>
              <a:t>同源冰川灾害的尼侧伤亡远超口岸，隧道救援成为本周能否再救人的关键窗口。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11247120" cy="502920"/>
          </a:xfrm>
          <a:prstGeom prst="rect">
            <a:avLst/>
          </a:prstGeom>
          <a:noFill/>
        </p:spPr>
        <p:txBody>
          <a:bodyPr wrap="square" anchor="t"/>
          <a:lstStyle/>
          <a:p>
            <a:pPr algn="l"/>
            <a:r>
              <a:rPr sz="3600" b="1">
                <a:solidFill>
                  <a:srgbClr val="1A1A1A"/>
                </a:solidFill>
                <a:latin typeface="Cambria"/>
                <a:ea typeface="Cambria"/>
              </a:rPr>
              <a:t>海峡对撞</a:t>
            </a:r>
          </a:p>
        </p:txBody>
      </p:sp>
      <p:sp>
        <p:nvSpPr>
          <p:cNvPr id="8" name="TextBox 7"/>
          <p:cNvSpPr txBox="1"/>
          <p:nvPr/>
        </p:nvSpPr>
        <p:spPr>
          <a:xfrm>
            <a:off x="457200" y="1115568"/>
            <a:ext cx="11247120" cy="292608"/>
          </a:xfrm>
          <a:prstGeom prst="rect">
            <a:avLst/>
          </a:prstGeom>
          <a:noFill/>
        </p:spPr>
        <p:txBody>
          <a:bodyPr wrap="square" anchor="t"/>
          <a:lstStyle/>
          <a:p>
            <a:pPr algn="l"/>
            <a:r>
              <a:rPr sz="1400" b="0">
                <a:solidFill>
                  <a:srgbClr val="4A5568"/>
                </a:solidFill>
                <a:latin typeface="Calibri"/>
                <a:ea typeface="Microsoft YaHei"/>
              </a:rPr>
              <a:t>清雷叙事与触雷叙事叠在同一条航道上，市场只认开盘价。</a:t>
            </a:r>
          </a:p>
        </p:txBody>
      </p:sp>
      <p:sp>
        <p:nvSpPr>
          <p:cNvPr id="9" name="Rounded Rectangle 8"/>
          <p:cNvSpPr/>
          <p:nvPr/>
        </p:nvSpPr>
        <p:spPr>
          <a:xfrm>
            <a:off x="45720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0784"/>
            <a:ext cx="4937760" cy="256032"/>
          </a:xfrm>
          <a:prstGeom prst="rect">
            <a:avLst/>
          </a:prstGeom>
          <a:noFill/>
        </p:spPr>
        <p:txBody>
          <a:bodyPr wrap="square" anchor="t"/>
          <a:lstStyle/>
          <a:p>
            <a:pPr algn="l"/>
            <a:r>
              <a:rPr sz="1100" b="1">
                <a:solidFill>
                  <a:srgbClr val="C41E3A"/>
                </a:solidFill>
                <a:latin typeface="Calibri"/>
                <a:ea typeface="Microsoft YaHei"/>
              </a:rPr>
              <a:t>05　外交 · 霍尔木兹</a:t>
            </a:r>
          </a:p>
        </p:txBody>
      </p:sp>
      <p:sp>
        <p:nvSpPr>
          <p:cNvPr id="12" name="TextBox 11"/>
          <p:cNvSpPr txBox="1"/>
          <p:nvPr/>
        </p:nvSpPr>
        <p:spPr>
          <a:xfrm>
            <a:off x="658368" y="1975104"/>
            <a:ext cx="5065776" cy="868680"/>
          </a:xfrm>
          <a:prstGeom prst="rect">
            <a:avLst/>
          </a:prstGeom>
          <a:noFill/>
        </p:spPr>
        <p:txBody>
          <a:bodyPr wrap="square" anchor="t"/>
          <a:lstStyle/>
          <a:p>
            <a:pPr algn="l"/>
            <a:r>
              <a:rPr sz="2200" b="1">
                <a:solidFill>
                  <a:srgbClr val="1A1A1A"/>
                </a:solidFill>
                <a:latin typeface="Cambria"/>
                <a:ea typeface="Cambria"/>
              </a:rPr>
              <a:t>伊称油轮触雷起火，美军中央司令部否认</a:t>
            </a:r>
          </a:p>
        </p:txBody>
      </p:sp>
      <p:sp>
        <p:nvSpPr>
          <p:cNvPr id="13" name="TextBox 12"/>
          <p:cNvSpPr txBox="1"/>
          <p:nvPr/>
        </p:nvSpPr>
        <p:spPr>
          <a:xfrm>
            <a:off x="658368" y="2834640"/>
            <a:ext cx="5065776" cy="292608"/>
          </a:xfrm>
          <a:prstGeom prst="rect">
            <a:avLst/>
          </a:prstGeom>
          <a:noFill/>
        </p:spPr>
        <p:txBody>
          <a:bodyPr wrap="square" anchor="t"/>
          <a:lstStyle/>
          <a:p>
            <a:pPr algn="l"/>
            <a:r>
              <a:rPr sz="1100" b="0">
                <a:solidFill>
                  <a:srgbClr val="4A5568"/>
                </a:solidFill>
                <a:latin typeface="Calibri"/>
                <a:ea typeface="Microsoft YaHei"/>
              </a:rPr>
              <a:t>来源：UPI / 伊朗国际  ·  upi.com</a:t>
            </a:r>
          </a:p>
        </p:txBody>
      </p:sp>
      <p:sp>
        <p:nvSpPr>
          <p:cNvPr id="14" name="TextBox 13"/>
          <p:cNvSpPr txBox="1"/>
          <p:nvPr/>
        </p:nvSpPr>
        <p:spPr>
          <a:xfrm>
            <a:off x="658368" y="3127248"/>
            <a:ext cx="5065776" cy="1417320"/>
          </a:xfrm>
          <a:prstGeom prst="rect">
            <a:avLst/>
          </a:prstGeom>
          <a:noFill/>
        </p:spPr>
        <p:txBody>
          <a:bodyPr wrap="square" anchor="t"/>
          <a:lstStyle/>
          <a:p>
            <a:pPr algn="l"/>
            <a:r>
              <a:rPr sz="1300" b="0">
                <a:solidFill>
                  <a:srgbClr val="1A1A1A"/>
                </a:solidFill>
                <a:latin typeface="Calibri"/>
                <a:ea typeface="Microsoft YaHei"/>
              </a:rPr>
              <a:t>革命卫队海军31日称，一艘未获许可走南部航道的超级油轮触碰两枚水雷后起火停航，未公布船名与船员。美军中央司令部同日驳斥「没有任何船只触雷」，指其为恐吓商船的虚假信息。周日拉拉克岛打击后，周一油价高开逾2%。</a:t>
            </a:r>
          </a:p>
        </p:txBody>
      </p:sp>
      <p:sp>
        <p:nvSpPr>
          <p:cNvPr id="15" name="Rectangle 14"/>
          <p:cNvSpPr/>
          <p:nvPr/>
        </p:nvSpPr>
        <p:spPr>
          <a:xfrm>
            <a:off x="65836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17" name="TextBox 16"/>
          <p:cNvSpPr txBox="1"/>
          <p:nvPr/>
        </p:nvSpPr>
        <p:spPr>
          <a:xfrm>
            <a:off x="658368" y="5358384"/>
            <a:ext cx="5065776" cy="804672"/>
          </a:xfrm>
          <a:prstGeom prst="rect">
            <a:avLst/>
          </a:prstGeom>
          <a:noFill/>
        </p:spPr>
        <p:txBody>
          <a:bodyPr wrap="square" anchor="t"/>
          <a:lstStyle/>
          <a:p>
            <a:pPr algn="l"/>
            <a:r>
              <a:rPr sz="1200" b="0">
                <a:solidFill>
                  <a:srgbClr val="4A5568"/>
                </a:solidFill>
                <a:latin typeface="Calibri"/>
                <a:ea typeface="Microsoft YaHei"/>
              </a:rPr>
              <a:t>清雷叙事与触雷叙事同日对撞，海峡复航仍取决于谁的说法被市场与船东采信。</a:t>
            </a:r>
          </a:p>
        </p:txBody>
      </p:sp>
      <p:sp>
        <p:nvSpPr>
          <p:cNvPr id="18" name="Rounded Rectangle 17"/>
          <p:cNvSpPr/>
          <p:nvPr/>
        </p:nvSpPr>
        <p:spPr>
          <a:xfrm>
            <a:off x="626364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6480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700784"/>
            <a:ext cx="4937760" cy="256032"/>
          </a:xfrm>
          <a:prstGeom prst="rect">
            <a:avLst/>
          </a:prstGeom>
          <a:noFill/>
        </p:spPr>
        <p:txBody>
          <a:bodyPr wrap="square" anchor="t"/>
          <a:lstStyle/>
          <a:p>
            <a:pPr algn="l"/>
            <a:r>
              <a:rPr sz="1100" b="1">
                <a:solidFill>
                  <a:srgbClr val="C41E3A"/>
                </a:solidFill>
                <a:latin typeface="Calibri"/>
                <a:ea typeface="Microsoft YaHei"/>
              </a:rPr>
              <a:t>海峡数字 · 补充</a:t>
            </a:r>
          </a:p>
        </p:txBody>
      </p:sp>
      <p:sp>
        <p:nvSpPr>
          <p:cNvPr id="21" name="TextBox 20"/>
          <p:cNvSpPr txBox="1"/>
          <p:nvPr/>
        </p:nvSpPr>
        <p:spPr>
          <a:xfrm>
            <a:off x="6464808" y="1975104"/>
            <a:ext cx="5065776" cy="868680"/>
          </a:xfrm>
          <a:prstGeom prst="rect">
            <a:avLst/>
          </a:prstGeom>
          <a:noFill/>
        </p:spPr>
        <p:txBody>
          <a:bodyPr wrap="square" anchor="t"/>
          <a:lstStyle/>
          <a:p>
            <a:pPr algn="l"/>
            <a:r>
              <a:rPr sz="2200" b="1">
                <a:solidFill>
                  <a:srgbClr val="1A1A1A"/>
                </a:solidFill>
                <a:latin typeface="Cambria"/>
                <a:ea typeface="Cambria"/>
              </a:rPr>
              <a:t>周一油价为周末交火重新定价</a:t>
            </a:r>
          </a:p>
        </p:txBody>
      </p:sp>
      <p:sp>
        <p:nvSpPr>
          <p:cNvPr id="22" name="TextBox 21"/>
          <p:cNvSpPr txBox="1"/>
          <p:nvPr/>
        </p:nvSpPr>
        <p:spPr>
          <a:xfrm>
            <a:off x="6464808" y="2834640"/>
            <a:ext cx="5065776" cy="292608"/>
          </a:xfrm>
          <a:prstGeom prst="rect">
            <a:avLst/>
          </a:prstGeom>
          <a:noFill/>
        </p:spPr>
        <p:txBody>
          <a:bodyPr wrap="square" anchor="t"/>
          <a:lstStyle/>
          <a:p>
            <a:pPr algn="l"/>
            <a:r>
              <a:rPr sz="1100" b="0">
                <a:solidFill>
                  <a:srgbClr val="4A5568"/>
                </a:solidFill>
                <a:latin typeface="Calibri"/>
                <a:ea typeface="Microsoft YaHei"/>
              </a:rPr>
              <a:t>来源：路透 / 伊朗国际  ·  31日转述</a:t>
            </a:r>
          </a:p>
        </p:txBody>
      </p:sp>
      <p:sp>
        <p:nvSpPr>
          <p:cNvPr id="23" name="TextBox 22"/>
          <p:cNvSpPr txBox="1"/>
          <p:nvPr/>
        </p:nvSpPr>
        <p:spPr>
          <a:xfrm>
            <a:off x="6464808" y="3127248"/>
            <a:ext cx="5065776" cy="1417320"/>
          </a:xfrm>
          <a:prstGeom prst="rect">
            <a:avLst/>
          </a:prstGeom>
          <a:noFill/>
        </p:spPr>
        <p:txBody>
          <a:bodyPr wrap="square" anchor="t"/>
          <a:lstStyle/>
          <a:p>
            <a:pPr algn="l"/>
            <a:r>
              <a:rPr sz="1300" b="0">
                <a:solidFill>
                  <a:srgbClr val="1A1A1A"/>
                </a:solidFill>
                <a:latin typeface="Calibri"/>
                <a:ea typeface="Microsoft YaHei"/>
              </a:rPr>
              <a:t>周日美军打击拉拉克岛两处发射装置，称革命卫队正准备以火箭投射水雷；伊方称有人员伤亡并扬言报复。伊朗国际援引路透：布伦特一度涨2.5%、站上90美元。触雷说法未经独立核实。</a:t>
            </a:r>
          </a:p>
        </p:txBody>
      </p:sp>
      <p:sp>
        <p:nvSpPr>
          <p:cNvPr id="24" name="Rectangle 23"/>
          <p:cNvSpPr/>
          <p:nvPr/>
        </p:nvSpPr>
        <p:spPr>
          <a:xfrm>
            <a:off x="646480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26" name="TextBox 25"/>
          <p:cNvSpPr txBox="1"/>
          <p:nvPr/>
        </p:nvSpPr>
        <p:spPr>
          <a:xfrm>
            <a:off x="6464808" y="5358384"/>
            <a:ext cx="5065776" cy="804672"/>
          </a:xfrm>
          <a:prstGeom prst="rect">
            <a:avLst/>
          </a:prstGeom>
          <a:noFill/>
        </p:spPr>
        <p:txBody>
          <a:bodyPr wrap="square" anchor="t"/>
          <a:lstStyle/>
          <a:p>
            <a:pPr algn="l"/>
            <a:r>
              <a:rPr sz="1200" b="0">
                <a:solidFill>
                  <a:srgbClr val="4A5568"/>
                </a:solidFill>
                <a:latin typeface="Calibri"/>
                <a:ea typeface="Microsoft YaHei"/>
              </a:rPr>
              <a:t>物理过境仍稀薄，叙事战本身已成为油价与保费的定价因子。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8368"/>
            <a:ext cx="1828800" cy="777240"/>
          </a:xfrm>
          <a:prstGeom prst="rect">
            <a:avLst/>
          </a:prstGeom>
          <a:noFill/>
        </p:spPr>
        <p:txBody>
          <a:bodyPr wrap="square" anchor="t"/>
          <a:lstStyle/>
          <a:p>
            <a:pPr algn="l"/>
            <a:r>
              <a:rPr sz="5600" b="1">
                <a:solidFill>
                  <a:srgbClr val="C41E3A"/>
                </a:solidFill>
                <a:latin typeface="Cambria"/>
                <a:ea typeface="Cambria"/>
              </a:rPr>
              <a:t>02</a:t>
            </a:r>
          </a:p>
        </p:txBody>
      </p:sp>
      <p:sp>
        <p:nvSpPr>
          <p:cNvPr id="8" name="TextBox 7"/>
          <p:cNvSpPr txBox="1"/>
          <p:nvPr/>
        </p:nvSpPr>
        <p:spPr>
          <a:xfrm>
            <a:off x="2103120" y="713232"/>
            <a:ext cx="9601200" cy="566928"/>
          </a:xfrm>
          <a:prstGeom prst="rect">
            <a:avLst/>
          </a:prstGeom>
          <a:noFill/>
        </p:spPr>
        <p:txBody>
          <a:bodyPr wrap="square" anchor="t"/>
          <a:lstStyle/>
          <a:p>
            <a:pPr algn="l"/>
            <a:r>
              <a:rPr sz="3600" b="1">
                <a:solidFill>
                  <a:srgbClr val="1A1A1A"/>
                </a:solidFill>
                <a:latin typeface="Cambria"/>
                <a:ea typeface="Cambria"/>
              </a:rPr>
              <a:t>科技开篇</a:t>
            </a:r>
          </a:p>
        </p:txBody>
      </p:sp>
      <p:sp>
        <p:nvSpPr>
          <p:cNvPr id="9" name="TextBox 8"/>
          <p:cNvSpPr txBox="1"/>
          <p:nvPr/>
        </p:nvSpPr>
        <p:spPr>
          <a:xfrm>
            <a:off x="2103120" y="1280160"/>
            <a:ext cx="9601200" cy="329184"/>
          </a:xfrm>
          <a:prstGeom prst="rect">
            <a:avLst/>
          </a:prstGeom>
          <a:noFill/>
        </p:spPr>
        <p:txBody>
          <a:bodyPr wrap="square" anchor="t"/>
          <a:lstStyle/>
          <a:p>
            <a:pPr algn="l"/>
            <a:r>
              <a:rPr sz="1400" b="0">
                <a:solidFill>
                  <a:srgbClr val="4A5568"/>
                </a:solidFill>
                <a:latin typeface="Calibri"/>
                <a:ea typeface="Microsoft YaHei"/>
              </a:rPr>
              <a:t>定制芯片被请回英伟达的机架；应用服务商被写进工信部名册。</a:t>
            </a:r>
          </a:p>
        </p:txBody>
      </p:sp>
      <p:sp>
        <p:nvSpPr>
          <p:cNvPr id="10" name="Rounded Rectangle 9"/>
          <p:cNvSpPr/>
          <p:nvPr/>
        </p:nvSpPr>
        <p:spPr>
          <a:xfrm>
            <a:off x="457200" y="1755648"/>
            <a:ext cx="2697480" cy="196596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847088"/>
            <a:ext cx="2441448" cy="640080"/>
          </a:xfrm>
          <a:prstGeom prst="rect">
            <a:avLst/>
          </a:prstGeom>
          <a:noFill/>
        </p:spPr>
        <p:txBody>
          <a:bodyPr wrap="square" anchor="t"/>
          <a:lstStyle/>
          <a:p>
            <a:pPr algn="l"/>
            <a:r>
              <a:rPr sz="2800" b="1">
                <a:solidFill>
                  <a:srgbClr val="C41E3A"/>
                </a:solidFill>
                <a:latin typeface="Cambria"/>
                <a:ea typeface="Cambria"/>
              </a:rPr>
              <a:t>35</a:t>
            </a:r>
          </a:p>
        </p:txBody>
      </p:sp>
      <p:sp>
        <p:nvSpPr>
          <p:cNvPr id="12" name="TextBox 11"/>
          <p:cNvSpPr txBox="1"/>
          <p:nvPr/>
        </p:nvSpPr>
        <p:spPr>
          <a:xfrm>
            <a:off x="585216" y="2450592"/>
            <a:ext cx="2441448" cy="256032"/>
          </a:xfrm>
          <a:prstGeom prst="rect">
            <a:avLst/>
          </a:prstGeom>
          <a:noFill/>
        </p:spPr>
        <p:txBody>
          <a:bodyPr wrap="square" anchor="t"/>
          <a:lstStyle/>
          <a:p>
            <a:pPr algn="l"/>
            <a:r>
              <a:rPr sz="1200" b="1">
                <a:solidFill>
                  <a:srgbClr val="4A5568"/>
                </a:solidFill>
                <a:latin typeface="Calibri"/>
                <a:ea typeface="Microsoft YaHei"/>
              </a:rPr>
              <a:t>亿美元</a:t>
            </a:r>
          </a:p>
        </p:txBody>
      </p:sp>
      <p:sp>
        <p:nvSpPr>
          <p:cNvPr id="13" name="TextBox 12"/>
          <p:cNvSpPr txBox="1"/>
          <p:nvPr/>
        </p:nvSpPr>
        <p:spPr>
          <a:xfrm>
            <a:off x="585216" y="2724912"/>
            <a:ext cx="2441448" cy="822960"/>
          </a:xfrm>
          <a:prstGeom prst="rect">
            <a:avLst/>
          </a:prstGeom>
          <a:noFill/>
        </p:spPr>
        <p:txBody>
          <a:bodyPr wrap="square" anchor="t"/>
          <a:lstStyle/>
          <a:p>
            <a:pPr algn="l"/>
            <a:r>
              <a:rPr sz="1200" b="0">
                <a:solidFill>
                  <a:srgbClr val="1A1A1A"/>
                </a:solidFill>
                <a:latin typeface="Calibri"/>
                <a:ea typeface="Microsoft YaHei"/>
              </a:rPr>
              <a:t>英伟达认购联发科可转债</a:t>
            </a:r>
          </a:p>
        </p:txBody>
      </p:sp>
      <p:sp>
        <p:nvSpPr>
          <p:cNvPr id="14" name="Rounded Rectangle 13"/>
          <p:cNvSpPr/>
          <p:nvPr/>
        </p:nvSpPr>
        <p:spPr>
          <a:xfrm>
            <a:off x="3291840" y="1755648"/>
            <a:ext cx="2697480" cy="196596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9856" y="1847088"/>
            <a:ext cx="2441448" cy="640080"/>
          </a:xfrm>
          <a:prstGeom prst="rect">
            <a:avLst/>
          </a:prstGeom>
          <a:noFill/>
        </p:spPr>
        <p:txBody>
          <a:bodyPr wrap="square" anchor="t"/>
          <a:lstStyle/>
          <a:p>
            <a:pPr algn="l"/>
            <a:r>
              <a:rPr sz="2800" b="1">
                <a:solidFill>
                  <a:srgbClr val="C41E3A"/>
                </a:solidFill>
                <a:latin typeface="Cambria"/>
                <a:ea typeface="Cambria"/>
              </a:rPr>
              <a:t>2000</a:t>
            </a:r>
          </a:p>
        </p:txBody>
      </p:sp>
      <p:sp>
        <p:nvSpPr>
          <p:cNvPr id="16" name="TextBox 15"/>
          <p:cNvSpPr txBox="1"/>
          <p:nvPr/>
        </p:nvSpPr>
        <p:spPr>
          <a:xfrm>
            <a:off x="3419856" y="2450592"/>
            <a:ext cx="2441448" cy="256032"/>
          </a:xfrm>
          <a:prstGeom prst="rect">
            <a:avLst/>
          </a:prstGeom>
          <a:noFill/>
        </p:spPr>
        <p:txBody>
          <a:bodyPr wrap="square" anchor="t"/>
          <a:lstStyle/>
          <a:p>
            <a:pPr algn="l"/>
            <a:r>
              <a:rPr sz="1200" b="1">
                <a:solidFill>
                  <a:srgbClr val="4A5568"/>
                </a:solidFill>
                <a:latin typeface="Calibri"/>
                <a:ea typeface="Microsoft YaHei"/>
              </a:rPr>
              <a:t>家</a:t>
            </a:r>
          </a:p>
        </p:txBody>
      </p:sp>
      <p:sp>
        <p:nvSpPr>
          <p:cNvPr id="17" name="TextBox 16"/>
          <p:cNvSpPr txBox="1"/>
          <p:nvPr/>
        </p:nvSpPr>
        <p:spPr>
          <a:xfrm>
            <a:off x="3419856" y="2724912"/>
            <a:ext cx="2441448" cy="822960"/>
          </a:xfrm>
          <a:prstGeom prst="rect">
            <a:avLst/>
          </a:prstGeom>
          <a:noFill/>
        </p:spPr>
        <p:txBody>
          <a:bodyPr wrap="square" anchor="t"/>
          <a:lstStyle/>
          <a:p>
            <a:pPr algn="l"/>
            <a:r>
              <a:rPr sz="1200" b="0">
                <a:solidFill>
                  <a:srgbClr val="1A1A1A"/>
                </a:solidFill>
                <a:latin typeface="Calibri"/>
                <a:ea typeface="Microsoft YaHei"/>
              </a:rPr>
              <a:t>工信部服务商资源池年底目标</a:t>
            </a:r>
          </a:p>
        </p:txBody>
      </p:sp>
      <p:sp>
        <p:nvSpPr>
          <p:cNvPr id="18" name="Rounded Rectangle 17"/>
          <p:cNvSpPr/>
          <p:nvPr/>
        </p:nvSpPr>
        <p:spPr>
          <a:xfrm>
            <a:off x="6126480" y="1755648"/>
            <a:ext cx="2697480" cy="196596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1847088"/>
            <a:ext cx="2441448" cy="640080"/>
          </a:xfrm>
          <a:prstGeom prst="rect">
            <a:avLst/>
          </a:prstGeom>
          <a:noFill/>
        </p:spPr>
        <p:txBody>
          <a:bodyPr wrap="square" anchor="t"/>
          <a:lstStyle/>
          <a:p>
            <a:pPr algn="l"/>
            <a:r>
              <a:rPr sz="2800" b="1">
                <a:solidFill>
                  <a:srgbClr val="C41E3A"/>
                </a:solidFill>
                <a:latin typeface="Cambria"/>
                <a:ea typeface="Cambria"/>
              </a:rPr>
              <a:t>15</a:t>
            </a:r>
          </a:p>
        </p:txBody>
      </p:sp>
      <p:sp>
        <p:nvSpPr>
          <p:cNvPr id="20" name="TextBox 19"/>
          <p:cNvSpPr txBox="1"/>
          <p:nvPr/>
        </p:nvSpPr>
        <p:spPr>
          <a:xfrm>
            <a:off x="6254496" y="2450592"/>
            <a:ext cx="2441448" cy="256032"/>
          </a:xfrm>
          <a:prstGeom prst="rect">
            <a:avLst/>
          </a:prstGeom>
          <a:noFill/>
        </p:spPr>
        <p:txBody>
          <a:bodyPr wrap="square" anchor="t"/>
          <a:lstStyle/>
          <a:p>
            <a:pPr algn="l"/>
            <a:r>
              <a:rPr sz="1200" b="1">
                <a:solidFill>
                  <a:srgbClr val="4A5568"/>
                </a:solidFill>
                <a:latin typeface="Calibri"/>
                <a:ea typeface="Microsoft YaHei"/>
              </a:rPr>
              <a:t>年</a:t>
            </a:r>
          </a:p>
        </p:txBody>
      </p:sp>
      <p:sp>
        <p:nvSpPr>
          <p:cNvPr id="21" name="TextBox 20"/>
          <p:cNvSpPr txBox="1"/>
          <p:nvPr/>
        </p:nvSpPr>
        <p:spPr>
          <a:xfrm>
            <a:off x="6254496" y="2724912"/>
            <a:ext cx="2441448" cy="822960"/>
          </a:xfrm>
          <a:prstGeom prst="rect">
            <a:avLst/>
          </a:prstGeom>
          <a:noFill/>
        </p:spPr>
        <p:txBody>
          <a:bodyPr wrap="square" anchor="t"/>
          <a:lstStyle/>
          <a:p>
            <a:pPr algn="l"/>
            <a:r>
              <a:rPr sz="1200" b="0">
                <a:solidFill>
                  <a:srgbClr val="1A1A1A"/>
                </a:solidFill>
                <a:latin typeface="Calibri"/>
                <a:ea typeface="Microsoft YaHei"/>
              </a:rPr>
              <a:t>库克任苹果CEO的最后一天</a:t>
            </a:r>
          </a:p>
        </p:txBody>
      </p:sp>
      <p:sp>
        <p:nvSpPr>
          <p:cNvPr id="22" name="Rounded Rectangle 21"/>
          <p:cNvSpPr/>
          <p:nvPr/>
        </p:nvSpPr>
        <p:spPr>
          <a:xfrm>
            <a:off x="8961120" y="1755648"/>
            <a:ext cx="2697480" cy="1965960"/>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9136" y="1847088"/>
            <a:ext cx="2441448" cy="640080"/>
          </a:xfrm>
          <a:prstGeom prst="rect">
            <a:avLst/>
          </a:prstGeom>
          <a:noFill/>
        </p:spPr>
        <p:txBody>
          <a:bodyPr wrap="square" anchor="t"/>
          <a:lstStyle/>
          <a:p>
            <a:pPr algn="l"/>
            <a:r>
              <a:rPr sz="2800" b="1">
                <a:solidFill>
                  <a:srgbClr val="C41E3A"/>
                </a:solidFill>
                <a:latin typeface="Cambria"/>
                <a:ea typeface="Cambria"/>
              </a:rPr>
              <a:t>3</a:t>
            </a:r>
          </a:p>
        </p:txBody>
      </p:sp>
      <p:sp>
        <p:nvSpPr>
          <p:cNvPr id="24" name="TextBox 23"/>
          <p:cNvSpPr txBox="1"/>
          <p:nvPr/>
        </p:nvSpPr>
        <p:spPr>
          <a:xfrm>
            <a:off x="9089136" y="2450592"/>
            <a:ext cx="2441448" cy="256032"/>
          </a:xfrm>
          <a:prstGeom prst="rect">
            <a:avLst/>
          </a:prstGeom>
          <a:noFill/>
        </p:spPr>
        <p:txBody>
          <a:bodyPr wrap="square" anchor="t"/>
          <a:lstStyle/>
          <a:p>
            <a:pPr algn="l"/>
            <a:r>
              <a:rPr sz="1200" b="1">
                <a:solidFill>
                  <a:srgbClr val="4A5568"/>
                </a:solidFill>
                <a:latin typeface="Calibri"/>
                <a:ea typeface="Microsoft YaHei"/>
              </a:rPr>
              <a:t>分钟</a:t>
            </a:r>
          </a:p>
        </p:txBody>
      </p:sp>
      <p:sp>
        <p:nvSpPr>
          <p:cNvPr id="25" name="TextBox 24"/>
          <p:cNvSpPr txBox="1"/>
          <p:nvPr/>
        </p:nvSpPr>
        <p:spPr>
          <a:xfrm>
            <a:off x="9089136" y="2724912"/>
            <a:ext cx="2441448" cy="822960"/>
          </a:xfrm>
          <a:prstGeom prst="rect">
            <a:avLst/>
          </a:prstGeom>
          <a:noFill/>
        </p:spPr>
        <p:txBody>
          <a:bodyPr wrap="square" anchor="t"/>
          <a:lstStyle/>
          <a:p>
            <a:pPr algn="l"/>
            <a:r>
              <a:rPr sz="1200" b="0">
                <a:solidFill>
                  <a:srgbClr val="1A1A1A"/>
                </a:solidFill>
                <a:latin typeface="Calibri"/>
                <a:ea typeface="Microsoft YaHei"/>
              </a:rPr>
              <a:t>罗曼首次中途修正点火</a:t>
            </a:r>
          </a:p>
        </p:txBody>
      </p:sp>
      <p:sp>
        <p:nvSpPr>
          <p:cNvPr id="26" name="Rounded Rectangle 25"/>
          <p:cNvSpPr/>
          <p:nvPr/>
        </p:nvSpPr>
        <p:spPr>
          <a:xfrm>
            <a:off x="457200" y="3913632"/>
            <a:ext cx="11274552" cy="2395728"/>
          </a:xfrm>
          <a:prstGeom prst="roundRect">
            <a:avLst>
              <a:gd name="adj" fmla="val 6000"/>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4041648"/>
            <a:ext cx="10881360" cy="256032"/>
          </a:xfrm>
          <a:prstGeom prst="rect">
            <a:avLst/>
          </a:prstGeom>
          <a:noFill/>
        </p:spPr>
        <p:txBody>
          <a:bodyPr wrap="square" anchor="t"/>
          <a:lstStyle/>
          <a:p>
            <a:pPr algn="l"/>
            <a:r>
              <a:rPr sz="1200" b="1">
                <a:solidFill>
                  <a:srgbClr val="C41E3A"/>
                </a:solidFill>
                <a:latin typeface="Calibri"/>
                <a:ea typeface="Microsoft YaHei"/>
              </a:rPr>
              <a:t>编辑观察 · 排除清单</a:t>
            </a:r>
          </a:p>
        </p:txBody>
      </p:sp>
      <p:sp>
        <p:nvSpPr>
          <p:cNvPr id="28" name="TextBox 27"/>
          <p:cNvSpPr txBox="1"/>
          <p:nvPr/>
        </p:nvSpPr>
        <p:spPr>
          <a:xfrm>
            <a:off x="658368" y="4370832"/>
            <a:ext cx="10881360" cy="1737360"/>
          </a:xfrm>
          <a:prstGeom prst="rect">
            <a:avLst/>
          </a:prstGeom>
          <a:noFill/>
        </p:spPr>
        <p:txBody>
          <a:bodyPr wrap="square" anchor="t"/>
          <a:lstStyle/>
          <a:p>
            <a:pPr algn="l"/>
            <a:r>
              <a:rPr sz="1400" b="0">
                <a:solidFill>
                  <a:srgbClr val="F7F4EF"/>
                </a:solidFill>
                <a:latin typeface="Calibri"/>
                <a:ea typeface="Microsoft YaHei"/>
              </a:rPr>
              <a:t>未混入：地月双向激光通信（中科院26日宣布，27–31日复述）；OpenAI Jalapeño跑分（Hot Chips 25日）；阿里 Qwen3.8-Flash（26日开源）；腾讯混元 Hy4 Preview（28日）；罗曼望远镜发射本身（30日已见昨刊）。工信部专项成文27日、31日公开发布，按首发日收入。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11247120" cy="502920"/>
          </a:xfrm>
          <a:prstGeom prst="rect">
            <a:avLst/>
          </a:prstGeom>
          <a:noFill/>
        </p:spPr>
        <p:txBody>
          <a:bodyPr wrap="square" anchor="t"/>
          <a:lstStyle/>
          <a:p>
            <a:pPr algn="l"/>
            <a:r>
              <a:rPr sz="3600" b="1">
                <a:solidFill>
                  <a:srgbClr val="1A1A1A"/>
                </a:solidFill>
                <a:latin typeface="Cambria"/>
                <a:ea typeface="Cambria"/>
              </a:rPr>
              <a:t>机架与名册</a:t>
            </a:r>
          </a:p>
        </p:txBody>
      </p:sp>
      <p:sp>
        <p:nvSpPr>
          <p:cNvPr id="8" name="TextBox 7"/>
          <p:cNvSpPr txBox="1"/>
          <p:nvPr/>
        </p:nvSpPr>
        <p:spPr>
          <a:xfrm>
            <a:off x="457200" y="1115568"/>
            <a:ext cx="11247120" cy="292608"/>
          </a:xfrm>
          <a:prstGeom prst="rect">
            <a:avLst/>
          </a:prstGeom>
          <a:noFill/>
        </p:spPr>
        <p:txBody>
          <a:bodyPr wrap="square" anchor="t"/>
          <a:lstStyle/>
          <a:p>
            <a:pPr algn="l"/>
            <a:r>
              <a:rPr sz="1400" b="0">
                <a:solidFill>
                  <a:srgbClr val="4A5568"/>
                </a:solidFill>
                <a:latin typeface="Calibri"/>
                <a:ea typeface="Microsoft YaHei"/>
              </a:rPr>
              <a:t>一端是把定制硅片锁进自家互联，一端是给应用交付队伍立国家时间表。</a:t>
            </a:r>
          </a:p>
        </p:txBody>
      </p:sp>
      <p:sp>
        <p:nvSpPr>
          <p:cNvPr id="9" name="Rounded Rectangle 8"/>
          <p:cNvSpPr/>
          <p:nvPr/>
        </p:nvSpPr>
        <p:spPr>
          <a:xfrm>
            <a:off x="45720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0784"/>
            <a:ext cx="4937760" cy="256032"/>
          </a:xfrm>
          <a:prstGeom prst="rect">
            <a:avLst/>
          </a:prstGeom>
          <a:noFill/>
        </p:spPr>
        <p:txBody>
          <a:bodyPr wrap="square" anchor="t"/>
          <a:lstStyle/>
          <a:p>
            <a:pPr algn="l"/>
            <a:r>
              <a:rPr sz="1100" b="1">
                <a:solidFill>
                  <a:srgbClr val="C41E3A"/>
                </a:solidFill>
                <a:latin typeface="Calibri"/>
                <a:ea typeface="Microsoft YaHei"/>
              </a:rPr>
              <a:t>06　芯片 · 圣克拉拉</a:t>
            </a:r>
          </a:p>
        </p:txBody>
      </p:sp>
      <p:sp>
        <p:nvSpPr>
          <p:cNvPr id="12" name="TextBox 11"/>
          <p:cNvSpPr txBox="1"/>
          <p:nvPr/>
        </p:nvSpPr>
        <p:spPr>
          <a:xfrm>
            <a:off x="658368" y="1975104"/>
            <a:ext cx="5065776" cy="868680"/>
          </a:xfrm>
          <a:prstGeom prst="rect">
            <a:avLst/>
          </a:prstGeom>
          <a:noFill/>
        </p:spPr>
        <p:txBody>
          <a:bodyPr wrap="square" anchor="t"/>
          <a:lstStyle/>
          <a:p>
            <a:pPr algn="l"/>
            <a:r>
              <a:rPr sz="2200" b="1">
                <a:solidFill>
                  <a:srgbClr val="1A1A1A"/>
                </a:solidFill>
                <a:latin typeface="Cambria"/>
                <a:ea typeface="Cambria"/>
              </a:rPr>
              <a:t>英伟达35亿美元入股联发科，开放NVLink Fusion</a:t>
            </a:r>
          </a:p>
        </p:txBody>
      </p:sp>
      <p:sp>
        <p:nvSpPr>
          <p:cNvPr id="13" name="TextBox 12"/>
          <p:cNvSpPr txBox="1"/>
          <p:nvPr/>
        </p:nvSpPr>
        <p:spPr>
          <a:xfrm>
            <a:off x="658368" y="2834640"/>
            <a:ext cx="5065776" cy="292608"/>
          </a:xfrm>
          <a:prstGeom prst="rect">
            <a:avLst/>
          </a:prstGeom>
          <a:noFill/>
        </p:spPr>
        <p:txBody>
          <a:bodyPr wrap="square" anchor="t"/>
          <a:lstStyle/>
          <a:p>
            <a:pPr algn="l"/>
            <a:r>
              <a:rPr sz="1100" b="0">
                <a:solidFill>
                  <a:srgbClr val="4A5568"/>
                </a:solidFill>
                <a:latin typeface="Calibri"/>
                <a:ea typeface="Microsoft YaHei"/>
              </a:rPr>
              <a:t>来源：NVIDIA新闻室 / TechCrunch  ·  nvidia.com</a:t>
            </a:r>
          </a:p>
        </p:txBody>
      </p:sp>
      <p:sp>
        <p:nvSpPr>
          <p:cNvPr id="14" name="TextBox 13"/>
          <p:cNvSpPr txBox="1"/>
          <p:nvPr/>
        </p:nvSpPr>
        <p:spPr>
          <a:xfrm>
            <a:off x="658368" y="3127248"/>
            <a:ext cx="5065776" cy="1417320"/>
          </a:xfrm>
          <a:prstGeom prst="rect">
            <a:avLst/>
          </a:prstGeom>
          <a:noFill/>
        </p:spPr>
        <p:txBody>
          <a:bodyPr wrap="square" anchor="t"/>
          <a:lstStyle/>
          <a:p>
            <a:pPr algn="l"/>
            <a:r>
              <a:rPr sz="1300" b="0">
                <a:solidFill>
                  <a:srgbClr val="1A1A1A"/>
                </a:solidFill>
                <a:latin typeface="Calibri"/>
                <a:ea typeface="Microsoft YaHei"/>
              </a:rPr>
              <a:t>英伟达31日宣布认购联发科35亿美元可转债，并深化云端、本地AI与汽车合作。联发科将采用NVLink Fusion，为超大规模客户提供把定制XPU接入英伟达机架级AI工厂的预验证路径。双方还将续推RTX Spark与智能座舱。</a:t>
            </a:r>
          </a:p>
        </p:txBody>
      </p:sp>
      <p:sp>
        <p:nvSpPr>
          <p:cNvPr id="15" name="Rectangle 14"/>
          <p:cNvSpPr/>
          <p:nvPr/>
        </p:nvSpPr>
        <p:spPr>
          <a:xfrm>
            <a:off x="65836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17" name="TextBox 16"/>
          <p:cNvSpPr txBox="1"/>
          <p:nvPr/>
        </p:nvSpPr>
        <p:spPr>
          <a:xfrm>
            <a:off x="658368" y="5358384"/>
            <a:ext cx="5065776" cy="804672"/>
          </a:xfrm>
          <a:prstGeom prst="rect">
            <a:avLst/>
          </a:prstGeom>
          <a:noFill/>
        </p:spPr>
        <p:txBody>
          <a:bodyPr wrap="square" anchor="t"/>
          <a:lstStyle/>
          <a:p>
            <a:pPr algn="l"/>
            <a:r>
              <a:rPr sz="1200" b="0">
                <a:solidFill>
                  <a:srgbClr val="4A5568"/>
                </a:solidFill>
                <a:latin typeface="Calibri"/>
                <a:ea typeface="Microsoft YaHei"/>
              </a:rPr>
              <a:t>在客户自研芯片加速时，英伟达用互联与资本把定制硅片锁进自家机架生态。</a:t>
            </a:r>
          </a:p>
        </p:txBody>
      </p:sp>
      <p:sp>
        <p:nvSpPr>
          <p:cNvPr id="18" name="Rounded Rectangle 17"/>
          <p:cNvSpPr/>
          <p:nvPr/>
        </p:nvSpPr>
        <p:spPr>
          <a:xfrm>
            <a:off x="626364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6480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700784"/>
            <a:ext cx="4937760" cy="256032"/>
          </a:xfrm>
          <a:prstGeom prst="rect">
            <a:avLst/>
          </a:prstGeom>
          <a:noFill/>
        </p:spPr>
        <p:txBody>
          <a:bodyPr wrap="square" anchor="t"/>
          <a:lstStyle/>
          <a:p>
            <a:pPr algn="l"/>
            <a:r>
              <a:rPr sz="1100" b="1">
                <a:solidFill>
                  <a:srgbClr val="C41E3A"/>
                </a:solidFill>
                <a:latin typeface="Calibri"/>
                <a:ea typeface="Microsoft YaHei"/>
              </a:rPr>
              <a:t>07　产业政策 · 北京</a:t>
            </a:r>
          </a:p>
        </p:txBody>
      </p:sp>
      <p:sp>
        <p:nvSpPr>
          <p:cNvPr id="21" name="TextBox 20"/>
          <p:cNvSpPr txBox="1"/>
          <p:nvPr/>
        </p:nvSpPr>
        <p:spPr>
          <a:xfrm>
            <a:off x="6464808" y="1975104"/>
            <a:ext cx="5065776" cy="868680"/>
          </a:xfrm>
          <a:prstGeom prst="rect">
            <a:avLst/>
          </a:prstGeom>
          <a:noFill/>
        </p:spPr>
        <p:txBody>
          <a:bodyPr wrap="square" anchor="t"/>
          <a:lstStyle/>
          <a:p>
            <a:pPr algn="l"/>
            <a:r>
              <a:rPr sz="2200" b="1">
                <a:solidFill>
                  <a:srgbClr val="1A1A1A"/>
                </a:solidFill>
                <a:latin typeface="Cambria"/>
                <a:ea typeface="Cambria"/>
              </a:rPr>
              <a:t>工信部启动人工智能应用服务商培育专项</a:t>
            </a:r>
          </a:p>
        </p:txBody>
      </p:sp>
      <p:sp>
        <p:nvSpPr>
          <p:cNvPr id="22" name="TextBox 21"/>
          <p:cNvSpPr txBox="1"/>
          <p:nvPr/>
        </p:nvSpPr>
        <p:spPr>
          <a:xfrm>
            <a:off x="6464808" y="2834640"/>
            <a:ext cx="5065776" cy="292608"/>
          </a:xfrm>
          <a:prstGeom prst="rect">
            <a:avLst/>
          </a:prstGeom>
          <a:noFill/>
        </p:spPr>
        <p:txBody>
          <a:bodyPr wrap="square" anchor="t"/>
          <a:lstStyle/>
          <a:p>
            <a:pPr algn="l"/>
            <a:r>
              <a:rPr sz="1100" b="0">
                <a:solidFill>
                  <a:srgbClr val="4A5568"/>
                </a:solidFill>
                <a:latin typeface="Calibri"/>
                <a:ea typeface="Microsoft YaHei"/>
              </a:rPr>
              <a:t>来源：工信部办公厅  ·  gxj.gz.gov.cn</a:t>
            </a:r>
          </a:p>
        </p:txBody>
      </p:sp>
      <p:sp>
        <p:nvSpPr>
          <p:cNvPr id="23" name="TextBox 22"/>
          <p:cNvSpPr txBox="1"/>
          <p:nvPr/>
        </p:nvSpPr>
        <p:spPr>
          <a:xfrm>
            <a:off x="6464808" y="3127248"/>
            <a:ext cx="5065776" cy="1417320"/>
          </a:xfrm>
          <a:prstGeom prst="rect">
            <a:avLst/>
          </a:prstGeom>
          <a:noFill/>
        </p:spPr>
        <p:txBody>
          <a:bodyPr wrap="square" anchor="t"/>
          <a:lstStyle/>
          <a:p>
            <a:pPr algn="l"/>
            <a:r>
              <a:rPr sz="1300" b="0">
                <a:solidFill>
                  <a:srgbClr val="1A1A1A"/>
                </a:solidFill>
                <a:latin typeface="Calibri"/>
                <a:ea typeface="Microsoft YaHei"/>
              </a:rPr>
              <a:t>工信厅科函〔2026〕414号31日公开发布：到2026年底全国服务商资源池突破2000家，2027年底不少于3000家。要求12月1日前报送档案，每地不少于10个「应用服务团」。重点覆盖软硬件适配、多模型协同与安全治理。</a:t>
            </a:r>
          </a:p>
        </p:txBody>
      </p:sp>
      <p:sp>
        <p:nvSpPr>
          <p:cNvPr id="24" name="Rectangle 23"/>
          <p:cNvSpPr/>
          <p:nvPr/>
        </p:nvSpPr>
        <p:spPr>
          <a:xfrm>
            <a:off x="646480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26" name="TextBox 25"/>
          <p:cNvSpPr txBox="1"/>
          <p:nvPr/>
        </p:nvSpPr>
        <p:spPr>
          <a:xfrm>
            <a:off x="6464808" y="5358384"/>
            <a:ext cx="5065776" cy="804672"/>
          </a:xfrm>
          <a:prstGeom prst="rect">
            <a:avLst/>
          </a:prstGeom>
          <a:noFill/>
        </p:spPr>
        <p:txBody>
          <a:bodyPr wrap="square" anchor="t"/>
          <a:lstStyle/>
          <a:p>
            <a:pPr algn="l"/>
            <a:r>
              <a:rPr sz="1200" b="0">
                <a:solidFill>
                  <a:srgbClr val="4A5568"/>
                </a:solidFill>
                <a:latin typeface="Calibri"/>
                <a:ea typeface="Microsoft YaHei"/>
              </a:rPr>
              <a:t>把「人工智能+」从模型竞赛落到可考核的交付队伍，应用层开始有国家名册与时间表。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1A1A1A"/>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4A5568"/>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晨刊</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
            <a:ext cx="11247120" cy="502920"/>
          </a:xfrm>
          <a:prstGeom prst="rect">
            <a:avLst/>
          </a:prstGeom>
          <a:noFill/>
        </p:spPr>
        <p:txBody>
          <a:bodyPr wrap="square" anchor="t"/>
          <a:lstStyle/>
          <a:p>
            <a:pPr algn="l"/>
            <a:r>
              <a:rPr sz="3600" b="1">
                <a:solidFill>
                  <a:srgbClr val="1A1A1A"/>
                </a:solidFill>
                <a:latin typeface="Cambria"/>
                <a:ea typeface="Cambria"/>
              </a:rPr>
              <a:t>交接与航向</a:t>
            </a:r>
          </a:p>
        </p:txBody>
      </p:sp>
      <p:sp>
        <p:nvSpPr>
          <p:cNvPr id="8" name="TextBox 7"/>
          <p:cNvSpPr txBox="1"/>
          <p:nvPr/>
        </p:nvSpPr>
        <p:spPr>
          <a:xfrm>
            <a:off x="457200" y="1115568"/>
            <a:ext cx="11247120" cy="292608"/>
          </a:xfrm>
          <a:prstGeom prst="rect">
            <a:avLst/>
          </a:prstGeom>
          <a:noFill/>
        </p:spPr>
        <p:txBody>
          <a:bodyPr wrap="square" anchor="t"/>
          <a:lstStyle/>
          <a:p>
            <a:pPr algn="l"/>
            <a:r>
              <a:rPr sz="1400" b="0">
                <a:solidFill>
                  <a:srgbClr val="4A5568"/>
                </a:solidFill>
                <a:latin typeface="Calibri"/>
                <a:ea typeface="Microsoft YaHei"/>
              </a:rPr>
              <a:t>库比蒂诺换主事人；日地L2校正第一枪。</a:t>
            </a:r>
          </a:p>
        </p:txBody>
      </p:sp>
      <p:sp>
        <p:nvSpPr>
          <p:cNvPr id="9" name="Rounded Rectangle 8"/>
          <p:cNvSpPr/>
          <p:nvPr/>
        </p:nvSpPr>
        <p:spPr>
          <a:xfrm>
            <a:off x="45720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00784"/>
            <a:ext cx="4937760" cy="256032"/>
          </a:xfrm>
          <a:prstGeom prst="rect">
            <a:avLst/>
          </a:prstGeom>
          <a:noFill/>
        </p:spPr>
        <p:txBody>
          <a:bodyPr wrap="square" anchor="t"/>
          <a:lstStyle/>
          <a:p>
            <a:pPr algn="l"/>
            <a:r>
              <a:rPr sz="1100" b="1">
                <a:solidFill>
                  <a:srgbClr val="C41E3A"/>
                </a:solidFill>
                <a:latin typeface="Calibri"/>
                <a:ea typeface="Microsoft YaHei"/>
              </a:rPr>
              <a:t>08　互联网 · 库比蒂诺</a:t>
            </a:r>
          </a:p>
        </p:txBody>
      </p:sp>
      <p:sp>
        <p:nvSpPr>
          <p:cNvPr id="12" name="TextBox 11"/>
          <p:cNvSpPr txBox="1"/>
          <p:nvPr/>
        </p:nvSpPr>
        <p:spPr>
          <a:xfrm>
            <a:off x="658368" y="1975104"/>
            <a:ext cx="5065776" cy="868680"/>
          </a:xfrm>
          <a:prstGeom prst="rect">
            <a:avLst/>
          </a:prstGeom>
          <a:noFill/>
        </p:spPr>
        <p:txBody>
          <a:bodyPr wrap="square" anchor="t"/>
          <a:lstStyle/>
          <a:p>
            <a:pPr algn="l"/>
            <a:r>
              <a:rPr sz="2200" b="1">
                <a:solidFill>
                  <a:srgbClr val="1A1A1A"/>
                </a:solidFill>
                <a:latin typeface="Cambria"/>
                <a:ea typeface="Cambria"/>
              </a:rPr>
              <a:t>库克卸任苹果CEO前最后一天</a:t>
            </a:r>
          </a:p>
        </p:txBody>
      </p:sp>
      <p:sp>
        <p:nvSpPr>
          <p:cNvPr id="13" name="TextBox 12"/>
          <p:cNvSpPr txBox="1"/>
          <p:nvPr/>
        </p:nvSpPr>
        <p:spPr>
          <a:xfrm>
            <a:off x="658368" y="2834640"/>
            <a:ext cx="5065776" cy="292608"/>
          </a:xfrm>
          <a:prstGeom prst="rect">
            <a:avLst/>
          </a:prstGeom>
          <a:noFill/>
        </p:spPr>
        <p:txBody>
          <a:bodyPr wrap="square" anchor="t"/>
          <a:lstStyle/>
          <a:p>
            <a:pPr algn="l"/>
            <a:r>
              <a:rPr sz="1100" b="0">
                <a:solidFill>
                  <a:srgbClr val="4A5568"/>
                </a:solidFill>
                <a:latin typeface="Calibri"/>
                <a:ea typeface="Microsoft YaHei"/>
              </a:rPr>
              <a:t>来源：9to5Mac / 华盛顿观察家报  ·  9to5mac.com</a:t>
            </a:r>
          </a:p>
        </p:txBody>
      </p:sp>
      <p:sp>
        <p:nvSpPr>
          <p:cNvPr id="14" name="TextBox 13"/>
          <p:cNvSpPr txBox="1"/>
          <p:nvPr/>
        </p:nvSpPr>
        <p:spPr>
          <a:xfrm>
            <a:off x="658368" y="3127248"/>
            <a:ext cx="5065776" cy="1417320"/>
          </a:xfrm>
          <a:prstGeom prst="rect">
            <a:avLst/>
          </a:prstGeom>
          <a:noFill/>
        </p:spPr>
        <p:txBody>
          <a:bodyPr wrap="square" anchor="t"/>
          <a:lstStyle/>
          <a:p>
            <a:pPr algn="l"/>
            <a:r>
              <a:rPr sz="1300" b="0">
                <a:solidFill>
                  <a:srgbClr val="1A1A1A"/>
                </a:solidFill>
                <a:latin typeface="Calibri"/>
                <a:ea typeface="Microsoft YaHei"/>
              </a:rPr>
              <a:t>8月31日是蒂姆·库克任苹果CEO的最后一天。硬件工程高级副总裁约翰·特纳斯9月1日接任，库克转任董事会执行主席，继续对接白宫与中国政府。4月已宣布交接。特纳斯将主持9月9日秋季发布会，库克不登台。</a:t>
            </a:r>
          </a:p>
        </p:txBody>
      </p:sp>
      <p:sp>
        <p:nvSpPr>
          <p:cNvPr id="15" name="Rectangle 14"/>
          <p:cNvSpPr/>
          <p:nvPr/>
        </p:nvSpPr>
        <p:spPr>
          <a:xfrm>
            <a:off x="65836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17" name="TextBox 16"/>
          <p:cNvSpPr txBox="1"/>
          <p:nvPr/>
        </p:nvSpPr>
        <p:spPr>
          <a:xfrm>
            <a:off x="658368" y="5358384"/>
            <a:ext cx="5065776" cy="804672"/>
          </a:xfrm>
          <a:prstGeom prst="rect">
            <a:avLst/>
          </a:prstGeom>
          <a:noFill/>
        </p:spPr>
        <p:txBody>
          <a:bodyPr wrap="square" anchor="t"/>
          <a:lstStyle/>
          <a:p>
            <a:pPr algn="l"/>
            <a:r>
              <a:rPr sz="1200" b="0">
                <a:solidFill>
                  <a:srgbClr val="4A5568"/>
                </a:solidFill>
                <a:latin typeface="Calibri"/>
                <a:ea typeface="Microsoft YaHei"/>
              </a:rPr>
              <a:t>15年库克时代收官，苹果把下一轮产品和AI补课交给硬件出身的接班人。</a:t>
            </a:r>
          </a:p>
        </p:txBody>
      </p:sp>
      <p:sp>
        <p:nvSpPr>
          <p:cNvPr id="18" name="Rounded Rectangle 17"/>
          <p:cNvSpPr/>
          <p:nvPr/>
        </p:nvSpPr>
        <p:spPr>
          <a:xfrm>
            <a:off x="6263640" y="1536192"/>
            <a:ext cx="5468112" cy="4773168"/>
          </a:xfrm>
          <a:prstGeom prst="roundRect">
            <a:avLst>
              <a:gd name="adj" fmla="val 6000"/>
            </a:avLst>
          </a:prstGeom>
          <a:solidFill>
            <a:srgbClr val="FFFCF7"/>
          </a:solidFill>
          <a:ln w="9525">
            <a:solidFill>
              <a:srgbClr val="D6C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64808" y="1755648"/>
            <a:ext cx="100584" cy="100584"/>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700784"/>
            <a:ext cx="4937760" cy="256032"/>
          </a:xfrm>
          <a:prstGeom prst="rect">
            <a:avLst/>
          </a:prstGeom>
          <a:noFill/>
        </p:spPr>
        <p:txBody>
          <a:bodyPr wrap="square" anchor="t"/>
          <a:lstStyle/>
          <a:p>
            <a:pPr algn="l"/>
            <a:r>
              <a:rPr sz="1100" b="1">
                <a:solidFill>
                  <a:srgbClr val="C41E3A"/>
                </a:solidFill>
                <a:latin typeface="Calibri"/>
                <a:ea typeface="Microsoft YaHei"/>
              </a:rPr>
              <a:t>09　科学突破 · 深空</a:t>
            </a:r>
          </a:p>
        </p:txBody>
      </p:sp>
      <p:sp>
        <p:nvSpPr>
          <p:cNvPr id="21" name="TextBox 20"/>
          <p:cNvSpPr txBox="1"/>
          <p:nvPr/>
        </p:nvSpPr>
        <p:spPr>
          <a:xfrm>
            <a:off x="6464808" y="1975104"/>
            <a:ext cx="5065776" cy="868680"/>
          </a:xfrm>
          <a:prstGeom prst="rect">
            <a:avLst/>
          </a:prstGeom>
          <a:noFill/>
        </p:spPr>
        <p:txBody>
          <a:bodyPr wrap="square" anchor="t"/>
          <a:lstStyle/>
          <a:p>
            <a:pPr algn="l"/>
            <a:r>
              <a:rPr sz="2200" b="1">
                <a:solidFill>
                  <a:srgbClr val="1A1A1A"/>
                </a:solidFill>
                <a:latin typeface="Cambria"/>
                <a:ea typeface="Cambria"/>
              </a:rPr>
              <a:t>罗曼望远镜完成首次中途修正点火</a:t>
            </a:r>
          </a:p>
        </p:txBody>
      </p:sp>
      <p:sp>
        <p:nvSpPr>
          <p:cNvPr id="22" name="TextBox 21"/>
          <p:cNvSpPr txBox="1"/>
          <p:nvPr/>
        </p:nvSpPr>
        <p:spPr>
          <a:xfrm>
            <a:off x="6464808" y="2834640"/>
            <a:ext cx="5065776" cy="292608"/>
          </a:xfrm>
          <a:prstGeom prst="rect">
            <a:avLst/>
          </a:prstGeom>
          <a:noFill/>
        </p:spPr>
        <p:txBody>
          <a:bodyPr wrap="square" anchor="t"/>
          <a:lstStyle/>
          <a:p>
            <a:pPr algn="l"/>
            <a:r>
              <a:rPr sz="1100" b="0">
                <a:solidFill>
                  <a:srgbClr val="4A5568"/>
                </a:solidFill>
                <a:latin typeface="Calibri"/>
                <a:ea typeface="Microsoft YaHei"/>
              </a:rPr>
              <a:t>来源：NASA科学博客  ·  science.nasa.gov</a:t>
            </a:r>
          </a:p>
        </p:txBody>
      </p:sp>
      <p:sp>
        <p:nvSpPr>
          <p:cNvPr id="23" name="TextBox 22"/>
          <p:cNvSpPr txBox="1"/>
          <p:nvPr/>
        </p:nvSpPr>
        <p:spPr>
          <a:xfrm>
            <a:off x="6464808" y="3127248"/>
            <a:ext cx="5065776" cy="1417320"/>
          </a:xfrm>
          <a:prstGeom prst="rect">
            <a:avLst/>
          </a:prstGeom>
          <a:noFill/>
        </p:spPr>
        <p:txBody>
          <a:bodyPr wrap="square" anchor="t"/>
          <a:lstStyle/>
          <a:p>
            <a:pPr algn="l"/>
            <a:r>
              <a:rPr sz="1300" b="0">
                <a:solidFill>
                  <a:srgbClr val="1A1A1A"/>
                </a:solidFill>
                <a:latin typeface="Calibri"/>
                <a:ea typeface="Microsoft YaHei"/>
              </a:rPr>
              <a:t>NASA称，美东时间31日12:02，罗曼空间望远镜开始约3分钟中途修正点火，微调飞往日地L2的轨道。这是两次预定修正中的第一次；约100天后入轨，此后约每28天一次位置保持。30日发射已见昨刊，本日不重收。</a:t>
            </a:r>
          </a:p>
        </p:txBody>
      </p:sp>
      <p:sp>
        <p:nvSpPr>
          <p:cNvPr id="24" name="Rectangle 23"/>
          <p:cNvSpPr/>
          <p:nvPr/>
        </p:nvSpPr>
        <p:spPr>
          <a:xfrm>
            <a:off x="6464808" y="5056632"/>
            <a:ext cx="5065776" cy="9144"/>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5120640"/>
            <a:ext cx="5065776" cy="219456"/>
          </a:xfrm>
          <a:prstGeom prst="rect">
            <a:avLst/>
          </a:prstGeom>
          <a:noFill/>
        </p:spPr>
        <p:txBody>
          <a:bodyPr wrap="square" anchor="t"/>
          <a:lstStyle/>
          <a:p>
            <a:pPr algn="l"/>
            <a:r>
              <a:rPr sz="1100" b="1">
                <a:solidFill>
                  <a:srgbClr val="C41E3A"/>
                </a:solidFill>
                <a:latin typeface="Calibri"/>
                <a:ea typeface="Microsoft YaHei"/>
              </a:rPr>
              <a:t>为何重要</a:t>
            </a:r>
          </a:p>
        </p:txBody>
      </p:sp>
      <p:sp>
        <p:nvSpPr>
          <p:cNvPr id="26" name="TextBox 25"/>
          <p:cNvSpPr txBox="1"/>
          <p:nvPr/>
        </p:nvSpPr>
        <p:spPr>
          <a:xfrm>
            <a:off x="6464808" y="5358384"/>
            <a:ext cx="5065776" cy="804672"/>
          </a:xfrm>
          <a:prstGeom prst="rect">
            <a:avLst/>
          </a:prstGeom>
          <a:noFill/>
        </p:spPr>
        <p:txBody>
          <a:bodyPr wrap="square" anchor="t"/>
          <a:lstStyle/>
          <a:p>
            <a:pPr algn="l"/>
            <a:r>
              <a:rPr sz="1200" b="0">
                <a:solidFill>
                  <a:srgbClr val="4A5568"/>
                </a:solidFill>
                <a:latin typeface="Calibri"/>
                <a:ea typeface="Microsoft YaHei"/>
              </a:rPr>
              <a:t>升空次日完成第一次轨道修正，巡天台从「离开地面」进入「对准L2」的工程阶段。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457200" y="201168"/>
            <a:ext cx="3840480" cy="292608"/>
          </a:xfrm>
          <a:prstGeom prst="rect">
            <a:avLst/>
          </a:prstGeom>
          <a:noFill/>
        </p:spPr>
        <p:txBody>
          <a:bodyPr wrap="square" anchor="t"/>
          <a:lstStyle/>
          <a:p>
            <a:pPr algn="l"/>
            <a:r>
              <a:rPr sz="1300" b="1">
                <a:solidFill>
                  <a:srgbClr val="F7F4EF"/>
                </a:solidFill>
                <a:latin typeface="Cambria"/>
                <a:ea typeface="Cambria"/>
              </a:rPr>
              <a:t>每日时政科技简报</a:t>
            </a:r>
          </a:p>
        </p:txBody>
      </p:sp>
      <p:sp>
        <p:nvSpPr>
          <p:cNvPr id="3" name="TextBox 2"/>
          <p:cNvSpPr txBox="1"/>
          <p:nvPr/>
        </p:nvSpPr>
        <p:spPr>
          <a:xfrm>
            <a:off x="4206240" y="201168"/>
            <a:ext cx="5120640" cy="292608"/>
          </a:xfrm>
          <a:prstGeom prst="rect">
            <a:avLst/>
          </a:prstGeom>
          <a:noFill/>
        </p:spPr>
        <p:txBody>
          <a:bodyPr wrap="square" anchor="t"/>
          <a:lstStyle/>
          <a:p>
            <a:pPr algn="ctr"/>
            <a:r>
              <a:rPr sz="1100" b="0">
                <a:solidFill>
                  <a:srgbClr val="C9C2B6"/>
                </a:solidFill>
                <a:latin typeface="Calibri"/>
                <a:ea typeface="Microsoft YaHei"/>
              </a:rPr>
              <a:t>第243期  ·  2026年8月31日  ·  星期一</a:t>
            </a:r>
          </a:p>
        </p:txBody>
      </p:sp>
      <p:sp>
        <p:nvSpPr>
          <p:cNvPr id="4" name="TextBox 3"/>
          <p:cNvSpPr txBox="1"/>
          <p:nvPr/>
        </p:nvSpPr>
        <p:spPr>
          <a:xfrm>
            <a:off x="9509760" y="201168"/>
            <a:ext cx="2194560" cy="292608"/>
          </a:xfrm>
          <a:prstGeom prst="rect">
            <a:avLst/>
          </a:prstGeom>
          <a:noFill/>
        </p:spPr>
        <p:txBody>
          <a:bodyPr wrap="square" anchor="t"/>
          <a:lstStyle/>
          <a:p>
            <a:pPr algn="r"/>
            <a:r>
              <a:rPr sz="1100" b="1">
                <a:solidFill>
                  <a:srgbClr val="C41E3A"/>
                </a:solidFill>
                <a:latin typeface="Calibri"/>
                <a:ea typeface="Microsoft YaHei"/>
              </a:rPr>
              <a:t>09 / 09</a:t>
            </a:r>
          </a:p>
        </p:txBody>
      </p:sp>
      <p:sp>
        <p:nvSpPr>
          <p:cNvPr id="5" name="Rectangle 4"/>
          <p:cNvSpPr/>
          <p:nvPr/>
        </p:nvSpPr>
        <p:spPr>
          <a:xfrm>
            <a:off x="457200" y="493776"/>
            <a:ext cx="11274552" cy="18288"/>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521207"/>
            <a:ext cx="11274552" cy="9144"/>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713232"/>
            <a:ext cx="11247120" cy="566928"/>
          </a:xfrm>
          <a:prstGeom prst="rect">
            <a:avLst/>
          </a:prstGeom>
          <a:noFill/>
        </p:spPr>
        <p:txBody>
          <a:bodyPr wrap="square" anchor="t"/>
          <a:lstStyle/>
          <a:p>
            <a:pPr algn="l"/>
            <a:r>
              <a:rPr sz="3600" b="1">
                <a:solidFill>
                  <a:srgbClr val="F7F4EF"/>
                </a:solidFill>
                <a:latin typeface="Cambria"/>
                <a:ea typeface="Cambria"/>
              </a:rPr>
              <a:t>本日判断</a:t>
            </a:r>
          </a:p>
        </p:txBody>
      </p:sp>
      <p:sp>
        <p:nvSpPr>
          <p:cNvPr id="8" name="TextBox 7"/>
          <p:cNvSpPr txBox="1"/>
          <p:nvPr/>
        </p:nvSpPr>
        <p:spPr>
          <a:xfrm>
            <a:off x="457200" y="1298448"/>
            <a:ext cx="11247120" cy="1051560"/>
          </a:xfrm>
          <a:prstGeom prst="rect">
            <a:avLst/>
          </a:prstGeom>
          <a:noFill/>
        </p:spPr>
        <p:txBody>
          <a:bodyPr wrap="square" anchor="t"/>
          <a:lstStyle/>
          <a:p>
            <a:pPr algn="l"/>
            <a:r>
              <a:rPr sz="1600" b="1">
                <a:solidFill>
                  <a:srgbClr val="F7F4EF"/>
                </a:solidFill>
                <a:latin typeface="Cambria"/>
                <a:ea typeface="Cambria"/>
              </a:rPr>
              <a:t>条约要落纸，免签要问「永久」，救人要先抢通信号，海峡要先打赢叙事。周一不是周日的复述：比什凯克交出两份法律文本，尼泊尔伤亡账本改写，霍尔木兹把清雷与触雷叠在同一天。</a:t>
            </a:r>
          </a:p>
        </p:txBody>
      </p:sp>
      <p:sp>
        <p:nvSpPr>
          <p:cNvPr id="9" name="Rounded Rectangle 8"/>
          <p:cNvSpPr/>
          <p:nvPr/>
        </p:nvSpPr>
        <p:spPr>
          <a:xfrm>
            <a:off x="457200" y="2487168"/>
            <a:ext cx="5468112" cy="2331720"/>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596896"/>
            <a:ext cx="5065776" cy="292608"/>
          </a:xfrm>
          <a:prstGeom prst="rect">
            <a:avLst/>
          </a:prstGeom>
          <a:noFill/>
        </p:spPr>
        <p:txBody>
          <a:bodyPr wrap="square" anchor="t"/>
          <a:lstStyle/>
          <a:p>
            <a:pPr algn="l"/>
            <a:r>
              <a:rPr sz="1200" b="1">
                <a:solidFill>
                  <a:srgbClr val="C41E3A"/>
                </a:solidFill>
                <a:latin typeface="Calibri"/>
                <a:ea typeface="Microsoft YaHei"/>
              </a:rPr>
              <a:t>时政五条</a:t>
            </a:r>
          </a:p>
        </p:txBody>
      </p:sp>
      <p:sp>
        <p:nvSpPr>
          <p:cNvPr id="11" name="TextBox 10"/>
          <p:cNvSpPr txBox="1"/>
          <p:nvPr/>
        </p:nvSpPr>
        <p:spPr>
          <a:xfrm>
            <a:off x="658368" y="2926080"/>
            <a:ext cx="5065776" cy="1737360"/>
          </a:xfrm>
          <a:prstGeom prst="rect">
            <a:avLst/>
          </a:prstGeom>
          <a:noFill/>
        </p:spPr>
        <p:txBody>
          <a:bodyPr wrap="square"/>
          <a:lstStyle/>
          <a:p>
            <a:pPr algn="l">
              <a:spcAft>
                <a:spcPts val="400"/>
              </a:spcAft>
            </a:pPr>
            <a:r>
              <a:rPr sz="1300" b="0">
                <a:solidFill>
                  <a:srgbClr val="F7F4EF"/>
                </a:solidFill>
                <a:latin typeface="Calibri"/>
                <a:ea typeface="Microsoft YaHei"/>
              </a:rPr>
              <a:t>1  中吉签署永久睦邻条约，力推中吉乌铁路</a:t>
            </a:r>
          </a:p>
          <a:p>
            <a:pPr algn="l">
              <a:spcAft>
                <a:spcPts val="400"/>
              </a:spcAft>
            </a:pPr>
            <a:r>
              <a:rPr sz="1300" b="0">
                <a:solidFill>
                  <a:srgbClr val="F7F4EF"/>
                </a:solidFill>
                <a:latin typeface="Calibri"/>
                <a:ea typeface="Microsoft YaHei"/>
              </a:rPr>
              <a:t>2  习近平会见普京，俄方提议免签永久化</a:t>
            </a:r>
          </a:p>
          <a:p>
            <a:pPr algn="l">
              <a:spcAft>
                <a:spcPts val="400"/>
              </a:spcAft>
            </a:pPr>
            <a:r>
              <a:rPr sz="1300" b="0">
                <a:solidFill>
                  <a:srgbClr val="F7F4EF"/>
                </a:solidFill>
                <a:latin typeface="Calibri"/>
                <a:ea typeface="Microsoft YaHei"/>
              </a:rPr>
              <a:t>3  吉隆口岸信号抢通，新堰塞湖基本排空</a:t>
            </a:r>
          </a:p>
          <a:p>
            <a:pPr algn="l">
              <a:spcAft>
                <a:spcPts val="400"/>
              </a:spcAft>
            </a:pPr>
            <a:r>
              <a:rPr sz="1300" b="0">
                <a:solidFill>
                  <a:srgbClr val="F7F4EF"/>
                </a:solidFill>
                <a:latin typeface="Calibri"/>
                <a:ea typeface="Microsoft YaHei"/>
              </a:rPr>
              <a:t>4  尼泊尔洪灾遇难逾900，水电隧道约900人受困</a:t>
            </a:r>
          </a:p>
          <a:p>
            <a:pPr algn="l">
              <a:spcAft>
                <a:spcPts val="400"/>
              </a:spcAft>
            </a:pPr>
            <a:r>
              <a:rPr sz="1300" b="0">
                <a:solidFill>
                  <a:srgbClr val="F7F4EF"/>
                </a:solidFill>
                <a:latin typeface="Calibri"/>
                <a:ea typeface="Microsoft YaHei"/>
              </a:rPr>
              <a:t>5  伊称油轮触雷起火，美军中央司令部否认</a:t>
            </a:r>
          </a:p>
        </p:txBody>
      </p:sp>
      <p:sp>
        <p:nvSpPr>
          <p:cNvPr id="12" name="Rounded Rectangle 11"/>
          <p:cNvSpPr/>
          <p:nvPr/>
        </p:nvSpPr>
        <p:spPr>
          <a:xfrm>
            <a:off x="6263640" y="2487168"/>
            <a:ext cx="5468112" cy="2331720"/>
          </a:xfrm>
          <a:prstGeom prst="roundRect">
            <a:avLst>
              <a:gd name="adj" fmla="val 6000"/>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2596896"/>
            <a:ext cx="5065776" cy="292608"/>
          </a:xfrm>
          <a:prstGeom prst="rect">
            <a:avLst/>
          </a:prstGeom>
          <a:noFill/>
        </p:spPr>
        <p:txBody>
          <a:bodyPr wrap="square" anchor="t"/>
          <a:lstStyle/>
          <a:p>
            <a:pPr algn="l"/>
            <a:r>
              <a:rPr sz="1200" b="1">
                <a:solidFill>
                  <a:srgbClr val="C41E3A"/>
                </a:solidFill>
                <a:latin typeface="Calibri"/>
                <a:ea typeface="Microsoft YaHei"/>
              </a:rPr>
              <a:t>科技四条</a:t>
            </a:r>
          </a:p>
        </p:txBody>
      </p:sp>
      <p:sp>
        <p:nvSpPr>
          <p:cNvPr id="14" name="TextBox 13"/>
          <p:cNvSpPr txBox="1"/>
          <p:nvPr/>
        </p:nvSpPr>
        <p:spPr>
          <a:xfrm>
            <a:off x="6464808" y="2926080"/>
            <a:ext cx="5065776" cy="1737360"/>
          </a:xfrm>
          <a:prstGeom prst="rect">
            <a:avLst/>
          </a:prstGeom>
          <a:noFill/>
        </p:spPr>
        <p:txBody>
          <a:bodyPr wrap="square"/>
          <a:lstStyle/>
          <a:p>
            <a:pPr algn="l">
              <a:spcAft>
                <a:spcPts val="400"/>
              </a:spcAft>
            </a:pPr>
            <a:r>
              <a:rPr sz="1300" b="0">
                <a:solidFill>
                  <a:srgbClr val="F7F4EF"/>
                </a:solidFill>
                <a:latin typeface="Calibri"/>
                <a:ea typeface="Microsoft YaHei"/>
              </a:rPr>
              <a:t>1  英伟达35亿美元入股联发科，开放NVLink Fusion</a:t>
            </a:r>
          </a:p>
          <a:p>
            <a:pPr algn="l">
              <a:spcAft>
                <a:spcPts val="400"/>
              </a:spcAft>
            </a:pPr>
            <a:r>
              <a:rPr sz="1300" b="0">
                <a:solidFill>
                  <a:srgbClr val="F7F4EF"/>
                </a:solidFill>
                <a:latin typeface="Calibri"/>
                <a:ea typeface="Microsoft YaHei"/>
              </a:rPr>
              <a:t>2  工信部启动人工智能应用服务商培育专项</a:t>
            </a:r>
          </a:p>
          <a:p>
            <a:pPr algn="l">
              <a:spcAft>
                <a:spcPts val="400"/>
              </a:spcAft>
            </a:pPr>
            <a:r>
              <a:rPr sz="1300" b="0">
                <a:solidFill>
                  <a:srgbClr val="F7F4EF"/>
                </a:solidFill>
                <a:latin typeface="Calibri"/>
                <a:ea typeface="Microsoft YaHei"/>
              </a:rPr>
              <a:t>3  库克卸任苹果CEO前最后一天</a:t>
            </a:r>
          </a:p>
          <a:p>
            <a:pPr algn="l">
              <a:spcAft>
                <a:spcPts val="400"/>
              </a:spcAft>
            </a:pPr>
            <a:r>
              <a:rPr sz="1300" b="0">
                <a:solidFill>
                  <a:srgbClr val="F7F4EF"/>
                </a:solidFill>
                <a:latin typeface="Calibri"/>
                <a:ea typeface="Microsoft YaHei"/>
              </a:rPr>
              <a:t>4  罗曼望远镜完成首次中途修正点火</a:t>
            </a:r>
          </a:p>
        </p:txBody>
      </p:sp>
      <p:sp>
        <p:nvSpPr>
          <p:cNvPr id="15" name="TextBox 14"/>
          <p:cNvSpPr txBox="1"/>
          <p:nvPr/>
        </p:nvSpPr>
        <p:spPr>
          <a:xfrm>
            <a:off x="457200" y="4956048"/>
            <a:ext cx="11247120" cy="1234440"/>
          </a:xfrm>
          <a:prstGeom prst="rect">
            <a:avLst/>
          </a:prstGeom>
          <a:noFill/>
        </p:spPr>
        <p:txBody>
          <a:bodyPr wrap="square" anchor="t"/>
          <a:lstStyle/>
          <a:p>
            <a:pPr algn="l"/>
            <a:r>
              <a:rPr sz="1100" b="0">
                <a:solidFill>
                  <a:srgbClr val="C9C2B6"/>
                </a:solidFill>
                <a:latin typeface="Calibri"/>
                <a:ea typeface="Microsoft YaHei"/>
              </a:rPr>
              <a:t>方法：以 Asia/Shanghai 的昨天（2026-08-31，星期一）为采编窗口；只收该日发生或该日首发。习普会免签表述以塔斯社为准，新华社通稿未写此句。工信部专项成文8月27日、31日公开发布，按首发日收入。未混入30日吉隆发布会、习抵达比什凯克、委方「主权」讲话、罗曼发射。未收入26–28日地月激光、Jalapeño、Qwen3.8、混元Hy4。9月1日上合全体会议不提前收入。Firecrawl 未鉴权。</a:t>
            </a:r>
          </a:p>
        </p:txBody>
      </p:sp>
      <p:sp>
        <p:nvSpPr>
          <p:cNvPr id="16" name="TextBox 15"/>
          <p:cNvSpPr txBox="1"/>
          <p:nvPr/>
        </p:nvSpPr>
        <p:spPr>
          <a:xfrm>
            <a:off x="457200" y="6236208"/>
            <a:ext cx="11247120" cy="292608"/>
          </a:xfrm>
          <a:prstGeom prst="rect">
            <a:avLst/>
          </a:prstGeom>
          <a:noFill/>
        </p:spPr>
        <p:txBody>
          <a:bodyPr wrap="square" anchor="t"/>
          <a:lstStyle/>
          <a:p>
            <a:pPr algn="l"/>
            <a:r>
              <a:rPr sz="1200" b="0">
                <a:solidFill>
                  <a:srgbClr val="C41E3A"/>
                </a:solidFill>
                <a:latin typeface="Calibri"/>
                <a:ea typeface="Microsoft YaHei"/>
              </a:rPr>
              <a:t>完 · 可与 briefing.html 对照阅读 · 非投资建议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