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146304" cy="146304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29184"/>
            <a:ext cx="566928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C9C2B6"/>
                </a:solidFill>
                <a:latin typeface="Calibri"/>
                <a:latin/>
                <a:ea typeface="微软雅黑"/>
                <a:cs typeface="Calibri"/>
              </a:rPr>
              <a:t>THE MORNING DISPATCH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79" y="329184"/>
            <a:ext cx="41148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C9C2B6"/>
                </a:solidFill>
                <a:latin typeface="Calibri"/>
                <a:latin/>
                <a:ea typeface="微软雅黑"/>
                <a:cs typeface="Calibri"/>
              </a:rPr>
              <a:t>ASIA / SHANGHAI　昨日新闻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713232"/>
            <a:ext cx="11185855" cy="2794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786384"/>
            <a:ext cx="11185855" cy="11430"/>
          </a:xfrm>
          <a:prstGeom prst="rect">
            <a:avLst/>
          </a:prstGeom>
          <a:solidFill>
            <a:srgbClr val="F7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960120"/>
            <a:ext cx="109728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C41E3A"/>
                </a:solidFill>
                <a:latin typeface="Cambria"/>
                <a:latin/>
                <a:ea typeface="宋体"/>
                <a:cs typeface="Cambria"/>
              </a:rPr>
              <a:t>第贰肆伍期  ·  二零二六年九月二日  ·  星期三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298448"/>
            <a:ext cx="11155680" cy="12344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800" b="1" i="0">
                <a:solidFill>
                  <a:srgbClr val="F7F4EF"/>
                </a:solidFill>
                <a:latin typeface="Cambria"/>
                <a:latin/>
                <a:ea typeface="宋体"/>
                <a:cs typeface="Cambria"/>
              </a:rPr>
              <a:t>每日时政科技简报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578608"/>
            <a:ext cx="111556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C9C2B6"/>
                </a:solidFill>
                <a:latin typeface="Calibri"/>
                <a:latin/>
                <a:ea typeface="微软雅黑"/>
                <a:cs typeface="Calibri"/>
              </a:rPr>
              <a:t>只收录该日发生或该日首发的稿件，拒绝转载拼盘。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3108960"/>
            <a:ext cx="3520440" cy="1874519"/>
          </a:xfrm>
          <a:prstGeom prst="roundRect">
            <a:avLst>
              <a:gd name="adj" fmla="val 8000"/>
            </a:avLst>
          </a:prstGeom>
          <a:solidFill>
            <a:srgbClr val="2424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04088" y="3200400"/>
            <a:ext cx="3154680" cy="8686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800" b="1" i="0">
                <a:solidFill>
                  <a:srgbClr val="C41E3A"/>
                </a:solidFill>
                <a:latin typeface="Cambria"/>
                <a:latin/>
                <a:ea typeface="宋体"/>
                <a:cs typeface="Cambria"/>
              </a:rPr>
              <a:t>06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4088" y="4041648"/>
            <a:ext cx="3154680" cy="3291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F7F4EF"/>
                </a:solidFill>
                <a:latin typeface="Calibri"/>
                <a:latin/>
                <a:ea typeface="微软雅黑"/>
                <a:cs typeface="Calibri"/>
              </a:rPr>
              <a:t>时政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4088" y="4389120"/>
            <a:ext cx="3154680" cy="3291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8A847A"/>
                </a:solidFill>
                <a:latin typeface="Calibri"/>
                <a:latin/>
                <a:ea typeface="微软雅黑"/>
                <a:cs typeface="Calibri"/>
              </a:rPr>
              <a:t>开罗 · 海峡 · 口岸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79392" y="3108960"/>
            <a:ext cx="3520440" cy="1874519"/>
          </a:xfrm>
          <a:prstGeom prst="roundRect">
            <a:avLst>
              <a:gd name="adj" fmla="val 8000"/>
            </a:avLst>
          </a:prstGeom>
          <a:solidFill>
            <a:srgbClr val="2424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80560" y="3200400"/>
            <a:ext cx="3154680" cy="8686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800" b="1" i="0">
                <a:solidFill>
                  <a:srgbClr val="C41E3A"/>
                </a:solidFill>
                <a:latin typeface="Cambria"/>
                <a:latin/>
                <a:ea typeface="宋体"/>
                <a:cs typeface="Cambria"/>
              </a:rPr>
              <a:t>05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80560" y="4041648"/>
            <a:ext cx="3154680" cy="3291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F7F4EF"/>
                </a:solidFill>
                <a:latin typeface="Calibri"/>
                <a:latin/>
                <a:ea typeface="微软雅黑"/>
                <a:cs typeface="Calibri"/>
              </a:rPr>
              <a:t>科技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80560" y="4389120"/>
            <a:ext cx="3154680" cy="3291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8A847A"/>
                </a:solidFill>
                <a:latin typeface="Calibri"/>
                <a:latin/>
                <a:ea typeface="微软雅黑"/>
                <a:cs typeface="Calibri"/>
              </a:rPr>
              <a:t>管线 · 核糖体 · 超表面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55864" y="3108960"/>
            <a:ext cx="3520440" cy="1874519"/>
          </a:xfrm>
          <a:prstGeom prst="roundRect">
            <a:avLst>
              <a:gd name="adj" fmla="val 8000"/>
            </a:avLst>
          </a:prstGeom>
          <a:solidFill>
            <a:srgbClr val="2424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57032" y="3200400"/>
            <a:ext cx="3154680" cy="8686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800" b="1" i="0">
                <a:solidFill>
                  <a:srgbClr val="C41E3A"/>
                </a:solidFill>
                <a:latin typeface="Cambria"/>
                <a:latin/>
                <a:ea typeface="宋体"/>
                <a:cs typeface="Cambria"/>
              </a:rPr>
              <a:t>11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57032" y="4041648"/>
            <a:ext cx="3154680" cy="3291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F7F4EF"/>
                </a:solidFill>
                <a:latin typeface="Calibri"/>
                <a:latin/>
                <a:ea typeface="微软雅黑"/>
                <a:cs typeface="Calibri"/>
              </a:rPr>
              <a:t>合计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57032" y="4389120"/>
            <a:ext cx="3154680" cy="3291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8A847A"/>
                </a:solidFill>
                <a:latin typeface="Calibri"/>
                <a:latin/>
                <a:ea typeface="微软雅黑"/>
                <a:cs typeface="Calibri"/>
              </a:rPr>
              <a:t>周三首发可核验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5166360"/>
            <a:ext cx="11185855" cy="12344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F7F4EF"/>
                </a:solidFill>
                <a:latin typeface="Calibri"/>
                <a:latin/>
                <a:ea typeface="微软雅黑"/>
                <a:cs typeface="Calibri"/>
              </a:rPr>
              <a:t>今日主线：开罗把中东安全新架构写成四点倡议；霍尔木兹再响交火，吉隆把路抢进核心区，尼侧伤亡账本继续上修。科技栏：高通把矩阵核塞进GPU切片，《自然》让核糖体读自己、让基因跨染色体拼蛋白，中埃把人工智能写进建交七十年的文本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384048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A1A1A"/>
                </a:solidFill>
                <a:latin typeface="Cambria"/>
                <a:latin/>
                <a:ea typeface="宋体"/>
                <a:cs typeface="Cambria"/>
              </a:rPr>
              <a:t>每日时政科技简报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663440" y="256032"/>
            <a:ext cx="493776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4A5568"/>
                </a:solidFill>
                <a:latin typeface="Calibri"/>
                <a:latin/>
                <a:ea typeface="微软雅黑"/>
                <a:cs typeface="Calibri"/>
              </a:rPr>
              <a:t>第245期  ·  2026年9月2日  ·  星期三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92640" y="256032"/>
            <a:ext cx="192024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C41E3A"/>
                </a:solidFill>
                <a:latin typeface="Calibri"/>
                <a:latin/>
                <a:ea typeface="微软雅黑"/>
                <a:cs typeface="Calibri"/>
              </a:rPr>
              <a:t>晨刊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566928"/>
            <a:ext cx="11185855" cy="2032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597408"/>
            <a:ext cx="11185855" cy="9525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749808"/>
            <a:ext cx="2011680" cy="7772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400" b="1" i="0">
                <a:solidFill>
                  <a:srgbClr val="C41E3A"/>
                </a:solidFill>
                <a:latin typeface="Cambria"/>
                <a:latin/>
                <a:ea typeface="宋体"/>
                <a:cs typeface="Cambria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94560" y="868680"/>
            <a:ext cx="91440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1A1A1A"/>
                </a:solidFill>
                <a:latin typeface="Cambria"/>
                <a:latin/>
                <a:ea typeface="宋体"/>
                <a:cs typeface="Cambria"/>
              </a:rPr>
              <a:t>时政开篇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94560" y="1481328"/>
            <a:ext cx="94183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4A5568"/>
                </a:solidFill>
                <a:latin typeface="Calibri"/>
                <a:latin/>
                <a:ea typeface="微软雅黑"/>
                <a:cs typeface="Calibri"/>
              </a:rPr>
              <a:t>比什凯克交椅次日，专机落到尼罗河；同一条冰川的南北两岸，一边通了路，一边还在数遗体。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1965960"/>
            <a:ext cx="11185855" cy="1417320"/>
          </a:xfrm>
          <a:prstGeom prst="roundRect">
            <a:avLst>
              <a:gd name="adj" fmla="val 8000"/>
            </a:avLst>
          </a:prstGeom>
          <a:solidFill>
            <a:srgbClr val="FFFCF7"/>
          </a:solidFill>
          <a:ln w="12700">
            <a:solidFill>
              <a:srgbClr val="D6CF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04088" y="2029968"/>
            <a:ext cx="1828800" cy="23774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41E3A"/>
                </a:solidFill>
                <a:latin typeface="Calibri"/>
                <a:latin/>
                <a:ea typeface="微软雅黑"/>
                <a:cs typeface="Calibri"/>
              </a:rPr>
              <a:t>引　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4088" y="2286000"/>
            <a:ext cx="10783519" cy="9601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A1A1A"/>
                </a:solidFill>
                <a:latin typeface="Cambria"/>
                <a:latin/>
                <a:ea typeface="宋体"/>
                <a:cs typeface="Cambria"/>
              </a:rPr>
              <a:t>“坚持中东地区人民自己当家作主，反对外部势力干涉……巴勒斯坦问题仍是中东问题的核心，任何时候都不应该被忽视和边缘化。”——习近平在开罗，据新华社。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3566160"/>
            <a:ext cx="3566160" cy="2697480"/>
          </a:xfrm>
          <a:prstGeom prst="roundRect">
            <a:avLst>
              <a:gd name="adj" fmla="val 8000"/>
            </a:avLst>
          </a:prstGeom>
          <a:solidFill>
            <a:srgbClr val="FFFCF7"/>
          </a:solidFill>
          <a:ln w="12700">
            <a:solidFill>
              <a:srgbClr val="D6CF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3703320"/>
            <a:ext cx="3200400" cy="7772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000" b="1" i="0">
                <a:solidFill>
                  <a:srgbClr val="C41E3A"/>
                </a:solidFill>
                <a:latin typeface="Cambria"/>
                <a:latin/>
                <a:ea typeface="宋体"/>
                <a:cs typeface="Cambria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4480560"/>
            <a:ext cx="32004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4A5568"/>
                </a:solidFill>
                <a:latin typeface="Calibri"/>
                <a:latin/>
                <a:ea typeface="微软雅黑"/>
                <a:cs typeface="Calibri"/>
              </a:rPr>
              <a:t>点倡议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4828032"/>
            <a:ext cx="3200400" cy="12344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A1A1A"/>
                </a:solidFill>
                <a:latin typeface="Calibri"/>
                <a:latin/>
                <a:ea typeface="微软雅黑"/>
                <a:cs typeface="Calibri"/>
              </a:rPr>
              <a:t>地区自主、综合治理、以发展筑安全、国际协同，写进中东安全新架构。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06824" y="3566160"/>
            <a:ext cx="3566160" cy="2697480"/>
          </a:xfrm>
          <a:prstGeom prst="roundRect">
            <a:avLst>
              <a:gd name="adj" fmla="val 8000"/>
            </a:avLst>
          </a:prstGeom>
          <a:solidFill>
            <a:srgbClr val="FFFCF7"/>
          </a:solidFill>
          <a:ln w="12700">
            <a:solidFill>
              <a:srgbClr val="D6CF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89704" y="3703320"/>
            <a:ext cx="3200400" cy="7772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000" b="1" i="0">
                <a:solidFill>
                  <a:srgbClr val="C41E3A"/>
                </a:solidFill>
                <a:latin typeface="Cambria"/>
                <a:latin/>
                <a:ea typeface="宋体"/>
                <a:cs typeface="Cambria"/>
              </a:rPr>
              <a:t>21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89704" y="4480560"/>
            <a:ext cx="32004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4A5568"/>
                </a:solidFill>
                <a:latin typeface="Calibri"/>
                <a:latin/>
                <a:ea typeface="微软雅黑"/>
                <a:cs typeface="Calibri"/>
              </a:rPr>
              <a:t>遇难 · 吉隆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89704" y="4828032"/>
            <a:ext cx="3200400" cy="12344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A1A1A"/>
                </a:solidFill>
                <a:latin typeface="Calibri"/>
                <a:latin/>
                <a:ea typeface="微软雅黑"/>
                <a:cs typeface="Calibri"/>
              </a:rPr>
              <a:t>截至2日12时，中方侧遇难升至21人，541人失联，G216核心通道10时抢通。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110728" y="3566160"/>
            <a:ext cx="3566160" cy="2697480"/>
          </a:xfrm>
          <a:prstGeom prst="roundRect">
            <a:avLst>
              <a:gd name="adj" fmla="val 8000"/>
            </a:avLst>
          </a:prstGeom>
          <a:solidFill>
            <a:srgbClr val="FFFCF7"/>
          </a:solidFill>
          <a:ln w="12700">
            <a:solidFill>
              <a:srgbClr val="D6CF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93608" y="3703320"/>
            <a:ext cx="3200400" cy="7772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000" b="1" i="0">
                <a:solidFill>
                  <a:srgbClr val="C41E3A"/>
                </a:solidFill>
                <a:latin typeface="Cambria"/>
                <a:latin/>
                <a:ea typeface="宋体"/>
                <a:cs typeface="Cambria"/>
              </a:rPr>
              <a:t>1118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93608" y="4480560"/>
            <a:ext cx="32004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4A5568"/>
                </a:solidFill>
                <a:latin typeface="Calibri"/>
                <a:latin/>
                <a:ea typeface="微软雅黑"/>
                <a:cs typeface="Calibri"/>
              </a:rPr>
              <a:t>遇难 · 尼方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93608" y="4828032"/>
            <a:ext cx="3200400" cy="12344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A1A1A"/>
                </a:solidFill>
                <a:latin typeface="Calibri"/>
                <a:latin/>
                <a:ea typeface="微软雅黑"/>
                <a:cs typeface="Calibri"/>
              </a:rPr>
              <a:t>警方2日通报遇难1118人、失联4858人；同日另有通报称发现遗体1127具。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384048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A1A1A"/>
                </a:solidFill>
                <a:latin typeface="Cambria"/>
                <a:latin/>
                <a:ea typeface="宋体"/>
                <a:cs typeface="Cambria"/>
              </a:rPr>
              <a:t>每日时政科技简报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663440" y="256032"/>
            <a:ext cx="493776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4A5568"/>
                </a:solidFill>
                <a:latin typeface="Calibri"/>
                <a:latin/>
                <a:ea typeface="微软雅黑"/>
                <a:cs typeface="Calibri"/>
              </a:rPr>
              <a:t>第245期  ·  2026年9月2日  ·  星期三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92640" y="256032"/>
            <a:ext cx="192024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C41E3A"/>
                </a:solidFill>
                <a:latin typeface="Calibri"/>
                <a:latin/>
                <a:ea typeface="微软雅黑"/>
                <a:cs typeface="Calibri"/>
              </a:rPr>
              <a:t>晨刊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566928"/>
            <a:ext cx="11185855" cy="2032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597408"/>
            <a:ext cx="11185855" cy="9525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713232"/>
            <a:ext cx="1115568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1A1A1A"/>
                </a:solidFill>
                <a:latin typeface="Cambria"/>
                <a:latin/>
                <a:ea typeface="宋体"/>
                <a:cs typeface="Cambria"/>
              </a:rPr>
              <a:t>太阳宫与霍尔木兹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207008"/>
            <a:ext cx="1115568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A5568"/>
                </a:solidFill>
                <a:latin typeface="Calibri"/>
                <a:latin/>
                <a:ea typeface="微软雅黑"/>
                <a:cs typeface="Calibri"/>
              </a:rPr>
              <a:t>一边把安全架构讲给开罗，一边把雷达和油轮写回交火清单。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600200"/>
            <a:ext cx="5440680" cy="4754880"/>
          </a:xfrm>
          <a:prstGeom prst="roundRect">
            <a:avLst>
              <a:gd name="adj" fmla="val 8000"/>
            </a:avLst>
          </a:prstGeom>
          <a:solidFill>
            <a:srgbClr val="FFFCF7"/>
          </a:solidFill>
          <a:ln w="12700">
            <a:solidFill>
              <a:srgbClr val="D6CF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7512" y="1728216"/>
            <a:ext cx="5111496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41E3A"/>
                </a:solidFill>
                <a:latin typeface="Calibri"/>
                <a:latin/>
                <a:ea typeface="微软雅黑"/>
                <a:cs typeface="Calibri"/>
              </a:rPr>
              <a:t>01　外交 · 开罗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512" y="1965960"/>
            <a:ext cx="5111496" cy="12618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1A1A1A"/>
                </a:solidFill>
                <a:latin typeface="Cambria"/>
                <a:latin/>
                <a:ea typeface="宋体"/>
                <a:cs typeface="Cambria"/>
              </a:rPr>
              <a:t>习近平同塞西会谈，提出中东安全新架构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2" y="3227832"/>
            <a:ext cx="5111496" cy="23774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1">
                <a:solidFill>
                  <a:srgbClr val="4A5568"/>
                </a:solidFill>
                <a:latin typeface="Calibri"/>
                <a:latin/>
                <a:ea typeface="微软雅黑"/>
                <a:cs typeface="Calibri"/>
              </a:rPr>
              <a:t>来源：新华社 / 中国政府网　·　gov.cn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7512" y="3465576"/>
            <a:ext cx="5111496" cy="1691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A1A1A"/>
                </a:solidFill>
                <a:latin typeface="Calibri"/>
                <a:latin/>
                <a:ea typeface="微软雅黑"/>
                <a:cs typeface="Calibri"/>
              </a:rPr>
              <a:t>当地时间2日上午，习近平在开罗太阳宫同塞西会谈，提出中东安全新架构四点倡议，强调地区自主与航道安全，巴勒斯坦问题仍是核心。会后见证签署一带一路、人工智能等文件，发表深化全面战略伙伴关系联合声明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67512" y="5303520"/>
            <a:ext cx="5111496" cy="9525"/>
          </a:xfrm>
          <a:prstGeom prst="rect">
            <a:avLst/>
          </a:prstGeom>
          <a:solidFill>
            <a:srgbClr val="D6C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7512" y="5367528"/>
            <a:ext cx="5111496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41E3A"/>
                </a:solidFill>
                <a:latin typeface="Calibri"/>
                <a:latin/>
                <a:ea typeface="微软雅黑"/>
                <a:cs typeface="Calibri"/>
              </a:rPr>
              <a:t>为何重要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7512" y="5568696"/>
            <a:ext cx="5111496" cy="6583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A5568"/>
                </a:solidFill>
                <a:latin typeface="Calibri"/>
                <a:latin/>
                <a:ea typeface="微软雅黑"/>
                <a:cs typeface="Calibri"/>
              </a:rPr>
              <a:t>美伊再交火之际，北京把安全架构和航道安全讲给开罗听，并把人工智能写进建交70年的联合声明。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91072" y="1600200"/>
            <a:ext cx="5440680" cy="4754880"/>
          </a:xfrm>
          <a:prstGeom prst="roundRect">
            <a:avLst>
              <a:gd name="adj" fmla="val 8000"/>
            </a:avLst>
          </a:prstGeom>
          <a:solidFill>
            <a:srgbClr val="FFFCF7"/>
          </a:solidFill>
          <a:ln w="12700">
            <a:solidFill>
              <a:srgbClr val="D6CF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55664" y="1728216"/>
            <a:ext cx="5111496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41E3A"/>
                </a:solidFill>
                <a:latin typeface="Calibri"/>
                <a:latin/>
                <a:ea typeface="微软雅黑"/>
                <a:cs typeface="Calibri"/>
              </a:rPr>
              <a:t>02　国际 · 海湾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55664" y="1965960"/>
            <a:ext cx="5111496" cy="12618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1A1A1A"/>
                </a:solidFill>
                <a:latin typeface="Cambria"/>
                <a:latin/>
                <a:ea typeface="宋体"/>
                <a:cs typeface="Cambria"/>
              </a:rPr>
              <a:t>美军再袭伊朗，伊方反击，婚礼遇袭致死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55664" y="3227832"/>
            <a:ext cx="5111496" cy="23774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1">
                <a:solidFill>
                  <a:srgbClr val="4A5568"/>
                </a:solidFill>
                <a:latin typeface="Calibri"/>
                <a:latin/>
                <a:ea typeface="微软雅黑"/>
                <a:cs typeface="Calibri"/>
              </a:rPr>
              <a:t>来源：NPR / 美联社　·　npr.org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55664" y="3465576"/>
            <a:ext cx="5111496" cy="1691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A1A1A"/>
                </a:solidFill>
                <a:latin typeface="Calibri"/>
                <a:latin/>
                <a:ea typeface="微软雅黑"/>
                <a:cs typeface="Calibri"/>
              </a:rPr>
              <a:t>美军中央司令部称已完成对伊朗防空、雷达与海上资产的新一轮打击；伊方向约旦、巴林、科威特等地发射导弹与无人机。当地官员称库赫斯塔克婚礼遇袭，致死至少四人。特朗普称无意逼伊朗谈判。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55664" y="5303520"/>
            <a:ext cx="5111496" cy="9525"/>
          </a:xfrm>
          <a:prstGeom prst="rect">
            <a:avLst/>
          </a:prstGeom>
          <a:solidFill>
            <a:srgbClr val="D6C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55664" y="5367528"/>
            <a:ext cx="5111496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41E3A"/>
                </a:solidFill>
                <a:latin typeface="Calibri"/>
                <a:latin/>
                <a:ea typeface="微软雅黑"/>
                <a:cs typeface="Calibri"/>
              </a:rPr>
              <a:t>为何重要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55664" y="5568696"/>
            <a:ext cx="5111496" cy="6583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A5568"/>
                </a:solidFill>
                <a:latin typeface="Calibri"/>
                <a:latin/>
                <a:ea typeface="微软雅黑"/>
                <a:cs typeface="Calibri"/>
              </a:rPr>
              <a:t>沪时2日0时起可核验的新一轮交火，把霍尔木兹封锁、油价与中期选举绑在同一条导火索上。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384048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A1A1A"/>
                </a:solidFill>
                <a:latin typeface="Cambria"/>
                <a:latin/>
                <a:ea typeface="宋体"/>
                <a:cs typeface="Cambria"/>
              </a:rPr>
              <a:t>每日时政科技简报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663440" y="256032"/>
            <a:ext cx="493776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4A5568"/>
                </a:solidFill>
                <a:latin typeface="Calibri"/>
                <a:latin/>
                <a:ea typeface="微软雅黑"/>
                <a:cs typeface="Calibri"/>
              </a:rPr>
              <a:t>第245期  ·  2026年9月2日  ·  星期三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92640" y="256032"/>
            <a:ext cx="192024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C41E3A"/>
                </a:solidFill>
                <a:latin typeface="Calibri"/>
                <a:latin/>
                <a:ea typeface="微软雅黑"/>
                <a:cs typeface="Calibri"/>
              </a:rPr>
              <a:t>晨刊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566928"/>
            <a:ext cx="11185855" cy="2032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597408"/>
            <a:ext cx="11185855" cy="9525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713232"/>
            <a:ext cx="1115568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1A1A1A"/>
                </a:solidFill>
                <a:latin typeface="Cambria"/>
                <a:latin/>
                <a:ea typeface="宋体"/>
                <a:cs typeface="Cambria"/>
              </a:rPr>
              <a:t>口岸与河谷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207008"/>
            <a:ext cx="1115568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A5568"/>
                </a:solidFill>
                <a:latin typeface="Calibri"/>
                <a:latin/>
                <a:ea typeface="微软雅黑"/>
                <a:cs typeface="Calibri"/>
              </a:rPr>
              <a:t>同一条冰川：北岸把机械开进堆积体，南岸把遇难人数再改一版。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600200"/>
            <a:ext cx="5440680" cy="4754880"/>
          </a:xfrm>
          <a:prstGeom prst="roundRect">
            <a:avLst>
              <a:gd name="adj" fmla="val 8000"/>
            </a:avLst>
          </a:prstGeom>
          <a:solidFill>
            <a:srgbClr val="FFFCF7"/>
          </a:solidFill>
          <a:ln w="12700">
            <a:solidFill>
              <a:srgbClr val="D6CF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7512" y="1728216"/>
            <a:ext cx="5111496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41E3A"/>
                </a:solidFill>
                <a:latin typeface="Calibri"/>
                <a:latin/>
                <a:ea typeface="微软雅黑"/>
                <a:cs typeface="Calibri"/>
              </a:rPr>
              <a:t>03　公共事务 · 吉隆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512" y="1965960"/>
            <a:ext cx="5111496" cy="12618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1A1A1A"/>
                </a:solidFill>
                <a:latin typeface="Cambria"/>
                <a:latin/>
                <a:ea typeface="宋体"/>
                <a:cs typeface="Cambria"/>
              </a:rPr>
              <a:t>吉隆第八日：G216核心通道抢通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2" y="3227832"/>
            <a:ext cx="5111496" cy="23774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1">
                <a:solidFill>
                  <a:srgbClr val="4A5568"/>
                </a:solidFill>
                <a:latin typeface="Calibri"/>
                <a:latin/>
                <a:ea typeface="微软雅黑"/>
                <a:cs typeface="Calibri"/>
              </a:rPr>
              <a:t>来源：新华社　·　xinhuanet.com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7512" y="3465576"/>
            <a:ext cx="5111496" cy="1691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A1A1A"/>
                </a:solidFill>
                <a:latin typeface="Calibri"/>
                <a:latin/>
                <a:ea typeface="微软雅黑"/>
                <a:cs typeface="Calibri"/>
              </a:rPr>
              <a:t>西藏自治区2日发布会通报，截至10时通往核心区陆路通道抢通，12时统计遇难21人、失联541人、遗物847件。累计投入救援2300余人，12座基站恢复。搜救转入厚达4至16米的堆积体深挖。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67512" y="5303520"/>
            <a:ext cx="5111496" cy="9525"/>
          </a:xfrm>
          <a:prstGeom prst="rect">
            <a:avLst/>
          </a:prstGeom>
          <a:solidFill>
            <a:srgbClr val="D6C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7512" y="5367528"/>
            <a:ext cx="5111496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41E3A"/>
                </a:solidFill>
                <a:latin typeface="Calibri"/>
                <a:latin/>
                <a:ea typeface="微软雅黑"/>
                <a:cs typeface="Calibri"/>
              </a:rPr>
              <a:t>为何重要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7512" y="5568696"/>
            <a:ext cx="5111496" cy="6583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A5568"/>
                </a:solidFill>
                <a:latin typeface="Calibri"/>
                <a:latin/>
                <a:ea typeface="微软雅黑"/>
                <a:cs typeface="Calibri"/>
              </a:rPr>
              <a:t>路通之后，口岸从「进得去」变成「挖得下」，伤亡账本同步改写。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91072" y="1600200"/>
            <a:ext cx="5440680" cy="4754880"/>
          </a:xfrm>
          <a:prstGeom prst="roundRect">
            <a:avLst>
              <a:gd name="adj" fmla="val 8000"/>
            </a:avLst>
          </a:prstGeom>
          <a:solidFill>
            <a:srgbClr val="FFFCF7"/>
          </a:solidFill>
          <a:ln w="12700">
            <a:solidFill>
              <a:srgbClr val="D6CF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55664" y="1728216"/>
            <a:ext cx="5111496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41E3A"/>
                </a:solidFill>
                <a:latin typeface="Calibri"/>
                <a:latin/>
                <a:ea typeface="微软雅黑"/>
                <a:cs typeface="Calibri"/>
              </a:rPr>
              <a:t>04　救灾 · 尼泊尔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55664" y="1965960"/>
            <a:ext cx="5111496" cy="12618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1A1A1A"/>
                </a:solidFill>
                <a:latin typeface="Cambria"/>
                <a:latin/>
                <a:ea typeface="宋体"/>
                <a:cs typeface="Cambria"/>
              </a:rPr>
              <a:t>尼泊尔遇难升至1118人，4858人失联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55664" y="3227832"/>
            <a:ext cx="5111496" cy="23774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1">
                <a:solidFill>
                  <a:srgbClr val="4A5568"/>
                </a:solidFill>
                <a:latin typeface="Calibri"/>
                <a:latin/>
                <a:ea typeface="微软雅黑"/>
                <a:cs typeface="Calibri"/>
              </a:rPr>
              <a:t>来源：新华社 / 尼泊尔警方　·　chinadailyhk.com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55664" y="3465576"/>
            <a:ext cx="5111496" cy="1691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A1A1A"/>
                </a:solidFill>
                <a:latin typeface="Calibri"/>
                <a:latin/>
                <a:ea typeface="微软雅黑"/>
                <a:cs typeface="Calibri"/>
              </a:rPr>
              <a:t>尼泊尔警方2日称，8月26日泥石流遇难人数升至1118人，4858人失踪；同日另有通报称发现遗体1127具，已完成1113具尸检。军方与中印等专家继续在特里苏里等水电隧道供氧搜救。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55664" y="5303520"/>
            <a:ext cx="5111496" cy="9525"/>
          </a:xfrm>
          <a:prstGeom prst="rect">
            <a:avLst/>
          </a:prstGeom>
          <a:solidFill>
            <a:srgbClr val="D6C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55664" y="5367528"/>
            <a:ext cx="5111496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41E3A"/>
                </a:solidFill>
                <a:latin typeface="Calibri"/>
                <a:latin/>
                <a:ea typeface="微软雅黑"/>
                <a:cs typeface="Calibri"/>
              </a:rPr>
              <a:t>为何重要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55664" y="5568696"/>
            <a:ext cx="5111496" cy="6583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A5568"/>
                </a:solidFill>
                <a:latin typeface="Calibri"/>
                <a:latin/>
                <a:ea typeface="微软雅黑"/>
                <a:cs typeface="Calibri"/>
              </a:rPr>
              <a:t>同源冰川灾害南岸账本继续上修，隧道窗口仍未关闭。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384048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A1A1A"/>
                </a:solidFill>
                <a:latin typeface="Cambria"/>
                <a:latin/>
                <a:ea typeface="宋体"/>
                <a:cs typeface="Cambria"/>
              </a:rPr>
              <a:t>每日时政科技简报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663440" y="256032"/>
            <a:ext cx="493776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4A5568"/>
                </a:solidFill>
                <a:latin typeface="Calibri"/>
                <a:latin/>
                <a:ea typeface="微软雅黑"/>
                <a:cs typeface="Calibri"/>
              </a:rPr>
              <a:t>第245期  ·  2026年9月2日  ·  星期三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92640" y="256032"/>
            <a:ext cx="192024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C41E3A"/>
                </a:solidFill>
                <a:latin typeface="Calibri"/>
                <a:latin/>
                <a:ea typeface="微软雅黑"/>
                <a:cs typeface="Calibri"/>
              </a:rPr>
              <a:t>晨刊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566928"/>
            <a:ext cx="11185855" cy="2032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597408"/>
            <a:ext cx="11185855" cy="9525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713232"/>
            <a:ext cx="1115568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1A1A1A"/>
                </a:solidFill>
                <a:latin typeface="Cambria"/>
                <a:latin/>
                <a:ea typeface="宋体"/>
                <a:cs typeface="Cambria"/>
              </a:rPr>
              <a:t>记者会与纪念日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207008"/>
            <a:ext cx="1115568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A5568"/>
                </a:solidFill>
                <a:latin typeface="Calibri"/>
                <a:latin/>
                <a:ea typeface="微软雅黑"/>
                <a:cs typeface="Calibri"/>
              </a:rPr>
              <a:t>加德满都收下第二批物资；投降书签署日重申敌国条款。G20财长会无公报，只收2日口径。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600200"/>
            <a:ext cx="5440680" cy="4754880"/>
          </a:xfrm>
          <a:prstGeom prst="roundRect">
            <a:avLst>
              <a:gd name="adj" fmla="val 8000"/>
            </a:avLst>
          </a:prstGeom>
          <a:solidFill>
            <a:srgbClr val="FFFCF7"/>
          </a:solidFill>
          <a:ln w="12700">
            <a:solidFill>
              <a:srgbClr val="D6CF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7512" y="1728216"/>
            <a:ext cx="5111496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41E3A"/>
                </a:solidFill>
                <a:latin typeface="Calibri"/>
                <a:latin/>
                <a:ea typeface="微软雅黑"/>
                <a:cs typeface="Calibri"/>
              </a:rPr>
              <a:t>05　外交 · 北京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512" y="1965960"/>
            <a:ext cx="5111496" cy="12618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1A1A1A"/>
                </a:solidFill>
                <a:latin typeface="Cambria"/>
                <a:latin/>
                <a:ea typeface="宋体"/>
                <a:cs typeface="Cambria"/>
              </a:rPr>
              <a:t>近百中国公民在尼失联，第三批援助筹备中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2" y="3227832"/>
            <a:ext cx="5111496" cy="23774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1">
                <a:solidFill>
                  <a:srgbClr val="4A5568"/>
                </a:solidFill>
                <a:latin typeface="Calibri"/>
                <a:latin/>
                <a:ea typeface="微软雅黑"/>
                <a:cs typeface="Calibri"/>
              </a:rPr>
              <a:t>来源：外交部　·　mfa.gov.cn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7512" y="3465576"/>
            <a:ext cx="5111496" cy="1691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A1A1A"/>
                </a:solidFill>
                <a:latin typeface="Calibri"/>
                <a:latin/>
                <a:ea typeface="微软雅黑"/>
                <a:cs typeface="Calibri"/>
              </a:rPr>
              <a:t>郭嘉昆2日说，对尼第二批物资1日下午抵加德满都，5名DNA专家随机抵达；正筹备第三批贝雷桥、防疫与应急通讯物资。吉隆侧排出261名外籍失联、涉及23国；近百中国公民在尼失联。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67512" y="5303520"/>
            <a:ext cx="5111496" cy="9525"/>
          </a:xfrm>
          <a:prstGeom prst="rect">
            <a:avLst/>
          </a:prstGeom>
          <a:solidFill>
            <a:srgbClr val="D6C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7512" y="5367528"/>
            <a:ext cx="5111496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41E3A"/>
                </a:solidFill>
                <a:latin typeface="Calibri"/>
                <a:latin/>
                <a:ea typeface="微软雅黑"/>
                <a:cs typeface="Calibri"/>
              </a:rPr>
              <a:t>为何重要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7512" y="5568696"/>
            <a:ext cx="5111496" cy="6583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A5568"/>
                </a:solidFill>
                <a:latin typeface="Calibri"/>
                <a:latin/>
                <a:ea typeface="微软雅黑"/>
                <a:cs typeface="Calibri"/>
              </a:rPr>
              <a:t>把跨境伤亡从救援现场写成领事账本，援助从物资转入鉴定与桥梁。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91072" y="1600200"/>
            <a:ext cx="5440680" cy="4754880"/>
          </a:xfrm>
          <a:prstGeom prst="roundRect">
            <a:avLst>
              <a:gd name="adj" fmla="val 8000"/>
            </a:avLst>
          </a:prstGeom>
          <a:solidFill>
            <a:srgbClr val="FFFCF7"/>
          </a:solidFill>
          <a:ln w="12700">
            <a:solidFill>
              <a:srgbClr val="D6CF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55664" y="1728216"/>
            <a:ext cx="5111496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41E3A"/>
                </a:solidFill>
                <a:latin typeface="Calibri"/>
                <a:latin/>
                <a:ea typeface="微软雅黑"/>
                <a:cs typeface="Calibri"/>
              </a:rPr>
              <a:t>06　外交 · 北京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55664" y="1965960"/>
            <a:ext cx="5111496" cy="12618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1A1A1A"/>
                </a:solidFill>
                <a:latin typeface="Cambria"/>
                <a:latin/>
                <a:ea typeface="宋体"/>
                <a:cs typeface="Cambria"/>
              </a:rPr>
              <a:t>日本投降81周年，重申敌国条款仍有效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55664" y="3227832"/>
            <a:ext cx="5111496" cy="23774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1">
                <a:solidFill>
                  <a:srgbClr val="4A5568"/>
                </a:solidFill>
                <a:latin typeface="Calibri"/>
                <a:latin/>
                <a:ea typeface="微软雅黑"/>
                <a:cs typeface="Calibri"/>
              </a:rPr>
              <a:t>来源：外交部　·　mfa.gov.cn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55664" y="3465576"/>
            <a:ext cx="5111496" cy="1691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A1A1A"/>
                </a:solidFill>
                <a:latin typeface="Calibri"/>
                <a:latin/>
                <a:ea typeface="微软雅黑"/>
                <a:cs typeface="Calibri"/>
              </a:rPr>
              <a:t>郭嘉昆指出，1945年9月2日日本签署投降书，侵略定性不容篡改。《联合国宪章》第53、77、107条仍然有效。他批评日方美化侵略、推进再军事化，称「新型军国主义」灰犀牛正在奔袭。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55664" y="5303520"/>
            <a:ext cx="5111496" cy="9525"/>
          </a:xfrm>
          <a:prstGeom prst="rect">
            <a:avLst/>
          </a:prstGeom>
          <a:solidFill>
            <a:srgbClr val="D6C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55664" y="5367528"/>
            <a:ext cx="5111496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41E3A"/>
                </a:solidFill>
                <a:latin typeface="Calibri"/>
                <a:latin/>
                <a:ea typeface="微软雅黑"/>
                <a:cs typeface="Calibri"/>
              </a:rPr>
              <a:t>为何重要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55664" y="5568696"/>
            <a:ext cx="5111496" cy="6583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A5568"/>
                </a:solidFill>
                <a:latin typeface="Calibri"/>
                <a:latin/>
                <a:ea typeface="微软雅黑"/>
                <a:cs typeface="Calibri"/>
              </a:rPr>
              <a:t>在投降书签署日把宪章条款重新拿到台前，划出历史定性与再武装的边界。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384048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A1A1A"/>
                </a:solidFill>
                <a:latin typeface="Cambria"/>
                <a:latin/>
                <a:ea typeface="宋体"/>
                <a:cs typeface="Cambria"/>
              </a:rPr>
              <a:t>每日时政科技简报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663440" y="256032"/>
            <a:ext cx="493776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4A5568"/>
                </a:solidFill>
                <a:latin typeface="Calibri"/>
                <a:latin/>
                <a:ea typeface="微软雅黑"/>
                <a:cs typeface="Calibri"/>
              </a:rPr>
              <a:t>第245期  ·  2026年9月2日  ·  星期三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92640" y="256032"/>
            <a:ext cx="192024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C41E3A"/>
                </a:solidFill>
                <a:latin typeface="Calibri"/>
                <a:latin/>
                <a:ea typeface="微软雅黑"/>
                <a:cs typeface="Calibri"/>
              </a:rPr>
              <a:t>晨刊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566928"/>
            <a:ext cx="11185855" cy="2032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597408"/>
            <a:ext cx="11185855" cy="9525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749808"/>
            <a:ext cx="2011680" cy="7772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400" b="1" i="0">
                <a:solidFill>
                  <a:srgbClr val="C41E3A"/>
                </a:solidFill>
                <a:latin typeface="Cambria"/>
                <a:latin/>
                <a:ea typeface="宋体"/>
                <a:cs typeface="Cambria"/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94560" y="868680"/>
            <a:ext cx="91440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1A1A1A"/>
                </a:solidFill>
                <a:latin typeface="Cambria"/>
                <a:latin/>
                <a:ea typeface="宋体"/>
                <a:cs typeface="Cambria"/>
              </a:rPr>
              <a:t>科技开篇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94560" y="1481328"/>
            <a:ext cx="94183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4A5568"/>
                </a:solidFill>
                <a:latin typeface="Calibri"/>
                <a:latin/>
                <a:ea typeface="微软雅黑"/>
                <a:cs typeface="Calibri"/>
              </a:rPr>
              <a:t>圣迭戈把矩阵核焊进图形切片；实验室让核糖体读自己、让基因跨染色体拼蛋白。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1965960"/>
            <a:ext cx="2651760" cy="2148840"/>
          </a:xfrm>
          <a:prstGeom prst="roundRect">
            <a:avLst>
              <a:gd name="adj" fmla="val 8000"/>
            </a:avLst>
          </a:prstGeom>
          <a:solidFill>
            <a:srgbClr val="FFFCF7"/>
          </a:solidFill>
          <a:ln w="12700">
            <a:solidFill>
              <a:srgbClr val="D6CF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0936" y="2057400"/>
            <a:ext cx="2395728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C41E3A"/>
                </a:solidFill>
                <a:latin typeface="Cambria"/>
                <a:latin/>
                <a:ea typeface="宋体"/>
                <a:cs typeface="Cambria"/>
              </a:rPr>
              <a:t>40%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936" y="2697480"/>
            <a:ext cx="2395728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A1A1A"/>
                </a:solidFill>
                <a:latin typeface="Calibri"/>
                <a:latin/>
                <a:ea typeface="微软雅黑"/>
                <a:cs typeface="Calibri"/>
              </a:rPr>
              <a:t>功耗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6" y="2999232"/>
            <a:ext cx="2395728" cy="914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4A5568"/>
                </a:solidFill>
                <a:latin typeface="Calibri"/>
                <a:latin/>
                <a:ea typeface="微软雅黑"/>
                <a:cs typeface="Calibri"/>
              </a:rPr>
              <a:t>Neural Fusion 开启时高通宣称改善约四成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319272" y="1965960"/>
            <a:ext cx="2651760" cy="2148840"/>
          </a:xfrm>
          <a:prstGeom prst="roundRect">
            <a:avLst>
              <a:gd name="adj" fmla="val 8000"/>
            </a:avLst>
          </a:prstGeom>
          <a:solidFill>
            <a:srgbClr val="FFFCF7"/>
          </a:solidFill>
          <a:ln w="12700">
            <a:solidFill>
              <a:srgbClr val="D6CF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447288" y="2057400"/>
            <a:ext cx="2395728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C41E3A"/>
                </a:solidFill>
                <a:latin typeface="Cambria"/>
                <a:latin/>
                <a:ea typeface="宋体"/>
                <a:cs typeface="Cambria"/>
              </a:rPr>
              <a:t>Ribo-M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47288" y="2697480"/>
            <a:ext cx="2395728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A1A1A"/>
                </a:solidFill>
                <a:latin typeface="Calibri"/>
                <a:latin/>
                <a:ea typeface="微软雅黑"/>
                <a:cs typeface="Calibri"/>
              </a:rPr>
              <a:t>顺式翻译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47288" y="2999232"/>
            <a:ext cx="2395728" cy="914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4A5568"/>
                </a:solidFill>
                <a:latin typeface="Calibri"/>
                <a:latin/>
                <a:ea typeface="微软雅黑"/>
                <a:cs typeface="Calibri"/>
              </a:rPr>
              <a:t>核糖体翻译编码在自身RNA上的蛋白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35624" y="1965960"/>
            <a:ext cx="2651760" cy="2148840"/>
          </a:xfrm>
          <a:prstGeom prst="roundRect">
            <a:avLst>
              <a:gd name="adj" fmla="val 8000"/>
            </a:avLst>
          </a:prstGeom>
          <a:solidFill>
            <a:srgbClr val="FFFCF7"/>
          </a:solidFill>
          <a:ln w="12700">
            <a:solidFill>
              <a:srgbClr val="D6CF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63640" y="2057400"/>
            <a:ext cx="2395728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C41E3A"/>
                </a:solidFill>
                <a:latin typeface="Cambria"/>
                <a:latin/>
                <a:ea typeface="宋体"/>
                <a:cs typeface="Cambria"/>
              </a:rPr>
              <a:t>3万+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63640" y="2697480"/>
            <a:ext cx="2395728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A1A1A"/>
                </a:solidFill>
                <a:latin typeface="Calibri"/>
                <a:latin/>
                <a:ea typeface="微软雅黑"/>
                <a:cs typeface="Calibri"/>
              </a:rPr>
              <a:t>嵌合转录本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63640" y="2999232"/>
            <a:ext cx="2395728" cy="914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4A5568"/>
                </a:solidFill>
                <a:latin typeface="Calibri"/>
                <a:latin/>
                <a:ea typeface="微软雅黑"/>
                <a:cs typeface="Calibri"/>
              </a:rPr>
              <a:t>直接RNA测序给出的暗基因组清单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951976" y="1965960"/>
            <a:ext cx="2651760" cy="2148840"/>
          </a:xfrm>
          <a:prstGeom prst="roundRect">
            <a:avLst>
              <a:gd name="adj" fmla="val 8000"/>
            </a:avLst>
          </a:prstGeom>
          <a:solidFill>
            <a:srgbClr val="FFFCF7"/>
          </a:solidFill>
          <a:ln w="12700">
            <a:solidFill>
              <a:srgbClr val="D6CF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079992" y="2057400"/>
            <a:ext cx="2395728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C41E3A"/>
                </a:solidFill>
                <a:latin typeface="Cambria"/>
                <a:latin/>
                <a:ea typeface="宋体"/>
                <a:cs typeface="Cambria"/>
              </a:rPr>
              <a:t>20+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79992" y="2697480"/>
            <a:ext cx="2395728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A1A1A"/>
                </a:solidFill>
                <a:latin typeface="Calibri"/>
                <a:latin/>
                <a:ea typeface="微软雅黑"/>
                <a:cs typeface="Calibri"/>
              </a:rPr>
              <a:t>份文件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79992" y="2999232"/>
            <a:ext cx="2395728" cy="914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4A5568"/>
                </a:solidFill>
                <a:latin typeface="Calibri"/>
                <a:latin/>
                <a:ea typeface="微软雅黑"/>
                <a:cs typeface="Calibri"/>
              </a:rPr>
              <a:t>中埃数字经济、科技、教育等合作文本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02920" y="4297680"/>
            <a:ext cx="11185855" cy="2057400"/>
          </a:xfrm>
          <a:prstGeom prst="roundRect">
            <a:avLst>
              <a:gd name="adj" fmla="val 8000"/>
            </a:avLst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04088" y="4407408"/>
            <a:ext cx="109728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C41E3A"/>
                </a:solidFill>
                <a:latin typeface="Calibri"/>
                <a:latin/>
                <a:ea typeface="微软雅黑"/>
                <a:cs typeface="Calibri"/>
              </a:rPr>
              <a:t>编辑观察 · 排除清单与缺口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4088" y="4718304"/>
            <a:ext cx="10783519" cy="1463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7F4EF"/>
                </a:solidFill>
                <a:latin typeface="Calibri"/>
                <a:latin/>
                <a:ea typeface="微软雅黑"/>
                <a:cs typeface="Calibri"/>
              </a:rPr>
              <a:t>未混入：上合比什凯克宣言与「上合+」（9月1日）；特纳斯就任苹果CEO、讯飞星火X2.5、罗曼遮阳罩与日冕仪上电（均1日首发）；OpenAI《Path to Astra》（1日）；努比亚NaviX Ultra入网许可（1日）；合见工软3DIC工具（1日IDAS发布）；Jalapeño（8月25日）、混元Hy4（8月31日）。罗曼望远镜2日无新的NASA博客节点。芯片与互联网整机首发偏少，科学栏以《自然》两篇与一篇纳米技术论文补足。Firecrawl 未安装鉴权。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384048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A1A1A"/>
                </a:solidFill>
                <a:latin typeface="Cambria"/>
                <a:latin/>
                <a:ea typeface="宋体"/>
                <a:cs typeface="Cambria"/>
              </a:rPr>
              <a:t>每日时政科技简报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663440" y="256032"/>
            <a:ext cx="493776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4A5568"/>
                </a:solidFill>
                <a:latin typeface="Calibri"/>
                <a:latin/>
                <a:ea typeface="微软雅黑"/>
                <a:cs typeface="Calibri"/>
              </a:rPr>
              <a:t>第245期  ·  2026年9月2日  ·  星期三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92640" y="256032"/>
            <a:ext cx="192024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C41E3A"/>
                </a:solidFill>
                <a:latin typeface="Calibri"/>
                <a:latin/>
                <a:ea typeface="微软雅黑"/>
                <a:cs typeface="Calibri"/>
              </a:rPr>
              <a:t>晨刊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566928"/>
            <a:ext cx="11185855" cy="2032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597408"/>
            <a:ext cx="11185855" cy="9525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713232"/>
            <a:ext cx="1115568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1A1A1A"/>
                </a:solidFill>
                <a:latin typeface="Cambria"/>
                <a:latin/>
                <a:ea typeface="宋体"/>
                <a:cs typeface="Cambria"/>
              </a:rPr>
              <a:t>切片与联合声明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207008"/>
            <a:ext cx="1115568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A5568"/>
                </a:solidFill>
                <a:latin typeface="Calibri"/>
                <a:latin/>
                <a:ea typeface="微软雅黑"/>
                <a:cs typeface="Calibri"/>
              </a:rPr>
              <a:t>一端把AI焊进GPU管线，一端把算力写进建交七十年的文本。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600200"/>
            <a:ext cx="5440680" cy="4754880"/>
          </a:xfrm>
          <a:prstGeom prst="roundRect">
            <a:avLst>
              <a:gd name="adj" fmla="val 8000"/>
            </a:avLst>
          </a:prstGeom>
          <a:solidFill>
            <a:srgbClr val="FFFCF7"/>
          </a:solidFill>
          <a:ln w="12700">
            <a:solidFill>
              <a:srgbClr val="D6CF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7512" y="1728216"/>
            <a:ext cx="5111496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41E3A"/>
                </a:solidFill>
                <a:latin typeface="Calibri"/>
                <a:latin/>
                <a:ea typeface="微软雅黑"/>
                <a:cs typeface="Calibri"/>
              </a:rPr>
              <a:t>07　芯片 · 圣迭戈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512" y="1965960"/>
            <a:ext cx="5111496" cy="12618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1A1A1A"/>
                </a:solidFill>
                <a:latin typeface="Cambria"/>
                <a:latin/>
                <a:ea typeface="宋体"/>
                <a:cs typeface="Cambria"/>
              </a:rPr>
              <a:t>高通公布 Adreno Neural Fusion GPU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2" y="3227832"/>
            <a:ext cx="5111496" cy="23774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1">
                <a:solidFill>
                  <a:srgbClr val="4A5568"/>
                </a:solidFill>
                <a:latin typeface="Calibri"/>
                <a:latin/>
                <a:ea typeface="微软雅黑"/>
                <a:cs typeface="Calibri"/>
              </a:rPr>
              <a:t>来源：9to5Google / Android Authority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7512" y="3465576"/>
            <a:ext cx="5111496" cy="1691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A1A1A"/>
                </a:solidFill>
                <a:latin typeface="Calibri"/>
                <a:latin/>
                <a:ea typeface="微软雅黑"/>
                <a:cs typeface="Calibri"/>
              </a:rPr>
              <a:t>高通2日披露下一代旗舰骁龙的Adreno GPU：三切片1.45GHz，每切片内置Matrix Cores，可在图形管线内跑AI模型；18MB片上内存就近缓存。称Neural Fusion开启时功耗改善约40%，Unity与虚幻引擎已接入。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67512" y="5303520"/>
            <a:ext cx="5111496" cy="9525"/>
          </a:xfrm>
          <a:prstGeom prst="rect">
            <a:avLst/>
          </a:prstGeom>
          <a:solidFill>
            <a:srgbClr val="D6C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7512" y="5367528"/>
            <a:ext cx="5111496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41E3A"/>
                </a:solidFill>
                <a:latin typeface="Calibri"/>
                <a:latin/>
                <a:ea typeface="微软雅黑"/>
                <a:cs typeface="Calibri"/>
              </a:rPr>
              <a:t>为何重要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7512" y="5568696"/>
            <a:ext cx="5111496" cy="6583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A5568"/>
                </a:solidFill>
                <a:latin typeface="Calibri"/>
                <a:latin/>
                <a:ea typeface="微软雅黑"/>
                <a:cs typeface="Calibri"/>
              </a:rPr>
              <a:t>把超分和插帧从驱动层推进到GPU切片，端侧渲染第一次按「专用矩阵核」来讲。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91072" y="1600200"/>
            <a:ext cx="5440680" cy="4754880"/>
          </a:xfrm>
          <a:prstGeom prst="roundRect">
            <a:avLst>
              <a:gd name="adj" fmla="val 8000"/>
            </a:avLst>
          </a:prstGeom>
          <a:solidFill>
            <a:srgbClr val="FFFCF7"/>
          </a:solidFill>
          <a:ln w="12700">
            <a:solidFill>
              <a:srgbClr val="D6CF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55664" y="1728216"/>
            <a:ext cx="5111496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41E3A"/>
                </a:solidFill>
                <a:latin typeface="Calibri"/>
                <a:latin/>
                <a:ea typeface="微软雅黑"/>
                <a:cs typeface="Calibri"/>
              </a:rPr>
              <a:t>08　产业 · 开罗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55664" y="1965960"/>
            <a:ext cx="5111496" cy="12618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1A1A1A"/>
                </a:solidFill>
                <a:latin typeface="Cambria"/>
                <a:latin/>
                <a:ea typeface="宋体"/>
                <a:cs typeface="Cambria"/>
              </a:rPr>
              <a:t>中埃签署人工智能与数字经济合作文件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55664" y="3227832"/>
            <a:ext cx="5111496" cy="23774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1">
                <a:solidFill>
                  <a:srgbClr val="4A5568"/>
                </a:solidFill>
                <a:latin typeface="Calibri"/>
                <a:latin/>
                <a:ea typeface="微软雅黑"/>
                <a:cs typeface="Calibri"/>
              </a:rPr>
              <a:t>来源：新华社 / 联合声明　·　china-mission.gov.cn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55664" y="3465576"/>
            <a:ext cx="5111496" cy="1691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A1A1A"/>
                </a:solidFill>
                <a:latin typeface="Calibri"/>
                <a:latin/>
                <a:ea typeface="微软雅黑"/>
                <a:cs typeface="Calibri"/>
              </a:rPr>
              <a:t>习塞会谈后见证签署一带一路、人工智能、经贸等文件；访问期间另签数字经济、科技等20余份合作文件。联合声明拓展云、数据中心、半导体与网络安全，埃方赞赏世界人工智能合作组织。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55664" y="5303520"/>
            <a:ext cx="5111496" cy="9525"/>
          </a:xfrm>
          <a:prstGeom prst="rect">
            <a:avLst/>
          </a:prstGeom>
          <a:solidFill>
            <a:srgbClr val="D6C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55664" y="5367528"/>
            <a:ext cx="5111496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41E3A"/>
                </a:solidFill>
                <a:latin typeface="Calibri"/>
                <a:latin/>
                <a:ea typeface="微软雅黑"/>
                <a:cs typeface="Calibri"/>
              </a:rPr>
              <a:t>为何重要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55664" y="5568696"/>
            <a:ext cx="5111496" cy="6583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A5568"/>
                </a:solidFill>
                <a:latin typeface="Calibri"/>
                <a:latin/>
                <a:ea typeface="微软雅黑"/>
                <a:cs typeface="Calibri"/>
              </a:rPr>
              <a:t>把算力、半导体和世界人工智能合作组织写进建交70年的官方文本。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384048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A1A1A"/>
                </a:solidFill>
                <a:latin typeface="Cambria"/>
                <a:latin/>
                <a:ea typeface="宋体"/>
                <a:cs typeface="Cambria"/>
              </a:rPr>
              <a:t>每日时政科技简报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663440" y="256032"/>
            <a:ext cx="493776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4A5568"/>
                </a:solidFill>
                <a:latin typeface="Calibri"/>
                <a:latin/>
                <a:ea typeface="微软雅黑"/>
                <a:cs typeface="Calibri"/>
              </a:rPr>
              <a:t>第245期  ·  2026年9月2日  ·  星期三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92640" y="256032"/>
            <a:ext cx="192024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C41E3A"/>
                </a:solidFill>
                <a:latin typeface="Calibri"/>
                <a:latin/>
                <a:ea typeface="微软雅黑"/>
                <a:cs typeface="Calibri"/>
              </a:rPr>
              <a:t>晨刊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566928"/>
            <a:ext cx="11185855" cy="2032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597408"/>
            <a:ext cx="11185855" cy="9525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713232"/>
            <a:ext cx="1115568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1A1A1A"/>
                </a:solidFill>
                <a:latin typeface="Cambria"/>
                <a:latin/>
                <a:ea typeface="宋体"/>
                <a:cs typeface="Cambria"/>
              </a:rPr>
              <a:t>读自己与跨染色体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207008"/>
            <a:ext cx="1115568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A5568"/>
                </a:solidFill>
                <a:latin typeface="Calibri"/>
                <a:latin/>
                <a:ea typeface="微软雅黑"/>
                <a:cs typeface="Calibri"/>
              </a:rPr>
              <a:t>一本《自然》让核糖体翻译自身RNA，另一本让哺乳动物基因拼出新蛋白。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600200"/>
            <a:ext cx="5440680" cy="4754880"/>
          </a:xfrm>
          <a:prstGeom prst="roundRect">
            <a:avLst>
              <a:gd name="adj" fmla="val 8000"/>
            </a:avLst>
          </a:prstGeom>
          <a:solidFill>
            <a:srgbClr val="FFFCF7"/>
          </a:solidFill>
          <a:ln w="12700">
            <a:solidFill>
              <a:srgbClr val="D6CF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7512" y="1728216"/>
            <a:ext cx="5111496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41E3A"/>
                </a:solidFill>
                <a:latin typeface="Calibri"/>
                <a:latin/>
                <a:ea typeface="微软雅黑"/>
                <a:cs typeface="Calibri"/>
              </a:rPr>
              <a:t>09　科学突破 · 芝加哥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512" y="1965960"/>
            <a:ext cx="5111496" cy="12618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1A1A1A"/>
                </a:solidFill>
                <a:latin typeface="Cambria"/>
                <a:latin/>
                <a:ea typeface="宋体"/>
                <a:cs typeface="Cambria"/>
              </a:rPr>
              <a:t>核糖体可翻译编码在自身RNA上的蛋白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2" y="3227832"/>
            <a:ext cx="5111496" cy="23774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1">
                <a:solidFill>
                  <a:srgbClr val="4A5568"/>
                </a:solidFill>
                <a:latin typeface="Calibri"/>
                <a:latin/>
                <a:ea typeface="微软雅黑"/>
                <a:cs typeface="Calibri"/>
              </a:rPr>
              <a:t>来源：Nature　·　s41586-026-10962-1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7512" y="3465576"/>
            <a:ext cx="5111496" cy="1691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A1A1A"/>
                </a:solidFill>
                <a:latin typeface="Calibri"/>
                <a:latin/>
                <a:ea typeface="微软雅黑"/>
                <a:cs typeface="Calibri"/>
              </a:rPr>
              <a:t>阿尔哈德等2日报告，把蛋白编码序列接到16S rRNA上，得到嵌合mrRNA，可组装成能顺式翻译自身编码蛋白的Ribo-M；再与拴系亚基结合得Ribo-TM。突变或抗生素破坏小亚基则翻译停止。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67512" y="5303520"/>
            <a:ext cx="5111496" cy="9525"/>
          </a:xfrm>
          <a:prstGeom prst="rect">
            <a:avLst/>
          </a:prstGeom>
          <a:solidFill>
            <a:srgbClr val="D6C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7512" y="5367528"/>
            <a:ext cx="5111496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41E3A"/>
                </a:solidFill>
                <a:latin typeface="Calibri"/>
                <a:latin/>
                <a:ea typeface="微软雅黑"/>
                <a:cs typeface="Calibri"/>
              </a:rPr>
              <a:t>为何重要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7512" y="5568696"/>
            <a:ext cx="5111496" cy="6583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A5568"/>
                </a:solidFill>
                <a:latin typeface="Calibri"/>
                <a:latin/>
                <a:ea typeface="微软雅黑"/>
                <a:cs typeface="Calibri"/>
              </a:rPr>
              <a:t>第一次在体内外证明核糖体可以「读自己」，把编码、解码和合成收进同一条RNA。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91072" y="1600200"/>
            <a:ext cx="5440680" cy="4754880"/>
          </a:xfrm>
          <a:prstGeom prst="roundRect">
            <a:avLst>
              <a:gd name="adj" fmla="val 8000"/>
            </a:avLst>
          </a:prstGeom>
          <a:solidFill>
            <a:srgbClr val="FFFCF7"/>
          </a:solidFill>
          <a:ln w="12700">
            <a:solidFill>
              <a:srgbClr val="D6CF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55664" y="1728216"/>
            <a:ext cx="5111496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41E3A"/>
                </a:solidFill>
                <a:latin typeface="Calibri"/>
                <a:latin/>
                <a:ea typeface="微软雅黑"/>
                <a:cs typeface="Calibri"/>
              </a:rPr>
              <a:t>10　科学突破 · 波士顿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55664" y="1965960"/>
            <a:ext cx="5111496" cy="12618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1A1A1A"/>
                </a:solidFill>
                <a:latin typeface="Cambria"/>
                <a:latin/>
                <a:ea typeface="宋体"/>
                <a:cs typeface="Cambria"/>
              </a:rPr>
              <a:t>哺乳动物基因可跨染色体拼出嵌合蛋白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55664" y="3227832"/>
            <a:ext cx="5111496" cy="23774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1">
                <a:solidFill>
                  <a:srgbClr val="4A5568"/>
                </a:solidFill>
                <a:latin typeface="Calibri"/>
                <a:latin/>
                <a:ea typeface="微软雅黑"/>
                <a:cs typeface="Calibri"/>
              </a:rPr>
              <a:t>来源：Nature / 哈佛医学院　·　s41586-026-10982-x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55664" y="3465576"/>
            <a:ext cx="5111496" cy="1691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A1A1A"/>
                </a:solidFill>
                <a:latin typeface="Calibri"/>
                <a:latin/>
                <a:ea typeface="微软雅黑"/>
                <a:cs typeface="Calibri"/>
              </a:rPr>
              <a:t>哈佛医学院团队2日报告，不同基因甚至不同染色体的指令可组合成嵌合mRNA，并编码此前未知的功能蛋白。直接RNA测序列出逾3万条嵌合转录本，近400条受炎症信号调控。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55664" y="5303520"/>
            <a:ext cx="5111496" cy="9525"/>
          </a:xfrm>
          <a:prstGeom prst="rect">
            <a:avLst/>
          </a:prstGeom>
          <a:solidFill>
            <a:srgbClr val="D6C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55664" y="5367528"/>
            <a:ext cx="5111496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41E3A"/>
                </a:solidFill>
                <a:latin typeface="Calibri"/>
                <a:latin/>
                <a:ea typeface="微软雅黑"/>
                <a:cs typeface="Calibri"/>
              </a:rPr>
              <a:t>为何重要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55664" y="5568696"/>
            <a:ext cx="5111496" cy="6583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A5568"/>
                </a:solidFill>
                <a:latin typeface="Calibri"/>
                <a:latin/>
                <a:ea typeface="微软雅黑"/>
                <a:cs typeface="Calibri"/>
              </a:rPr>
              <a:t>打破「一基因一蛋白」教科书图景，免疫暗基因组第一次有可检索的清单。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384048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A1A1A"/>
                </a:solidFill>
                <a:latin typeface="Cambria"/>
                <a:latin/>
                <a:ea typeface="宋体"/>
                <a:cs typeface="Cambria"/>
              </a:rPr>
              <a:t>每日时政科技简报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663440" y="256032"/>
            <a:ext cx="493776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4A5568"/>
                </a:solidFill>
                <a:latin typeface="Calibri"/>
                <a:latin/>
                <a:ea typeface="微软雅黑"/>
                <a:cs typeface="Calibri"/>
              </a:rPr>
              <a:t>第245期  ·  2026年9月2日  ·  星期三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92640" y="256032"/>
            <a:ext cx="192024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C41E3A"/>
                </a:solidFill>
                <a:latin typeface="Calibri"/>
                <a:latin/>
                <a:ea typeface="微软雅黑"/>
                <a:cs typeface="Calibri"/>
              </a:rPr>
              <a:t>晨刊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566928"/>
            <a:ext cx="11185855" cy="2032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597408"/>
            <a:ext cx="11185855" cy="9525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713232"/>
            <a:ext cx="1115568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1A1A1A"/>
                </a:solidFill>
                <a:latin typeface="Cambria"/>
                <a:latin/>
                <a:ea typeface="宋体"/>
                <a:cs typeface="Cambria"/>
              </a:rPr>
              <a:t>频率台阶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207008"/>
            <a:ext cx="1115568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A5568"/>
                </a:solidFill>
                <a:latin typeface="Calibri"/>
                <a:latin/>
                <a:ea typeface="微软雅黑"/>
                <a:cs typeface="Calibri"/>
              </a:rPr>
              <a:t>非线性光学把效率往上推了四个数量级，实验室给出可量产的暗示。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600200"/>
            <a:ext cx="5440680" cy="4754880"/>
          </a:xfrm>
          <a:prstGeom prst="roundRect">
            <a:avLst>
              <a:gd name="adj" fmla="val 8000"/>
            </a:avLst>
          </a:prstGeom>
          <a:solidFill>
            <a:srgbClr val="FFFCF7"/>
          </a:solidFill>
          <a:ln w="12700">
            <a:solidFill>
              <a:srgbClr val="D6CF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7512" y="1728216"/>
            <a:ext cx="5111496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41E3A"/>
                </a:solidFill>
                <a:latin typeface="Calibri"/>
                <a:latin/>
                <a:ea typeface="微软雅黑"/>
                <a:cs typeface="Calibri"/>
              </a:rPr>
              <a:t>11　科学突破 · 格拉茨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512" y="1965960"/>
            <a:ext cx="5111496" cy="12618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1A1A1A"/>
                </a:solidFill>
                <a:latin typeface="Cambria"/>
                <a:latin/>
                <a:ea typeface="宋体"/>
                <a:cs typeface="Cambria"/>
              </a:rPr>
              <a:t>超表面使非线性光转换效率提高约7.2万倍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2" y="3227832"/>
            <a:ext cx="5111496" cy="23774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1">
                <a:solidFill>
                  <a:srgbClr val="4A5568"/>
                </a:solidFill>
                <a:latin typeface="Calibri"/>
                <a:latin/>
                <a:ea typeface="微软雅黑"/>
                <a:cs typeface="Calibri"/>
              </a:rPr>
              <a:t>来源：Nature Nanotechnology / 格拉茨工大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7512" y="3465576"/>
            <a:ext cx="5111496" cy="1691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A1A1A"/>
                </a:solidFill>
                <a:latin typeface="Calibri"/>
                <a:latin/>
                <a:ea typeface="微软雅黑"/>
                <a:cs typeface="Calibri"/>
              </a:rPr>
              <a:t>格拉茨工大团队2日在《自然-纳米技术》报告，半导体量子阱与超表面组合，在电信波长把非线性光转换效率提高约7.2万倍。论文称有望缩小光电器件体积、降低数据中心机柜间光互联能耗。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67512" y="5303520"/>
            <a:ext cx="5111496" cy="9525"/>
          </a:xfrm>
          <a:prstGeom prst="rect">
            <a:avLst/>
          </a:prstGeom>
          <a:solidFill>
            <a:srgbClr val="D6C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7512" y="5367528"/>
            <a:ext cx="5111496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41E3A"/>
                </a:solidFill>
                <a:latin typeface="Calibri"/>
                <a:latin/>
                <a:ea typeface="微软雅黑"/>
                <a:cs typeface="Calibri"/>
              </a:rPr>
              <a:t>为何重要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7512" y="5568696"/>
            <a:ext cx="5111496" cy="6583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A5568"/>
                </a:solidFill>
                <a:latin typeface="Calibri"/>
                <a:latin/>
                <a:ea typeface="微软雅黑"/>
                <a:cs typeface="Calibri"/>
              </a:rPr>
              <a:t>非线性光学从实验室效率跨过数量级，光计算和量子光源第一次有可量产的效率台阶。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91072" y="1600200"/>
            <a:ext cx="5440680" cy="4754880"/>
          </a:xfrm>
          <a:prstGeom prst="roundRect">
            <a:avLst>
              <a:gd name="adj" fmla="val 8000"/>
            </a:avLst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55664" y="1783080"/>
            <a:ext cx="507492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C41E3A"/>
                </a:solidFill>
                <a:latin typeface="Calibri"/>
                <a:latin/>
                <a:ea typeface="微软雅黑"/>
                <a:cs typeface="Calibri"/>
              </a:rPr>
              <a:t>信息不足 · 产业首发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55664" y="2194560"/>
            <a:ext cx="507492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000" b="1" i="0">
                <a:solidFill>
                  <a:srgbClr val="C41E3A"/>
                </a:solidFill>
                <a:latin typeface="Cambria"/>
                <a:latin/>
                <a:ea typeface="宋体"/>
                <a:cs typeface="Cambria"/>
              </a:rPr>
              <a:t>7.2万×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55664" y="2926080"/>
            <a:ext cx="5074920" cy="31089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F7F4EF"/>
                </a:solidFill>
                <a:latin typeface="Calibri"/>
                <a:latin/>
                <a:ea typeface="微软雅黑"/>
                <a:cs typeface="Calibri"/>
              </a:rPr>
              <a:t>周三芯片与互联网整机首发偏少：高通只交出GPU切片，未公布完整SoC与NPU；国内整机与大模型多为一、二日复述。科学栏以《自然》两篇与一篇纳米技术论文补足，不以降配营销稿凑数。罗曼望远镜2日无新的NASA博客节点，不把1日遮阳罩与日冕仪再写一遍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384048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7F4EF"/>
                </a:solidFill>
                <a:latin typeface="Cambria"/>
                <a:latin/>
                <a:ea typeface="宋体"/>
                <a:cs typeface="Cambria"/>
              </a:rPr>
              <a:t>每日时政科技简报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663440" y="256032"/>
            <a:ext cx="493776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B8B0A4"/>
                </a:solidFill>
                <a:latin typeface="Calibri"/>
                <a:latin/>
                <a:ea typeface="微软雅黑"/>
                <a:cs typeface="Calibri"/>
              </a:rPr>
              <a:t>第245期  ·  2026年9月2日  ·  星期三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92640" y="256032"/>
            <a:ext cx="192024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C41E3A"/>
                </a:solidFill>
                <a:latin typeface="Calibri"/>
                <a:latin/>
                <a:ea typeface="微软雅黑"/>
                <a:cs typeface="Calibri"/>
              </a:rPr>
              <a:t>11 / 11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566928"/>
            <a:ext cx="11185855" cy="2032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597408"/>
            <a:ext cx="11185855" cy="9525"/>
          </a:xfrm>
          <a:prstGeom prst="rect">
            <a:avLst/>
          </a:prstGeom>
          <a:solidFill>
            <a:srgbClr val="F7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777240"/>
            <a:ext cx="1115568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F7F4EF"/>
                </a:solidFill>
                <a:latin typeface="Cambria"/>
                <a:latin/>
                <a:ea typeface="宋体"/>
                <a:cs typeface="Cambria"/>
              </a:rPr>
              <a:t>本日判断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417320"/>
            <a:ext cx="11155680" cy="10515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7F4EF"/>
                </a:solidFill>
                <a:latin typeface="Cambria"/>
                <a:latin/>
                <a:ea typeface="宋体"/>
                <a:cs typeface="Cambria"/>
              </a:rPr>
              <a:t>开罗要架构，海峡要雷达，口岸要挖开四到十六米的淤泥。周三不是周二的复述：中东安全新架构落在太阳宫，美军打击合沪时零时后入账，吉隆路通、尼侧过一千一百，敌国条款在投降书签署日被重申。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2606040"/>
            <a:ext cx="5440680" cy="2788920"/>
          </a:xfrm>
          <a:prstGeom prst="roundRect">
            <a:avLst>
              <a:gd name="adj" fmla="val 8000"/>
            </a:avLst>
          </a:prstGeom>
          <a:solidFill>
            <a:srgbClr val="2424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697480"/>
            <a:ext cx="507492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C41E3A"/>
                </a:solidFill>
                <a:latin typeface="Calibri"/>
                <a:latin/>
                <a:ea typeface="微软雅黑"/>
                <a:cs typeface="Calibri"/>
              </a:rPr>
              <a:t>时政六条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3035808"/>
            <a:ext cx="5074920" cy="21945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7F4EF"/>
                </a:solidFill>
                <a:latin typeface="Calibri"/>
                <a:latin/>
                <a:ea typeface="微软雅黑"/>
                <a:cs typeface="Calibri"/>
              </a:rPr>
              <a:t>1  习近平同塞西会谈，提出中东安全新架构
2  美军再袭伊朗，伊方反击，婚礼遇袭致死
3  吉隆第八日：G216核心通道抢通
4  尼泊尔遇难升至1118人，4858人失联
5  近百中国公民在尼失联，第三批援助筹备中
6  日本投降81周年，外交部重申敌国条款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36208" y="2606040"/>
            <a:ext cx="5440680" cy="2788920"/>
          </a:xfrm>
          <a:prstGeom prst="roundRect">
            <a:avLst>
              <a:gd name="adj" fmla="val 8000"/>
            </a:avLst>
          </a:prstGeom>
          <a:solidFill>
            <a:srgbClr val="2424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19088" y="2697480"/>
            <a:ext cx="507492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C41E3A"/>
                </a:solidFill>
                <a:latin typeface="Calibri"/>
                <a:latin/>
                <a:ea typeface="微软雅黑"/>
                <a:cs typeface="Calibri"/>
              </a:rPr>
              <a:t>科技五条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19088" y="3035808"/>
            <a:ext cx="5074920" cy="21945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7F4EF"/>
                </a:solidFill>
                <a:latin typeface="Calibri"/>
                <a:latin/>
                <a:ea typeface="微软雅黑"/>
                <a:cs typeface="Calibri"/>
              </a:rPr>
              <a:t>1  高通公布 Adreno Neural Fusion GPU
2  中埃签署人工智能与数字经济合作文件
3  核糖体可翻译编码在自身RNA上的蛋白
4  哺乳动物基因可跨染色体拼出嵌合蛋白
5  超表面使非线性光转换效率提高约7.2万倍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5532120"/>
            <a:ext cx="11185855" cy="7772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C9C2B6"/>
                </a:solidFill>
                <a:latin typeface="Calibri"/>
                <a:latin/>
                <a:ea typeface="微软雅黑"/>
                <a:cs typeface="Calibri"/>
              </a:rPr>
              <a:t>方法：Asia/Shanghai 昨天（2026-09-02）为窗口。未混入1日上合宣言、特纳斯就任、星火X2.5、罗曼遮阳罩、Astra评估。美军正午打击合沪时2日0时，本期刊入。Firecrawl 未鉴权。完 · 可与 briefing.html 对照 · 非投资建议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