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3840480" cy="292608"/>
          </a:xfrm>
          <a:prstGeom prst="rect">
            <a:avLst/>
          </a:prstGeom>
          <a:noFill/>
        </p:spPr>
        <p:txBody>
          <a:bodyPr wrap="square" anchor="t"/>
          <a:lstStyle/>
          <a:p>
            <a:pPr algn="l">
              <a:spcBef>
                <a:spcPts val="0"/>
              </a:spcBef>
              <a:spcAft>
                <a:spcPts val="200"/>
              </a:spcAft>
            </a:pPr>
            <a:r>
              <a:rPr sz="1300" b="1" i="0">
                <a:solidFill>
                  <a:srgbClr val="F7F4EF"/>
                </a:solidFill>
                <a:latin typeface="Cambria"/>
                <a:ea a:typeface="Cambria"/>
              </a:rPr>
              <a:t>每日时政科技简报</a:t>
            </a:r>
          </a:p>
        </p:txBody>
      </p:sp>
      <p:sp>
        <p:nvSpPr>
          <p:cNvPr id="4" name="TextBox 3"/>
          <p:cNvSpPr txBox="1"/>
          <p:nvPr/>
        </p:nvSpPr>
        <p:spPr>
          <a:xfrm>
            <a:off x="4663440" y="256032"/>
            <a:ext cx="4937760" cy="292608"/>
          </a:xfrm>
          <a:prstGeom prst="rect">
            <a:avLst/>
          </a:prstGeom>
          <a:noFill/>
        </p:spPr>
        <p:txBody>
          <a:bodyPr wrap="square" anchor="t"/>
          <a:lstStyle/>
          <a:p>
            <a:pPr algn="ctr">
              <a:spcBef>
                <a:spcPts val="0"/>
              </a:spcBef>
              <a:spcAft>
                <a:spcPts val="200"/>
              </a:spcAft>
            </a:pPr>
            <a:r>
              <a:rPr sz="1100" b="0" i="0">
                <a:solidFill>
                  <a:srgbClr val="C9C2B6"/>
                </a:solidFill>
                <a:latin typeface="Calibri"/>
                <a:ea a:typeface="Calibri"/>
              </a:rPr>
              <a:t>第257期  ·  2026年9月14日  ·  星期一</a:t>
            </a:r>
          </a:p>
        </p:txBody>
      </p:sp>
      <p:sp>
        <p:nvSpPr>
          <p:cNvPr id="5" name="TextBox 4"/>
          <p:cNvSpPr txBox="1"/>
          <p:nvPr/>
        </p:nvSpPr>
        <p:spPr>
          <a:xfrm>
            <a:off x="9692640" y="256032"/>
            <a:ext cx="2011680" cy="292608"/>
          </a:xfrm>
          <a:prstGeom prst="rect">
            <a:avLst/>
          </a:prstGeom>
          <a:noFill/>
        </p:spPr>
        <p:txBody>
          <a:bodyPr wrap="square" anchor="t"/>
          <a:lstStyle/>
          <a:p>
            <a:pPr algn="r">
              <a:spcBef>
                <a:spcPts val="0"/>
              </a:spcBef>
              <a:spcAft>
                <a:spcPts val="200"/>
              </a:spcAft>
            </a:pPr>
            <a:r>
              <a:rPr sz="1100" b="1" i="0">
                <a:solidFill>
                  <a:srgbClr val="C41E3A"/>
                </a:solidFill>
                <a:latin typeface="Calibri"/>
                <a:ea a:typeface="Calibri"/>
              </a:rPr>
              <a:t>晨刊</a:t>
            </a:r>
          </a:p>
        </p:txBody>
      </p:sp>
      <p:sp>
        <p:nvSpPr>
          <p:cNvPr id="6" name="Rectangle 5"/>
          <p:cNvSpPr/>
          <p:nvPr/>
        </p:nvSpPr>
        <p:spPr>
          <a:xfrm>
            <a:off x="457200" y="566928"/>
            <a:ext cx="11277295" cy="20320"/>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603504"/>
            <a:ext cx="11277295" cy="9525"/>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841248"/>
            <a:ext cx="146304" cy="146304"/>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804672"/>
            <a:ext cx="5852160" cy="256032"/>
          </a:xfrm>
          <a:prstGeom prst="rect">
            <a:avLst/>
          </a:prstGeom>
          <a:noFill/>
        </p:spPr>
        <p:txBody>
          <a:bodyPr wrap="square" anchor="t"/>
          <a:lstStyle/>
          <a:p>
            <a:pPr algn="l">
              <a:spcBef>
                <a:spcPts val="0"/>
              </a:spcBef>
              <a:spcAft>
                <a:spcPts val="200"/>
              </a:spcAft>
            </a:pPr>
            <a:r>
              <a:rPr sz="1100" b="1" i="0">
                <a:solidFill>
                  <a:srgbClr val="C9C2B6"/>
                </a:solidFill>
                <a:latin typeface="Calibri"/>
                <a:ea a:typeface="Calibri"/>
              </a:rPr>
              <a:t>THE MORNING DISPATCH</a:t>
            </a:r>
          </a:p>
        </p:txBody>
      </p:sp>
      <p:sp>
        <p:nvSpPr>
          <p:cNvPr id="10" name="TextBox 9"/>
          <p:cNvSpPr txBox="1"/>
          <p:nvPr/>
        </p:nvSpPr>
        <p:spPr>
          <a:xfrm>
            <a:off x="7498079" y="804672"/>
            <a:ext cx="4206240" cy="256032"/>
          </a:xfrm>
          <a:prstGeom prst="rect">
            <a:avLst/>
          </a:prstGeom>
          <a:noFill/>
        </p:spPr>
        <p:txBody>
          <a:bodyPr wrap="square" anchor="t"/>
          <a:lstStyle/>
          <a:p>
            <a:pPr algn="r">
              <a:spcBef>
                <a:spcPts val="0"/>
              </a:spcBef>
              <a:spcAft>
                <a:spcPts val="200"/>
              </a:spcAft>
            </a:pPr>
            <a:r>
              <a:rPr sz="1100" b="0" i="0">
                <a:solidFill>
                  <a:srgbClr val="C9C2B6"/>
                </a:solidFill>
                <a:latin typeface="Calibri"/>
                <a:ea a:typeface="Calibri"/>
              </a:rPr>
              <a:t>ASIA / SHANGHAI　昨日新闻</a:t>
            </a:r>
          </a:p>
        </p:txBody>
      </p:sp>
      <p:sp>
        <p:nvSpPr>
          <p:cNvPr id="11" name="Rectangle 10"/>
          <p:cNvSpPr/>
          <p:nvPr/>
        </p:nvSpPr>
        <p:spPr>
          <a:xfrm>
            <a:off x="457200" y="1115568"/>
            <a:ext cx="11277295" cy="27940"/>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1170432"/>
            <a:ext cx="11277295" cy="9525"/>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1298448"/>
            <a:ext cx="11155680" cy="292608"/>
          </a:xfrm>
          <a:prstGeom prst="rect">
            <a:avLst/>
          </a:prstGeom>
          <a:noFill/>
        </p:spPr>
        <p:txBody>
          <a:bodyPr wrap="square" anchor="t"/>
          <a:lstStyle/>
          <a:p>
            <a:pPr algn="l">
              <a:spcBef>
                <a:spcPts val="0"/>
              </a:spcBef>
              <a:spcAft>
                <a:spcPts val="200"/>
              </a:spcAft>
            </a:pPr>
            <a:r>
              <a:rPr sz="1400" b="0" i="0">
                <a:solidFill>
                  <a:srgbClr val="C41E3A"/>
                </a:solidFill>
                <a:latin typeface="Calibri"/>
                <a:ea a:typeface="Calibri"/>
              </a:rPr>
              <a:t>第贰伍柒期  ·  二零二六年九月十四日  ·  星期一</a:t>
            </a:r>
          </a:p>
        </p:txBody>
      </p:sp>
      <p:sp>
        <p:nvSpPr>
          <p:cNvPr id="14" name="TextBox 13"/>
          <p:cNvSpPr txBox="1"/>
          <p:nvPr/>
        </p:nvSpPr>
        <p:spPr>
          <a:xfrm>
            <a:off x="457200" y="1627632"/>
            <a:ext cx="11247120" cy="1051560"/>
          </a:xfrm>
          <a:prstGeom prst="rect">
            <a:avLst/>
          </a:prstGeom>
          <a:noFill/>
        </p:spPr>
        <p:txBody>
          <a:bodyPr wrap="square" anchor="t"/>
          <a:lstStyle/>
          <a:p>
            <a:pPr algn="l">
              <a:spcBef>
                <a:spcPts val="0"/>
              </a:spcBef>
              <a:spcAft>
                <a:spcPts val="200"/>
              </a:spcAft>
            </a:pPr>
            <a:r>
              <a:rPr sz="4800" b="1" i="0">
                <a:solidFill>
                  <a:srgbClr val="F7F4EF"/>
                </a:solidFill>
                <a:latin typeface="Cambria"/>
                <a:ea a:typeface="Cambria"/>
              </a:rPr>
              <a:t>每日时政科技简报</a:t>
            </a:r>
          </a:p>
        </p:txBody>
      </p:sp>
      <p:sp>
        <p:nvSpPr>
          <p:cNvPr id="15" name="TextBox 14"/>
          <p:cNvSpPr txBox="1"/>
          <p:nvPr/>
        </p:nvSpPr>
        <p:spPr>
          <a:xfrm>
            <a:off x="457200" y="2697480"/>
            <a:ext cx="11247120" cy="347472"/>
          </a:xfrm>
          <a:prstGeom prst="rect">
            <a:avLst/>
          </a:prstGeom>
          <a:noFill/>
        </p:spPr>
        <p:txBody>
          <a:bodyPr wrap="square" anchor="t"/>
          <a:lstStyle/>
          <a:p>
            <a:pPr algn="l">
              <a:spcBef>
                <a:spcPts val="0"/>
              </a:spcBef>
              <a:spcAft>
                <a:spcPts val="200"/>
              </a:spcAft>
            </a:pPr>
            <a:r>
              <a:rPr sz="1600" b="0" i="0">
                <a:solidFill>
                  <a:srgbClr val="C9C2B6"/>
                </a:solidFill>
                <a:latin typeface="Calibri"/>
                <a:ea a:typeface="Calibri"/>
              </a:rPr>
              <a:t>只收录该日发生或该日首发的稿件，拒绝转载拼盘。</a:t>
            </a:r>
          </a:p>
        </p:txBody>
      </p:sp>
      <p:sp>
        <p:nvSpPr>
          <p:cNvPr id="16" name="Rectangle 15"/>
          <p:cNvSpPr/>
          <p:nvPr/>
        </p:nvSpPr>
        <p:spPr>
          <a:xfrm>
            <a:off x="457200" y="3200400"/>
            <a:ext cx="3588410" cy="1874519"/>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3273552"/>
            <a:ext cx="3222650" cy="868680"/>
          </a:xfrm>
          <a:prstGeom prst="rect">
            <a:avLst/>
          </a:prstGeom>
          <a:noFill/>
        </p:spPr>
        <p:txBody>
          <a:bodyPr wrap="square" anchor="t"/>
          <a:lstStyle/>
          <a:p>
            <a:pPr algn="l">
              <a:spcBef>
                <a:spcPts val="0"/>
              </a:spcBef>
              <a:spcAft>
                <a:spcPts val="200"/>
              </a:spcAft>
            </a:pPr>
            <a:r>
              <a:rPr sz="5200" b="1" i="0">
                <a:solidFill>
                  <a:srgbClr val="C41E3A"/>
                </a:solidFill>
                <a:latin typeface="Cambria"/>
                <a:ea a:typeface="Cambria"/>
              </a:rPr>
              <a:t>06</a:t>
            </a:r>
          </a:p>
        </p:txBody>
      </p:sp>
      <p:sp>
        <p:nvSpPr>
          <p:cNvPr id="18" name="TextBox 17"/>
          <p:cNvSpPr txBox="1"/>
          <p:nvPr/>
        </p:nvSpPr>
        <p:spPr>
          <a:xfrm>
            <a:off x="658368" y="4133087"/>
            <a:ext cx="3222650" cy="329184"/>
          </a:xfrm>
          <a:prstGeom prst="rect">
            <a:avLst/>
          </a:prstGeom>
          <a:noFill/>
        </p:spPr>
        <p:txBody>
          <a:bodyPr wrap="square" anchor="t"/>
          <a:lstStyle/>
          <a:p>
            <a:pPr algn="l">
              <a:spcBef>
                <a:spcPts val="0"/>
              </a:spcBef>
              <a:spcAft>
                <a:spcPts val="200"/>
              </a:spcAft>
            </a:pPr>
            <a:r>
              <a:rPr sz="1800" b="1" i="0">
                <a:solidFill>
                  <a:srgbClr val="F7F4EF"/>
                </a:solidFill>
                <a:latin typeface="Calibri"/>
                <a:ea a:typeface="Calibri"/>
              </a:rPr>
              <a:t>时政</a:t>
            </a:r>
          </a:p>
        </p:txBody>
      </p:sp>
      <p:sp>
        <p:nvSpPr>
          <p:cNvPr id="19" name="TextBox 18"/>
          <p:cNvSpPr txBox="1"/>
          <p:nvPr/>
        </p:nvSpPr>
        <p:spPr>
          <a:xfrm>
            <a:off x="658368" y="4480560"/>
            <a:ext cx="3222650" cy="365760"/>
          </a:xfrm>
          <a:prstGeom prst="rect">
            <a:avLst/>
          </a:prstGeom>
          <a:noFill/>
        </p:spPr>
        <p:txBody>
          <a:bodyPr wrap="square" anchor="t"/>
          <a:lstStyle/>
          <a:p>
            <a:pPr algn="l">
              <a:spcBef>
                <a:spcPts val="0"/>
              </a:spcBef>
              <a:spcAft>
                <a:spcPts val="200"/>
              </a:spcAft>
            </a:pPr>
            <a:r>
              <a:rPr sz="1200" b="0" i="0">
                <a:solidFill>
                  <a:srgbClr val="C9C2B6"/>
                </a:solidFill>
                <a:latin typeface="Calibri"/>
                <a:ea a:typeface="Calibri"/>
              </a:rPr>
              <a:t>再确认 · 回款 · 油价</a:t>
            </a:r>
          </a:p>
        </p:txBody>
      </p:sp>
      <p:sp>
        <p:nvSpPr>
          <p:cNvPr id="20" name="Rectangle 19"/>
          <p:cNvSpPr/>
          <p:nvPr/>
        </p:nvSpPr>
        <p:spPr>
          <a:xfrm>
            <a:off x="4301642" y="3200400"/>
            <a:ext cx="3588410" cy="1874519"/>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02810" y="3273552"/>
            <a:ext cx="3222650" cy="868680"/>
          </a:xfrm>
          <a:prstGeom prst="rect">
            <a:avLst/>
          </a:prstGeom>
          <a:noFill/>
        </p:spPr>
        <p:txBody>
          <a:bodyPr wrap="square" anchor="t"/>
          <a:lstStyle/>
          <a:p>
            <a:pPr algn="l">
              <a:spcBef>
                <a:spcPts val="0"/>
              </a:spcBef>
              <a:spcAft>
                <a:spcPts val="200"/>
              </a:spcAft>
            </a:pPr>
            <a:r>
              <a:rPr sz="5200" b="1" i="0">
                <a:solidFill>
                  <a:srgbClr val="C41E3A"/>
                </a:solidFill>
                <a:latin typeface="Cambria"/>
                <a:ea a:typeface="Cambria"/>
              </a:rPr>
              <a:t>04</a:t>
            </a:r>
          </a:p>
        </p:txBody>
      </p:sp>
      <p:sp>
        <p:nvSpPr>
          <p:cNvPr id="22" name="TextBox 21"/>
          <p:cNvSpPr txBox="1"/>
          <p:nvPr/>
        </p:nvSpPr>
        <p:spPr>
          <a:xfrm>
            <a:off x="4502810" y="4133087"/>
            <a:ext cx="3222650" cy="329184"/>
          </a:xfrm>
          <a:prstGeom prst="rect">
            <a:avLst/>
          </a:prstGeom>
          <a:noFill/>
        </p:spPr>
        <p:txBody>
          <a:bodyPr wrap="square" anchor="t"/>
          <a:lstStyle/>
          <a:p>
            <a:pPr algn="l">
              <a:spcBef>
                <a:spcPts val="0"/>
              </a:spcBef>
              <a:spcAft>
                <a:spcPts val="200"/>
              </a:spcAft>
            </a:pPr>
            <a:r>
              <a:rPr sz="1800" b="1" i="0">
                <a:solidFill>
                  <a:srgbClr val="F7F4EF"/>
                </a:solidFill>
                <a:latin typeface="Calibri"/>
                <a:ea a:typeface="Calibri"/>
              </a:rPr>
              <a:t>科技</a:t>
            </a:r>
          </a:p>
        </p:txBody>
      </p:sp>
      <p:sp>
        <p:nvSpPr>
          <p:cNvPr id="23" name="TextBox 22"/>
          <p:cNvSpPr txBox="1"/>
          <p:nvPr/>
        </p:nvSpPr>
        <p:spPr>
          <a:xfrm>
            <a:off x="4502810" y="4480560"/>
            <a:ext cx="3222650" cy="365760"/>
          </a:xfrm>
          <a:prstGeom prst="rect">
            <a:avLst/>
          </a:prstGeom>
          <a:noFill/>
        </p:spPr>
        <p:txBody>
          <a:bodyPr wrap="square" anchor="t"/>
          <a:lstStyle/>
          <a:p>
            <a:pPr algn="l">
              <a:spcBef>
                <a:spcPts val="0"/>
              </a:spcBef>
              <a:spcAft>
                <a:spcPts val="200"/>
              </a:spcAft>
            </a:pPr>
            <a:r>
              <a:rPr sz="1200" b="0" i="0">
                <a:solidFill>
                  <a:srgbClr val="C9C2B6"/>
                </a:solidFill>
                <a:latin typeface="Calibri"/>
                <a:ea a:typeface="Calibri"/>
              </a:rPr>
              <a:t>盈利 · MONAKA · 框架</a:t>
            </a:r>
          </a:p>
        </p:txBody>
      </p:sp>
      <p:sp>
        <p:nvSpPr>
          <p:cNvPr id="24" name="Rectangle 23"/>
          <p:cNvSpPr/>
          <p:nvPr/>
        </p:nvSpPr>
        <p:spPr>
          <a:xfrm>
            <a:off x="8146084" y="3200400"/>
            <a:ext cx="3588410" cy="1874519"/>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47252" y="3273552"/>
            <a:ext cx="3222650" cy="868680"/>
          </a:xfrm>
          <a:prstGeom prst="rect">
            <a:avLst/>
          </a:prstGeom>
          <a:noFill/>
        </p:spPr>
        <p:txBody>
          <a:bodyPr wrap="square" anchor="t"/>
          <a:lstStyle/>
          <a:p>
            <a:pPr algn="l">
              <a:spcBef>
                <a:spcPts val="0"/>
              </a:spcBef>
              <a:spcAft>
                <a:spcPts val="200"/>
              </a:spcAft>
            </a:pPr>
            <a:r>
              <a:rPr sz="5200" b="1" i="0">
                <a:solidFill>
                  <a:srgbClr val="C41E3A"/>
                </a:solidFill>
                <a:latin typeface="Cambria"/>
                <a:ea a:typeface="Cambria"/>
              </a:rPr>
              <a:t>10</a:t>
            </a:r>
          </a:p>
        </p:txBody>
      </p:sp>
      <p:sp>
        <p:nvSpPr>
          <p:cNvPr id="26" name="TextBox 25"/>
          <p:cNvSpPr txBox="1"/>
          <p:nvPr/>
        </p:nvSpPr>
        <p:spPr>
          <a:xfrm>
            <a:off x="8347252" y="4133087"/>
            <a:ext cx="3222650" cy="329184"/>
          </a:xfrm>
          <a:prstGeom prst="rect">
            <a:avLst/>
          </a:prstGeom>
          <a:noFill/>
        </p:spPr>
        <p:txBody>
          <a:bodyPr wrap="square" anchor="t"/>
          <a:lstStyle/>
          <a:p>
            <a:pPr algn="l">
              <a:spcBef>
                <a:spcPts val="0"/>
              </a:spcBef>
              <a:spcAft>
                <a:spcPts val="200"/>
              </a:spcAft>
            </a:pPr>
            <a:r>
              <a:rPr sz="1800" b="1" i="0">
                <a:solidFill>
                  <a:srgbClr val="F7F4EF"/>
                </a:solidFill>
                <a:latin typeface="Calibri"/>
                <a:ea a:typeface="Calibri"/>
              </a:rPr>
              <a:t>合计</a:t>
            </a:r>
          </a:p>
        </p:txBody>
      </p:sp>
      <p:sp>
        <p:nvSpPr>
          <p:cNvPr id="27" name="TextBox 26"/>
          <p:cNvSpPr txBox="1"/>
          <p:nvPr/>
        </p:nvSpPr>
        <p:spPr>
          <a:xfrm>
            <a:off x="8347252" y="4480560"/>
            <a:ext cx="3222650" cy="365760"/>
          </a:xfrm>
          <a:prstGeom prst="rect">
            <a:avLst/>
          </a:prstGeom>
          <a:noFill/>
        </p:spPr>
        <p:txBody>
          <a:bodyPr wrap="square" anchor="t"/>
          <a:lstStyle/>
          <a:p>
            <a:pPr algn="l">
              <a:spcBef>
                <a:spcPts val="0"/>
              </a:spcBef>
              <a:spcAft>
                <a:spcPts val="200"/>
              </a:spcAft>
            </a:pPr>
            <a:r>
              <a:rPr sz="1200" b="0" i="0">
                <a:solidFill>
                  <a:srgbClr val="C9C2B6"/>
                </a:solidFill>
                <a:latin typeface="Calibri"/>
                <a:ea a:typeface="Calibri"/>
              </a:rPr>
              <a:t>周一首发可核验</a:t>
            </a:r>
          </a:p>
        </p:txBody>
      </p:sp>
      <p:sp>
        <p:nvSpPr>
          <p:cNvPr id="28" name="TextBox 27"/>
          <p:cNvSpPr txBox="1"/>
          <p:nvPr/>
        </p:nvSpPr>
        <p:spPr>
          <a:xfrm>
            <a:off x="457200" y="5230368"/>
            <a:ext cx="11247120" cy="1234440"/>
          </a:xfrm>
          <a:prstGeom prst="rect">
            <a:avLst/>
          </a:prstGeom>
          <a:noFill/>
        </p:spPr>
        <p:txBody>
          <a:bodyPr wrap="square" anchor="t"/>
          <a:lstStyle/>
          <a:p>
            <a:pPr algn="l">
              <a:spcBef>
                <a:spcPts val="0"/>
              </a:spcBef>
              <a:spcAft>
                <a:spcPts val="200"/>
              </a:spcAft>
            </a:pPr>
            <a:r>
              <a:rPr sz="1400" b="0" i="0">
                <a:solidFill>
                  <a:srgbClr val="F7F4EF"/>
                </a:solidFill>
                <a:latin typeface="Calibri"/>
                <a:ea a:typeface="Calibri"/>
              </a:rPr>
              <a:t>今日主线：郭嘉昆把新德里写成中印关系的「再确认」；国新办五部门把中小企业回款难写成现金支付硬杠杠。沙特东西管道关停后，布伦特迎来第一个交易日。科技栏：金融时报盈利稿合沪时凌晨入账，富士通把2纳米MONAKA写成11月可下单，济南网安周交出《框架》3.0，《自然·电子》把过滤做进晶体管前端。</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3840480" cy="292608"/>
          </a:xfrm>
          <a:prstGeom prst="rect">
            <a:avLst/>
          </a:prstGeom>
          <a:noFill/>
        </p:spPr>
        <p:txBody>
          <a:bodyPr wrap="square" anchor="t"/>
          <a:lstStyle/>
          <a:p>
            <a:pPr algn="l">
              <a:spcBef>
                <a:spcPts val="0"/>
              </a:spcBef>
              <a:spcAft>
                <a:spcPts val="200"/>
              </a:spcAft>
            </a:pPr>
            <a:r>
              <a:rPr sz="1300" b="1" i="0">
                <a:solidFill>
                  <a:srgbClr val="1A1A1A"/>
                </a:solidFill>
                <a:latin typeface="Cambria"/>
                <a:ea a:typeface="Cambria"/>
              </a:rPr>
              <a:t>每日时政科技简报</a:t>
            </a:r>
          </a:p>
        </p:txBody>
      </p:sp>
      <p:sp>
        <p:nvSpPr>
          <p:cNvPr id="4" name="TextBox 3"/>
          <p:cNvSpPr txBox="1"/>
          <p:nvPr/>
        </p:nvSpPr>
        <p:spPr>
          <a:xfrm>
            <a:off x="4663440" y="256032"/>
            <a:ext cx="4937760" cy="292608"/>
          </a:xfrm>
          <a:prstGeom prst="rect">
            <a:avLst/>
          </a:prstGeom>
          <a:noFill/>
        </p:spPr>
        <p:txBody>
          <a:bodyPr wrap="square" anchor="t"/>
          <a:lstStyle/>
          <a:p>
            <a:pPr algn="ctr">
              <a:spcBef>
                <a:spcPts val="0"/>
              </a:spcBef>
              <a:spcAft>
                <a:spcPts val="200"/>
              </a:spcAft>
            </a:pPr>
            <a:r>
              <a:rPr sz="1100" b="0" i="0">
                <a:solidFill>
                  <a:srgbClr val="4A5568"/>
                </a:solidFill>
                <a:latin typeface="Calibri"/>
                <a:ea a:typeface="Calibri"/>
              </a:rPr>
              <a:t>第257期  ·  2026年9月14日  ·  星期一</a:t>
            </a:r>
          </a:p>
        </p:txBody>
      </p:sp>
      <p:sp>
        <p:nvSpPr>
          <p:cNvPr id="5" name="TextBox 4"/>
          <p:cNvSpPr txBox="1"/>
          <p:nvPr/>
        </p:nvSpPr>
        <p:spPr>
          <a:xfrm>
            <a:off x="9692640" y="256032"/>
            <a:ext cx="2011680" cy="292608"/>
          </a:xfrm>
          <a:prstGeom prst="rect">
            <a:avLst/>
          </a:prstGeom>
          <a:noFill/>
        </p:spPr>
        <p:txBody>
          <a:bodyPr wrap="square" anchor="t"/>
          <a:lstStyle/>
          <a:p>
            <a:pPr algn="r">
              <a:spcBef>
                <a:spcPts val="0"/>
              </a:spcBef>
              <a:spcAft>
                <a:spcPts val="200"/>
              </a:spcAft>
            </a:pPr>
            <a:r>
              <a:rPr sz="1100" b="1" i="0">
                <a:solidFill>
                  <a:srgbClr val="C41E3A"/>
                </a:solidFill>
                <a:latin typeface="Calibri"/>
                <a:ea a:typeface="Calibri"/>
              </a:rPr>
              <a:t>晨刊</a:t>
            </a:r>
          </a:p>
        </p:txBody>
      </p:sp>
      <p:sp>
        <p:nvSpPr>
          <p:cNvPr id="6" name="Rectangle 5"/>
          <p:cNvSpPr/>
          <p:nvPr/>
        </p:nvSpPr>
        <p:spPr>
          <a:xfrm>
            <a:off x="457200" y="566928"/>
            <a:ext cx="11277295" cy="20320"/>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603504"/>
            <a:ext cx="11277295" cy="9525"/>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749808"/>
            <a:ext cx="2011680" cy="777240"/>
          </a:xfrm>
          <a:prstGeom prst="rect">
            <a:avLst/>
          </a:prstGeom>
          <a:noFill/>
        </p:spPr>
        <p:txBody>
          <a:bodyPr wrap="square" anchor="t"/>
          <a:lstStyle/>
          <a:p>
            <a:pPr algn="l">
              <a:spcBef>
                <a:spcPts val="0"/>
              </a:spcBef>
              <a:spcAft>
                <a:spcPts val="200"/>
              </a:spcAft>
            </a:pPr>
            <a:r>
              <a:rPr sz="6400" b="1" i="0">
                <a:solidFill>
                  <a:srgbClr val="C41E3A"/>
                </a:solidFill>
                <a:latin typeface="Cambria"/>
                <a:ea a:typeface="Cambria"/>
              </a:rPr>
              <a:t>01</a:t>
            </a:r>
          </a:p>
        </p:txBody>
      </p:sp>
      <p:sp>
        <p:nvSpPr>
          <p:cNvPr id="9" name="TextBox 8"/>
          <p:cNvSpPr txBox="1"/>
          <p:nvPr/>
        </p:nvSpPr>
        <p:spPr>
          <a:xfrm>
            <a:off x="2194560" y="868680"/>
            <a:ext cx="9418320" cy="640080"/>
          </a:xfrm>
          <a:prstGeom prst="rect">
            <a:avLst/>
          </a:prstGeom>
          <a:noFill/>
        </p:spPr>
        <p:txBody>
          <a:bodyPr wrap="square" anchor="t"/>
          <a:lstStyle/>
          <a:p>
            <a:pPr algn="l">
              <a:spcBef>
                <a:spcPts val="0"/>
              </a:spcBef>
              <a:spcAft>
                <a:spcPts val="200"/>
              </a:spcAft>
            </a:pPr>
            <a:r>
              <a:rPr sz="4000" b="1" i="0">
                <a:solidFill>
                  <a:srgbClr val="1A1A1A"/>
                </a:solidFill>
                <a:latin typeface="Cambria"/>
                <a:ea a:typeface="Cambria"/>
              </a:rPr>
              <a:t>时政开篇</a:t>
            </a:r>
          </a:p>
        </p:txBody>
      </p:sp>
      <p:sp>
        <p:nvSpPr>
          <p:cNvPr id="10" name="TextBox 9"/>
          <p:cNvSpPr txBox="1"/>
          <p:nvPr/>
        </p:nvSpPr>
        <p:spPr>
          <a:xfrm>
            <a:off x="2194560" y="1481328"/>
            <a:ext cx="9418320" cy="502920"/>
          </a:xfrm>
          <a:prstGeom prst="rect">
            <a:avLst/>
          </a:prstGeom>
          <a:noFill/>
        </p:spPr>
        <p:txBody>
          <a:bodyPr wrap="square" anchor="t"/>
          <a:lstStyle/>
          <a:p>
            <a:pPr algn="l">
              <a:spcBef>
                <a:spcPts val="0"/>
              </a:spcBef>
              <a:spcAft>
                <a:spcPts val="200"/>
              </a:spcAft>
            </a:pPr>
            <a:r>
              <a:rPr sz="1500" b="0" i="0">
                <a:solidFill>
                  <a:srgbClr val="4A5568"/>
                </a:solidFill>
                <a:latin typeface="Calibri"/>
                <a:ea a:typeface="Calibri"/>
              </a:rPr>
              <a:t>星期一先把会晤桌收成句法，再把账期和油价叠在同一张版面上。</a:t>
            </a:r>
          </a:p>
        </p:txBody>
      </p:sp>
      <p:sp>
        <p:nvSpPr>
          <p:cNvPr id="11" name="Rectangle 10"/>
          <p:cNvSpPr/>
          <p:nvPr/>
        </p:nvSpPr>
        <p:spPr>
          <a:xfrm>
            <a:off x="457200" y="2084831"/>
            <a:ext cx="11277295" cy="1417320"/>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157984"/>
            <a:ext cx="10789920" cy="237744"/>
          </a:xfrm>
          <a:prstGeom prst="rect">
            <a:avLst/>
          </a:prstGeom>
          <a:noFill/>
        </p:spPr>
        <p:txBody>
          <a:bodyPr wrap="square" anchor="t"/>
          <a:lstStyle/>
          <a:p>
            <a:pPr algn="l">
              <a:spcBef>
                <a:spcPts val="0"/>
              </a:spcBef>
              <a:spcAft>
                <a:spcPts val="200"/>
              </a:spcAft>
            </a:pPr>
            <a:r>
              <a:rPr sz="1100" b="1" i="0">
                <a:solidFill>
                  <a:srgbClr val="C41E3A"/>
                </a:solidFill>
                <a:latin typeface="Calibri"/>
                <a:ea a:typeface="Calibri"/>
              </a:rPr>
              <a:t>引　言</a:t>
            </a:r>
          </a:p>
        </p:txBody>
      </p:sp>
      <p:sp>
        <p:nvSpPr>
          <p:cNvPr id="13" name="TextBox 12"/>
          <p:cNvSpPr txBox="1"/>
          <p:nvPr/>
        </p:nvSpPr>
        <p:spPr>
          <a:xfrm>
            <a:off x="658368" y="2414016"/>
            <a:ext cx="10789920" cy="960120"/>
          </a:xfrm>
          <a:prstGeom prst="rect">
            <a:avLst/>
          </a:prstGeom>
          <a:noFill/>
        </p:spPr>
        <p:txBody>
          <a:bodyPr wrap="square" anchor="t"/>
          <a:lstStyle/>
          <a:p>
            <a:pPr algn="l">
              <a:spcBef>
                <a:spcPts val="0"/>
              </a:spcBef>
              <a:spcAft>
                <a:spcPts val="200"/>
              </a:spcAft>
            </a:pPr>
            <a:r>
              <a:rPr sz="1600" b="1" i="0">
                <a:solidFill>
                  <a:srgbClr val="1A1A1A"/>
                </a:solidFill>
                <a:latin typeface="Cambria"/>
                <a:ea a:typeface="Cambria"/>
              </a:rPr>
              <a:t>「如果说喀山和天津会晤是引领中印关系『再出发』『再提升』，那么新德里会晤就是两国领导人对中印关系发展的『再确认』。」——郭嘉昆，9月14日例行记者会。</a:t>
            </a:r>
          </a:p>
        </p:txBody>
      </p:sp>
      <p:sp>
        <p:nvSpPr>
          <p:cNvPr id="14" name="Rectangle 13"/>
          <p:cNvSpPr/>
          <p:nvPr/>
        </p:nvSpPr>
        <p:spPr>
          <a:xfrm>
            <a:off x="457200" y="3730752"/>
            <a:ext cx="3588410" cy="2487168"/>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3858768"/>
            <a:ext cx="3222650" cy="777240"/>
          </a:xfrm>
          <a:prstGeom prst="rect">
            <a:avLst/>
          </a:prstGeom>
          <a:noFill/>
        </p:spPr>
        <p:txBody>
          <a:bodyPr wrap="square" anchor="t"/>
          <a:lstStyle/>
          <a:p>
            <a:pPr algn="l">
              <a:spcBef>
                <a:spcPts val="0"/>
              </a:spcBef>
              <a:spcAft>
                <a:spcPts val="200"/>
              </a:spcAft>
            </a:pPr>
            <a:r>
              <a:rPr sz="3200" b="1" i="0">
                <a:solidFill>
                  <a:srgbClr val="C41E3A"/>
                </a:solidFill>
                <a:latin typeface="Cambria"/>
                <a:ea a:typeface="Cambria"/>
              </a:rPr>
              <a:t>再确认</a:t>
            </a:r>
          </a:p>
        </p:txBody>
      </p:sp>
      <p:sp>
        <p:nvSpPr>
          <p:cNvPr id="16" name="TextBox 15"/>
          <p:cNvSpPr txBox="1"/>
          <p:nvPr/>
        </p:nvSpPr>
        <p:spPr>
          <a:xfrm>
            <a:off x="640080" y="4663440"/>
            <a:ext cx="3222650" cy="329184"/>
          </a:xfrm>
          <a:prstGeom prst="rect">
            <a:avLst/>
          </a:prstGeom>
          <a:noFill/>
        </p:spPr>
        <p:txBody>
          <a:bodyPr wrap="square" anchor="t"/>
          <a:lstStyle/>
          <a:p>
            <a:pPr algn="l">
              <a:spcBef>
                <a:spcPts val="0"/>
              </a:spcBef>
              <a:spcAft>
                <a:spcPts val="200"/>
              </a:spcAft>
            </a:pPr>
            <a:r>
              <a:rPr sz="1500" b="1" i="0">
                <a:solidFill>
                  <a:srgbClr val="1A1A1A"/>
                </a:solidFill>
                <a:latin typeface="Calibri"/>
                <a:ea a:typeface="Calibri"/>
              </a:rPr>
              <a:t>中印做伙伴</a:t>
            </a:r>
          </a:p>
        </p:txBody>
      </p:sp>
      <p:sp>
        <p:nvSpPr>
          <p:cNvPr id="17" name="TextBox 16"/>
          <p:cNvSpPr txBox="1"/>
          <p:nvPr/>
        </p:nvSpPr>
        <p:spPr>
          <a:xfrm>
            <a:off x="640080" y="5029200"/>
            <a:ext cx="3222650" cy="868680"/>
          </a:xfrm>
          <a:prstGeom prst="rect">
            <a:avLst/>
          </a:prstGeom>
          <a:noFill/>
        </p:spPr>
        <p:txBody>
          <a:bodyPr wrap="square" anchor="t"/>
          <a:lstStyle/>
          <a:p>
            <a:pPr algn="l">
              <a:spcBef>
                <a:spcPts val="0"/>
              </a:spcBef>
              <a:spcAft>
                <a:spcPts val="200"/>
              </a:spcAft>
            </a:pPr>
            <a:r>
              <a:rPr sz="1400" b="0" i="0">
                <a:solidFill>
                  <a:srgbClr val="4A5568"/>
                </a:solidFill>
                <a:latin typeface="Calibri"/>
                <a:ea a:typeface="Calibri"/>
              </a:rPr>
              <a:t>习莫连续三年会晤后的官方句法。</a:t>
            </a:r>
          </a:p>
        </p:txBody>
      </p:sp>
      <p:sp>
        <p:nvSpPr>
          <p:cNvPr id="18" name="Rectangle 17"/>
          <p:cNvSpPr/>
          <p:nvPr/>
        </p:nvSpPr>
        <p:spPr>
          <a:xfrm>
            <a:off x="4301642" y="3730752"/>
            <a:ext cx="3588410" cy="2487168"/>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84522" y="3858768"/>
            <a:ext cx="3222650" cy="777240"/>
          </a:xfrm>
          <a:prstGeom prst="rect">
            <a:avLst/>
          </a:prstGeom>
          <a:noFill/>
        </p:spPr>
        <p:txBody>
          <a:bodyPr wrap="square" anchor="t"/>
          <a:lstStyle/>
          <a:p>
            <a:pPr algn="l">
              <a:spcBef>
                <a:spcPts val="0"/>
              </a:spcBef>
              <a:spcAft>
                <a:spcPts val="200"/>
              </a:spcAft>
            </a:pPr>
            <a:r>
              <a:rPr sz="3200" b="1" i="0">
                <a:solidFill>
                  <a:srgbClr val="C41E3A"/>
                </a:solidFill>
                <a:latin typeface="Cambria"/>
                <a:ea a:typeface="Cambria"/>
              </a:rPr>
              <a:t>60日</a:t>
            </a:r>
          </a:p>
        </p:txBody>
      </p:sp>
      <p:sp>
        <p:nvSpPr>
          <p:cNvPr id="20" name="TextBox 19"/>
          <p:cNvSpPr txBox="1"/>
          <p:nvPr/>
        </p:nvSpPr>
        <p:spPr>
          <a:xfrm>
            <a:off x="4484522" y="4663440"/>
            <a:ext cx="3222650" cy="329184"/>
          </a:xfrm>
          <a:prstGeom prst="rect">
            <a:avLst/>
          </a:prstGeom>
          <a:noFill/>
        </p:spPr>
        <p:txBody>
          <a:bodyPr wrap="square" anchor="t"/>
          <a:lstStyle/>
          <a:p>
            <a:pPr algn="l">
              <a:spcBef>
                <a:spcPts val="0"/>
              </a:spcBef>
              <a:spcAft>
                <a:spcPts val="200"/>
              </a:spcAft>
            </a:pPr>
            <a:r>
              <a:rPr sz="1500" b="1" i="0">
                <a:solidFill>
                  <a:srgbClr val="1A1A1A"/>
                </a:solidFill>
                <a:latin typeface="Calibri"/>
                <a:ea a:typeface="Calibri"/>
              </a:rPr>
              <a:t>付现承诺</a:t>
            </a:r>
          </a:p>
        </p:txBody>
      </p:sp>
      <p:sp>
        <p:nvSpPr>
          <p:cNvPr id="21" name="TextBox 20"/>
          <p:cNvSpPr txBox="1"/>
          <p:nvPr/>
        </p:nvSpPr>
        <p:spPr>
          <a:xfrm>
            <a:off x="4484522" y="5029200"/>
            <a:ext cx="3222650" cy="868680"/>
          </a:xfrm>
          <a:prstGeom prst="rect">
            <a:avLst/>
          </a:prstGeom>
          <a:noFill/>
        </p:spPr>
        <p:txBody>
          <a:bodyPr wrap="square" anchor="t"/>
          <a:lstStyle/>
          <a:p>
            <a:pPr algn="l">
              <a:spcBef>
                <a:spcPts val="0"/>
              </a:spcBef>
              <a:spcAft>
                <a:spcPts val="200"/>
              </a:spcAft>
            </a:pPr>
            <a:r>
              <a:rPr sz="1400" b="0" i="0">
                <a:solidFill>
                  <a:srgbClr val="4A5568"/>
                </a:solidFill>
                <a:latin typeface="Calibri"/>
                <a:ea a:typeface="Calibri"/>
              </a:rPr>
              <a:t>龙头先行，央企现金支付成硬杠杠。</a:t>
            </a:r>
          </a:p>
        </p:txBody>
      </p:sp>
      <p:sp>
        <p:nvSpPr>
          <p:cNvPr id="22" name="Rectangle 21"/>
          <p:cNvSpPr/>
          <p:nvPr/>
        </p:nvSpPr>
        <p:spPr>
          <a:xfrm>
            <a:off x="8146084" y="3730752"/>
            <a:ext cx="3588410" cy="2487168"/>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28964" y="3858768"/>
            <a:ext cx="3222650" cy="777240"/>
          </a:xfrm>
          <a:prstGeom prst="rect">
            <a:avLst/>
          </a:prstGeom>
          <a:noFill/>
        </p:spPr>
        <p:txBody>
          <a:bodyPr wrap="square" anchor="t"/>
          <a:lstStyle/>
          <a:p>
            <a:pPr algn="l">
              <a:spcBef>
                <a:spcPts val="0"/>
              </a:spcBef>
              <a:spcAft>
                <a:spcPts val="200"/>
              </a:spcAft>
            </a:pPr>
            <a:r>
              <a:rPr sz="3200" b="1" i="0">
                <a:solidFill>
                  <a:srgbClr val="C41E3A"/>
                </a:solidFill>
                <a:latin typeface="Cambria"/>
                <a:ea a:typeface="Cambria"/>
              </a:rPr>
              <a:t>108.85</a:t>
            </a:r>
          </a:p>
        </p:txBody>
      </p:sp>
      <p:sp>
        <p:nvSpPr>
          <p:cNvPr id="24" name="TextBox 23"/>
          <p:cNvSpPr txBox="1"/>
          <p:nvPr/>
        </p:nvSpPr>
        <p:spPr>
          <a:xfrm>
            <a:off x="8328964" y="4663440"/>
            <a:ext cx="3222650" cy="329184"/>
          </a:xfrm>
          <a:prstGeom prst="rect">
            <a:avLst/>
          </a:prstGeom>
          <a:noFill/>
        </p:spPr>
        <p:txBody>
          <a:bodyPr wrap="square" anchor="t"/>
          <a:lstStyle/>
          <a:p>
            <a:pPr algn="l">
              <a:spcBef>
                <a:spcPts val="0"/>
              </a:spcBef>
              <a:spcAft>
                <a:spcPts val="200"/>
              </a:spcAft>
            </a:pPr>
            <a:r>
              <a:rPr sz="1500" b="1" i="0">
                <a:solidFill>
                  <a:srgbClr val="1A1A1A"/>
                </a:solidFill>
                <a:latin typeface="Calibri"/>
                <a:ea a:typeface="Calibri"/>
              </a:rPr>
              <a:t>布伦特盘中</a:t>
            </a:r>
          </a:p>
        </p:txBody>
      </p:sp>
      <p:sp>
        <p:nvSpPr>
          <p:cNvPr id="25" name="TextBox 24"/>
          <p:cNvSpPr txBox="1"/>
          <p:nvPr/>
        </p:nvSpPr>
        <p:spPr>
          <a:xfrm>
            <a:off x="8328964" y="5029200"/>
            <a:ext cx="3222650" cy="868680"/>
          </a:xfrm>
          <a:prstGeom prst="rect">
            <a:avLst/>
          </a:prstGeom>
          <a:noFill/>
        </p:spPr>
        <p:txBody>
          <a:bodyPr wrap="square" anchor="t"/>
          <a:lstStyle/>
          <a:p>
            <a:pPr algn="l">
              <a:spcBef>
                <a:spcPts val="0"/>
              </a:spcBef>
              <a:spcAft>
                <a:spcPts val="200"/>
              </a:spcAft>
            </a:pPr>
            <a:r>
              <a:rPr sz="1400" b="0" i="0">
                <a:solidFill>
                  <a:srgbClr val="4A5568"/>
                </a:solidFill>
                <a:latin typeface="Calibri"/>
                <a:ea a:typeface="Calibri"/>
              </a:rPr>
              <a:t>东西管道关停后第一个交易日。</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3840480" cy="292608"/>
          </a:xfrm>
          <a:prstGeom prst="rect">
            <a:avLst/>
          </a:prstGeom>
          <a:noFill/>
        </p:spPr>
        <p:txBody>
          <a:bodyPr wrap="square" anchor="t"/>
          <a:lstStyle/>
          <a:p>
            <a:pPr algn="l">
              <a:spcBef>
                <a:spcPts val="0"/>
              </a:spcBef>
              <a:spcAft>
                <a:spcPts val="200"/>
              </a:spcAft>
            </a:pPr>
            <a:r>
              <a:rPr sz="1300" b="1" i="0">
                <a:solidFill>
                  <a:srgbClr val="1A1A1A"/>
                </a:solidFill>
                <a:latin typeface="Cambria"/>
                <a:ea a:typeface="Cambria"/>
              </a:rPr>
              <a:t>每日时政科技简报</a:t>
            </a:r>
          </a:p>
        </p:txBody>
      </p:sp>
      <p:sp>
        <p:nvSpPr>
          <p:cNvPr id="4" name="TextBox 3"/>
          <p:cNvSpPr txBox="1"/>
          <p:nvPr/>
        </p:nvSpPr>
        <p:spPr>
          <a:xfrm>
            <a:off x="4663440" y="256032"/>
            <a:ext cx="4937760" cy="292608"/>
          </a:xfrm>
          <a:prstGeom prst="rect">
            <a:avLst/>
          </a:prstGeom>
          <a:noFill/>
        </p:spPr>
        <p:txBody>
          <a:bodyPr wrap="square" anchor="t"/>
          <a:lstStyle/>
          <a:p>
            <a:pPr algn="ctr">
              <a:spcBef>
                <a:spcPts val="0"/>
              </a:spcBef>
              <a:spcAft>
                <a:spcPts val="200"/>
              </a:spcAft>
            </a:pPr>
            <a:r>
              <a:rPr sz="1100" b="0" i="0">
                <a:solidFill>
                  <a:srgbClr val="4A5568"/>
                </a:solidFill>
                <a:latin typeface="Calibri"/>
                <a:ea a:typeface="Calibri"/>
              </a:rPr>
              <a:t>第257期  ·  2026年9月14日  ·  星期一</a:t>
            </a:r>
          </a:p>
        </p:txBody>
      </p:sp>
      <p:sp>
        <p:nvSpPr>
          <p:cNvPr id="5" name="TextBox 4"/>
          <p:cNvSpPr txBox="1"/>
          <p:nvPr/>
        </p:nvSpPr>
        <p:spPr>
          <a:xfrm>
            <a:off x="9692640" y="256032"/>
            <a:ext cx="2011680" cy="292608"/>
          </a:xfrm>
          <a:prstGeom prst="rect">
            <a:avLst/>
          </a:prstGeom>
          <a:noFill/>
        </p:spPr>
        <p:txBody>
          <a:bodyPr wrap="square" anchor="t"/>
          <a:lstStyle/>
          <a:p>
            <a:pPr algn="r">
              <a:spcBef>
                <a:spcPts val="0"/>
              </a:spcBef>
              <a:spcAft>
                <a:spcPts val="200"/>
              </a:spcAft>
            </a:pPr>
            <a:r>
              <a:rPr sz="1100" b="1" i="0">
                <a:solidFill>
                  <a:srgbClr val="C41E3A"/>
                </a:solidFill>
                <a:latin typeface="Calibri"/>
                <a:ea a:typeface="Calibri"/>
              </a:rPr>
              <a:t>晨刊</a:t>
            </a:r>
          </a:p>
        </p:txBody>
      </p:sp>
      <p:sp>
        <p:nvSpPr>
          <p:cNvPr id="6" name="Rectangle 5"/>
          <p:cNvSpPr/>
          <p:nvPr/>
        </p:nvSpPr>
        <p:spPr>
          <a:xfrm>
            <a:off x="457200" y="566928"/>
            <a:ext cx="11277295" cy="20320"/>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603504"/>
            <a:ext cx="11277295" cy="9525"/>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731520"/>
            <a:ext cx="11247120" cy="502920"/>
          </a:xfrm>
          <a:prstGeom prst="rect">
            <a:avLst/>
          </a:prstGeom>
          <a:noFill/>
        </p:spPr>
        <p:txBody>
          <a:bodyPr wrap="square" anchor="t"/>
          <a:lstStyle/>
          <a:p>
            <a:pPr algn="l">
              <a:spcBef>
                <a:spcPts val="0"/>
              </a:spcBef>
              <a:spcAft>
                <a:spcPts val="200"/>
              </a:spcAft>
            </a:pPr>
            <a:r>
              <a:rPr sz="3600" b="1" i="0">
                <a:solidFill>
                  <a:srgbClr val="1A1A1A"/>
                </a:solidFill>
                <a:latin typeface="Cambria"/>
                <a:ea a:typeface="Cambria"/>
              </a:rPr>
              <a:t>句法与账期</a:t>
            </a:r>
          </a:p>
        </p:txBody>
      </p:sp>
      <p:sp>
        <p:nvSpPr>
          <p:cNvPr id="9" name="TextBox 8"/>
          <p:cNvSpPr txBox="1"/>
          <p:nvPr/>
        </p:nvSpPr>
        <p:spPr>
          <a:xfrm>
            <a:off x="457200" y="1207008"/>
            <a:ext cx="11247120" cy="292608"/>
          </a:xfrm>
          <a:prstGeom prst="rect">
            <a:avLst/>
          </a:prstGeom>
          <a:noFill/>
        </p:spPr>
        <p:txBody>
          <a:bodyPr wrap="square" anchor="t"/>
          <a:lstStyle/>
          <a:p>
            <a:pPr algn="l">
              <a:spcBef>
                <a:spcPts val="0"/>
              </a:spcBef>
              <a:spcAft>
                <a:spcPts val="200"/>
              </a:spcAft>
            </a:pPr>
            <a:r>
              <a:rPr sz="1400" b="0" i="0">
                <a:solidFill>
                  <a:srgbClr val="4A5568"/>
                </a:solidFill>
                <a:latin typeface="Calibri"/>
                <a:ea a:typeface="Calibri"/>
              </a:rPr>
              <a:t>上午把会晤写成「再确认」；下午把拖欠写成可问责的执行口径。</a:t>
            </a:r>
          </a:p>
        </p:txBody>
      </p:sp>
      <p:sp>
        <p:nvSpPr>
          <p:cNvPr id="10" name="Rectangle 9"/>
          <p:cNvSpPr/>
          <p:nvPr/>
        </p:nvSpPr>
        <p:spPr>
          <a:xfrm>
            <a:off x="457200" y="1627632"/>
            <a:ext cx="5474055" cy="4754880"/>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755648"/>
            <a:ext cx="5144871" cy="256032"/>
          </a:xfrm>
          <a:prstGeom prst="rect">
            <a:avLst/>
          </a:prstGeom>
          <a:noFill/>
        </p:spPr>
        <p:txBody>
          <a:bodyPr wrap="square" anchor="t"/>
          <a:lstStyle/>
          <a:p>
            <a:pPr algn="l">
              <a:spcBef>
                <a:spcPts val="0"/>
              </a:spcBef>
              <a:spcAft>
                <a:spcPts val="200"/>
              </a:spcAft>
            </a:pPr>
            <a:r>
              <a:rPr sz="1100" b="1" i="0">
                <a:solidFill>
                  <a:srgbClr val="C41E3A"/>
                </a:solidFill>
                <a:latin typeface="Calibri"/>
                <a:ea a:typeface="Calibri"/>
              </a:rPr>
              <a:t>01　外交 · 北京</a:t>
            </a:r>
          </a:p>
        </p:txBody>
      </p:sp>
      <p:sp>
        <p:nvSpPr>
          <p:cNvPr id="12" name="TextBox 11"/>
          <p:cNvSpPr txBox="1"/>
          <p:nvPr/>
        </p:nvSpPr>
        <p:spPr>
          <a:xfrm>
            <a:off x="621792" y="2029968"/>
            <a:ext cx="5144871" cy="960120"/>
          </a:xfrm>
          <a:prstGeom prst="rect">
            <a:avLst/>
          </a:prstGeom>
          <a:noFill/>
        </p:spPr>
        <p:txBody>
          <a:bodyPr wrap="square" anchor="t"/>
          <a:lstStyle/>
          <a:p>
            <a:pPr algn="l">
              <a:spcBef>
                <a:spcPts val="0"/>
              </a:spcBef>
              <a:spcAft>
                <a:spcPts val="200"/>
              </a:spcAft>
            </a:pPr>
            <a:r>
              <a:rPr sz="2000" b="1" i="0">
                <a:solidFill>
                  <a:srgbClr val="1A1A1A"/>
                </a:solidFill>
                <a:latin typeface="Cambria"/>
                <a:ea a:typeface="Cambria"/>
              </a:rPr>
              <a:t>外交部：新德里会晤是中印关系的「再确认」</a:t>
            </a:r>
          </a:p>
        </p:txBody>
      </p:sp>
      <p:sp>
        <p:nvSpPr>
          <p:cNvPr id="13" name="TextBox 12"/>
          <p:cNvSpPr txBox="1"/>
          <p:nvPr/>
        </p:nvSpPr>
        <p:spPr>
          <a:xfrm>
            <a:off x="621792" y="2962656"/>
            <a:ext cx="5144871" cy="256032"/>
          </a:xfrm>
          <a:prstGeom prst="rect">
            <a:avLst/>
          </a:prstGeom>
          <a:noFill/>
        </p:spPr>
        <p:txBody>
          <a:bodyPr wrap="square" anchor="t"/>
          <a:lstStyle/>
          <a:p>
            <a:pPr algn="l">
              <a:spcBef>
                <a:spcPts val="0"/>
              </a:spcBef>
              <a:spcAft>
                <a:spcPts val="200"/>
              </a:spcAft>
            </a:pPr>
            <a:r>
              <a:rPr sz="1100" b="0" i="1">
                <a:solidFill>
                  <a:srgbClr val="4A5568"/>
                </a:solidFill>
                <a:latin typeface="Calibri"/>
                <a:ea a:typeface="Calibri"/>
              </a:rPr>
              <a:t>来源：外交部 / 新华社  ·  fmprc.gov.cn</a:t>
            </a:r>
          </a:p>
        </p:txBody>
      </p:sp>
      <p:sp>
        <p:nvSpPr>
          <p:cNvPr id="14" name="TextBox 13"/>
          <p:cNvSpPr txBox="1"/>
          <p:nvPr/>
        </p:nvSpPr>
        <p:spPr>
          <a:xfrm>
            <a:off x="621792" y="3236976"/>
            <a:ext cx="5144871" cy="1234440"/>
          </a:xfrm>
          <a:prstGeom prst="rect">
            <a:avLst/>
          </a:prstGeom>
          <a:noFill/>
        </p:spPr>
        <p:txBody>
          <a:bodyPr wrap="square" anchor="t"/>
          <a:lstStyle/>
          <a:p>
            <a:pPr algn="l">
              <a:spcBef>
                <a:spcPts val="0"/>
              </a:spcBef>
              <a:spcAft>
                <a:spcPts val="200"/>
              </a:spcAft>
            </a:pPr>
            <a:r>
              <a:rPr sz="1400" b="0" i="0">
                <a:solidFill>
                  <a:srgbClr val="1A1A1A"/>
                </a:solidFill>
                <a:latin typeface="Calibri"/>
                <a:ea a:typeface="Calibri"/>
              </a:rPr>
              <a:t>郭嘉昆14日称，习莫连续三年会晤后，新德里是对中印关系的「再确认」，最重要共识是做伙伴。莫迪称对华关系不受第三方影响。双方同意相互支持金砖主席国，妥处分歧、维护边境安宁。</a:t>
            </a:r>
          </a:p>
        </p:txBody>
      </p:sp>
      <p:sp>
        <p:nvSpPr>
          <p:cNvPr id="15" name="Rectangle 14"/>
          <p:cNvSpPr/>
          <p:nvPr/>
        </p:nvSpPr>
        <p:spPr>
          <a:xfrm>
            <a:off x="621792" y="5422392"/>
            <a:ext cx="5144871" cy="9525"/>
          </a:xfrm>
          <a:prstGeom prst="rect">
            <a:avLst/>
          </a:prstGeom>
          <a:solidFill>
            <a:srgbClr val="D6C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 y="5486400"/>
            <a:ext cx="5144871" cy="201168"/>
          </a:xfrm>
          <a:prstGeom prst="rect">
            <a:avLst/>
          </a:prstGeom>
          <a:noFill/>
        </p:spPr>
        <p:txBody>
          <a:bodyPr wrap="square" anchor="t"/>
          <a:lstStyle/>
          <a:p>
            <a:pPr algn="l">
              <a:spcBef>
                <a:spcPts val="0"/>
              </a:spcBef>
              <a:spcAft>
                <a:spcPts val="200"/>
              </a:spcAft>
            </a:pPr>
            <a:r>
              <a:rPr sz="1100" b="1" i="0">
                <a:solidFill>
                  <a:srgbClr val="C41E3A"/>
                </a:solidFill>
                <a:latin typeface="Calibri"/>
                <a:ea a:typeface="Calibri"/>
              </a:rPr>
              <a:t>为何重要</a:t>
            </a:r>
          </a:p>
        </p:txBody>
      </p:sp>
      <p:sp>
        <p:nvSpPr>
          <p:cNvPr id="17" name="TextBox 16"/>
          <p:cNvSpPr txBox="1"/>
          <p:nvPr/>
        </p:nvSpPr>
        <p:spPr>
          <a:xfrm>
            <a:off x="621792" y="5687568"/>
            <a:ext cx="5144871" cy="621792"/>
          </a:xfrm>
          <a:prstGeom prst="rect">
            <a:avLst/>
          </a:prstGeom>
          <a:noFill/>
        </p:spPr>
        <p:txBody>
          <a:bodyPr wrap="square" anchor="t"/>
          <a:lstStyle/>
          <a:p>
            <a:pPr algn="l">
              <a:spcBef>
                <a:spcPts val="0"/>
              </a:spcBef>
              <a:spcAft>
                <a:spcPts val="200"/>
              </a:spcAft>
            </a:pPr>
            <a:r>
              <a:rPr sz="1300" b="0" i="0">
                <a:solidFill>
                  <a:srgbClr val="4A5568"/>
                </a:solidFill>
                <a:latin typeface="Calibri"/>
                <a:ea a:typeface="Calibri"/>
              </a:rPr>
              <a:t>12–13日是会场实录，14日才由发言人把「再出发—再提升—再确认」写成可引用的官方句法。</a:t>
            </a:r>
          </a:p>
        </p:txBody>
      </p:sp>
      <p:sp>
        <p:nvSpPr>
          <p:cNvPr id="18" name="Rectangle 17"/>
          <p:cNvSpPr/>
          <p:nvPr/>
        </p:nvSpPr>
        <p:spPr>
          <a:xfrm>
            <a:off x="6260439" y="1627632"/>
            <a:ext cx="5474055" cy="4754880"/>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25031" y="1755648"/>
            <a:ext cx="5144871" cy="256032"/>
          </a:xfrm>
          <a:prstGeom prst="rect">
            <a:avLst/>
          </a:prstGeom>
          <a:noFill/>
        </p:spPr>
        <p:txBody>
          <a:bodyPr wrap="square" anchor="t"/>
          <a:lstStyle/>
          <a:p>
            <a:pPr algn="l">
              <a:spcBef>
                <a:spcPts val="0"/>
              </a:spcBef>
              <a:spcAft>
                <a:spcPts val="200"/>
              </a:spcAft>
            </a:pPr>
            <a:r>
              <a:rPr sz="1100" b="1" i="0">
                <a:solidFill>
                  <a:srgbClr val="C41E3A"/>
                </a:solidFill>
                <a:latin typeface="Calibri"/>
                <a:ea a:typeface="Calibri"/>
              </a:rPr>
              <a:t>02　经济 · 国新办</a:t>
            </a:r>
          </a:p>
        </p:txBody>
      </p:sp>
      <p:sp>
        <p:nvSpPr>
          <p:cNvPr id="20" name="TextBox 19"/>
          <p:cNvSpPr txBox="1"/>
          <p:nvPr/>
        </p:nvSpPr>
        <p:spPr>
          <a:xfrm>
            <a:off x="6425031" y="2029968"/>
            <a:ext cx="5144871" cy="960120"/>
          </a:xfrm>
          <a:prstGeom prst="rect">
            <a:avLst/>
          </a:prstGeom>
          <a:noFill/>
        </p:spPr>
        <p:txBody>
          <a:bodyPr wrap="square" anchor="t"/>
          <a:lstStyle/>
          <a:p>
            <a:pPr algn="l">
              <a:spcBef>
                <a:spcPts val="0"/>
              </a:spcBef>
              <a:spcAft>
                <a:spcPts val="200"/>
              </a:spcAft>
            </a:pPr>
            <a:r>
              <a:rPr sz="2000" b="1" i="0">
                <a:solidFill>
                  <a:srgbClr val="1A1A1A"/>
                </a:solidFill>
                <a:latin typeface="Cambria"/>
                <a:ea a:typeface="Cambria"/>
              </a:rPr>
              <a:t>五部门吹风：央企现金支付成「硬杠杠」</a:t>
            </a:r>
          </a:p>
        </p:txBody>
      </p:sp>
      <p:sp>
        <p:nvSpPr>
          <p:cNvPr id="21" name="TextBox 20"/>
          <p:cNvSpPr txBox="1"/>
          <p:nvPr/>
        </p:nvSpPr>
        <p:spPr>
          <a:xfrm>
            <a:off x="6425031" y="2962656"/>
            <a:ext cx="5144871" cy="256032"/>
          </a:xfrm>
          <a:prstGeom prst="rect">
            <a:avLst/>
          </a:prstGeom>
          <a:noFill/>
        </p:spPr>
        <p:txBody>
          <a:bodyPr wrap="square" anchor="t"/>
          <a:lstStyle/>
          <a:p>
            <a:pPr algn="l">
              <a:spcBef>
                <a:spcPts val="0"/>
              </a:spcBef>
              <a:spcAft>
                <a:spcPts val="200"/>
              </a:spcAft>
            </a:pPr>
            <a:r>
              <a:rPr sz="1100" b="0" i="1">
                <a:solidFill>
                  <a:srgbClr val="4A5568"/>
                </a:solidFill>
                <a:latin typeface="Calibri"/>
                <a:ea a:typeface="Calibri"/>
              </a:rPr>
              <a:t>来源：新华社  ·  cs.com.cn</a:t>
            </a:r>
          </a:p>
        </p:txBody>
      </p:sp>
      <p:sp>
        <p:nvSpPr>
          <p:cNvPr id="22" name="TextBox 21"/>
          <p:cNvSpPr txBox="1"/>
          <p:nvPr/>
        </p:nvSpPr>
        <p:spPr>
          <a:xfrm>
            <a:off x="6425031" y="3236976"/>
            <a:ext cx="5144871" cy="1234440"/>
          </a:xfrm>
          <a:prstGeom prst="rect">
            <a:avLst/>
          </a:prstGeom>
          <a:noFill/>
        </p:spPr>
        <p:txBody>
          <a:bodyPr wrap="square" anchor="t"/>
          <a:lstStyle/>
          <a:p>
            <a:pPr algn="l">
              <a:spcBef>
                <a:spcPts val="0"/>
              </a:spcBef>
              <a:spcAft>
                <a:spcPts val="200"/>
              </a:spcAft>
            </a:pPr>
            <a:r>
              <a:rPr sz="1400" b="0" i="0">
                <a:solidFill>
                  <a:srgbClr val="1A1A1A"/>
                </a:solidFill>
                <a:latin typeface="Calibri"/>
                <a:ea a:typeface="Calibri"/>
              </a:rPr>
              <a:t>国新办14日解读中小企业回款难治理通知。工信部称以付款四项关键要素填补结算空白；国资委要求央企少开票、多付现，严禁新开6个月以上票证；央行称账款凭证余额已较规范前降20%，至2.4万亿元。</a:t>
            </a:r>
          </a:p>
        </p:txBody>
      </p:sp>
      <p:sp>
        <p:nvSpPr>
          <p:cNvPr id="23" name="Rectangle 22"/>
          <p:cNvSpPr/>
          <p:nvPr/>
        </p:nvSpPr>
        <p:spPr>
          <a:xfrm>
            <a:off x="6425031" y="5422392"/>
            <a:ext cx="5144871" cy="9525"/>
          </a:xfrm>
          <a:prstGeom prst="rect">
            <a:avLst/>
          </a:prstGeom>
          <a:solidFill>
            <a:srgbClr val="D6C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25031" y="5486400"/>
            <a:ext cx="5144871" cy="201168"/>
          </a:xfrm>
          <a:prstGeom prst="rect">
            <a:avLst/>
          </a:prstGeom>
          <a:noFill/>
        </p:spPr>
        <p:txBody>
          <a:bodyPr wrap="square" anchor="t"/>
          <a:lstStyle/>
          <a:p>
            <a:pPr algn="l">
              <a:spcBef>
                <a:spcPts val="0"/>
              </a:spcBef>
              <a:spcAft>
                <a:spcPts val="200"/>
              </a:spcAft>
            </a:pPr>
            <a:r>
              <a:rPr sz="1100" b="1" i="0">
                <a:solidFill>
                  <a:srgbClr val="C41E3A"/>
                </a:solidFill>
                <a:latin typeface="Calibri"/>
                <a:ea a:typeface="Calibri"/>
              </a:rPr>
              <a:t>为何重要</a:t>
            </a:r>
          </a:p>
        </p:txBody>
      </p:sp>
      <p:sp>
        <p:nvSpPr>
          <p:cNvPr id="25" name="TextBox 24"/>
          <p:cNvSpPr txBox="1"/>
          <p:nvPr/>
        </p:nvSpPr>
        <p:spPr>
          <a:xfrm>
            <a:off x="6425031" y="5687568"/>
            <a:ext cx="5144871" cy="621792"/>
          </a:xfrm>
          <a:prstGeom prst="rect">
            <a:avLst/>
          </a:prstGeom>
          <a:noFill/>
        </p:spPr>
        <p:txBody>
          <a:bodyPr wrap="square" anchor="t"/>
          <a:lstStyle/>
          <a:p>
            <a:pPr algn="l">
              <a:spcBef>
                <a:spcPts val="0"/>
              </a:spcBef>
              <a:spcAft>
                <a:spcPts val="200"/>
              </a:spcAft>
            </a:pPr>
            <a:r>
              <a:rPr sz="1300" b="0" i="0">
                <a:solidFill>
                  <a:srgbClr val="4A5568"/>
                </a:solidFill>
                <a:latin typeface="Calibri"/>
                <a:ea a:typeface="Calibri"/>
              </a:rPr>
              <a:t>通知此前已印发，14日才把现金支付、60日账期和披露规则写成可问责的执行口径。</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3840480" cy="292608"/>
          </a:xfrm>
          <a:prstGeom prst="rect">
            <a:avLst/>
          </a:prstGeom>
          <a:noFill/>
        </p:spPr>
        <p:txBody>
          <a:bodyPr wrap="square" anchor="t"/>
          <a:lstStyle/>
          <a:p>
            <a:pPr algn="l">
              <a:spcBef>
                <a:spcPts val="0"/>
              </a:spcBef>
              <a:spcAft>
                <a:spcPts val="200"/>
              </a:spcAft>
            </a:pPr>
            <a:r>
              <a:rPr sz="1300" b="1" i="0">
                <a:solidFill>
                  <a:srgbClr val="1A1A1A"/>
                </a:solidFill>
                <a:latin typeface="Cambria"/>
                <a:ea a:typeface="Cambria"/>
              </a:rPr>
              <a:t>每日时政科技简报</a:t>
            </a:r>
          </a:p>
        </p:txBody>
      </p:sp>
      <p:sp>
        <p:nvSpPr>
          <p:cNvPr id="4" name="TextBox 3"/>
          <p:cNvSpPr txBox="1"/>
          <p:nvPr/>
        </p:nvSpPr>
        <p:spPr>
          <a:xfrm>
            <a:off x="4663440" y="256032"/>
            <a:ext cx="4937760" cy="292608"/>
          </a:xfrm>
          <a:prstGeom prst="rect">
            <a:avLst/>
          </a:prstGeom>
          <a:noFill/>
        </p:spPr>
        <p:txBody>
          <a:bodyPr wrap="square" anchor="t"/>
          <a:lstStyle/>
          <a:p>
            <a:pPr algn="ctr">
              <a:spcBef>
                <a:spcPts val="0"/>
              </a:spcBef>
              <a:spcAft>
                <a:spcPts val="200"/>
              </a:spcAft>
            </a:pPr>
            <a:r>
              <a:rPr sz="1100" b="0" i="0">
                <a:solidFill>
                  <a:srgbClr val="4A5568"/>
                </a:solidFill>
                <a:latin typeface="Calibri"/>
                <a:ea a:typeface="Calibri"/>
              </a:rPr>
              <a:t>第257期  ·  2026年9月14日  ·  星期一</a:t>
            </a:r>
          </a:p>
        </p:txBody>
      </p:sp>
      <p:sp>
        <p:nvSpPr>
          <p:cNvPr id="5" name="TextBox 4"/>
          <p:cNvSpPr txBox="1"/>
          <p:nvPr/>
        </p:nvSpPr>
        <p:spPr>
          <a:xfrm>
            <a:off x="9692640" y="256032"/>
            <a:ext cx="2011680" cy="292608"/>
          </a:xfrm>
          <a:prstGeom prst="rect">
            <a:avLst/>
          </a:prstGeom>
          <a:noFill/>
        </p:spPr>
        <p:txBody>
          <a:bodyPr wrap="square" anchor="t"/>
          <a:lstStyle/>
          <a:p>
            <a:pPr algn="r">
              <a:spcBef>
                <a:spcPts val="0"/>
              </a:spcBef>
              <a:spcAft>
                <a:spcPts val="200"/>
              </a:spcAft>
            </a:pPr>
            <a:r>
              <a:rPr sz="1100" b="1" i="0">
                <a:solidFill>
                  <a:srgbClr val="C41E3A"/>
                </a:solidFill>
                <a:latin typeface="Calibri"/>
                <a:ea a:typeface="Calibri"/>
              </a:rPr>
              <a:t>晨刊</a:t>
            </a:r>
          </a:p>
        </p:txBody>
      </p:sp>
      <p:sp>
        <p:nvSpPr>
          <p:cNvPr id="6" name="Rectangle 5"/>
          <p:cNvSpPr/>
          <p:nvPr/>
        </p:nvSpPr>
        <p:spPr>
          <a:xfrm>
            <a:off x="457200" y="566928"/>
            <a:ext cx="11277295" cy="20320"/>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603504"/>
            <a:ext cx="11277295" cy="9525"/>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731520"/>
            <a:ext cx="11247120" cy="502920"/>
          </a:xfrm>
          <a:prstGeom prst="rect">
            <a:avLst/>
          </a:prstGeom>
          <a:noFill/>
        </p:spPr>
        <p:txBody>
          <a:bodyPr wrap="square" anchor="t"/>
          <a:lstStyle/>
          <a:p>
            <a:pPr algn="l">
              <a:spcBef>
                <a:spcPts val="0"/>
              </a:spcBef>
              <a:spcAft>
                <a:spcPts val="200"/>
              </a:spcAft>
            </a:pPr>
            <a:r>
              <a:rPr sz="3600" b="1" i="0">
                <a:solidFill>
                  <a:srgbClr val="1A1A1A"/>
                </a:solidFill>
                <a:latin typeface="Cambria"/>
                <a:ea a:typeface="Cambria"/>
              </a:rPr>
              <a:t>第一根K线与高原程序</a:t>
            </a:r>
          </a:p>
        </p:txBody>
      </p:sp>
      <p:sp>
        <p:nvSpPr>
          <p:cNvPr id="9" name="TextBox 8"/>
          <p:cNvSpPr txBox="1"/>
          <p:nvPr/>
        </p:nvSpPr>
        <p:spPr>
          <a:xfrm>
            <a:off x="457200" y="1207008"/>
            <a:ext cx="11247120" cy="292608"/>
          </a:xfrm>
          <a:prstGeom prst="rect">
            <a:avLst/>
          </a:prstGeom>
          <a:noFill/>
        </p:spPr>
        <p:txBody>
          <a:bodyPr wrap="square" anchor="t"/>
          <a:lstStyle/>
          <a:p>
            <a:pPr algn="l">
              <a:spcBef>
                <a:spcPts val="0"/>
              </a:spcBef>
              <a:spcAft>
                <a:spcPts val="200"/>
              </a:spcAft>
            </a:pPr>
            <a:r>
              <a:rPr sz="1400" b="0" i="0">
                <a:solidFill>
                  <a:srgbClr val="4A5568"/>
                </a:solidFill>
                <a:latin typeface="Calibri"/>
                <a:ea a:typeface="Calibri"/>
              </a:rPr>
              <a:t>替代线关停后的开盘；吉隆把身份确认写成可执行安排。</a:t>
            </a:r>
          </a:p>
        </p:txBody>
      </p:sp>
      <p:sp>
        <p:nvSpPr>
          <p:cNvPr id="10" name="Rectangle 9"/>
          <p:cNvSpPr/>
          <p:nvPr/>
        </p:nvSpPr>
        <p:spPr>
          <a:xfrm>
            <a:off x="457200" y="1627632"/>
            <a:ext cx="5474055" cy="4754880"/>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755648"/>
            <a:ext cx="5144871" cy="256032"/>
          </a:xfrm>
          <a:prstGeom prst="rect">
            <a:avLst/>
          </a:prstGeom>
          <a:noFill/>
        </p:spPr>
        <p:txBody>
          <a:bodyPr wrap="square" anchor="t"/>
          <a:lstStyle/>
          <a:p>
            <a:pPr algn="l">
              <a:spcBef>
                <a:spcPts val="0"/>
              </a:spcBef>
              <a:spcAft>
                <a:spcPts val="200"/>
              </a:spcAft>
            </a:pPr>
            <a:r>
              <a:rPr sz="1100" b="1" i="0">
                <a:solidFill>
                  <a:srgbClr val="C41E3A"/>
                </a:solidFill>
                <a:latin typeface="Calibri"/>
                <a:ea a:typeface="Calibri"/>
              </a:rPr>
              <a:t>03　能源 · 油市</a:t>
            </a:r>
          </a:p>
        </p:txBody>
      </p:sp>
      <p:sp>
        <p:nvSpPr>
          <p:cNvPr id="12" name="TextBox 11"/>
          <p:cNvSpPr txBox="1"/>
          <p:nvPr/>
        </p:nvSpPr>
        <p:spPr>
          <a:xfrm>
            <a:off x="621792" y="2029968"/>
            <a:ext cx="5144871" cy="960120"/>
          </a:xfrm>
          <a:prstGeom prst="rect">
            <a:avLst/>
          </a:prstGeom>
          <a:noFill/>
        </p:spPr>
        <p:txBody>
          <a:bodyPr wrap="square" anchor="t"/>
          <a:lstStyle/>
          <a:p>
            <a:pPr algn="l">
              <a:spcBef>
                <a:spcPts val="0"/>
              </a:spcBef>
              <a:spcAft>
                <a:spcPts val="200"/>
              </a:spcAft>
            </a:pPr>
            <a:r>
              <a:rPr sz="2000" b="1" i="0">
                <a:solidFill>
                  <a:srgbClr val="1A1A1A"/>
                </a:solidFill>
                <a:latin typeface="Cambria"/>
                <a:ea a:typeface="Cambria"/>
              </a:rPr>
              <a:t>沙特东西管道关停后，布伦特盘中报108.85美元</a:t>
            </a:r>
          </a:p>
        </p:txBody>
      </p:sp>
      <p:sp>
        <p:nvSpPr>
          <p:cNvPr id="13" name="TextBox 12"/>
          <p:cNvSpPr txBox="1"/>
          <p:nvPr/>
        </p:nvSpPr>
        <p:spPr>
          <a:xfrm>
            <a:off x="621792" y="2962656"/>
            <a:ext cx="5144871" cy="256032"/>
          </a:xfrm>
          <a:prstGeom prst="rect">
            <a:avLst/>
          </a:prstGeom>
          <a:noFill/>
        </p:spPr>
        <p:txBody>
          <a:bodyPr wrap="square" anchor="t"/>
          <a:lstStyle/>
          <a:p>
            <a:pPr algn="l">
              <a:spcBef>
                <a:spcPts val="0"/>
              </a:spcBef>
              <a:spcAft>
                <a:spcPts val="200"/>
              </a:spcAft>
            </a:pPr>
            <a:r>
              <a:rPr sz="1100" b="0" i="1">
                <a:solidFill>
                  <a:srgbClr val="4A5568"/>
                </a:solidFill>
                <a:latin typeface="Calibri"/>
                <a:ea a:typeface="Calibri"/>
              </a:rPr>
              <a:t>来源：环球市场播报 / 路透社  ·  sina.com.cn</a:t>
            </a:r>
          </a:p>
        </p:txBody>
      </p:sp>
      <p:sp>
        <p:nvSpPr>
          <p:cNvPr id="14" name="TextBox 13"/>
          <p:cNvSpPr txBox="1"/>
          <p:nvPr/>
        </p:nvSpPr>
        <p:spPr>
          <a:xfrm>
            <a:off x="621792" y="3236976"/>
            <a:ext cx="5144871" cy="1234440"/>
          </a:xfrm>
          <a:prstGeom prst="rect">
            <a:avLst/>
          </a:prstGeom>
          <a:noFill/>
        </p:spPr>
        <p:txBody>
          <a:bodyPr wrap="square" anchor="t"/>
          <a:lstStyle/>
          <a:p>
            <a:pPr algn="l">
              <a:spcBef>
                <a:spcPts val="0"/>
              </a:spcBef>
              <a:spcAft>
                <a:spcPts val="200"/>
              </a:spcAft>
            </a:pPr>
            <a:r>
              <a:rPr sz="1400" b="0" i="0">
                <a:solidFill>
                  <a:srgbClr val="1A1A1A"/>
                </a:solidFill>
                <a:latin typeface="Calibri"/>
                <a:ea a:typeface="Calibri"/>
              </a:rPr>
              <a:t>伊拉克无人机周四损毁沙特东西管道后，利雅得关停这条日输700万桶、可绕开霍尔木兹的替代线。周一至美东早盘，布伦特涨约4.2%报108.85美元，WTI报104.23美元。阿曼原定14日航道会已延期。</a:t>
            </a:r>
          </a:p>
        </p:txBody>
      </p:sp>
      <p:sp>
        <p:nvSpPr>
          <p:cNvPr id="15" name="Rectangle 14"/>
          <p:cNvSpPr/>
          <p:nvPr/>
        </p:nvSpPr>
        <p:spPr>
          <a:xfrm>
            <a:off x="621792" y="5422392"/>
            <a:ext cx="5144871" cy="9525"/>
          </a:xfrm>
          <a:prstGeom prst="rect">
            <a:avLst/>
          </a:prstGeom>
          <a:solidFill>
            <a:srgbClr val="D6C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 y="5486400"/>
            <a:ext cx="5144871" cy="201168"/>
          </a:xfrm>
          <a:prstGeom prst="rect">
            <a:avLst/>
          </a:prstGeom>
          <a:noFill/>
        </p:spPr>
        <p:txBody>
          <a:bodyPr wrap="square" anchor="t"/>
          <a:lstStyle/>
          <a:p>
            <a:pPr algn="l">
              <a:spcBef>
                <a:spcPts val="0"/>
              </a:spcBef>
              <a:spcAft>
                <a:spcPts val="200"/>
              </a:spcAft>
            </a:pPr>
            <a:r>
              <a:rPr sz="1100" b="1" i="0">
                <a:solidFill>
                  <a:srgbClr val="C41E3A"/>
                </a:solidFill>
                <a:latin typeface="Calibri"/>
                <a:ea a:typeface="Calibri"/>
              </a:rPr>
              <a:t>为何重要</a:t>
            </a:r>
          </a:p>
        </p:txBody>
      </p:sp>
      <p:sp>
        <p:nvSpPr>
          <p:cNvPr id="17" name="TextBox 16"/>
          <p:cNvSpPr txBox="1"/>
          <p:nvPr/>
        </p:nvSpPr>
        <p:spPr>
          <a:xfrm>
            <a:off x="621792" y="5687568"/>
            <a:ext cx="5144871" cy="621792"/>
          </a:xfrm>
          <a:prstGeom prst="rect">
            <a:avLst/>
          </a:prstGeom>
          <a:noFill/>
        </p:spPr>
        <p:txBody>
          <a:bodyPr wrap="square" anchor="t"/>
          <a:lstStyle/>
          <a:p>
            <a:pPr algn="l">
              <a:spcBef>
                <a:spcPts val="0"/>
              </a:spcBef>
              <a:spcAft>
                <a:spcPts val="200"/>
              </a:spcAft>
            </a:pPr>
            <a:r>
              <a:rPr sz="1300" b="0" i="0">
                <a:solidFill>
                  <a:srgbClr val="4A5568"/>
                </a:solidFill>
                <a:latin typeface="Calibri"/>
                <a:ea a:typeface="Calibri"/>
              </a:rPr>
              <a:t>13日还在数延布库存能撑几天，14日是管道关停后第一个交易日，油价把替代线失效写成价格。</a:t>
            </a:r>
          </a:p>
        </p:txBody>
      </p:sp>
      <p:sp>
        <p:nvSpPr>
          <p:cNvPr id="18" name="Rectangle 17"/>
          <p:cNvSpPr/>
          <p:nvPr/>
        </p:nvSpPr>
        <p:spPr>
          <a:xfrm>
            <a:off x="6260439" y="1627632"/>
            <a:ext cx="5474055" cy="4754880"/>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25031" y="1755648"/>
            <a:ext cx="5144871" cy="256032"/>
          </a:xfrm>
          <a:prstGeom prst="rect">
            <a:avLst/>
          </a:prstGeom>
          <a:noFill/>
        </p:spPr>
        <p:txBody>
          <a:bodyPr wrap="square" anchor="t"/>
          <a:lstStyle/>
          <a:p>
            <a:pPr algn="l">
              <a:spcBef>
                <a:spcPts val="0"/>
              </a:spcBef>
              <a:spcAft>
                <a:spcPts val="200"/>
              </a:spcAft>
            </a:pPr>
            <a:r>
              <a:rPr sz="1100" b="1" i="0">
                <a:solidFill>
                  <a:srgbClr val="C41E3A"/>
                </a:solidFill>
                <a:latin typeface="Calibri"/>
                <a:ea a:typeface="Calibri"/>
              </a:rPr>
              <a:t>04　灾害 · 吉隆</a:t>
            </a:r>
          </a:p>
        </p:txBody>
      </p:sp>
      <p:sp>
        <p:nvSpPr>
          <p:cNvPr id="20" name="TextBox 19"/>
          <p:cNvSpPr txBox="1"/>
          <p:nvPr/>
        </p:nvSpPr>
        <p:spPr>
          <a:xfrm>
            <a:off x="6425031" y="2029968"/>
            <a:ext cx="5144871" cy="960120"/>
          </a:xfrm>
          <a:prstGeom prst="rect">
            <a:avLst/>
          </a:prstGeom>
          <a:noFill/>
        </p:spPr>
        <p:txBody>
          <a:bodyPr wrap="square" anchor="t"/>
          <a:lstStyle/>
          <a:p>
            <a:pPr algn="l">
              <a:spcBef>
                <a:spcPts val="0"/>
              </a:spcBef>
              <a:spcAft>
                <a:spcPts val="200"/>
              </a:spcAft>
            </a:pPr>
            <a:r>
              <a:rPr sz="2000" b="1" i="0">
                <a:solidFill>
                  <a:srgbClr val="1A1A1A"/>
                </a:solidFill>
                <a:latin typeface="Cambria"/>
                <a:ea a:typeface="Cambria"/>
              </a:rPr>
              <a:t>外交部：吉隆外籍失联家属DNA采集办法已通报使馆</a:t>
            </a:r>
          </a:p>
        </p:txBody>
      </p:sp>
      <p:sp>
        <p:nvSpPr>
          <p:cNvPr id="21" name="TextBox 20"/>
          <p:cNvSpPr txBox="1"/>
          <p:nvPr/>
        </p:nvSpPr>
        <p:spPr>
          <a:xfrm>
            <a:off x="6425031" y="2962656"/>
            <a:ext cx="5144871" cy="256032"/>
          </a:xfrm>
          <a:prstGeom prst="rect">
            <a:avLst/>
          </a:prstGeom>
          <a:noFill/>
        </p:spPr>
        <p:txBody>
          <a:bodyPr wrap="square" anchor="t"/>
          <a:lstStyle/>
          <a:p>
            <a:pPr algn="l">
              <a:spcBef>
                <a:spcPts val="0"/>
              </a:spcBef>
              <a:spcAft>
                <a:spcPts val="200"/>
              </a:spcAft>
            </a:pPr>
            <a:r>
              <a:rPr sz="1100" b="0" i="1">
                <a:solidFill>
                  <a:srgbClr val="4A5568"/>
                </a:solidFill>
                <a:latin typeface="Calibri"/>
                <a:ea a:typeface="Calibri"/>
              </a:rPr>
              <a:t>来源：外交部 / 中国日报网  ·  chinadaily.com.cn</a:t>
            </a:r>
          </a:p>
        </p:txBody>
      </p:sp>
      <p:sp>
        <p:nvSpPr>
          <p:cNvPr id="22" name="TextBox 21"/>
          <p:cNvSpPr txBox="1"/>
          <p:nvPr/>
        </p:nvSpPr>
        <p:spPr>
          <a:xfrm>
            <a:off x="6425031" y="3236976"/>
            <a:ext cx="5144871" cy="1234440"/>
          </a:xfrm>
          <a:prstGeom prst="rect">
            <a:avLst/>
          </a:prstGeom>
          <a:noFill/>
        </p:spPr>
        <p:txBody>
          <a:bodyPr wrap="square" anchor="t"/>
          <a:lstStyle/>
          <a:p>
            <a:pPr algn="l">
              <a:spcBef>
                <a:spcPts val="0"/>
              </a:spcBef>
              <a:spcAft>
                <a:spcPts val="200"/>
              </a:spcAft>
            </a:pPr>
            <a:r>
              <a:rPr sz="1400" b="0" i="0">
                <a:solidFill>
                  <a:srgbClr val="1A1A1A"/>
                </a:solidFill>
                <a:latin typeface="Calibri"/>
                <a:ea a:typeface="Calibri"/>
              </a:rPr>
              <a:t>路透问吉隆外籍失联搜救及是否联系苹果等设备商。郭嘉昆称，中方已向有关国家驻华使馆通报家属DNA信息采集办法；确认外籍遇难者身份后将通报善后。西藏自治区开通失联外籍人员家属热线。</a:t>
            </a:r>
          </a:p>
        </p:txBody>
      </p:sp>
      <p:sp>
        <p:nvSpPr>
          <p:cNvPr id="23" name="Rectangle 22"/>
          <p:cNvSpPr/>
          <p:nvPr/>
        </p:nvSpPr>
        <p:spPr>
          <a:xfrm>
            <a:off x="6425031" y="5422392"/>
            <a:ext cx="5144871" cy="9525"/>
          </a:xfrm>
          <a:prstGeom prst="rect">
            <a:avLst/>
          </a:prstGeom>
          <a:solidFill>
            <a:srgbClr val="D6C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25031" y="5486400"/>
            <a:ext cx="5144871" cy="201168"/>
          </a:xfrm>
          <a:prstGeom prst="rect">
            <a:avLst/>
          </a:prstGeom>
          <a:noFill/>
        </p:spPr>
        <p:txBody>
          <a:bodyPr wrap="square" anchor="t"/>
          <a:lstStyle/>
          <a:p>
            <a:pPr algn="l">
              <a:spcBef>
                <a:spcPts val="0"/>
              </a:spcBef>
              <a:spcAft>
                <a:spcPts val="200"/>
              </a:spcAft>
            </a:pPr>
            <a:r>
              <a:rPr sz="1100" b="1" i="0">
                <a:solidFill>
                  <a:srgbClr val="C41E3A"/>
                </a:solidFill>
                <a:latin typeface="Calibri"/>
                <a:ea a:typeface="Calibri"/>
              </a:rPr>
              <a:t>为何重要</a:t>
            </a:r>
          </a:p>
        </p:txBody>
      </p:sp>
      <p:sp>
        <p:nvSpPr>
          <p:cNvPr id="25" name="TextBox 24"/>
          <p:cNvSpPr txBox="1"/>
          <p:nvPr/>
        </p:nvSpPr>
        <p:spPr>
          <a:xfrm>
            <a:off x="6425031" y="5687568"/>
            <a:ext cx="5144871" cy="621792"/>
          </a:xfrm>
          <a:prstGeom prst="rect">
            <a:avLst/>
          </a:prstGeom>
          <a:noFill/>
        </p:spPr>
        <p:txBody>
          <a:bodyPr wrap="square" anchor="t"/>
          <a:lstStyle/>
          <a:p>
            <a:pPr algn="l">
              <a:spcBef>
                <a:spcPts val="0"/>
              </a:spcBef>
              <a:spcAft>
                <a:spcPts val="200"/>
              </a:spcAft>
            </a:pPr>
            <a:r>
              <a:rPr sz="1300" b="0" i="0">
                <a:solidFill>
                  <a:srgbClr val="4A5568"/>
                </a:solidFill>
                <a:latin typeface="Calibri"/>
                <a:ea a:typeface="Calibri"/>
              </a:rPr>
              <a:t>此前只报遇难与失联总数，14日才把身份确认程序和家属热线写成可执行安排。</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3840480" cy="292608"/>
          </a:xfrm>
          <a:prstGeom prst="rect">
            <a:avLst/>
          </a:prstGeom>
          <a:noFill/>
        </p:spPr>
        <p:txBody>
          <a:bodyPr wrap="square" anchor="t"/>
          <a:lstStyle/>
          <a:p>
            <a:pPr algn="l">
              <a:spcBef>
                <a:spcPts val="0"/>
              </a:spcBef>
              <a:spcAft>
                <a:spcPts val="200"/>
              </a:spcAft>
            </a:pPr>
            <a:r>
              <a:rPr sz="1300" b="1" i="0">
                <a:solidFill>
                  <a:srgbClr val="1A1A1A"/>
                </a:solidFill>
                <a:latin typeface="Cambria"/>
                <a:ea a:typeface="Cambria"/>
              </a:rPr>
              <a:t>每日时政科技简报</a:t>
            </a:r>
          </a:p>
        </p:txBody>
      </p:sp>
      <p:sp>
        <p:nvSpPr>
          <p:cNvPr id="4" name="TextBox 3"/>
          <p:cNvSpPr txBox="1"/>
          <p:nvPr/>
        </p:nvSpPr>
        <p:spPr>
          <a:xfrm>
            <a:off x="4663440" y="256032"/>
            <a:ext cx="4937760" cy="292608"/>
          </a:xfrm>
          <a:prstGeom prst="rect">
            <a:avLst/>
          </a:prstGeom>
          <a:noFill/>
        </p:spPr>
        <p:txBody>
          <a:bodyPr wrap="square" anchor="t"/>
          <a:lstStyle/>
          <a:p>
            <a:pPr algn="ctr">
              <a:spcBef>
                <a:spcPts val="0"/>
              </a:spcBef>
              <a:spcAft>
                <a:spcPts val="200"/>
              </a:spcAft>
            </a:pPr>
            <a:r>
              <a:rPr sz="1100" b="0" i="0">
                <a:solidFill>
                  <a:srgbClr val="4A5568"/>
                </a:solidFill>
                <a:latin typeface="Calibri"/>
                <a:ea a:typeface="Calibri"/>
              </a:rPr>
              <a:t>第257期  ·  2026年9月14日  ·  星期一</a:t>
            </a:r>
          </a:p>
        </p:txBody>
      </p:sp>
      <p:sp>
        <p:nvSpPr>
          <p:cNvPr id="5" name="TextBox 4"/>
          <p:cNvSpPr txBox="1"/>
          <p:nvPr/>
        </p:nvSpPr>
        <p:spPr>
          <a:xfrm>
            <a:off x="9692640" y="256032"/>
            <a:ext cx="2011680" cy="292608"/>
          </a:xfrm>
          <a:prstGeom prst="rect">
            <a:avLst/>
          </a:prstGeom>
          <a:noFill/>
        </p:spPr>
        <p:txBody>
          <a:bodyPr wrap="square" anchor="t"/>
          <a:lstStyle/>
          <a:p>
            <a:pPr algn="r">
              <a:spcBef>
                <a:spcPts val="0"/>
              </a:spcBef>
              <a:spcAft>
                <a:spcPts val="200"/>
              </a:spcAft>
            </a:pPr>
            <a:r>
              <a:rPr sz="1100" b="1" i="0">
                <a:solidFill>
                  <a:srgbClr val="C41E3A"/>
                </a:solidFill>
                <a:latin typeface="Calibri"/>
                <a:ea a:typeface="Calibri"/>
              </a:rPr>
              <a:t>晨刊</a:t>
            </a:r>
          </a:p>
        </p:txBody>
      </p:sp>
      <p:sp>
        <p:nvSpPr>
          <p:cNvPr id="6" name="Rectangle 5"/>
          <p:cNvSpPr/>
          <p:nvPr/>
        </p:nvSpPr>
        <p:spPr>
          <a:xfrm>
            <a:off x="457200" y="566928"/>
            <a:ext cx="11277295" cy="20320"/>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603504"/>
            <a:ext cx="11277295" cy="9525"/>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731520"/>
            <a:ext cx="11247120" cy="502920"/>
          </a:xfrm>
          <a:prstGeom prst="rect">
            <a:avLst/>
          </a:prstGeom>
          <a:noFill/>
        </p:spPr>
        <p:txBody>
          <a:bodyPr wrap="square" anchor="t"/>
          <a:lstStyle/>
          <a:p>
            <a:pPr algn="l">
              <a:spcBef>
                <a:spcPts val="0"/>
              </a:spcBef>
              <a:spcAft>
                <a:spcPts val="200"/>
              </a:spcAft>
            </a:pPr>
            <a:r>
              <a:rPr sz="3600" b="1" i="0">
                <a:solidFill>
                  <a:srgbClr val="1A1A1A"/>
                </a:solidFill>
                <a:latin typeface="Cambria"/>
                <a:ea a:typeface="Cambria"/>
              </a:rPr>
              <a:t>河谷数字与立法越线</a:t>
            </a:r>
          </a:p>
        </p:txBody>
      </p:sp>
      <p:sp>
        <p:nvSpPr>
          <p:cNvPr id="9" name="TextBox 8"/>
          <p:cNvSpPr txBox="1"/>
          <p:nvPr/>
        </p:nvSpPr>
        <p:spPr>
          <a:xfrm>
            <a:off x="457200" y="1207008"/>
            <a:ext cx="11247120" cy="292608"/>
          </a:xfrm>
          <a:prstGeom prst="rect">
            <a:avLst/>
          </a:prstGeom>
          <a:noFill/>
        </p:spPr>
        <p:txBody>
          <a:bodyPr wrap="square" anchor="t"/>
          <a:lstStyle/>
          <a:p>
            <a:pPr algn="l">
              <a:spcBef>
                <a:spcPts val="0"/>
              </a:spcBef>
              <a:spcAft>
                <a:spcPts val="200"/>
              </a:spcAft>
            </a:pPr>
            <a:r>
              <a:rPr sz="1400" b="0" i="0">
                <a:solidFill>
                  <a:srgbClr val="4A5568"/>
                </a:solidFill>
                <a:latin typeface="Calibri"/>
                <a:ea a:typeface="Calibri"/>
              </a:rPr>
              <a:t>加德满都再加四人；巴拿马议员把一个中国原则写成需要切割的「小组」。</a:t>
            </a:r>
          </a:p>
        </p:txBody>
      </p:sp>
      <p:sp>
        <p:nvSpPr>
          <p:cNvPr id="10" name="Rectangle 9"/>
          <p:cNvSpPr/>
          <p:nvPr/>
        </p:nvSpPr>
        <p:spPr>
          <a:xfrm>
            <a:off x="457200" y="1627632"/>
            <a:ext cx="5474055" cy="4754880"/>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755648"/>
            <a:ext cx="5144871" cy="256032"/>
          </a:xfrm>
          <a:prstGeom prst="rect">
            <a:avLst/>
          </a:prstGeom>
          <a:noFill/>
        </p:spPr>
        <p:txBody>
          <a:bodyPr wrap="square" anchor="t"/>
          <a:lstStyle/>
          <a:p>
            <a:pPr algn="l">
              <a:spcBef>
                <a:spcPts val="0"/>
              </a:spcBef>
              <a:spcAft>
                <a:spcPts val="200"/>
              </a:spcAft>
            </a:pPr>
            <a:r>
              <a:rPr sz="1100" b="1" i="0">
                <a:solidFill>
                  <a:srgbClr val="C41E3A"/>
                </a:solidFill>
                <a:latin typeface="Calibri"/>
                <a:ea a:typeface="Calibri"/>
              </a:rPr>
              <a:t>05　灾害 · 加德满都</a:t>
            </a:r>
          </a:p>
        </p:txBody>
      </p:sp>
      <p:sp>
        <p:nvSpPr>
          <p:cNvPr id="12" name="TextBox 11"/>
          <p:cNvSpPr txBox="1"/>
          <p:nvPr/>
        </p:nvSpPr>
        <p:spPr>
          <a:xfrm>
            <a:off x="621792" y="2029968"/>
            <a:ext cx="5144871" cy="960120"/>
          </a:xfrm>
          <a:prstGeom prst="rect">
            <a:avLst/>
          </a:prstGeom>
          <a:noFill/>
        </p:spPr>
        <p:txBody>
          <a:bodyPr wrap="square" anchor="t"/>
          <a:lstStyle/>
          <a:p>
            <a:pPr algn="l">
              <a:spcBef>
                <a:spcPts val="0"/>
              </a:spcBef>
              <a:spcAft>
                <a:spcPts val="200"/>
              </a:spcAft>
            </a:pPr>
            <a:r>
              <a:rPr sz="2000" b="1" i="0">
                <a:solidFill>
                  <a:srgbClr val="1A1A1A"/>
                </a:solidFill>
                <a:latin typeface="Cambria"/>
                <a:ea a:typeface="Cambria"/>
              </a:rPr>
              <a:t>尼泊尔泥石流遇难升至1392人</a:t>
            </a:r>
          </a:p>
        </p:txBody>
      </p:sp>
      <p:sp>
        <p:nvSpPr>
          <p:cNvPr id="13" name="TextBox 12"/>
          <p:cNvSpPr txBox="1"/>
          <p:nvPr/>
        </p:nvSpPr>
        <p:spPr>
          <a:xfrm>
            <a:off x="621792" y="2962656"/>
            <a:ext cx="5144871" cy="256032"/>
          </a:xfrm>
          <a:prstGeom prst="rect">
            <a:avLst/>
          </a:prstGeom>
          <a:noFill/>
        </p:spPr>
        <p:txBody>
          <a:bodyPr wrap="square" anchor="t"/>
          <a:lstStyle/>
          <a:p>
            <a:pPr algn="l">
              <a:spcBef>
                <a:spcPts val="0"/>
              </a:spcBef>
              <a:spcAft>
                <a:spcPts val="200"/>
              </a:spcAft>
            </a:pPr>
            <a:r>
              <a:rPr sz="1100" b="0" i="1">
                <a:solidFill>
                  <a:srgbClr val="4A5568"/>
                </a:solidFill>
                <a:latin typeface="Calibri"/>
                <a:ea a:typeface="Calibri"/>
              </a:rPr>
              <a:t>来源：央视新闻 / 中新网  ·  chinanews.com.cn</a:t>
            </a:r>
          </a:p>
        </p:txBody>
      </p:sp>
      <p:sp>
        <p:nvSpPr>
          <p:cNvPr id="14" name="TextBox 13"/>
          <p:cNvSpPr txBox="1"/>
          <p:nvPr/>
        </p:nvSpPr>
        <p:spPr>
          <a:xfrm>
            <a:off x="621792" y="3236976"/>
            <a:ext cx="5144871" cy="1234440"/>
          </a:xfrm>
          <a:prstGeom prst="rect">
            <a:avLst/>
          </a:prstGeom>
          <a:noFill/>
        </p:spPr>
        <p:txBody>
          <a:bodyPr wrap="square" anchor="t"/>
          <a:lstStyle/>
          <a:p>
            <a:pPr algn="l">
              <a:spcBef>
                <a:spcPts val="0"/>
              </a:spcBef>
              <a:spcAft>
                <a:spcPts val="200"/>
              </a:spcAft>
            </a:pPr>
            <a:r>
              <a:rPr sz="1400" b="0" i="0">
                <a:solidFill>
                  <a:srgbClr val="1A1A1A"/>
                </a:solidFill>
                <a:latin typeface="Calibri"/>
                <a:ea a:typeface="Calibri"/>
              </a:rPr>
              <a:t>尼泊尔警方称，截至当地14日上午11时，泥石流遇难人数升至1392人。8月26日冰川崩塌引发跨境灾害以来进入第三周。上一日官方数字为1388人。</a:t>
            </a:r>
          </a:p>
        </p:txBody>
      </p:sp>
      <p:sp>
        <p:nvSpPr>
          <p:cNvPr id="15" name="Rectangle 14"/>
          <p:cNvSpPr/>
          <p:nvPr/>
        </p:nvSpPr>
        <p:spPr>
          <a:xfrm>
            <a:off x="621792" y="5422392"/>
            <a:ext cx="5144871" cy="9525"/>
          </a:xfrm>
          <a:prstGeom prst="rect">
            <a:avLst/>
          </a:prstGeom>
          <a:solidFill>
            <a:srgbClr val="D6C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 y="5486400"/>
            <a:ext cx="5144871" cy="201168"/>
          </a:xfrm>
          <a:prstGeom prst="rect">
            <a:avLst/>
          </a:prstGeom>
          <a:noFill/>
        </p:spPr>
        <p:txBody>
          <a:bodyPr wrap="square" anchor="t"/>
          <a:lstStyle/>
          <a:p>
            <a:pPr algn="l">
              <a:spcBef>
                <a:spcPts val="0"/>
              </a:spcBef>
              <a:spcAft>
                <a:spcPts val="200"/>
              </a:spcAft>
            </a:pPr>
            <a:r>
              <a:rPr sz="1100" b="1" i="0">
                <a:solidFill>
                  <a:srgbClr val="C41E3A"/>
                </a:solidFill>
                <a:latin typeface="Calibri"/>
                <a:ea a:typeface="Calibri"/>
              </a:rPr>
              <a:t>为何重要</a:t>
            </a:r>
          </a:p>
        </p:txBody>
      </p:sp>
      <p:sp>
        <p:nvSpPr>
          <p:cNvPr id="17" name="TextBox 16"/>
          <p:cNvSpPr txBox="1"/>
          <p:nvPr/>
        </p:nvSpPr>
        <p:spPr>
          <a:xfrm>
            <a:off x="621792" y="5687568"/>
            <a:ext cx="5144871" cy="621792"/>
          </a:xfrm>
          <a:prstGeom prst="rect">
            <a:avLst/>
          </a:prstGeom>
          <a:noFill/>
        </p:spPr>
        <p:txBody>
          <a:bodyPr wrap="square" anchor="t"/>
          <a:lstStyle/>
          <a:p>
            <a:pPr algn="l">
              <a:spcBef>
                <a:spcPts val="0"/>
              </a:spcBef>
              <a:spcAft>
                <a:spcPts val="200"/>
              </a:spcAft>
            </a:pPr>
            <a:r>
              <a:rPr sz="1300" b="0" i="0">
                <a:solidFill>
                  <a:srgbClr val="4A5568"/>
                </a:solidFill>
                <a:latin typeface="Calibri"/>
                <a:ea a:typeface="Calibri"/>
              </a:rPr>
              <a:t>一天再加4人，说明河谷仍在出遗体，第三周搜救没有停。</a:t>
            </a:r>
          </a:p>
        </p:txBody>
      </p:sp>
      <p:sp>
        <p:nvSpPr>
          <p:cNvPr id="18" name="Rectangle 17"/>
          <p:cNvSpPr/>
          <p:nvPr/>
        </p:nvSpPr>
        <p:spPr>
          <a:xfrm>
            <a:off x="6260439" y="1627632"/>
            <a:ext cx="5474055" cy="4754880"/>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25031" y="1755648"/>
            <a:ext cx="5144871" cy="256032"/>
          </a:xfrm>
          <a:prstGeom prst="rect">
            <a:avLst/>
          </a:prstGeom>
          <a:noFill/>
        </p:spPr>
        <p:txBody>
          <a:bodyPr wrap="square" anchor="t"/>
          <a:lstStyle/>
          <a:p>
            <a:pPr algn="l">
              <a:spcBef>
                <a:spcPts val="0"/>
              </a:spcBef>
              <a:spcAft>
                <a:spcPts val="200"/>
              </a:spcAft>
            </a:pPr>
            <a:r>
              <a:rPr sz="1100" b="1" i="0">
                <a:solidFill>
                  <a:srgbClr val="C41E3A"/>
                </a:solidFill>
                <a:latin typeface="Calibri"/>
                <a:ea a:typeface="Calibri"/>
              </a:rPr>
              <a:t>06　外交 · 巴拿马</a:t>
            </a:r>
          </a:p>
        </p:txBody>
      </p:sp>
      <p:sp>
        <p:nvSpPr>
          <p:cNvPr id="20" name="TextBox 19"/>
          <p:cNvSpPr txBox="1"/>
          <p:nvPr/>
        </p:nvSpPr>
        <p:spPr>
          <a:xfrm>
            <a:off x="6425031" y="2029968"/>
            <a:ext cx="5144871" cy="960120"/>
          </a:xfrm>
          <a:prstGeom prst="rect">
            <a:avLst/>
          </a:prstGeom>
          <a:noFill/>
        </p:spPr>
        <p:txBody>
          <a:bodyPr wrap="square" anchor="t"/>
          <a:lstStyle/>
          <a:p>
            <a:pPr algn="l">
              <a:spcBef>
                <a:spcPts val="0"/>
              </a:spcBef>
              <a:spcAft>
                <a:spcPts val="200"/>
              </a:spcAft>
            </a:pPr>
            <a:r>
              <a:rPr sz="2000" b="1" i="0">
                <a:solidFill>
                  <a:srgbClr val="1A1A1A"/>
                </a:solidFill>
                <a:latin typeface="Cambria"/>
                <a:ea a:typeface="Cambria"/>
              </a:rPr>
              <a:t>外交部回应巴拿马议员成立涉台「立法交流小组」</a:t>
            </a:r>
          </a:p>
        </p:txBody>
      </p:sp>
      <p:sp>
        <p:nvSpPr>
          <p:cNvPr id="21" name="TextBox 20"/>
          <p:cNvSpPr txBox="1"/>
          <p:nvPr/>
        </p:nvSpPr>
        <p:spPr>
          <a:xfrm>
            <a:off x="6425031" y="2962656"/>
            <a:ext cx="5144871" cy="256032"/>
          </a:xfrm>
          <a:prstGeom prst="rect">
            <a:avLst/>
          </a:prstGeom>
          <a:noFill/>
        </p:spPr>
        <p:txBody>
          <a:bodyPr wrap="square" anchor="t"/>
          <a:lstStyle/>
          <a:p>
            <a:pPr algn="l">
              <a:spcBef>
                <a:spcPts val="0"/>
              </a:spcBef>
              <a:spcAft>
                <a:spcPts val="200"/>
              </a:spcAft>
            </a:pPr>
            <a:r>
              <a:rPr sz="1100" b="0" i="1">
                <a:solidFill>
                  <a:srgbClr val="4A5568"/>
                </a:solidFill>
                <a:latin typeface="Calibri"/>
                <a:ea a:typeface="Calibri"/>
              </a:rPr>
              <a:t>来源：外交部  ·  fmprc.gov.cn</a:t>
            </a:r>
          </a:p>
        </p:txBody>
      </p:sp>
      <p:sp>
        <p:nvSpPr>
          <p:cNvPr id="22" name="TextBox 21"/>
          <p:cNvSpPr txBox="1"/>
          <p:nvPr/>
        </p:nvSpPr>
        <p:spPr>
          <a:xfrm>
            <a:off x="6425031" y="3236976"/>
            <a:ext cx="5144871" cy="1234440"/>
          </a:xfrm>
          <a:prstGeom prst="rect">
            <a:avLst/>
          </a:prstGeom>
          <a:noFill/>
        </p:spPr>
        <p:txBody>
          <a:bodyPr wrap="square" anchor="t"/>
          <a:lstStyle/>
          <a:p>
            <a:pPr algn="l">
              <a:spcBef>
                <a:spcPts val="0"/>
              </a:spcBef>
              <a:spcAft>
                <a:spcPts val="200"/>
              </a:spcAft>
            </a:pPr>
            <a:r>
              <a:rPr sz="1400" b="0" i="0">
                <a:solidFill>
                  <a:srgbClr val="1A1A1A"/>
                </a:solidFill>
                <a:latin typeface="Calibri"/>
                <a:ea a:typeface="Calibri"/>
              </a:rPr>
              <a:t>巴拿马部分议员成立所谓「巴拿马—台湾立法跨党派交流小组」，美国议员线上参会。巴总统穆利诺称不支持议员同台接触。郭嘉昆称该小组严重违背一个中国原则，敦促美方停止发出错误信号。</a:t>
            </a:r>
          </a:p>
        </p:txBody>
      </p:sp>
      <p:sp>
        <p:nvSpPr>
          <p:cNvPr id="23" name="Rectangle 22"/>
          <p:cNvSpPr/>
          <p:nvPr/>
        </p:nvSpPr>
        <p:spPr>
          <a:xfrm>
            <a:off x="6425031" y="5422392"/>
            <a:ext cx="5144871" cy="9525"/>
          </a:xfrm>
          <a:prstGeom prst="rect">
            <a:avLst/>
          </a:prstGeom>
          <a:solidFill>
            <a:srgbClr val="D6C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25031" y="5486400"/>
            <a:ext cx="5144871" cy="201168"/>
          </a:xfrm>
          <a:prstGeom prst="rect">
            <a:avLst/>
          </a:prstGeom>
          <a:noFill/>
        </p:spPr>
        <p:txBody>
          <a:bodyPr wrap="square" anchor="t"/>
          <a:lstStyle/>
          <a:p>
            <a:pPr algn="l">
              <a:spcBef>
                <a:spcPts val="0"/>
              </a:spcBef>
              <a:spcAft>
                <a:spcPts val="200"/>
              </a:spcAft>
            </a:pPr>
            <a:r>
              <a:rPr sz="1100" b="1" i="0">
                <a:solidFill>
                  <a:srgbClr val="C41E3A"/>
                </a:solidFill>
                <a:latin typeface="Calibri"/>
                <a:ea a:typeface="Calibri"/>
              </a:rPr>
              <a:t>为何重要</a:t>
            </a:r>
          </a:p>
        </p:txBody>
      </p:sp>
      <p:sp>
        <p:nvSpPr>
          <p:cNvPr id="25" name="TextBox 24"/>
          <p:cNvSpPr txBox="1"/>
          <p:nvPr/>
        </p:nvSpPr>
        <p:spPr>
          <a:xfrm>
            <a:off x="6425031" y="5687568"/>
            <a:ext cx="5144871" cy="621792"/>
          </a:xfrm>
          <a:prstGeom prst="rect">
            <a:avLst/>
          </a:prstGeom>
          <a:noFill/>
        </p:spPr>
        <p:txBody>
          <a:bodyPr wrap="square" anchor="t"/>
          <a:lstStyle/>
          <a:p>
            <a:pPr algn="l">
              <a:spcBef>
                <a:spcPts val="0"/>
              </a:spcBef>
              <a:spcAft>
                <a:spcPts val="200"/>
              </a:spcAft>
            </a:pPr>
            <a:r>
              <a:rPr sz="1300" b="0" i="0">
                <a:solidFill>
                  <a:srgbClr val="4A5568"/>
                </a:solidFill>
                <a:latin typeface="Calibri"/>
                <a:ea a:typeface="Calibri"/>
              </a:rPr>
              <a:t>巴政府已切割，14日中方把板子同时拍向议员越线和美国线上站台。</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3840480" cy="292608"/>
          </a:xfrm>
          <a:prstGeom prst="rect">
            <a:avLst/>
          </a:prstGeom>
          <a:noFill/>
        </p:spPr>
        <p:txBody>
          <a:bodyPr wrap="square" anchor="t"/>
          <a:lstStyle/>
          <a:p>
            <a:pPr algn="l">
              <a:spcBef>
                <a:spcPts val="0"/>
              </a:spcBef>
              <a:spcAft>
                <a:spcPts val="200"/>
              </a:spcAft>
            </a:pPr>
            <a:r>
              <a:rPr sz="1300" b="1" i="0">
                <a:solidFill>
                  <a:srgbClr val="1A1A1A"/>
                </a:solidFill>
                <a:latin typeface="Cambria"/>
                <a:ea a:typeface="Cambria"/>
              </a:rPr>
              <a:t>每日时政科技简报</a:t>
            </a:r>
          </a:p>
        </p:txBody>
      </p:sp>
      <p:sp>
        <p:nvSpPr>
          <p:cNvPr id="4" name="TextBox 3"/>
          <p:cNvSpPr txBox="1"/>
          <p:nvPr/>
        </p:nvSpPr>
        <p:spPr>
          <a:xfrm>
            <a:off x="4663440" y="256032"/>
            <a:ext cx="4937760" cy="292608"/>
          </a:xfrm>
          <a:prstGeom prst="rect">
            <a:avLst/>
          </a:prstGeom>
          <a:noFill/>
        </p:spPr>
        <p:txBody>
          <a:bodyPr wrap="square" anchor="t"/>
          <a:lstStyle/>
          <a:p>
            <a:pPr algn="ctr">
              <a:spcBef>
                <a:spcPts val="0"/>
              </a:spcBef>
              <a:spcAft>
                <a:spcPts val="200"/>
              </a:spcAft>
            </a:pPr>
            <a:r>
              <a:rPr sz="1100" b="0" i="0">
                <a:solidFill>
                  <a:srgbClr val="4A5568"/>
                </a:solidFill>
                <a:latin typeface="Calibri"/>
                <a:ea a:typeface="Calibri"/>
              </a:rPr>
              <a:t>第257期  ·  2026年9月14日  ·  星期一</a:t>
            </a:r>
          </a:p>
        </p:txBody>
      </p:sp>
      <p:sp>
        <p:nvSpPr>
          <p:cNvPr id="5" name="TextBox 4"/>
          <p:cNvSpPr txBox="1"/>
          <p:nvPr/>
        </p:nvSpPr>
        <p:spPr>
          <a:xfrm>
            <a:off x="9692640" y="256032"/>
            <a:ext cx="2011680" cy="292608"/>
          </a:xfrm>
          <a:prstGeom prst="rect">
            <a:avLst/>
          </a:prstGeom>
          <a:noFill/>
        </p:spPr>
        <p:txBody>
          <a:bodyPr wrap="square" anchor="t"/>
          <a:lstStyle/>
          <a:p>
            <a:pPr algn="r">
              <a:spcBef>
                <a:spcPts val="0"/>
              </a:spcBef>
              <a:spcAft>
                <a:spcPts val="200"/>
              </a:spcAft>
            </a:pPr>
            <a:r>
              <a:rPr sz="1100" b="1" i="0">
                <a:solidFill>
                  <a:srgbClr val="C41E3A"/>
                </a:solidFill>
                <a:latin typeface="Calibri"/>
                <a:ea a:typeface="Calibri"/>
              </a:rPr>
              <a:t>晨刊</a:t>
            </a:r>
          </a:p>
        </p:txBody>
      </p:sp>
      <p:sp>
        <p:nvSpPr>
          <p:cNvPr id="6" name="Rectangle 5"/>
          <p:cNvSpPr/>
          <p:nvPr/>
        </p:nvSpPr>
        <p:spPr>
          <a:xfrm>
            <a:off x="457200" y="566928"/>
            <a:ext cx="11277295" cy="20320"/>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603504"/>
            <a:ext cx="11277295" cy="9525"/>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749808"/>
            <a:ext cx="2011680" cy="777240"/>
          </a:xfrm>
          <a:prstGeom prst="rect">
            <a:avLst/>
          </a:prstGeom>
          <a:noFill/>
        </p:spPr>
        <p:txBody>
          <a:bodyPr wrap="square" anchor="t"/>
          <a:lstStyle/>
          <a:p>
            <a:pPr algn="l">
              <a:spcBef>
                <a:spcPts val="0"/>
              </a:spcBef>
              <a:spcAft>
                <a:spcPts val="200"/>
              </a:spcAft>
            </a:pPr>
            <a:r>
              <a:rPr sz="6400" b="1" i="0">
                <a:solidFill>
                  <a:srgbClr val="C41E3A"/>
                </a:solidFill>
                <a:latin typeface="Cambria"/>
                <a:ea a:typeface="Cambria"/>
              </a:rPr>
              <a:t>02</a:t>
            </a:r>
          </a:p>
        </p:txBody>
      </p:sp>
      <p:sp>
        <p:nvSpPr>
          <p:cNvPr id="9" name="TextBox 8"/>
          <p:cNvSpPr txBox="1"/>
          <p:nvPr/>
        </p:nvSpPr>
        <p:spPr>
          <a:xfrm>
            <a:off x="2194560" y="868680"/>
            <a:ext cx="9418320" cy="640080"/>
          </a:xfrm>
          <a:prstGeom prst="rect">
            <a:avLst/>
          </a:prstGeom>
          <a:noFill/>
        </p:spPr>
        <p:txBody>
          <a:bodyPr wrap="square" anchor="t"/>
          <a:lstStyle/>
          <a:p>
            <a:pPr algn="l">
              <a:spcBef>
                <a:spcPts val="0"/>
              </a:spcBef>
              <a:spcAft>
                <a:spcPts val="200"/>
              </a:spcAft>
            </a:pPr>
            <a:r>
              <a:rPr sz="4000" b="1" i="0">
                <a:solidFill>
                  <a:srgbClr val="1A1A1A"/>
                </a:solidFill>
                <a:latin typeface="Cambria"/>
                <a:ea a:typeface="Cambria"/>
              </a:rPr>
              <a:t>科技开篇</a:t>
            </a:r>
          </a:p>
        </p:txBody>
      </p:sp>
      <p:sp>
        <p:nvSpPr>
          <p:cNvPr id="10" name="TextBox 9"/>
          <p:cNvSpPr txBox="1"/>
          <p:nvPr/>
        </p:nvSpPr>
        <p:spPr>
          <a:xfrm>
            <a:off x="2194560" y="1481328"/>
            <a:ext cx="9418320" cy="502920"/>
          </a:xfrm>
          <a:prstGeom prst="rect">
            <a:avLst/>
          </a:prstGeom>
          <a:noFill/>
        </p:spPr>
        <p:txBody>
          <a:bodyPr wrap="square" anchor="t"/>
          <a:lstStyle/>
          <a:p>
            <a:pPr algn="l">
              <a:spcBef>
                <a:spcPts val="0"/>
              </a:spcBef>
              <a:spcAft>
                <a:spcPts val="200"/>
              </a:spcAft>
            </a:pPr>
            <a:r>
              <a:rPr sz="1500" b="0" i="0">
                <a:solidFill>
                  <a:srgbClr val="4A5568"/>
                </a:solidFill>
                <a:latin typeface="Calibri"/>
                <a:ea a:typeface="Calibri"/>
              </a:rPr>
              <a:t>一篇盈利稿、一枚可下单的硅、一份升号的框架、一篇把过滤做进晶体管的期刊。</a:t>
            </a:r>
          </a:p>
        </p:txBody>
      </p:sp>
      <p:sp>
        <p:nvSpPr>
          <p:cNvPr id="11" name="Rectangle 10"/>
          <p:cNvSpPr/>
          <p:nvPr/>
        </p:nvSpPr>
        <p:spPr>
          <a:xfrm>
            <a:off x="457200" y="2084831"/>
            <a:ext cx="2654731" cy="1691640"/>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5216" y="2157984"/>
            <a:ext cx="2398699" cy="640080"/>
          </a:xfrm>
          <a:prstGeom prst="rect">
            <a:avLst/>
          </a:prstGeom>
          <a:noFill/>
        </p:spPr>
        <p:txBody>
          <a:bodyPr wrap="square" anchor="t"/>
          <a:lstStyle/>
          <a:p>
            <a:pPr algn="l">
              <a:spcBef>
                <a:spcPts val="0"/>
              </a:spcBef>
              <a:spcAft>
                <a:spcPts val="200"/>
              </a:spcAft>
            </a:pPr>
            <a:r>
              <a:rPr sz="2800" b="1" i="0">
                <a:solidFill>
                  <a:srgbClr val="C41E3A"/>
                </a:solidFill>
                <a:latin typeface="Cambria"/>
                <a:ea a:typeface="Cambria"/>
              </a:rPr>
              <a:t>2季</a:t>
            </a:r>
          </a:p>
        </p:txBody>
      </p:sp>
      <p:sp>
        <p:nvSpPr>
          <p:cNvPr id="13" name="TextBox 12"/>
          <p:cNvSpPr txBox="1"/>
          <p:nvPr/>
        </p:nvSpPr>
        <p:spPr>
          <a:xfrm>
            <a:off x="585216" y="2816352"/>
            <a:ext cx="2398699" cy="292608"/>
          </a:xfrm>
          <a:prstGeom prst="rect">
            <a:avLst/>
          </a:prstGeom>
          <a:noFill/>
        </p:spPr>
        <p:txBody>
          <a:bodyPr wrap="square" anchor="t"/>
          <a:lstStyle/>
          <a:p>
            <a:pPr algn="l">
              <a:spcBef>
                <a:spcPts val="0"/>
              </a:spcBef>
              <a:spcAft>
                <a:spcPts val="200"/>
              </a:spcAft>
            </a:pPr>
            <a:r>
              <a:rPr sz="1300" b="1" i="0">
                <a:solidFill>
                  <a:srgbClr val="1A1A1A"/>
                </a:solidFill>
                <a:latin typeface="Calibri"/>
                <a:ea a:typeface="Calibri"/>
              </a:rPr>
              <a:t>调整后盈利</a:t>
            </a:r>
          </a:p>
        </p:txBody>
      </p:sp>
      <p:sp>
        <p:nvSpPr>
          <p:cNvPr id="14" name="TextBox 13"/>
          <p:cNvSpPr txBox="1"/>
          <p:nvPr/>
        </p:nvSpPr>
        <p:spPr>
          <a:xfrm>
            <a:off x="585216" y="3108960"/>
            <a:ext cx="2398699" cy="457200"/>
          </a:xfrm>
          <a:prstGeom prst="rect">
            <a:avLst/>
          </a:prstGeom>
          <a:noFill/>
        </p:spPr>
        <p:txBody>
          <a:bodyPr wrap="square" anchor="t"/>
          <a:lstStyle/>
          <a:p>
            <a:pPr algn="l">
              <a:spcBef>
                <a:spcPts val="0"/>
              </a:spcBef>
              <a:spcAft>
                <a:spcPts val="200"/>
              </a:spcAft>
            </a:pPr>
            <a:r>
              <a:rPr sz="1200" b="0" i="0">
                <a:solidFill>
                  <a:srgbClr val="4A5568"/>
                </a:solidFill>
                <a:latin typeface="Calibri"/>
                <a:ea a:typeface="Calibri"/>
              </a:rPr>
              <a:t>Anthropic告知股东</a:t>
            </a:r>
          </a:p>
        </p:txBody>
      </p:sp>
      <p:sp>
        <p:nvSpPr>
          <p:cNvPr id="15" name="Rectangle 14"/>
          <p:cNvSpPr/>
          <p:nvPr/>
        </p:nvSpPr>
        <p:spPr>
          <a:xfrm>
            <a:off x="3331387" y="2084831"/>
            <a:ext cx="2654731" cy="1691640"/>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59403" y="2157984"/>
            <a:ext cx="2398699" cy="640080"/>
          </a:xfrm>
          <a:prstGeom prst="rect">
            <a:avLst/>
          </a:prstGeom>
          <a:noFill/>
        </p:spPr>
        <p:txBody>
          <a:bodyPr wrap="square" anchor="t"/>
          <a:lstStyle/>
          <a:p>
            <a:pPr algn="l">
              <a:spcBef>
                <a:spcPts val="0"/>
              </a:spcBef>
              <a:spcAft>
                <a:spcPts val="200"/>
              </a:spcAft>
            </a:pPr>
            <a:r>
              <a:rPr sz="2800" b="1" i="0">
                <a:solidFill>
                  <a:srgbClr val="C41E3A"/>
                </a:solidFill>
                <a:latin typeface="Cambria"/>
                <a:ea a:typeface="Cambria"/>
              </a:rPr>
              <a:t>2nm</a:t>
            </a:r>
          </a:p>
        </p:txBody>
      </p:sp>
      <p:sp>
        <p:nvSpPr>
          <p:cNvPr id="17" name="TextBox 16"/>
          <p:cNvSpPr txBox="1"/>
          <p:nvPr/>
        </p:nvSpPr>
        <p:spPr>
          <a:xfrm>
            <a:off x="3459403" y="2816352"/>
            <a:ext cx="2398699" cy="292608"/>
          </a:xfrm>
          <a:prstGeom prst="rect">
            <a:avLst/>
          </a:prstGeom>
          <a:noFill/>
        </p:spPr>
        <p:txBody>
          <a:bodyPr wrap="square" anchor="t"/>
          <a:lstStyle/>
          <a:p>
            <a:pPr algn="l">
              <a:spcBef>
                <a:spcPts val="0"/>
              </a:spcBef>
              <a:spcAft>
                <a:spcPts val="200"/>
              </a:spcAft>
            </a:pPr>
            <a:r>
              <a:rPr sz="1300" b="1" i="0">
                <a:solidFill>
                  <a:srgbClr val="1A1A1A"/>
                </a:solidFill>
                <a:latin typeface="Calibri"/>
                <a:ea a:typeface="Calibri"/>
              </a:rPr>
              <a:t>三维叠层</a:t>
            </a:r>
          </a:p>
        </p:txBody>
      </p:sp>
      <p:sp>
        <p:nvSpPr>
          <p:cNvPr id="18" name="TextBox 17"/>
          <p:cNvSpPr txBox="1"/>
          <p:nvPr/>
        </p:nvSpPr>
        <p:spPr>
          <a:xfrm>
            <a:off x="3459403" y="3108960"/>
            <a:ext cx="2398699" cy="457200"/>
          </a:xfrm>
          <a:prstGeom prst="rect">
            <a:avLst/>
          </a:prstGeom>
          <a:noFill/>
        </p:spPr>
        <p:txBody>
          <a:bodyPr wrap="square" anchor="t"/>
          <a:lstStyle/>
          <a:p>
            <a:pPr algn="l">
              <a:spcBef>
                <a:spcPts val="0"/>
              </a:spcBef>
              <a:spcAft>
                <a:spcPts val="200"/>
              </a:spcAft>
            </a:pPr>
            <a:r>
              <a:rPr sz="1200" b="0" i="0">
                <a:solidFill>
                  <a:srgbClr val="4A5568"/>
                </a:solidFill>
                <a:latin typeface="Calibri"/>
                <a:ea a:typeface="Calibri"/>
              </a:rPr>
              <a:t>MONAKA 11月开售</a:t>
            </a:r>
          </a:p>
        </p:txBody>
      </p:sp>
      <p:sp>
        <p:nvSpPr>
          <p:cNvPr id="19" name="Rectangle 18"/>
          <p:cNvSpPr/>
          <p:nvPr/>
        </p:nvSpPr>
        <p:spPr>
          <a:xfrm>
            <a:off x="6205575" y="2084831"/>
            <a:ext cx="2654731" cy="1691640"/>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33591" y="2157984"/>
            <a:ext cx="2398699" cy="640080"/>
          </a:xfrm>
          <a:prstGeom prst="rect">
            <a:avLst/>
          </a:prstGeom>
          <a:noFill/>
        </p:spPr>
        <p:txBody>
          <a:bodyPr wrap="square" anchor="t"/>
          <a:lstStyle/>
          <a:p>
            <a:pPr algn="l">
              <a:spcBef>
                <a:spcPts val="0"/>
              </a:spcBef>
              <a:spcAft>
                <a:spcPts val="200"/>
              </a:spcAft>
            </a:pPr>
            <a:r>
              <a:rPr sz="2800" b="1" i="0">
                <a:solidFill>
                  <a:srgbClr val="C41E3A"/>
                </a:solidFill>
                <a:latin typeface="Cambria"/>
                <a:ea a:typeface="Cambria"/>
              </a:rPr>
              <a:t>3.0</a:t>
            </a:r>
          </a:p>
        </p:txBody>
      </p:sp>
      <p:sp>
        <p:nvSpPr>
          <p:cNvPr id="21" name="TextBox 20"/>
          <p:cNvSpPr txBox="1"/>
          <p:nvPr/>
        </p:nvSpPr>
        <p:spPr>
          <a:xfrm>
            <a:off x="6333591" y="2816352"/>
            <a:ext cx="2398699" cy="292608"/>
          </a:xfrm>
          <a:prstGeom prst="rect">
            <a:avLst/>
          </a:prstGeom>
          <a:noFill/>
        </p:spPr>
        <p:txBody>
          <a:bodyPr wrap="square" anchor="t"/>
          <a:lstStyle/>
          <a:p>
            <a:pPr algn="l">
              <a:spcBef>
                <a:spcPts val="0"/>
              </a:spcBef>
              <a:spcAft>
                <a:spcPts val="200"/>
              </a:spcAft>
            </a:pPr>
            <a:r>
              <a:rPr sz="1300" b="1" i="0">
                <a:solidFill>
                  <a:srgbClr val="1A1A1A"/>
                </a:solidFill>
                <a:latin typeface="Calibri"/>
                <a:ea a:typeface="Calibri"/>
              </a:rPr>
              <a:t>治理框架</a:t>
            </a:r>
          </a:p>
        </p:txBody>
      </p:sp>
      <p:sp>
        <p:nvSpPr>
          <p:cNvPr id="22" name="TextBox 21"/>
          <p:cNvSpPr txBox="1"/>
          <p:nvPr/>
        </p:nvSpPr>
        <p:spPr>
          <a:xfrm>
            <a:off x="6333591" y="3108960"/>
            <a:ext cx="2398699" cy="457200"/>
          </a:xfrm>
          <a:prstGeom prst="rect">
            <a:avLst/>
          </a:prstGeom>
          <a:noFill/>
        </p:spPr>
        <p:txBody>
          <a:bodyPr wrap="square" anchor="t"/>
          <a:lstStyle/>
          <a:p>
            <a:pPr algn="l">
              <a:spcBef>
                <a:spcPts val="0"/>
              </a:spcBef>
              <a:spcAft>
                <a:spcPts val="200"/>
              </a:spcAft>
            </a:pPr>
            <a:r>
              <a:rPr sz="1200" b="0" i="0">
                <a:solidFill>
                  <a:srgbClr val="4A5568"/>
                </a:solidFill>
                <a:latin typeface="Calibri"/>
                <a:ea a:typeface="Calibri"/>
              </a:rPr>
              <a:t>济南网安周首发</a:t>
            </a:r>
          </a:p>
        </p:txBody>
      </p:sp>
      <p:sp>
        <p:nvSpPr>
          <p:cNvPr id="23" name="Rectangle 22"/>
          <p:cNvSpPr/>
          <p:nvPr/>
        </p:nvSpPr>
        <p:spPr>
          <a:xfrm>
            <a:off x="9079763" y="2084831"/>
            <a:ext cx="2654731" cy="1691640"/>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07779" y="2157984"/>
            <a:ext cx="2398699" cy="640080"/>
          </a:xfrm>
          <a:prstGeom prst="rect">
            <a:avLst/>
          </a:prstGeom>
          <a:noFill/>
        </p:spPr>
        <p:txBody>
          <a:bodyPr wrap="square" anchor="t"/>
          <a:lstStyle/>
          <a:p>
            <a:pPr algn="l">
              <a:spcBef>
                <a:spcPts val="0"/>
              </a:spcBef>
              <a:spcAft>
                <a:spcPts val="200"/>
              </a:spcAft>
            </a:pPr>
            <a:r>
              <a:rPr sz="2800" b="1" i="0">
                <a:solidFill>
                  <a:srgbClr val="C41E3A"/>
                </a:solidFill>
                <a:latin typeface="Cambria"/>
                <a:ea a:typeface="Cambria"/>
              </a:rPr>
              <a:t>95.9%</a:t>
            </a:r>
          </a:p>
        </p:txBody>
      </p:sp>
      <p:sp>
        <p:nvSpPr>
          <p:cNvPr id="25" name="TextBox 24"/>
          <p:cNvSpPr txBox="1"/>
          <p:nvPr/>
        </p:nvSpPr>
        <p:spPr>
          <a:xfrm>
            <a:off x="9207779" y="2816352"/>
            <a:ext cx="2398699" cy="292608"/>
          </a:xfrm>
          <a:prstGeom prst="rect">
            <a:avLst/>
          </a:prstGeom>
          <a:noFill/>
        </p:spPr>
        <p:txBody>
          <a:bodyPr wrap="square" anchor="t"/>
          <a:lstStyle/>
          <a:p>
            <a:pPr algn="l">
              <a:spcBef>
                <a:spcPts val="0"/>
              </a:spcBef>
              <a:spcAft>
                <a:spcPts val="200"/>
              </a:spcAft>
            </a:pPr>
            <a:r>
              <a:rPr sz="1300" b="1" i="0">
                <a:solidFill>
                  <a:srgbClr val="1A1A1A"/>
                </a:solidFill>
                <a:latin typeface="Calibri"/>
                <a:ea a:typeface="Calibri"/>
              </a:rPr>
              <a:t>MNIST精度</a:t>
            </a:r>
          </a:p>
        </p:txBody>
      </p:sp>
      <p:sp>
        <p:nvSpPr>
          <p:cNvPr id="26" name="TextBox 25"/>
          <p:cNvSpPr txBox="1"/>
          <p:nvPr/>
        </p:nvSpPr>
        <p:spPr>
          <a:xfrm>
            <a:off x="9207779" y="3108960"/>
            <a:ext cx="2398699" cy="457200"/>
          </a:xfrm>
          <a:prstGeom prst="rect">
            <a:avLst/>
          </a:prstGeom>
          <a:noFill/>
        </p:spPr>
        <p:txBody>
          <a:bodyPr wrap="square" anchor="t"/>
          <a:lstStyle/>
          <a:p>
            <a:pPr algn="l">
              <a:spcBef>
                <a:spcPts val="0"/>
              </a:spcBef>
              <a:spcAft>
                <a:spcPts val="200"/>
              </a:spcAft>
            </a:pPr>
            <a:r>
              <a:rPr sz="1200" b="0" i="0">
                <a:solidFill>
                  <a:srgbClr val="4A5568"/>
                </a:solidFill>
                <a:latin typeface="Calibri"/>
                <a:ea a:typeface="Calibri"/>
              </a:rPr>
              <a:t>逻辑先过滤再放电</a:t>
            </a:r>
          </a:p>
        </p:txBody>
      </p:sp>
      <p:sp>
        <p:nvSpPr>
          <p:cNvPr id="27" name="Rectangle 26"/>
          <p:cNvSpPr/>
          <p:nvPr/>
        </p:nvSpPr>
        <p:spPr>
          <a:xfrm>
            <a:off x="457200" y="3950208"/>
            <a:ext cx="11277295" cy="2450592"/>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 y="4041648"/>
            <a:ext cx="10881360" cy="256032"/>
          </a:xfrm>
          <a:prstGeom prst="rect">
            <a:avLst/>
          </a:prstGeom>
          <a:noFill/>
        </p:spPr>
        <p:txBody>
          <a:bodyPr wrap="square" anchor="t"/>
          <a:lstStyle/>
          <a:p>
            <a:pPr algn="l">
              <a:spcBef>
                <a:spcPts val="0"/>
              </a:spcBef>
              <a:spcAft>
                <a:spcPts val="200"/>
              </a:spcAft>
            </a:pPr>
            <a:r>
              <a:rPr sz="1200" b="1" i="0">
                <a:solidFill>
                  <a:srgbClr val="C41E3A"/>
                </a:solidFill>
                <a:latin typeface="Calibri"/>
                <a:ea a:typeface="Calibri"/>
              </a:rPr>
              <a:t>编辑观察 · 排除清单与缺口</a:t>
            </a:r>
          </a:p>
        </p:txBody>
      </p:sp>
      <p:sp>
        <p:nvSpPr>
          <p:cNvPr id="29" name="TextBox 28"/>
          <p:cNvSpPr txBox="1"/>
          <p:nvPr/>
        </p:nvSpPr>
        <p:spPr>
          <a:xfrm>
            <a:off x="658368" y="4334256"/>
            <a:ext cx="10881360" cy="1920240"/>
          </a:xfrm>
          <a:prstGeom prst="rect">
            <a:avLst/>
          </a:prstGeom>
          <a:noFill/>
        </p:spPr>
        <p:txBody>
          <a:bodyPr wrap="square" anchor="t"/>
          <a:lstStyle/>
          <a:p>
            <a:pPr algn="l">
              <a:spcBef>
                <a:spcPts val="0"/>
              </a:spcBef>
              <a:spcAft>
                <a:spcPts val="200"/>
              </a:spcAft>
            </a:pPr>
            <a:r>
              <a:rPr sz="1300" b="0" i="0">
                <a:solidFill>
                  <a:srgbClr val="F7F4EF"/>
                </a:solidFill>
                <a:latin typeface="Calibri"/>
                <a:ea a:typeface="Calibri"/>
              </a:rPr>
              <a:t>未混入13日金砖二阶五项倡议、王毅三个目标、霍尔木兹商船与航道会延期、特朗普「留下并拿走石油」、华沙客车、尼方1388、移动云异构推理、《财富》访谈、heise选择加入条款。iOS 27正式推送合沪时15日1:08，特朗普乌俄能源互不打击合沪时15日0:03，新华社金砖纪实15日1:21，均未收入。AMD中国稿写「近日」，未采用。国产互联网平台14日首发不足。Firecrawl 未安装鉴权。</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3840480" cy="292608"/>
          </a:xfrm>
          <a:prstGeom prst="rect">
            <a:avLst/>
          </a:prstGeom>
          <a:noFill/>
        </p:spPr>
        <p:txBody>
          <a:bodyPr wrap="square" anchor="t"/>
          <a:lstStyle/>
          <a:p>
            <a:pPr algn="l">
              <a:spcBef>
                <a:spcPts val="0"/>
              </a:spcBef>
              <a:spcAft>
                <a:spcPts val="200"/>
              </a:spcAft>
            </a:pPr>
            <a:r>
              <a:rPr sz="1300" b="1" i="0">
                <a:solidFill>
                  <a:srgbClr val="1A1A1A"/>
                </a:solidFill>
                <a:latin typeface="Cambria"/>
                <a:ea a:typeface="Cambria"/>
              </a:rPr>
              <a:t>每日时政科技简报</a:t>
            </a:r>
          </a:p>
        </p:txBody>
      </p:sp>
      <p:sp>
        <p:nvSpPr>
          <p:cNvPr id="4" name="TextBox 3"/>
          <p:cNvSpPr txBox="1"/>
          <p:nvPr/>
        </p:nvSpPr>
        <p:spPr>
          <a:xfrm>
            <a:off x="4663440" y="256032"/>
            <a:ext cx="4937760" cy="292608"/>
          </a:xfrm>
          <a:prstGeom prst="rect">
            <a:avLst/>
          </a:prstGeom>
          <a:noFill/>
        </p:spPr>
        <p:txBody>
          <a:bodyPr wrap="square" anchor="t"/>
          <a:lstStyle/>
          <a:p>
            <a:pPr algn="ctr">
              <a:spcBef>
                <a:spcPts val="0"/>
              </a:spcBef>
              <a:spcAft>
                <a:spcPts val="200"/>
              </a:spcAft>
            </a:pPr>
            <a:r>
              <a:rPr sz="1100" b="0" i="0">
                <a:solidFill>
                  <a:srgbClr val="4A5568"/>
                </a:solidFill>
                <a:latin typeface="Calibri"/>
                <a:ea a:typeface="Calibri"/>
              </a:rPr>
              <a:t>第257期  ·  2026年9月14日  ·  星期一</a:t>
            </a:r>
          </a:p>
        </p:txBody>
      </p:sp>
      <p:sp>
        <p:nvSpPr>
          <p:cNvPr id="5" name="TextBox 4"/>
          <p:cNvSpPr txBox="1"/>
          <p:nvPr/>
        </p:nvSpPr>
        <p:spPr>
          <a:xfrm>
            <a:off x="9692640" y="256032"/>
            <a:ext cx="2011680" cy="292608"/>
          </a:xfrm>
          <a:prstGeom prst="rect">
            <a:avLst/>
          </a:prstGeom>
          <a:noFill/>
        </p:spPr>
        <p:txBody>
          <a:bodyPr wrap="square" anchor="t"/>
          <a:lstStyle/>
          <a:p>
            <a:pPr algn="r">
              <a:spcBef>
                <a:spcPts val="0"/>
              </a:spcBef>
              <a:spcAft>
                <a:spcPts val="200"/>
              </a:spcAft>
            </a:pPr>
            <a:r>
              <a:rPr sz="1100" b="1" i="0">
                <a:solidFill>
                  <a:srgbClr val="C41E3A"/>
                </a:solidFill>
                <a:latin typeface="Calibri"/>
                <a:ea a:typeface="Calibri"/>
              </a:rPr>
              <a:t>晨刊</a:t>
            </a:r>
          </a:p>
        </p:txBody>
      </p:sp>
      <p:sp>
        <p:nvSpPr>
          <p:cNvPr id="6" name="Rectangle 5"/>
          <p:cNvSpPr/>
          <p:nvPr/>
        </p:nvSpPr>
        <p:spPr>
          <a:xfrm>
            <a:off x="457200" y="566928"/>
            <a:ext cx="11277295" cy="20320"/>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603504"/>
            <a:ext cx="11277295" cy="9525"/>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731520"/>
            <a:ext cx="11247120" cy="502920"/>
          </a:xfrm>
          <a:prstGeom prst="rect">
            <a:avLst/>
          </a:prstGeom>
          <a:noFill/>
        </p:spPr>
        <p:txBody>
          <a:bodyPr wrap="square" anchor="t"/>
          <a:lstStyle/>
          <a:p>
            <a:pPr algn="l">
              <a:spcBef>
                <a:spcPts val="0"/>
              </a:spcBef>
              <a:spcAft>
                <a:spcPts val="200"/>
              </a:spcAft>
            </a:pPr>
            <a:r>
              <a:rPr sz="3600" b="1" i="0">
                <a:solidFill>
                  <a:srgbClr val="1A1A1A"/>
                </a:solidFill>
                <a:latin typeface="Cambria"/>
                <a:ea a:typeface="Cambria"/>
              </a:rPr>
              <a:t>盈利口径与可下单的硅</a:t>
            </a:r>
          </a:p>
        </p:txBody>
      </p:sp>
      <p:sp>
        <p:nvSpPr>
          <p:cNvPr id="9" name="TextBox 8"/>
          <p:cNvSpPr txBox="1"/>
          <p:nvPr/>
        </p:nvSpPr>
        <p:spPr>
          <a:xfrm>
            <a:off x="457200" y="1207008"/>
            <a:ext cx="11247120" cy="292608"/>
          </a:xfrm>
          <a:prstGeom prst="rect">
            <a:avLst/>
          </a:prstGeom>
          <a:noFill/>
        </p:spPr>
        <p:txBody>
          <a:bodyPr wrap="square" anchor="t"/>
          <a:lstStyle/>
          <a:p>
            <a:pPr algn="l">
              <a:spcBef>
                <a:spcPts val="0"/>
              </a:spcBef>
              <a:spcAft>
                <a:spcPts val="200"/>
              </a:spcAft>
            </a:pPr>
            <a:r>
              <a:rPr sz="1400" b="0" i="0">
                <a:solidFill>
                  <a:srgbClr val="4A5568"/>
                </a:solidFill>
                <a:latin typeface="Calibri"/>
                <a:ea a:typeface="Calibri"/>
              </a:rPr>
              <a:t>一篇股东通报在沪时清晨入账；一枚2纳米CPU在东京被写成11月价目表。</a:t>
            </a:r>
          </a:p>
        </p:txBody>
      </p:sp>
      <p:sp>
        <p:nvSpPr>
          <p:cNvPr id="10" name="Rectangle 9"/>
          <p:cNvSpPr/>
          <p:nvPr/>
        </p:nvSpPr>
        <p:spPr>
          <a:xfrm>
            <a:off x="457200" y="1627632"/>
            <a:ext cx="6537960" cy="4754880"/>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755648"/>
            <a:ext cx="6208776" cy="256032"/>
          </a:xfrm>
          <a:prstGeom prst="rect">
            <a:avLst/>
          </a:prstGeom>
          <a:noFill/>
        </p:spPr>
        <p:txBody>
          <a:bodyPr wrap="square" anchor="t"/>
          <a:lstStyle/>
          <a:p>
            <a:pPr algn="l">
              <a:spcBef>
                <a:spcPts val="0"/>
              </a:spcBef>
              <a:spcAft>
                <a:spcPts val="200"/>
              </a:spcAft>
            </a:pPr>
            <a:r>
              <a:rPr sz="1100" b="1" i="0">
                <a:solidFill>
                  <a:srgbClr val="C41E3A"/>
                </a:solidFill>
                <a:latin typeface="Calibri"/>
                <a:ea a:typeface="Calibri"/>
              </a:rPr>
              <a:t>07　人工智能 · 旧金山</a:t>
            </a:r>
          </a:p>
        </p:txBody>
      </p:sp>
      <p:sp>
        <p:nvSpPr>
          <p:cNvPr id="12" name="TextBox 11"/>
          <p:cNvSpPr txBox="1"/>
          <p:nvPr/>
        </p:nvSpPr>
        <p:spPr>
          <a:xfrm>
            <a:off x="621792" y="2029968"/>
            <a:ext cx="6208776" cy="960120"/>
          </a:xfrm>
          <a:prstGeom prst="rect">
            <a:avLst/>
          </a:prstGeom>
          <a:noFill/>
        </p:spPr>
        <p:txBody>
          <a:bodyPr wrap="square" anchor="t"/>
          <a:lstStyle/>
          <a:p>
            <a:pPr algn="l">
              <a:spcBef>
                <a:spcPts val="0"/>
              </a:spcBef>
              <a:spcAft>
                <a:spcPts val="200"/>
              </a:spcAft>
            </a:pPr>
            <a:r>
              <a:rPr sz="2000" b="1" i="0">
                <a:solidFill>
                  <a:srgbClr val="1A1A1A"/>
                </a:solidFill>
                <a:latin typeface="Cambria"/>
                <a:ea a:typeface="Cambria"/>
              </a:rPr>
              <a:t>Anthropic告知股东：调整后营业利润将连续两季为正</a:t>
            </a:r>
          </a:p>
        </p:txBody>
      </p:sp>
      <p:sp>
        <p:nvSpPr>
          <p:cNvPr id="13" name="TextBox 12"/>
          <p:cNvSpPr txBox="1"/>
          <p:nvPr/>
        </p:nvSpPr>
        <p:spPr>
          <a:xfrm>
            <a:off x="621792" y="2962656"/>
            <a:ext cx="6208776" cy="256032"/>
          </a:xfrm>
          <a:prstGeom prst="rect">
            <a:avLst/>
          </a:prstGeom>
          <a:noFill/>
        </p:spPr>
        <p:txBody>
          <a:bodyPr wrap="square" anchor="t"/>
          <a:lstStyle/>
          <a:p>
            <a:pPr algn="l">
              <a:spcBef>
                <a:spcPts val="0"/>
              </a:spcBef>
              <a:spcAft>
                <a:spcPts val="200"/>
              </a:spcAft>
            </a:pPr>
            <a:r>
              <a:rPr sz="1100" b="0" i="1">
                <a:solidFill>
                  <a:srgbClr val="4A5568"/>
                </a:solidFill>
                <a:latin typeface="Calibri"/>
                <a:ea a:typeface="Calibri"/>
              </a:rPr>
              <a:t>来源：金融时报 / 路透社  ·  reuters.com</a:t>
            </a:r>
          </a:p>
        </p:txBody>
      </p:sp>
      <p:sp>
        <p:nvSpPr>
          <p:cNvPr id="14" name="TextBox 13"/>
          <p:cNvSpPr txBox="1"/>
          <p:nvPr/>
        </p:nvSpPr>
        <p:spPr>
          <a:xfrm>
            <a:off x="621792" y="3236976"/>
            <a:ext cx="6208776" cy="1234440"/>
          </a:xfrm>
          <a:prstGeom prst="rect">
            <a:avLst/>
          </a:prstGeom>
          <a:noFill/>
        </p:spPr>
        <p:txBody>
          <a:bodyPr wrap="square" anchor="t"/>
          <a:lstStyle/>
          <a:p>
            <a:pPr algn="l">
              <a:spcBef>
                <a:spcPts val="0"/>
              </a:spcBef>
              <a:spcAft>
                <a:spcPts val="200"/>
              </a:spcAft>
            </a:pPr>
            <a:r>
              <a:rPr sz="1400" b="0" i="0">
                <a:solidFill>
                  <a:srgbClr val="1A1A1A"/>
                </a:solidFill>
                <a:latin typeface="Calibri"/>
                <a:ea a:typeface="Calibri"/>
              </a:rPr>
              <a:t>FT援引知情人士称，Anthropic已告知小股东，本季调整后营业利润将连续两季为正。二季度营收同比增14倍至115亿美元，7月底年化营收650亿美元。路透13日22:54 UTC首发，合沪时14日6:54。</a:t>
            </a:r>
          </a:p>
        </p:txBody>
      </p:sp>
      <p:sp>
        <p:nvSpPr>
          <p:cNvPr id="15" name="Rectangle 14"/>
          <p:cNvSpPr/>
          <p:nvPr/>
        </p:nvSpPr>
        <p:spPr>
          <a:xfrm>
            <a:off x="621792" y="5422392"/>
            <a:ext cx="6208776" cy="9525"/>
          </a:xfrm>
          <a:prstGeom prst="rect">
            <a:avLst/>
          </a:prstGeom>
          <a:solidFill>
            <a:srgbClr val="D6C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 y="5486400"/>
            <a:ext cx="6208776" cy="201168"/>
          </a:xfrm>
          <a:prstGeom prst="rect">
            <a:avLst/>
          </a:prstGeom>
          <a:noFill/>
        </p:spPr>
        <p:txBody>
          <a:bodyPr wrap="square" anchor="t"/>
          <a:lstStyle/>
          <a:p>
            <a:pPr algn="l">
              <a:spcBef>
                <a:spcPts val="0"/>
              </a:spcBef>
              <a:spcAft>
                <a:spcPts val="200"/>
              </a:spcAft>
            </a:pPr>
            <a:r>
              <a:rPr sz="1100" b="1" i="0">
                <a:solidFill>
                  <a:srgbClr val="C41E3A"/>
                </a:solidFill>
                <a:latin typeface="Calibri"/>
                <a:ea a:typeface="Calibri"/>
              </a:rPr>
              <a:t>为何重要</a:t>
            </a:r>
          </a:p>
        </p:txBody>
      </p:sp>
      <p:sp>
        <p:nvSpPr>
          <p:cNvPr id="17" name="TextBox 16"/>
          <p:cNvSpPr txBox="1"/>
          <p:nvPr/>
        </p:nvSpPr>
        <p:spPr>
          <a:xfrm>
            <a:off x="621792" y="5687568"/>
            <a:ext cx="6208776" cy="621792"/>
          </a:xfrm>
          <a:prstGeom prst="rect">
            <a:avLst/>
          </a:prstGeom>
          <a:noFill/>
        </p:spPr>
        <p:txBody>
          <a:bodyPr wrap="square" anchor="t"/>
          <a:lstStyle/>
          <a:p>
            <a:pPr algn="l">
              <a:spcBef>
                <a:spcPts val="0"/>
              </a:spcBef>
              <a:spcAft>
                <a:spcPts val="200"/>
              </a:spcAft>
            </a:pPr>
            <a:r>
              <a:rPr sz="1300" b="0" i="0">
                <a:solidFill>
                  <a:srgbClr val="4A5568"/>
                </a:solidFill>
                <a:latin typeface="Calibri"/>
                <a:ea a:typeface="Calibri"/>
              </a:rPr>
              <a:t>阿莫迪刚呼吁放缓前沿，公司同时用「连续盈利」安抚IPO前的烧钱质疑。</a:t>
            </a:r>
          </a:p>
        </p:txBody>
      </p:sp>
      <p:sp>
        <p:nvSpPr>
          <p:cNvPr id="18" name="Rectangle 17"/>
          <p:cNvSpPr/>
          <p:nvPr/>
        </p:nvSpPr>
        <p:spPr>
          <a:xfrm>
            <a:off x="7324344" y="1627632"/>
            <a:ext cx="4590288" cy="4754880"/>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88936" y="1755648"/>
            <a:ext cx="4261104" cy="256032"/>
          </a:xfrm>
          <a:prstGeom prst="rect">
            <a:avLst/>
          </a:prstGeom>
          <a:noFill/>
        </p:spPr>
        <p:txBody>
          <a:bodyPr wrap="square" anchor="t"/>
          <a:lstStyle/>
          <a:p>
            <a:pPr algn="l">
              <a:spcBef>
                <a:spcPts val="0"/>
              </a:spcBef>
              <a:spcAft>
                <a:spcPts val="200"/>
              </a:spcAft>
            </a:pPr>
            <a:r>
              <a:rPr sz="1100" b="1" i="0">
                <a:solidFill>
                  <a:srgbClr val="C41E3A"/>
                </a:solidFill>
                <a:latin typeface="Calibri"/>
                <a:ea a:typeface="Calibri"/>
              </a:rPr>
              <a:t>08　芯片 · 东京</a:t>
            </a:r>
          </a:p>
        </p:txBody>
      </p:sp>
      <p:sp>
        <p:nvSpPr>
          <p:cNvPr id="20" name="TextBox 19"/>
          <p:cNvSpPr txBox="1"/>
          <p:nvPr/>
        </p:nvSpPr>
        <p:spPr>
          <a:xfrm>
            <a:off x="7488936" y="2029968"/>
            <a:ext cx="4261104" cy="960120"/>
          </a:xfrm>
          <a:prstGeom prst="rect">
            <a:avLst/>
          </a:prstGeom>
          <a:noFill/>
        </p:spPr>
        <p:txBody>
          <a:bodyPr wrap="square" anchor="t"/>
          <a:lstStyle/>
          <a:p>
            <a:pPr algn="l">
              <a:spcBef>
                <a:spcPts val="0"/>
              </a:spcBef>
              <a:spcAft>
                <a:spcPts val="200"/>
              </a:spcAft>
            </a:pPr>
            <a:r>
              <a:rPr sz="2000" b="1" i="0">
                <a:solidFill>
                  <a:srgbClr val="1A1A1A"/>
                </a:solidFill>
                <a:latin typeface="Cambria"/>
                <a:ea a:typeface="Cambria"/>
              </a:rPr>
              <a:t>富士通宣布11月开售2纳米三维叠层CPU「MONAKA」</a:t>
            </a:r>
          </a:p>
        </p:txBody>
      </p:sp>
      <p:sp>
        <p:nvSpPr>
          <p:cNvPr id="21" name="TextBox 20"/>
          <p:cNvSpPr txBox="1"/>
          <p:nvPr/>
        </p:nvSpPr>
        <p:spPr>
          <a:xfrm>
            <a:off x="7488936" y="2962656"/>
            <a:ext cx="4261104" cy="256032"/>
          </a:xfrm>
          <a:prstGeom prst="rect">
            <a:avLst/>
          </a:prstGeom>
          <a:noFill/>
        </p:spPr>
        <p:txBody>
          <a:bodyPr wrap="square" anchor="t"/>
          <a:lstStyle/>
          <a:p>
            <a:pPr algn="l">
              <a:spcBef>
                <a:spcPts val="0"/>
              </a:spcBef>
              <a:spcAft>
                <a:spcPts val="200"/>
              </a:spcAft>
            </a:pPr>
            <a:r>
              <a:rPr sz="1100" b="0" i="1">
                <a:solidFill>
                  <a:srgbClr val="4A5568"/>
                </a:solidFill>
                <a:latin typeface="Calibri"/>
                <a:ea a:typeface="Calibri"/>
              </a:rPr>
              <a:t>来源：富士通 / 共同社  ·  prtimes.jp</a:t>
            </a:r>
          </a:p>
        </p:txBody>
      </p:sp>
      <p:sp>
        <p:nvSpPr>
          <p:cNvPr id="22" name="TextBox 21"/>
          <p:cNvSpPr txBox="1"/>
          <p:nvPr/>
        </p:nvSpPr>
        <p:spPr>
          <a:xfrm>
            <a:off x="7488936" y="3236976"/>
            <a:ext cx="4261104" cy="1234440"/>
          </a:xfrm>
          <a:prstGeom prst="rect">
            <a:avLst/>
          </a:prstGeom>
          <a:noFill/>
        </p:spPr>
        <p:txBody>
          <a:bodyPr wrap="square" anchor="t"/>
          <a:lstStyle/>
          <a:p>
            <a:pPr algn="l">
              <a:spcBef>
                <a:spcPts val="0"/>
              </a:spcBef>
              <a:spcAft>
                <a:spcPts val="200"/>
              </a:spcAft>
            </a:pPr>
            <a:r>
              <a:rPr sz="1400" b="0" i="0">
                <a:solidFill>
                  <a:srgbClr val="1A1A1A"/>
                </a:solidFill>
                <a:latin typeface="Calibri"/>
                <a:ea a:typeface="Calibri"/>
              </a:rPr>
              <a:t>富士通14日宣布，11月起向云与数据中心厂商全球销售FUJITSU-MONAKA，并推出国产服务器。芯片为2nm+5nm三维叠层，主频最高3.8GHz，AI推理吞吐称为他社CPU两倍。</a:t>
            </a:r>
          </a:p>
        </p:txBody>
      </p:sp>
      <p:sp>
        <p:nvSpPr>
          <p:cNvPr id="23" name="Rectangle 22"/>
          <p:cNvSpPr/>
          <p:nvPr/>
        </p:nvSpPr>
        <p:spPr>
          <a:xfrm>
            <a:off x="7488936" y="5422392"/>
            <a:ext cx="4261104" cy="9525"/>
          </a:xfrm>
          <a:prstGeom prst="rect">
            <a:avLst/>
          </a:prstGeom>
          <a:solidFill>
            <a:srgbClr val="D6C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88936" y="5486400"/>
            <a:ext cx="4261104" cy="201168"/>
          </a:xfrm>
          <a:prstGeom prst="rect">
            <a:avLst/>
          </a:prstGeom>
          <a:noFill/>
        </p:spPr>
        <p:txBody>
          <a:bodyPr wrap="square" anchor="t"/>
          <a:lstStyle/>
          <a:p>
            <a:pPr algn="l">
              <a:spcBef>
                <a:spcPts val="0"/>
              </a:spcBef>
              <a:spcAft>
                <a:spcPts val="200"/>
              </a:spcAft>
            </a:pPr>
            <a:r>
              <a:rPr sz="1100" b="1" i="0">
                <a:solidFill>
                  <a:srgbClr val="C41E3A"/>
                </a:solidFill>
                <a:latin typeface="Calibri"/>
                <a:ea a:typeface="Calibri"/>
              </a:rPr>
              <a:t>为何重要</a:t>
            </a:r>
          </a:p>
        </p:txBody>
      </p:sp>
      <p:sp>
        <p:nvSpPr>
          <p:cNvPr id="25" name="TextBox 24"/>
          <p:cNvSpPr txBox="1"/>
          <p:nvPr/>
        </p:nvSpPr>
        <p:spPr>
          <a:xfrm>
            <a:off x="7488936" y="5687568"/>
            <a:ext cx="4261104" cy="621792"/>
          </a:xfrm>
          <a:prstGeom prst="rect">
            <a:avLst/>
          </a:prstGeom>
          <a:noFill/>
        </p:spPr>
        <p:txBody>
          <a:bodyPr wrap="square" anchor="t"/>
          <a:lstStyle/>
          <a:p>
            <a:pPr algn="l">
              <a:spcBef>
                <a:spcPts val="0"/>
              </a:spcBef>
              <a:spcAft>
                <a:spcPts val="200"/>
              </a:spcAft>
            </a:pPr>
            <a:r>
              <a:rPr sz="1300" b="0" i="0">
                <a:solidFill>
                  <a:srgbClr val="4A5568"/>
                </a:solidFill>
                <a:latin typeface="Calibri"/>
                <a:ea a:typeface="Calibri"/>
              </a:rPr>
              <a:t>这是「富岳」技术第一次被写成可下单的主权AI服务器，而不再是路线图幻灯片。</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3840480" cy="292608"/>
          </a:xfrm>
          <a:prstGeom prst="rect">
            <a:avLst/>
          </a:prstGeom>
          <a:noFill/>
        </p:spPr>
        <p:txBody>
          <a:bodyPr wrap="square" anchor="t"/>
          <a:lstStyle/>
          <a:p>
            <a:pPr algn="l">
              <a:spcBef>
                <a:spcPts val="0"/>
              </a:spcBef>
              <a:spcAft>
                <a:spcPts val="200"/>
              </a:spcAft>
            </a:pPr>
            <a:r>
              <a:rPr sz="1300" b="1" i="0">
                <a:solidFill>
                  <a:srgbClr val="1A1A1A"/>
                </a:solidFill>
                <a:latin typeface="Cambria"/>
                <a:ea a:typeface="Cambria"/>
              </a:rPr>
              <a:t>每日时政科技简报</a:t>
            </a:r>
          </a:p>
        </p:txBody>
      </p:sp>
      <p:sp>
        <p:nvSpPr>
          <p:cNvPr id="4" name="TextBox 3"/>
          <p:cNvSpPr txBox="1"/>
          <p:nvPr/>
        </p:nvSpPr>
        <p:spPr>
          <a:xfrm>
            <a:off x="4663440" y="256032"/>
            <a:ext cx="4937760" cy="292608"/>
          </a:xfrm>
          <a:prstGeom prst="rect">
            <a:avLst/>
          </a:prstGeom>
          <a:noFill/>
        </p:spPr>
        <p:txBody>
          <a:bodyPr wrap="square" anchor="t"/>
          <a:lstStyle/>
          <a:p>
            <a:pPr algn="ctr">
              <a:spcBef>
                <a:spcPts val="0"/>
              </a:spcBef>
              <a:spcAft>
                <a:spcPts val="200"/>
              </a:spcAft>
            </a:pPr>
            <a:r>
              <a:rPr sz="1100" b="0" i="0">
                <a:solidFill>
                  <a:srgbClr val="4A5568"/>
                </a:solidFill>
                <a:latin typeface="Calibri"/>
                <a:ea a:typeface="Calibri"/>
              </a:rPr>
              <a:t>第257期  ·  2026年9月14日  ·  星期一</a:t>
            </a:r>
          </a:p>
        </p:txBody>
      </p:sp>
      <p:sp>
        <p:nvSpPr>
          <p:cNvPr id="5" name="TextBox 4"/>
          <p:cNvSpPr txBox="1"/>
          <p:nvPr/>
        </p:nvSpPr>
        <p:spPr>
          <a:xfrm>
            <a:off x="9692640" y="256032"/>
            <a:ext cx="2011680" cy="292608"/>
          </a:xfrm>
          <a:prstGeom prst="rect">
            <a:avLst/>
          </a:prstGeom>
          <a:noFill/>
        </p:spPr>
        <p:txBody>
          <a:bodyPr wrap="square" anchor="t"/>
          <a:lstStyle/>
          <a:p>
            <a:pPr algn="r">
              <a:spcBef>
                <a:spcPts val="0"/>
              </a:spcBef>
              <a:spcAft>
                <a:spcPts val="200"/>
              </a:spcAft>
            </a:pPr>
            <a:r>
              <a:rPr sz="1100" b="1" i="0">
                <a:solidFill>
                  <a:srgbClr val="C41E3A"/>
                </a:solidFill>
                <a:latin typeface="Calibri"/>
                <a:ea a:typeface="Calibri"/>
              </a:rPr>
              <a:t>晨刊</a:t>
            </a:r>
          </a:p>
        </p:txBody>
      </p:sp>
      <p:sp>
        <p:nvSpPr>
          <p:cNvPr id="6" name="Rectangle 5"/>
          <p:cNvSpPr/>
          <p:nvPr/>
        </p:nvSpPr>
        <p:spPr>
          <a:xfrm>
            <a:off x="457200" y="566928"/>
            <a:ext cx="11277295" cy="20320"/>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603504"/>
            <a:ext cx="11277295" cy="9525"/>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731520"/>
            <a:ext cx="11247120" cy="502920"/>
          </a:xfrm>
          <a:prstGeom prst="rect">
            <a:avLst/>
          </a:prstGeom>
          <a:noFill/>
        </p:spPr>
        <p:txBody>
          <a:bodyPr wrap="square" anchor="t"/>
          <a:lstStyle/>
          <a:p>
            <a:pPr algn="l">
              <a:spcBef>
                <a:spcPts val="0"/>
              </a:spcBef>
              <a:spcAft>
                <a:spcPts val="200"/>
              </a:spcAft>
            </a:pPr>
            <a:r>
              <a:rPr sz="3600" b="1" i="0">
                <a:solidFill>
                  <a:srgbClr val="1A1A1A"/>
                </a:solidFill>
                <a:latin typeface="Cambria"/>
                <a:ea a:typeface="Cambria"/>
              </a:rPr>
              <a:t>框架升号与前端过滤</a:t>
            </a:r>
          </a:p>
        </p:txBody>
      </p:sp>
      <p:sp>
        <p:nvSpPr>
          <p:cNvPr id="9" name="TextBox 8"/>
          <p:cNvSpPr txBox="1"/>
          <p:nvPr/>
        </p:nvSpPr>
        <p:spPr>
          <a:xfrm>
            <a:off x="457200" y="1207008"/>
            <a:ext cx="11247120" cy="292608"/>
          </a:xfrm>
          <a:prstGeom prst="rect">
            <a:avLst/>
          </a:prstGeom>
          <a:noFill/>
        </p:spPr>
        <p:txBody>
          <a:bodyPr wrap="square" anchor="t"/>
          <a:lstStyle/>
          <a:p>
            <a:pPr algn="l">
              <a:spcBef>
                <a:spcPts val="0"/>
              </a:spcBef>
              <a:spcAft>
                <a:spcPts val="200"/>
              </a:spcAft>
            </a:pPr>
            <a:r>
              <a:rPr sz="1400" b="0" i="0">
                <a:solidFill>
                  <a:srgbClr val="4A5568"/>
                </a:solidFill>
                <a:latin typeface="Calibri"/>
                <a:ea a:typeface="Calibri"/>
              </a:rPr>
              <a:t>济南把1.0、2.0写成3.0；实验室把无关像素挡在放电之前。</a:t>
            </a:r>
          </a:p>
        </p:txBody>
      </p:sp>
      <p:sp>
        <p:nvSpPr>
          <p:cNvPr id="10" name="Rectangle 9"/>
          <p:cNvSpPr/>
          <p:nvPr/>
        </p:nvSpPr>
        <p:spPr>
          <a:xfrm>
            <a:off x="457200" y="1627632"/>
            <a:ext cx="5474055" cy="4754880"/>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755648"/>
            <a:ext cx="5144871" cy="256032"/>
          </a:xfrm>
          <a:prstGeom prst="rect">
            <a:avLst/>
          </a:prstGeom>
          <a:noFill/>
        </p:spPr>
        <p:txBody>
          <a:bodyPr wrap="square" anchor="t"/>
          <a:lstStyle/>
          <a:p>
            <a:pPr algn="l">
              <a:spcBef>
                <a:spcPts val="0"/>
              </a:spcBef>
              <a:spcAft>
                <a:spcPts val="200"/>
              </a:spcAft>
            </a:pPr>
            <a:r>
              <a:rPr sz="1100" b="1" i="0">
                <a:solidFill>
                  <a:srgbClr val="C41E3A"/>
                </a:solidFill>
                <a:latin typeface="Calibri"/>
                <a:ea a:typeface="Calibri"/>
              </a:rPr>
              <a:t>09　治理 · 济南</a:t>
            </a:r>
          </a:p>
        </p:txBody>
      </p:sp>
      <p:sp>
        <p:nvSpPr>
          <p:cNvPr id="12" name="TextBox 11"/>
          <p:cNvSpPr txBox="1"/>
          <p:nvPr/>
        </p:nvSpPr>
        <p:spPr>
          <a:xfrm>
            <a:off x="621792" y="2029968"/>
            <a:ext cx="5144871" cy="960120"/>
          </a:xfrm>
          <a:prstGeom prst="rect">
            <a:avLst/>
          </a:prstGeom>
          <a:noFill/>
        </p:spPr>
        <p:txBody>
          <a:bodyPr wrap="square" anchor="t"/>
          <a:lstStyle/>
          <a:p>
            <a:pPr algn="l">
              <a:spcBef>
                <a:spcPts val="0"/>
              </a:spcBef>
              <a:spcAft>
                <a:spcPts val="200"/>
              </a:spcAft>
            </a:pPr>
            <a:r>
              <a:rPr sz="2000" b="1" i="0">
                <a:solidFill>
                  <a:srgbClr val="1A1A1A"/>
                </a:solidFill>
                <a:latin typeface="Cambria"/>
                <a:ea a:typeface="Cambria"/>
              </a:rPr>
              <a:t>网安周发布《人工智能安全治理框架》3.0</a:t>
            </a:r>
          </a:p>
        </p:txBody>
      </p:sp>
      <p:sp>
        <p:nvSpPr>
          <p:cNvPr id="13" name="TextBox 12"/>
          <p:cNvSpPr txBox="1"/>
          <p:nvPr/>
        </p:nvSpPr>
        <p:spPr>
          <a:xfrm>
            <a:off x="621792" y="2962656"/>
            <a:ext cx="5144871" cy="256032"/>
          </a:xfrm>
          <a:prstGeom prst="rect">
            <a:avLst/>
          </a:prstGeom>
          <a:noFill/>
        </p:spPr>
        <p:txBody>
          <a:bodyPr wrap="square" anchor="t"/>
          <a:lstStyle/>
          <a:p>
            <a:pPr algn="l">
              <a:spcBef>
                <a:spcPts val="0"/>
              </a:spcBef>
              <a:spcAft>
                <a:spcPts val="200"/>
              </a:spcAft>
            </a:pPr>
            <a:r>
              <a:rPr sz="1100" b="0" i="1">
                <a:solidFill>
                  <a:srgbClr val="4A5568"/>
                </a:solidFill>
                <a:latin typeface="Calibri"/>
                <a:ea a:typeface="Calibri"/>
              </a:rPr>
              <a:t>来源：中央网信办 / 新华社  ·  cac.gov.cn</a:t>
            </a:r>
          </a:p>
        </p:txBody>
      </p:sp>
      <p:sp>
        <p:nvSpPr>
          <p:cNvPr id="14" name="TextBox 13"/>
          <p:cNvSpPr txBox="1"/>
          <p:nvPr/>
        </p:nvSpPr>
        <p:spPr>
          <a:xfrm>
            <a:off x="621792" y="3236976"/>
            <a:ext cx="5144871" cy="1234440"/>
          </a:xfrm>
          <a:prstGeom prst="rect">
            <a:avLst/>
          </a:prstGeom>
          <a:noFill/>
        </p:spPr>
        <p:txBody>
          <a:bodyPr wrap="square" anchor="t"/>
          <a:lstStyle/>
          <a:p>
            <a:pPr algn="l">
              <a:spcBef>
                <a:spcPts val="0"/>
              </a:spcBef>
              <a:spcAft>
                <a:spcPts val="200"/>
              </a:spcAft>
            </a:pPr>
            <a:r>
              <a:rPr sz="1400" b="0" i="0">
                <a:solidFill>
                  <a:srgbClr val="1A1A1A"/>
                </a:solidFill>
                <a:latin typeface="Calibri"/>
                <a:ea a:typeface="Calibri"/>
              </a:rPr>
              <a:t>全国网安标委14日在济南网安周开幕式发布《框架3.0》，延续「风险分类、技术应对、综合治理」，更新风险分类。同期发布人工智能赋能网安测试结果和消费类网联摄像头安全标识备案产品。</a:t>
            </a:r>
          </a:p>
        </p:txBody>
      </p:sp>
      <p:sp>
        <p:nvSpPr>
          <p:cNvPr id="15" name="Rectangle 14"/>
          <p:cNvSpPr/>
          <p:nvPr/>
        </p:nvSpPr>
        <p:spPr>
          <a:xfrm>
            <a:off x="621792" y="5422392"/>
            <a:ext cx="5144871" cy="9525"/>
          </a:xfrm>
          <a:prstGeom prst="rect">
            <a:avLst/>
          </a:prstGeom>
          <a:solidFill>
            <a:srgbClr val="D6C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 y="5486400"/>
            <a:ext cx="5144871" cy="201168"/>
          </a:xfrm>
          <a:prstGeom prst="rect">
            <a:avLst/>
          </a:prstGeom>
          <a:noFill/>
        </p:spPr>
        <p:txBody>
          <a:bodyPr wrap="square" anchor="t"/>
          <a:lstStyle/>
          <a:p>
            <a:pPr algn="l">
              <a:spcBef>
                <a:spcPts val="0"/>
              </a:spcBef>
              <a:spcAft>
                <a:spcPts val="200"/>
              </a:spcAft>
            </a:pPr>
            <a:r>
              <a:rPr sz="1100" b="1" i="0">
                <a:solidFill>
                  <a:srgbClr val="C41E3A"/>
                </a:solidFill>
                <a:latin typeface="Calibri"/>
                <a:ea a:typeface="Calibri"/>
              </a:rPr>
              <a:t>为何重要</a:t>
            </a:r>
          </a:p>
        </p:txBody>
      </p:sp>
      <p:sp>
        <p:nvSpPr>
          <p:cNvPr id="17" name="TextBox 16"/>
          <p:cNvSpPr txBox="1"/>
          <p:nvPr/>
        </p:nvSpPr>
        <p:spPr>
          <a:xfrm>
            <a:off x="621792" y="5687568"/>
            <a:ext cx="5144871" cy="621792"/>
          </a:xfrm>
          <a:prstGeom prst="rect">
            <a:avLst/>
          </a:prstGeom>
          <a:noFill/>
        </p:spPr>
        <p:txBody>
          <a:bodyPr wrap="square" anchor="t"/>
          <a:lstStyle/>
          <a:p>
            <a:pPr algn="l">
              <a:spcBef>
                <a:spcPts val="0"/>
              </a:spcBef>
              <a:spcAft>
                <a:spcPts val="200"/>
              </a:spcAft>
            </a:pPr>
            <a:r>
              <a:rPr sz="1300" b="0" i="0">
                <a:solidFill>
                  <a:srgbClr val="4A5568"/>
                </a:solidFill>
                <a:latin typeface="Calibri"/>
                <a:ea a:typeface="Calibri"/>
              </a:rPr>
              <a:t>1.0、2.0还是去年前年的文本，3.0是智能时代网安周当天交出的可引用升级，而不是预告稿。</a:t>
            </a:r>
          </a:p>
        </p:txBody>
      </p:sp>
      <p:sp>
        <p:nvSpPr>
          <p:cNvPr id="18" name="Rectangle 17"/>
          <p:cNvSpPr/>
          <p:nvPr/>
        </p:nvSpPr>
        <p:spPr>
          <a:xfrm>
            <a:off x="6260439" y="1627632"/>
            <a:ext cx="5474055" cy="4754880"/>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25031" y="1755648"/>
            <a:ext cx="5144871" cy="256032"/>
          </a:xfrm>
          <a:prstGeom prst="rect">
            <a:avLst/>
          </a:prstGeom>
          <a:noFill/>
        </p:spPr>
        <p:txBody>
          <a:bodyPr wrap="square" anchor="t"/>
          <a:lstStyle/>
          <a:p>
            <a:pPr algn="l">
              <a:spcBef>
                <a:spcPts val="0"/>
              </a:spcBef>
              <a:spcAft>
                <a:spcPts val="200"/>
              </a:spcAft>
            </a:pPr>
            <a:r>
              <a:rPr sz="1100" b="1" i="0">
                <a:solidFill>
                  <a:srgbClr val="C41E3A"/>
                </a:solidFill>
                <a:latin typeface="Calibri"/>
                <a:ea a:typeface="Calibri"/>
              </a:rPr>
              <a:t>10　科学 · 期刊</a:t>
            </a:r>
          </a:p>
        </p:txBody>
      </p:sp>
      <p:sp>
        <p:nvSpPr>
          <p:cNvPr id="20" name="TextBox 19"/>
          <p:cNvSpPr txBox="1"/>
          <p:nvPr/>
        </p:nvSpPr>
        <p:spPr>
          <a:xfrm>
            <a:off x="6425031" y="2029968"/>
            <a:ext cx="5144871" cy="960120"/>
          </a:xfrm>
          <a:prstGeom prst="rect">
            <a:avLst/>
          </a:prstGeom>
          <a:noFill/>
        </p:spPr>
        <p:txBody>
          <a:bodyPr wrap="square" anchor="t"/>
          <a:lstStyle/>
          <a:p>
            <a:pPr algn="l">
              <a:spcBef>
                <a:spcPts val="0"/>
              </a:spcBef>
              <a:spcAft>
                <a:spcPts val="200"/>
              </a:spcAft>
            </a:pPr>
            <a:r>
              <a:rPr sz="2000" b="1" i="0">
                <a:solidFill>
                  <a:srgbClr val="1A1A1A"/>
                </a:solidFill>
                <a:latin typeface="Cambria"/>
                <a:ea a:typeface="Cambria"/>
              </a:rPr>
              <a:t>《自然·电子》：二硫化钼晶体管把逻辑做进脉冲网络前端</a:t>
            </a:r>
          </a:p>
        </p:txBody>
      </p:sp>
      <p:sp>
        <p:nvSpPr>
          <p:cNvPr id="21" name="TextBox 20"/>
          <p:cNvSpPr txBox="1"/>
          <p:nvPr/>
        </p:nvSpPr>
        <p:spPr>
          <a:xfrm>
            <a:off x="6425031" y="2962656"/>
            <a:ext cx="5144871" cy="256032"/>
          </a:xfrm>
          <a:prstGeom prst="rect">
            <a:avLst/>
          </a:prstGeom>
          <a:noFill/>
        </p:spPr>
        <p:txBody>
          <a:bodyPr wrap="square" anchor="t"/>
          <a:lstStyle/>
          <a:p>
            <a:pPr algn="l">
              <a:spcBef>
                <a:spcPts val="0"/>
              </a:spcBef>
              <a:spcAft>
                <a:spcPts val="200"/>
              </a:spcAft>
            </a:pPr>
            <a:r>
              <a:rPr sz="1100" b="0" i="1">
                <a:solidFill>
                  <a:srgbClr val="4A5568"/>
                </a:solidFill>
                <a:latin typeface="Calibri"/>
                <a:ea a:typeface="Calibri"/>
              </a:rPr>
              <a:t>来源：Nature Electronics  ·  nature.com</a:t>
            </a:r>
          </a:p>
        </p:txBody>
      </p:sp>
      <p:sp>
        <p:nvSpPr>
          <p:cNvPr id="22" name="TextBox 21"/>
          <p:cNvSpPr txBox="1"/>
          <p:nvPr/>
        </p:nvSpPr>
        <p:spPr>
          <a:xfrm>
            <a:off x="6425031" y="3236976"/>
            <a:ext cx="5144871" cy="1234440"/>
          </a:xfrm>
          <a:prstGeom prst="rect">
            <a:avLst/>
          </a:prstGeom>
          <a:noFill/>
        </p:spPr>
        <p:txBody>
          <a:bodyPr wrap="square" anchor="t"/>
          <a:lstStyle/>
          <a:p>
            <a:pPr algn="l">
              <a:spcBef>
                <a:spcPts val="0"/>
              </a:spcBef>
              <a:spcAft>
                <a:spcPts val="200"/>
              </a:spcAft>
            </a:pPr>
            <a:r>
              <a:rPr sz="1400" b="0" i="0">
                <a:solidFill>
                  <a:srgbClr val="1A1A1A"/>
                </a:solidFill>
                <a:latin typeface="Calibri"/>
                <a:ea a:typeface="Calibri"/>
              </a:rPr>
              <a:t>14日开放获取论文报告，铁电HZO栅控的二硫化钼双栅晶体管可同器件实现逻辑、突触与神经元。前端逻辑先筛掉任务无关输入再放电；三层脉冲网络在MNIST上50轮后精度达95.9%。</a:t>
            </a:r>
          </a:p>
        </p:txBody>
      </p:sp>
      <p:sp>
        <p:nvSpPr>
          <p:cNvPr id="23" name="Rectangle 22"/>
          <p:cNvSpPr/>
          <p:nvPr/>
        </p:nvSpPr>
        <p:spPr>
          <a:xfrm>
            <a:off x="6425031" y="5422392"/>
            <a:ext cx="5144871" cy="9525"/>
          </a:xfrm>
          <a:prstGeom prst="rect">
            <a:avLst/>
          </a:prstGeom>
          <a:solidFill>
            <a:srgbClr val="D6C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25031" y="5486400"/>
            <a:ext cx="5144871" cy="201168"/>
          </a:xfrm>
          <a:prstGeom prst="rect">
            <a:avLst/>
          </a:prstGeom>
          <a:noFill/>
        </p:spPr>
        <p:txBody>
          <a:bodyPr wrap="square" anchor="t"/>
          <a:lstStyle/>
          <a:p>
            <a:pPr algn="l">
              <a:spcBef>
                <a:spcPts val="0"/>
              </a:spcBef>
              <a:spcAft>
                <a:spcPts val="200"/>
              </a:spcAft>
            </a:pPr>
            <a:r>
              <a:rPr sz="1100" b="1" i="0">
                <a:solidFill>
                  <a:srgbClr val="C41E3A"/>
                </a:solidFill>
                <a:latin typeface="Calibri"/>
                <a:ea a:typeface="Calibri"/>
              </a:rPr>
              <a:t>为何重要</a:t>
            </a:r>
          </a:p>
        </p:txBody>
      </p:sp>
      <p:sp>
        <p:nvSpPr>
          <p:cNvPr id="25" name="TextBox 24"/>
          <p:cNvSpPr txBox="1"/>
          <p:nvPr/>
        </p:nvSpPr>
        <p:spPr>
          <a:xfrm>
            <a:off x="6425031" y="5687568"/>
            <a:ext cx="5144871" cy="621792"/>
          </a:xfrm>
          <a:prstGeom prst="rect">
            <a:avLst/>
          </a:prstGeom>
          <a:noFill/>
        </p:spPr>
        <p:txBody>
          <a:bodyPr wrap="square" anchor="t"/>
          <a:lstStyle/>
          <a:p>
            <a:pPr algn="l">
              <a:spcBef>
                <a:spcPts val="0"/>
              </a:spcBef>
              <a:spcAft>
                <a:spcPts val="200"/>
              </a:spcAft>
            </a:pPr>
            <a:r>
              <a:rPr sz="1300" b="0" i="0">
                <a:solidFill>
                  <a:srgbClr val="4A5568"/>
                </a:solidFill>
                <a:latin typeface="Calibri"/>
                <a:ea a:typeface="Calibri"/>
              </a:rPr>
              <a:t>它把「省电」从算法稀疏写成硬件先过滤，给类脑芯片一条不拼先进制程的路。</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3840480" cy="292608"/>
          </a:xfrm>
          <a:prstGeom prst="rect">
            <a:avLst/>
          </a:prstGeom>
          <a:noFill/>
        </p:spPr>
        <p:txBody>
          <a:bodyPr wrap="square" anchor="t"/>
          <a:lstStyle/>
          <a:p>
            <a:pPr algn="l">
              <a:spcBef>
                <a:spcPts val="0"/>
              </a:spcBef>
              <a:spcAft>
                <a:spcPts val="200"/>
              </a:spcAft>
            </a:pPr>
            <a:r>
              <a:rPr sz="1300" b="1" i="0">
                <a:solidFill>
                  <a:srgbClr val="F7F4EF"/>
                </a:solidFill>
                <a:latin typeface="Cambria"/>
                <a:ea a:typeface="Cambria"/>
              </a:rPr>
              <a:t>每日时政科技简报</a:t>
            </a:r>
          </a:p>
        </p:txBody>
      </p:sp>
      <p:sp>
        <p:nvSpPr>
          <p:cNvPr id="4" name="TextBox 3"/>
          <p:cNvSpPr txBox="1"/>
          <p:nvPr/>
        </p:nvSpPr>
        <p:spPr>
          <a:xfrm>
            <a:off x="4663440" y="256032"/>
            <a:ext cx="4937760" cy="292608"/>
          </a:xfrm>
          <a:prstGeom prst="rect">
            <a:avLst/>
          </a:prstGeom>
          <a:noFill/>
        </p:spPr>
        <p:txBody>
          <a:bodyPr wrap="square" anchor="t"/>
          <a:lstStyle/>
          <a:p>
            <a:pPr algn="ctr">
              <a:spcBef>
                <a:spcPts val="0"/>
              </a:spcBef>
              <a:spcAft>
                <a:spcPts val="200"/>
              </a:spcAft>
            </a:pPr>
            <a:r>
              <a:rPr sz="1100" b="0" i="0">
                <a:solidFill>
                  <a:srgbClr val="C9C2B6"/>
                </a:solidFill>
                <a:latin typeface="Calibri"/>
                <a:ea a:typeface="Calibri"/>
              </a:rPr>
              <a:t>第257期  ·  2026年9月14日  ·  星期一</a:t>
            </a:r>
          </a:p>
        </p:txBody>
      </p:sp>
      <p:sp>
        <p:nvSpPr>
          <p:cNvPr id="5" name="TextBox 4"/>
          <p:cNvSpPr txBox="1"/>
          <p:nvPr/>
        </p:nvSpPr>
        <p:spPr>
          <a:xfrm>
            <a:off x="9692640" y="256032"/>
            <a:ext cx="2011680" cy="292608"/>
          </a:xfrm>
          <a:prstGeom prst="rect">
            <a:avLst/>
          </a:prstGeom>
          <a:noFill/>
        </p:spPr>
        <p:txBody>
          <a:bodyPr wrap="square" anchor="t"/>
          <a:lstStyle/>
          <a:p>
            <a:pPr algn="r">
              <a:spcBef>
                <a:spcPts val="0"/>
              </a:spcBef>
              <a:spcAft>
                <a:spcPts val="200"/>
              </a:spcAft>
            </a:pPr>
            <a:r>
              <a:rPr sz="1100" b="1" i="0">
                <a:solidFill>
                  <a:srgbClr val="C41E3A"/>
                </a:solidFill>
                <a:latin typeface="Calibri"/>
                <a:ea a:typeface="Calibri"/>
              </a:rPr>
              <a:t>10 / 10</a:t>
            </a:r>
          </a:p>
        </p:txBody>
      </p:sp>
      <p:sp>
        <p:nvSpPr>
          <p:cNvPr id="6" name="Rectangle 5"/>
          <p:cNvSpPr/>
          <p:nvPr/>
        </p:nvSpPr>
        <p:spPr>
          <a:xfrm>
            <a:off x="457200" y="566928"/>
            <a:ext cx="11277295" cy="20320"/>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603504"/>
            <a:ext cx="11277295" cy="9525"/>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786384"/>
            <a:ext cx="11247120" cy="566928"/>
          </a:xfrm>
          <a:prstGeom prst="rect">
            <a:avLst/>
          </a:prstGeom>
          <a:noFill/>
        </p:spPr>
        <p:txBody>
          <a:bodyPr wrap="square" anchor="t"/>
          <a:lstStyle/>
          <a:p>
            <a:pPr algn="l">
              <a:spcBef>
                <a:spcPts val="0"/>
              </a:spcBef>
              <a:spcAft>
                <a:spcPts val="200"/>
              </a:spcAft>
            </a:pPr>
            <a:r>
              <a:rPr sz="4000" b="1" i="0">
                <a:solidFill>
                  <a:srgbClr val="F7F4EF"/>
                </a:solidFill>
                <a:latin typeface="Cambria"/>
                <a:ea a:typeface="Cambria"/>
              </a:rPr>
              <a:t>本日判断</a:t>
            </a:r>
          </a:p>
        </p:txBody>
      </p:sp>
      <p:sp>
        <p:nvSpPr>
          <p:cNvPr id="9" name="TextBox 8"/>
          <p:cNvSpPr txBox="1"/>
          <p:nvPr/>
        </p:nvSpPr>
        <p:spPr>
          <a:xfrm>
            <a:off x="457200" y="1371600"/>
            <a:ext cx="11247120" cy="1234440"/>
          </a:xfrm>
          <a:prstGeom prst="rect">
            <a:avLst/>
          </a:prstGeom>
          <a:noFill/>
        </p:spPr>
        <p:txBody>
          <a:bodyPr wrap="square" anchor="t"/>
          <a:lstStyle/>
          <a:p>
            <a:pPr algn="l">
              <a:spcBef>
                <a:spcPts val="0"/>
              </a:spcBef>
              <a:spcAft>
                <a:spcPts val="200"/>
              </a:spcAft>
            </a:pPr>
            <a:r>
              <a:rPr sz="1500" b="1" i="0">
                <a:solidFill>
                  <a:srgbClr val="F7F4EF"/>
                </a:solidFill>
                <a:latin typeface="Cambria"/>
                <a:ea a:typeface="Cambria"/>
              </a:rPr>
              <a:t>星期一不是星期天的复述：郭嘉昆把新德里收成「再确认」，五部门把回款难收成现金硬杠杠。东西管道关停后的第一根K线把108.85美元写进早盘；吉隆第一次把外籍身份确认写成程序。科技栏交出连续盈利、可下单的2纳米CPU、《框架》3.0和一篇前端过滤论文。国产互联网平台首发不足，不拿转载稿补页。</a:t>
            </a:r>
          </a:p>
        </p:txBody>
      </p:sp>
      <p:sp>
        <p:nvSpPr>
          <p:cNvPr id="10" name="Rectangle 9"/>
          <p:cNvSpPr/>
          <p:nvPr/>
        </p:nvSpPr>
        <p:spPr>
          <a:xfrm>
            <a:off x="457200" y="2743200"/>
            <a:ext cx="5510631" cy="2331720"/>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2816352"/>
            <a:ext cx="5181447" cy="256032"/>
          </a:xfrm>
          <a:prstGeom prst="rect">
            <a:avLst/>
          </a:prstGeom>
          <a:noFill/>
        </p:spPr>
        <p:txBody>
          <a:bodyPr wrap="square" anchor="t"/>
          <a:lstStyle/>
          <a:p>
            <a:pPr algn="l">
              <a:spcBef>
                <a:spcPts val="0"/>
              </a:spcBef>
              <a:spcAft>
                <a:spcPts val="200"/>
              </a:spcAft>
            </a:pPr>
            <a:r>
              <a:rPr sz="1200" b="1" i="0">
                <a:solidFill>
                  <a:srgbClr val="C41E3A"/>
                </a:solidFill>
                <a:latin typeface="Calibri"/>
                <a:ea a:typeface="Calibri"/>
              </a:rPr>
              <a:t>时政六条</a:t>
            </a:r>
          </a:p>
        </p:txBody>
      </p:sp>
      <p:sp>
        <p:nvSpPr>
          <p:cNvPr id="12" name="TextBox 11"/>
          <p:cNvSpPr txBox="1"/>
          <p:nvPr/>
        </p:nvSpPr>
        <p:spPr>
          <a:xfrm>
            <a:off x="621792" y="3108960"/>
            <a:ext cx="5181447" cy="1874519"/>
          </a:xfrm>
          <a:prstGeom prst="rect">
            <a:avLst/>
          </a:prstGeom>
          <a:noFill/>
        </p:spPr>
        <p:txBody>
          <a:bodyPr wrap="square" anchor="t"/>
          <a:lstStyle/>
          <a:p>
            <a:pPr algn="l">
              <a:spcBef>
                <a:spcPts val="0"/>
              </a:spcBef>
              <a:spcAft>
                <a:spcPts val="200"/>
              </a:spcAft>
            </a:pPr>
            <a:r>
              <a:rPr sz="1300" b="0" i="0">
                <a:solidFill>
                  <a:srgbClr val="F7F4EF"/>
                </a:solidFill>
                <a:latin typeface="Calibri"/>
                <a:ea a:typeface="Calibri"/>
              </a:rPr>
              <a:t>1  新德里会晤是中印关系的「再确认」
2  五部门吹风：央企现金支付成「硬杠杠」
3  布伦特盘中报108.85美元
4  吉隆外籍失联DNA采集办法已通报使馆
5  尼泊尔泥石流遇难升至1392人
6  回应巴拿马议员涉台「立法交流小组」</a:t>
            </a:r>
          </a:p>
        </p:txBody>
      </p:sp>
      <p:sp>
        <p:nvSpPr>
          <p:cNvPr id="13" name="Rectangle 12"/>
          <p:cNvSpPr/>
          <p:nvPr/>
        </p:nvSpPr>
        <p:spPr>
          <a:xfrm>
            <a:off x="6223863" y="2743200"/>
            <a:ext cx="5510631" cy="2331720"/>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88455" y="2816352"/>
            <a:ext cx="5181447" cy="256032"/>
          </a:xfrm>
          <a:prstGeom prst="rect">
            <a:avLst/>
          </a:prstGeom>
          <a:noFill/>
        </p:spPr>
        <p:txBody>
          <a:bodyPr wrap="square" anchor="t"/>
          <a:lstStyle/>
          <a:p>
            <a:pPr algn="l">
              <a:spcBef>
                <a:spcPts val="0"/>
              </a:spcBef>
              <a:spcAft>
                <a:spcPts val="200"/>
              </a:spcAft>
            </a:pPr>
            <a:r>
              <a:rPr sz="1200" b="1" i="0">
                <a:solidFill>
                  <a:srgbClr val="C41E3A"/>
                </a:solidFill>
                <a:latin typeface="Calibri"/>
                <a:ea a:typeface="Calibri"/>
              </a:rPr>
              <a:t>科技四条</a:t>
            </a:r>
          </a:p>
        </p:txBody>
      </p:sp>
      <p:sp>
        <p:nvSpPr>
          <p:cNvPr id="15" name="TextBox 14"/>
          <p:cNvSpPr txBox="1"/>
          <p:nvPr/>
        </p:nvSpPr>
        <p:spPr>
          <a:xfrm>
            <a:off x="6388455" y="3108960"/>
            <a:ext cx="5181447" cy="1874519"/>
          </a:xfrm>
          <a:prstGeom prst="rect">
            <a:avLst/>
          </a:prstGeom>
          <a:noFill/>
        </p:spPr>
        <p:txBody>
          <a:bodyPr wrap="square" anchor="t"/>
          <a:lstStyle/>
          <a:p>
            <a:pPr algn="l">
              <a:spcBef>
                <a:spcPts val="0"/>
              </a:spcBef>
              <a:spcAft>
                <a:spcPts val="200"/>
              </a:spcAft>
            </a:pPr>
            <a:r>
              <a:rPr sz="1300" b="0" i="0">
                <a:solidFill>
                  <a:srgbClr val="F7F4EF"/>
                </a:solidFill>
                <a:latin typeface="Calibri"/>
                <a:ea a:typeface="Calibri"/>
              </a:rPr>
              <a:t>7  Anthropic调整后营业利润将连续两季为正
8  富士通11月开售2纳米MONAKA
9  网安周发布《人工智能安全治理框架》3.0
10 《自然·电子》二硫化钼晶体管前端过滤</a:t>
            </a:r>
          </a:p>
        </p:txBody>
      </p:sp>
      <p:sp>
        <p:nvSpPr>
          <p:cNvPr id="16" name="TextBox 15"/>
          <p:cNvSpPr txBox="1"/>
          <p:nvPr/>
        </p:nvSpPr>
        <p:spPr>
          <a:xfrm>
            <a:off x="457200" y="5193792"/>
            <a:ext cx="11247120" cy="1051560"/>
          </a:xfrm>
          <a:prstGeom prst="rect">
            <a:avLst/>
          </a:prstGeom>
          <a:noFill/>
        </p:spPr>
        <p:txBody>
          <a:bodyPr wrap="square" anchor="t"/>
          <a:lstStyle/>
          <a:p>
            <a:pPr algn="l">
              <a:spcBef>
                <a:spcPts val="0"/>
              </a:spcBef>
              <a:spcAft>
                <a:spcPts val="200"/>
              </a:spcAft>
            </a:pPr>
            <a:r>
              <a:rPr sz="1100" b="0" i="0">
                <a:solidFill>
                  <a:srgbClr val="C9C2B6"/>
                </a:solidFill>
                <a:latin typeface="Calibri"/>
                <a:ea a:typeface="Calibri"/>
              </a:rPr>
              <a:t>方法：以 Asia/Shanghai 昨天（2026-09-14）为窗口，只收该日发生或该日首发。Anthropic稿13日22:54 UTC合沪时14日6:54。未混入13日金砖二阶与霍尔木兹复述；iOS 27正式推送、特朗普乌俄能源互不打击、新华社金砖纪实已入15日。国产互联网平台首发不足。Firecrawl 未安装鉴权。完 · 非投资建议。</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