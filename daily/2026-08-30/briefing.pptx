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C9C2B6"/>
                </a:solidFill>
                <a:latin typeface="Calibri"/>
                <a:ea typeface="Calibri"/>
              </a:rPr>
              <a:t>第242期  ·  2026年8月30日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21207"/>
            <a:ext cx="11277295" cy="731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28016" cy="12801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713232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C2B6"/>
                </a:solidFill>
                <a:latin typeface="Calibri"/>
                <a:ea typeface="Calibri"/>
              </a:rPr>
              <a:t>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713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9C2B6"/>
                </a:solidFill>
                <a:latin typeface="Calibri"/>
                <a:ea typeface="Calibr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60704"/>
            <a:ext cx="11277295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15568"/>
            <a:ext cx="11277295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1E3A"/>
                </a:solidFill>
                <a:latin typeface="Calibri"/>
                <a:ea typeface="Calibri"/>
              </a:rPr>
              <a:t>第贰肆贰期  ·  二零二六年八月三十日  ·  星期日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72768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70048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9C2B6"/>
                </a:solidFill>
                <a:latin typeface="Calibri"/>
                <a:ea typeface="Calibri"/>
              </a:rPr>
              <a:t>只收录该日发生或该日首发的稿件，拒绝转载拼盘。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46120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364992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C41E3A"/>
                </a:solidFill>
                <a:latin typeface="Cambria"/>
                <a:ea typeface="Cambri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224528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57200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9C2B6"/>
                </a:solidFill>
                <a:latin typeface="Calibri"/>
                <a:ea typeface="Calibri"/>
              </a:rPr>
              <a:t>外交 · 救灾 · 能源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2815" y="3246120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3983" y="3364992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3" y="4224528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3" y="457200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9C2B6"/>
                </a:solidFill>
                <a:latin typeface="Calibri"/>
                <a:ea typeface="Calibri"/>
              </a:rPr>
              <a:t>航天 · 算电力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3246120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3364992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C41E3A"/>
                </a:solidFill>
                <a:latin typeface="Cambria"/>
                <a:ea typeface="Cambria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4224528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457200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9C2B6"/>
                </a:solidFill>
                <a:latin typeface="Calibri"/>
                <a:ea typeface="Calibri"/>
              </a:rPr>
              <a:t>科技首发不足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21808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7F4EF"/>
                </a:solidFill>
                <a:latin typeface="Calibri"/>
                <a:ea typeface="Calibri"/>
              </a:rPr>
              <a:t>今日主线：元首外交落到比什凯克跑道；吉隆与尼泊尔同日交出新伤亡与成因；美委石油协议改口「主权」；罗曼望远镜按点升空。人工智能与芯片周日几乎没有可核验的首发。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第242期  ·  2026年8月30日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21207"/>
            <a:ext cx="11277295" cy="731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828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600" b="1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713232"/>
            <a:ext cx="96012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280160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喜马拉雅两侧同时点名，天山脚下同时迎客。一条冰川改写了两条国境线的伤亡账本。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11277295" cy="12344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74519"/>
            <a:ext cx="10789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引　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121408"/>
            <a:ext cx="10789920" cy="749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A1A"/>
                </a:solidFill>
                <a:latin typeface="Cambria"/>
                <a:ea typeface="Cambria"/>
              </a:rPr>
              <a:t>“全体起立，向在吉隆「8·26」泥石流灾害中遇难的人员默哀。”——西藏自治区主席嘎玛泽登在吉隆镇发布会开场。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3602736" cy="3063240"/>
          </a:xfrm>
          <a:prstGeom prst="roundRect">
            <a:avLst>
              <a:gd name="adj" fmla="val 5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346704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C41E3A"/>
                </a:solidFill>
                <a:latin typeface="Cambria"/>
                <a:ea typeface="Cambria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16052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5568"/>
                </a:solidFill>
                <a:latin typeface="Calibri"/>
                <a:ea typeface="Calibri"/>
              </a:rPr>
              <a:t>遇难 · 中方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截至29日18时，吉隆口岸确认16人遇难、546人失联。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2815" y="3200400"/>
            <a:ext cx="3602736" cy="3063240"/>
          </a:xfrm>
          <a:prstGeom prst="roundRect">
            <a:avLst>
              <a:gd name="adj" fmla="val 5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3" y="3346704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C41E3A"/>
                </a:solidFill>
                <a:latin typeface="Cambria"/>
                <a:ea typeface="Cambria"/>
              </a:rPr>
              <a:t>788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3" y="416052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5568"/>
                </a:solidFill>
                <a:latin typeface="Calibri"/>
                <a:ea typeface="Calibri"/>
              </a:rPr>
              <a:t>遇难 · 尼方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3" y="457200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尼泊尔警方30日称已寻获788具遗体，约2502人仍失联。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3200400"/>
            <a:ext cx="3602736" cy="3063240"/>
          </a:xfrm>
          <a:prstGeom prst="roundRect">
            <a:avLst>
              <a:gd name="adj" fmla="val 5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3346704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C41E3A"/>
                </a:solidFill>
                <a:latin typeface="Cambria"/>
                <a:ea typeface="Cambria"/>
              </a:rPr>
              <a:t>261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416052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5568"/>
                </a:solidFill>
                <a:latin typeface="Calibri"/>
                <a:ea typeface="Calibri"/>
              </a:rPr>
              <a:t>外籍失联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457200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中方排查失联外籍人员261人，分属23个国家。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第242期  ·  2026年8月30日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21207"/>
            <a:ext cx="11277295" cy="731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口岸与峰会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一端是废墟里的身份识别，一端是玛纳斯机场的红毯与猎鹰。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36192"/>
            <a:ext cx="5468112" cy="47731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01　公共事务 · 吉隆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A1A"/>
                </a:solidFill>
                <a:latin typeface="Cambria"/>
                <a:ea typeface="Cambria"/>
              </a:rPr>
              <a:t>吉隆发布会：16人遇难，成因查明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34640"/>
            <a:ext cx="5065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来源：新华社  ·  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127248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30日西藏自治区在吉隆镇举行发布会：截至29日18时，灾害致16人遇难、546人失联。中科院称26日10时52分尼泊尔蓝塘里壤峰约5200米处冰川断裂，泥石流冲击22公里，夷平口岸0.7平方公里、27处建筑。已排查失联外籍261人、23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3492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413248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32704"/>
            <a:ext cx="506577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官方首次完整公布伤亡、外籍失联规模与冰川成因，搜救转入身份识别与次生灾害防控。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36192"/>
            <a:ext cx="5468112" cy="47731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4808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02　外交 · 比什凯克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A1A"/>
                </a:solidFill>
                <a:latin typeface="Cambria"/>
                <a:ea typeface="Cambria"/>
              </a:rPr>
              <a:t>习近平抵达比什凯克出席上合峰会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834640"/>
            <a:ext cx="5065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来源：新华社 / 央视  ·  cctv.com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127248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当地时间30日下午，习近平乘专机抵达比什凯克，应扎帕罗夫邀请出席上合峰会并对吉尔吉斯斯坦国事访问。书面讲话称中吉合作迎「黄金期」，将商中吉乌铁路等并擘画命运共同体。行程至9月3日，随后将访埃及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4808" y="53492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5413248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5632704"/>
            <a:ext cx="506577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上合成立25周年峰会开幕在即，元首外交从中亚互联互通延伸到中东能源通道。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第242期  ·  2026年8月30日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21207"/>
            <a:ext cx="11277295" cy="731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下游与油权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同一条冰川冲向加德满都的河谷；同一份石油协议，华盛顿说控股，加拉加斯说主权。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36192"/>
            <a:ext cx="5468112" cy="47731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03　救灾 · 加德满都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A1A"/>
                </a:solidFill>
                <a:latin typeface="Cambria"/>
                <a:ea typeface="Cambria"/>
              </a:rPr>
              <a:t>尼泊尔洪灾遇难升至788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34640"/>
            <a:ext cx="5065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来源：The Hindu / HimalPress  ·  thehindu.com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127248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尼泊尔警方30日称已寻获788具遗体，约2502人仍失联。外长呼吁提供冷冻柜与DNA试剂；水电工地逾900人失联，约100人据信仍困隧道。印中韩专家协助搜救。达丁县滑坡导致连接加德满都的普里特维公路中断。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3492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413248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32704"/>
            <a:ext cx="506577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同源冰川泥石流在尼侧伤亡远超中方口岸，遗体保存与交通中断使跨境救援更艰难。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36192"/>
            <a:ext cx="5468112" cy="47731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4808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04　能源外交 · 加拉加斯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A1A"/>
                </a:solidFill>
                <a:latin typeface="Cambria"/>
                <a:ea typeface="Cambria"/>
              </a:rPr>
              <a:t>委方称石油协议未丧主权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834640"/>
            <a:ext cx="5065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来源：半岛电视台 / 卫报  ·  aljazeera.com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127248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罗德里格斯30日发表电视讲话，称与美方25年协议下委方保留资源所有权与主权；17个战略油田、目标日产150万桶，每桶约19美元入账。特朗普周五称美方获650亿桶多数控制权，白宫尚未发正式文本。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4808" y="53492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5413248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5632704"/>
            <a:ext cx="506577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同一协议出现「美方控股」与「委方主权」两种叙事，西半球石油秩序的法律基础尚未落纸。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第242期  ·  2026年8月30日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21207"/>
            <a:ext cx="11277295" cy="731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海湾动员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新领袖以圣纪贺词发声，复航谈判被拉回阵营语言。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36192"/>
            <a:ext cx="5468112" cy="47731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05　外交 · 德黑兰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A1A"/>
                </a:solidFill>
                <a:latin typeface="Cambria"/>
                <a:ea typeface="Cambria"/>
              </a:rPr>
              <a:t>哈梅内伊吁海湾认清「真正敌人」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34640"/>
            <a:ext cx="5065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来源：半岛电视台  ·  aljazeera.com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127248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伊朗最高领袖穆杰塔巴·哈梅内伊30日发表圣纪贺词，敦促海湾与西亚伊斯兰国家认清「真正敌人」并加以对抗。他自2月28日美以打击致其父遇害后未再公开露面。贺词发布时霍尔木兹仍关闭。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3492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413248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32704"/>
            <a:ext cx="506577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新领袖把复航从技术安排拉回阵营动员，海湾斡旋空间更窄。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36192"/>
            <a:ext cx="5468112" cy="47731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4808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海峡数字 · 补充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A1A"/>
                </a:solidFill>
                <a:latin typeface="Cambria"/>
                <a:ea typeface="Cambria"/>
              </a:rPr>
              <a:t>约400艘船仍困在海湾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834640"/>
            <a:ext cx="5065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来源：国际海事组织 / 路透  ·  半岛电视台转述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127248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国际海事组织周五称，自美以对伊开战后，最多约400艘船、6000名海员无法安全离开海湾。路透援引Kpler：周四仅7艘商品船过峡。加里巴巴迪周六「不自动复航」已见于昨刊，本日不重收。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4808" y="53492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5413248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5632704"/>
            <a:ext cx="506577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物理过境量仍接近停摆，贺词并不能替代美伊履约这个开关。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第242期  ·  2026年8月30日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21207"/>
            <a:ext cx="11277295" cy="731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828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600" b="1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713232"/>
            <a:ext cx="96012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280160"/>
            <a:ext cx="9601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巡天台按点离开地面；算力的下一只瓶颈，被指到了铸件车间。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55648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847088"/>
            <a:ext cx="24414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1E3A"/>
                </a:solidFill>
                <a:latin typeface="Cambria"/>
                <a:ea typeface="Cambria"/>
              </a:rPr>
              <a:t>7:26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450592"/>
            <a:ext cx="2441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4A5568"/>
                </a:solidFill>
                <a:latin typeface="Calibri"/>
                <a:ea typeface="Calibri"/>
              </a:rPr>
              <a:t>EDT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724912"/>
            <a:ext cx="24414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Calibri"/>
              </a:rPr>
              <a:t>猎鹰重型送罗曼望远镜升空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755648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847088"/>
            <a:ext cx="24414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1E3A"/>
                </a:solidFill>
                <a:latin typeface="Cambria"/>
                <a:ea typeface="Cambria"/>
              </a:rPr>
              <a:t>1.4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2450592"/>
            <a:ext cx="2441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4A5568"/>
                </a:solidFill>
                <a:latin typeface="Calibri"/>
                <a:ea typeface="Calibri"/>
              </a:rPr>
              <a:t>TB / 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724912"/>
            <a:ext cx="24414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Calibri"/>
              </a:rPr>
              <a:t>NASA称其为天体物理最高回传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755648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1847088"/>
            <a:ext cx="24414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1E3A"/>
                </a:solidFill>
                <a:latin typeface="Cambria"/>
                <a:ea typeface="Cambria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450592"/>
            <a:ext cx="2441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4A5568"/>
                </a:solidFill>
                <a:latin typeface="Calibri"/>
                <a:ea typeface="Calibri"/>
              </a:rPr>
              <a:t>个月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724912"/>
            <a:ext cx="24414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Calibri"/>
              </a:rPr>
              <a:t>马斯克称自铸叶片可提前投运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755648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9136" y="1847088"/>
            <a:ext cx="24414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450592"/>
            <a:ext cx="2441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4A5568"/>
                </a:solidFill>
                <a:latin typeface="Calibri"/>
                <a:ea typeface="Calibri"/>
              </a:rPr>
              <a:t>首发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724912"/>
            <a:ext cx="24414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Calibri"/>
              </a:rPr>
              <a:t>周日可核验科技仅两条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13632"/>
            <a:ext cx="11277295" cy="2395728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041648"/>
            <a:ext cx="10881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信息不足 · 编辑观察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370832"/>
            <a:ext cx="1088136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7F4EF"/>
                </a:solidFill>
                <a:latin typeface="Calibri"/>
                <a:ea typeface="Calibri"/>
              </a:rPr>
              <a:t>周日科技首发偏薄。已核验并排除：地月激光通信（中科院26日宣布）；TechInsights麒麟9030 Pro制程报告（27日官网）；Apple M6 / M5 Ultra（25日新闻室）；Recuris论文（25日提交arXiv）；OpenAI Astra「首测」（未官方发布）。亦未混入29日OpenAI断供Cursor、长鑫起诉、远程租卡草案。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第242期  ·  2026年8月30日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21207"/>
            <a:ext cx="11277295" cy="731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升空与铸件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Calibri"/>
              </a:rPr>
              <a:t>一端是日地L2的巡天台，一端是得州铸造厂的热端叶片。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36192"/>
            <a:ext cx="5468112" cy="47731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06　科学突破 · 肯尼迪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A1A"/>
                </a:solidFill>
                <a:latin typeface="Cambria"/>
                <a:ea typeface="Cambria"/>
              </a:rPr>
              <a:t>罗曼望远镜搭乘猎鹰重型升空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34640"/>
            <a:ext cx="5065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来源：NASA / 新华社  ·  nasa.gov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127248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美东时间30日7:26（北京时间19:26），造价43亿美元的南希·格雷斯·罗曼空间望远镜由猎鹰重型从肯尼迪39A发射。约31分钟后与上级分离，侧助推器回收，太阳能板已展开。将飞往日地L2，日回传1.4TB，首图预计2027年初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3492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413248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32704"/>
            <a:ext cx="506577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下一代巡天台按期按预算升空，暗能量与系外行星普查进入广域大数据阶段。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36192"/>
            <a:ext cx="5468112" cy="47731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4808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07　产业 · 巴斯卓普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A1A"/>
                </a:solidFill>
                <a:latin typeface="Cambria"/>
                <a:ea typeface="Cambria"/>
              </a:rPr>
              <a:t>马斯克确认自建燃机叶片铸造厂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834640"/>
            <a:ext cx="5065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来源：IT之家 / TechCrunch  ·  techcrunch.com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127248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马斯克确认SpaceX正于得州巴斯卓普筹建燃气轮机动叶与静叶铸造厂，称可把燃机投运最多提前18个月。The Information指全球仅数家厂能量产热端叶片，订单排至2030年。SpaceX与特斯拉还各规划年产100GW光伏。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4808" y="53492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5413248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5632704"/>
            <a:ext cx="506577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Calibri"/>
              </a:rPr>
              <a:t>AI算力瓶颈从芯片排产转到电力与铸件，铸造能力可能成为新的基础设施壁垒。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Calibri"/>
              </a:rPr>
              <a:t>第242期  ·  2026年8月30日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21207"/>
            <a:ext cx="11277295" cy="731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Cambria"/>
              </a:rPr>
              <a:t>升空之后 · 数字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06　补充数字　南希·格雷斯·罗曼空间望远镜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504688" cy="1280160"/>
          </a:xfrm>
          <a:prstGeom prst="roundRect">
            <a:avLst>
              <a:gd name="adj" fmla="val 5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36192"/>
            <a:ext cx="2194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1E3A"/>
                </a:solidFill>
                <a:latin typeface="Cambria"/>
                <a:ea typeface="Cambria"/>
              </a:rPr>
              <a:t>7:26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64592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A5568"/>
                </a:solidFill>
                <a:latin typeface="Calibri"/>
                <a:ea typeface="Calibri"/>
              </a:rPr>
              <a:t>EDT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57984"/>
            <a:ext cx="517550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猎鹰重型自肯尼迪39A升空，北京时间19:26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444752"/>
            <a:ext cx="5504688" cy="1280160"/>
          </a:xfrm>
          <a:prstGeom prst="roundRect">
            <a:avLst>
              <a:gd name="adj" fmla="val 5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36192"/>
            <a:ext cx="2194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1E3A"/>
                </a:solidFill>
                <a:latin typeface="Cambria"/>
                <a:ea typeface="Cambria"/>
              </a:rP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64592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A5568"/>
                </a:solidFill>
                <a:latin typeface="Calibri"/>
                <a:ea typeface="Calibri"/>
              </a:rPr>
              <a:t>兆像素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57984"/>
            <a:ext cx="517550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宽视场红外相机，巡天速度约哈勃千倍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62072"/>
            <a:ext cx="5504688" cy="1280160"/>
          </a:xfrm>
          <a:prstGeom prst="roundRect">
            <a:avLst>
              <a:gd name="adj" fmla="val 5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953512"/>
            <a:ext cx="2194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1E3A"/>
                </a:solidFill>
                <a:latin typeface="Cambria"/>
                <a:ea typeface="Cambria"/>
              </a:rPr>
              <a:t>1.4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0632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A5568"/>
                </a:solidFill>
                <a:latin typeface="Calibri"/>
                <a:ea typeface="Calibri"/>
              </a:rPr>
              <a:t>TB / 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575304"/>
            <a:ext cx="517550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NASA称其为迄今天体物理任务最高回传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2862072"/>
            <a:ext cx="5504688" cy="1280160"/>
          </a:xfrm>
          <a:prstGeom prst="roundRect">
            <a:avLst>
              <a:gd name="adj" fmla="val 5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953512"/>
            <a:ext cx="21945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1E3A"/>
                </a:solidFill>
                <a:latin typeface="Cambria"/>
                <a:ea typeface="Cambria"/>
              </a:rPr>
              <a:t>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30632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A5568"/>
                </a:solidFill>
                <a:latin typeface="Calibri"/>
                <a:ea typeface="Calibri"/>
              </a:rPr>
              <a:t>年初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575304"/>
            <a:ext cx="517550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约三个月飞抵L2后，预计发布首批科学图像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70832"/>
            <a:ext cx="11277295" cy="193852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480560"/>
            <a:ext cx="108813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科技缺口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736592"/>
            <a:ext cx="108813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41E3A"/>
                </a:solidFill>
                <a:latin typeface="Cambria"/>
                <a:ea typeface="Cambria"/>
              </a:rPr>
              <a:t>模型、芯片、互联网：信息不足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10881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Calibri"/>
              </a:rPr>
              <a:t>交叉检索中英科技媒体与官方新闻室后，未找到8月30日（沪时）可确认的大模型发布、芯片量产节点或互联网平台重大规则变更。与其用复述稿凑满四至六条，本刊选择留白。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C9C2B6"/>
                </a:solidFill>
                <a:latin typeface="Calibri"/>
                <a:ea typeface="Calibri"/>
              </a:rPr>
              <a:t>第242期  ·  2026年8月30日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Calibri"/>
              </a:rPr>
              <a:t>07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21207"/>
            <a:ext cx="11277295" cy="731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7F4EF"/>
                </a:solidFill>
                <a:latin typeface="Cambria"/>
                <a:ea typeface="Cambria"/>
              </a:rPr>
              <a:t>本日判断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7F4EF"/>
                </a:solidFill>
                <a:latin typeface="Cambria"/>
                <a:ea typeface="Cambria"/>
              </a:rPr>
              <a:t>救人要报数字，出访要落跑道，石油要争解释权，望远镜要先离开地面。周日的新闻不热闹，但四条线都在改现场：伤亡账本、欧亚议程、油权叙事、巡天时间表。科技栏则诚实留白。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87168"/>
            <a:ext cx="5468112" cy="2331720"/>
          </a:xfrm>
          <a:prstGeom prst="roundRect">
            <a:avLst>
              <a:gd name="adj" fmla="val 5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596896"/>
            <a:ext cx="5065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时政五条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26080"/>
            <a:ext cx="5065776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4EF"/>
                </a:solidFill>
                <a:latin typeface="Calibri"/>
                <a:ea typeface="Calibri"/>
              </a:rPr>
              <a:t>1  吉隆发布会：16人遇难，成因查明
2  习近平抵达比什凯克出席上合峰会
3  尼泊尔洪灾遇难升至788
4  委方称石油协议未丧主权
5  哈梅内伊吁海湾认清「真正敌人」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487168"/>
            <a:ext cx="5468112" cy="2331720"/>
          </a:xfrm>
          <a:prstGeom prst="roundRect">
            <a:avLst>
              <a:gd name="adj" fmla="val 5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596896"/>
            <a:ext cx="5065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科技二条 · 缺口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926080"/>
            <a:ext cx="5065776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4EF"/>
                </a:solidFill>
                <a:latin typeface="Calibri"/>
                <a:ea typeface="Calibri"/>
              </a:rPr>
              <a:t>1  罗曼望远镜搭乘猎鹰重型升空
2  马斯克确认自建燃机叶片铸造厂
3  模型 / 芯片 / 互联网：信息不足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56048"/>
            <a:ext cx="112471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9C2B6"/>
                </a:solidFill>
                <a:latin typeface="Calibri"/>
                <a:ea typeface="Calibri"/>
              </a:rPr>
              <a:t>方法：以 Asia/Shanghai 的昨天（2026-08-30）为采编窗口；只收该日发生或该日首发。美委「主权」讲话按当地周六换算后落入沪时30日；罗曼发射为美东30日清晨。未混入29日霍尔木兹「不自动复航」、沃什霍尔、OpenAI断供Cursor。未收入26–29日已首发的地月激光、TechInsights麒麟报告、Apple M6、Recuris。Firecrawl 未鉴权。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3620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Calibri"/>
              </a:rPr>
              <a:t>完 · 可与 briefing.html 对照阅读 ·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