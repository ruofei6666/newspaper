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3291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7F4EF"/>
                </a:solidFill>
                <a:latin typeface="Cambria"/>
                <a:ea typeface="Noto Serif CJK SC"/>
                <a:cs typeface="Microsoft YaHei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0" y="201168"/>
            <a:ext cx="56692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2B6"/>
                </a:solidFill>
                <a:latin typeface="Calibri"/>
                <a:ea typeface="Microsoft YaHei"/>
                <a:cs typeface="Microsoft YaHei"/>
              </a:rPr>
              <a:t>第027期  ·  2026年10月18日  ·  星期日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201168"/>
            <a:ext cx="1280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57200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98348"/>
            <a:ext cx="11277295" cy="9525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5943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2B6"/>
                </a:solidFill>
                <a:latin typeface="Calibri"/>
                <a:ea typeface="Microsoft YaHei"/>
                <a:cs typeface="Microsoft YaHei"/>
              </a:rPr>
              <a:t>●  THE MORNING DISPATCH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658368"/>
            <a:ext cx="4754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2B6"/>
                </a:solidFill>
                <a:latin typeface="Calibri"/>
                <a:ea typeface="Microsoft YaHei"/>
                <a:cs typeface="Microsoft YaHei"/>
              </a:rPr>
              <a:t>ASIA / SHANGHAI　昨日新闻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950976"/>
            <a:ext cx="11277295" cy="279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078992"/>
            <a:ext cx="112471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41E3A"/>
                </a:solidFill>
                <a:latin typeface="Cambria"/>
                <a:ea typeface="Noto Serif CJK SC"/>
                <a:cs typeface="Microsoft YaHei"/>
              </a:rPr>
              <a:t>第零贰柒期  ·  二零二六年十月十八日  ·  星期日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371600"/>
            <a:ext cx="11247120" cy="960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7F4EF"/>
                </a:solidFill>
                <a:latin typeface="Cambria"/>
                <a:ea typeface="Noto Serif CJK SC"/>
                <a:cs typeface="Microsoft YaHei"/>
              </a:rPr>
              <a:t>每日时政科技简报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331720"/>
            <a:ext cx="1124712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C2B6"/>
                </a:solidFill>
                <a:latin typeface="Calibri"/>
                <a:ea typeface="Microsoft YaHei"/>
                <a:cs typeface="Microsoft YaHei"/>
              </a:rPr>
              <a:t>只收录该日发生或该日首发的稿件。访乌详稿在凌晨见报，人在中午落到杜尚别。王毅把黑山写成建交二十年。特朗普把以色列选票写成对伊战争的下一句。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246120"/>
            <a:ext cx="3588410" cy="1691640"/>
          </a:xfrm>
          <a:prstGeom prst="roundRect">
            <a:avLst>
              <a:gd name="adj" fmla="val 8000"/>
            </a:avLst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310128"/>
            <a:ext cx="322265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C41E3A"/>
                </a:solidFill>
                <a:latin typeface="Cambria"/>
                <a:ea typeface="Noto Serif CJK SC"/>
                <a:cs typeface="Microsoft YaHei"/>
              </a:rP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114800"/>
            <a:ext cx="322265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7F4EF"/>
                </a:solidFill>
                <a:latin typeface="Calibri"/>
                <a:ea typeface="Microsoft YaHei"/>
                <a:cs typeface="Microsoft YaHei"/>
              </a:rPr>
              <a:t>时政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462272"/>
            <a:ext cx="322265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C2B6"/>
                </a:solidFill>
                <a:latin typeface="Calibri"/>
                <a:ea typeface="Microsoft YaHei"/>
                <a:cs typeface="Microsoft YaHei"/>
              </a:rPr>
              <a:t>塔什干 · 杜尚别 · 波德戈里察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01642" y="3246120"/>
            <a:ext cx="3588410" cy="1691640"/>
          </a:xfrm>
          <a:prstGeom prst="roundRect">
            <a:avLst>
              <a:gd name="adj" fmla="val 8000"/>
            </a:avLst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02810" y="3310128"/>
            <a:ext cx="322265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C41E3A"/>
                </a:solidFill>
                <a:latin typeface="Cambria"/>
                <a:ea typeface="Noto Serif CJK SC"/>
                <a:cs typeface="Microsoft YaHei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2810" y="4114800"/>
            <a:ext cx="322265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7F4EF"/>
                </a:solidFill>
                <a:latin typeface="Calibri"/>
                <a:ea typeface="Microsoft YaHei"/>
                <a:cs typeface="Microsoft YaHei"/>
              </a:rPr>
              <a:t>科技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2810" y="4462272"/>
            <a:ext cx="322265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C2B6"/>
                </a:solidFill>
                <a:latin typeface="Calibri"/>
                <a:ea typeface="Microsoft YaHei"/>
                <a:cs typeface="Microsoft YaHei"/>
              </a:rPr>
              <a:t>空间水稻 · 十万卡应用 · 电网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46084" y="3246120"/>
            <a:ext cx="3588410" cy="1691640"/>
          </a:xfrm>
          <a:prstGeom prst="roundRect">
            <a:avLst>
              <a:gd name="adj" fmla="val 8000"/>
            </a:avLst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47252" y="3310128"/>
            <a:ext cx="322265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C41E3A"/>
                </a:solidFill>
                <a:latin typeface="Cambria"/>
                <a:ea typeface="Noto Serif CJK SC"/>
                <a:cs typeface="Microsoft YaHei"/>
              </a:rPr>
              <a:t>11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7252" y="4114800"/>
            <a:ext cx="322265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7F4EF"/>
                </a:solidFill>
                <a:latin typeface="Calibri"/>
                <a:ea typeface="Microsoft YaHei"/>
                <a:cs typeface="Microsoft YaHei"/>
              </a:rPr>
              <a:t>合计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7252" y="4462272"/>
            <a:ext cx="322265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C2B6"/>
                </a:solidFill>
                <a:latin typeface="Calibri"/>
                <a:ea typeface="Microsoft YaHei"/>
                <a:cs typeface="Microsoft YaHei"/>
              </a:rPr>
              <a:t>周日沪时首发可核验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138928"/>
            <a:ext cx="112471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7F4EF"/>
                </a:solidFill>
                <a:latin typeface="Calibri"/>
                <a:ea typeface="Microsoft YaHei"/>
                <a:cs typeface="Microsoft YaHei"/>
              </a:rPr>
              <a:t>今日主线：中亚出访从抵达稿改成会谈账。上合总理会还在前头。名古屋点燃亚残运会主火炬。算力栏交给曙光的应用，而不是机器本身。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3291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Cambria"/>
                <a:ea typeface="Noto Serif CJK SC"/>
                <a:cs typeface="Microsoft YaHei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0" y="201168"/>
            <a:ext cx="56692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第027期  ·  2026年10月18日  ·  星期日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201168"/>
            <a:ext cx="1280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57200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98348"/>
            <a:ext cx="11277295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21792"/>
            <a:ext cx="201168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C41E3A"/>
                </a:solidFill>
                <a:latin typeface="Cambria"/>
                <a:ea typeface="Noto Serif CJK SC"/>
                <a:cs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713232"/>
            <a:ext cx="978408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Noto Serif CJK SC"/>
                <a:cs typeface="Microsoft YaHei"/>
              </a:rPr>
              <a:t>时政开篇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280160"/>
            <a:ext cx="97840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塔什干把中吉乌铁路写成文件清单。杜尚别把欢迎仪式写成上合总理会的前夜。波德戈里察把一座电影里的桥写成建交二十年。华盛顿把以色列选票写成对伊战争的下一句。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993392"/>
            <a:ext cx="11277295" cy="1115568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066543"/>
            <a:ext cx="10698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刊头摘句 · 杜尚别机场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322576"/>
            <a:ext cx="1069848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Cambria"/>
                <a:ea typeface="Noto Serif CJK SC"/>
                <a:cs typeface="Microsoft YaHei"/>
              </a:rPr>
              <a:t>「中方期待同上合组织各方一道，落实比什凯克峰会成果，推动即将举行的上合组织总理会议取得圆满成功。」——李强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273552"/>
            <a:ext cx="3564026" cy="2999232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383280"/>
            <a:ext cx="3198266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C41E3A"/>
                </a:solidFill>
                <a:latin typeface="Cambria"/>
                <a:ea typeface="Noto Serif CJK SC"/>
                <a:cs typeface="Microsoft YaHei"/>
              </a:rPr>
              <a:t>01:23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041648"/>
            <a:ext cx="3198266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访乌详稿见报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443984"/>
            <a:ext cx="3198266" cy="1554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Microsoft YaHei"/>
                <a:cs typeface="Microsoft YaHei"/>
              </a:rPr>
              <a:t>会见总统、会谈总理的新华社电，落在18日凌晨，不计入17日刊。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13834" y="3273552"/>
            <a:ext cx="3564026" cy="2999232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15002" y="3383280"/>
            <a:ext cx="3198266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C41E3A"/>
                </a:solidFill>
                <a:latin typeface="Cambria"/>
                <a:ea typeface="Noto Serif CJK SC"/>
                <a:cs typeface="Microsoft YaHei"/>
              </a:rPr>
              <a:t>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15002" y="4041648"/>
            <a:ext cx="3198266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次上合总理会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15002" y="4443984"/>
            <a:ext cx="3198266" cy="1554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Microsoft YaHei"/>
                <a:cs typeface="Microsoft YaHei"/>
              </a:rPr>
              <a:t>人在中午落到杜尚别。会议还在前头，抵达稿先入账。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70468" y="3273552"/>
            <a:ext cx="3564026" cy="2999232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71636" y="3383280"/>
            <a:ext cx="3198266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C41E3A"/>
                </a:solidFill>
                <a:latin typeface="Cambria"/>
                <a:ea typeface="Noto Serif CJK SC"/>
                <a:cs typeface="Microsoft YaHei"/>
              </a:rPr>
              <a:t>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71636" y="4041648"/>
            <a:ext cx="3198266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年中黑建交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71636" y="4443984"/>
            <a:ext cx="3198266" cy="1554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Microsoft YaHei"/>
                <a:cs typeface="Microsoft YaHei"/>
              </a:rPr>
              <a:t>王毅外长历史上首次访问黑山，外长会谈周日见报。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3291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Cambria"/>
                <a:ea typeface="Noto Serif CJK SC"/>
                <a:cs typeface="Microsoft YaHei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0" y="201168"/>
            <a:ext cx="56692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第027期  ·  2026年10月18日  ·  星期日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201168"/>
            <a:ext cx="1280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57200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98348"/>
            <a:ext cx="11277295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658368"/>
            <a:ext cx="11277295" cy="5742432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841248"/>
            <a:ext cx="192024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C41E3A"/>
                </a:solidFill>
                <a:latin typeface="Cambria"/>
                <a:ea typeface="Noto Serif CJK SC"/>
                <a:cs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1627632"/>
            <a:ext cx="19202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出访 · 塔什干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841248"/>
            <a:ext cx="84124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新华社  ·  18日 01:23–01:27 首发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1152144"/>
            <a:ext cx="841248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Noto Serif CJK SC"/>
                <a:cs typeface="Microsoft YaHei"/>
              </a:rPr>
              <a:t>访乌收官写成铁路与文件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029968"/>
            <a:ext cx="841248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来源：新华社 / 中国政府网    gov.cn  阿里波夫会谈 · 会见总统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432304"/>
            <a:ext cx="8412480" cy="1554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Calibri"/>
                <a:ea typeface="Microsoft YaHei"/>
                <a:cs typeface="Microsoft YaHei"/>
              </a:rPr>
              <a:t>李强17日在塔什干会见米尔济约耶夫、同阿里波夫会谈，谈中吉乌铁路、能源矿产与人工智能。会后签署经贸、教育、海关、卫生、减贫等文件。乌方称关系处「黄金时代」，坚持一个中国。新华社18日凌晨首发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4160520"/>
            <a:ext cx="8412480" cy="9525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80" y="4215384"/>
            <a:ext cx="8412480" cy="16824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为何重要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17日刊只收抵达与欢迎仪式。铁路、文件清单和「黄金时代」这三句，要等18日01:23之后才写得全。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3291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Cambria"/>
                <a:ea typeface="Noto Serif CJK SC"/>
                <a:cs typeface="Microsoft YaHei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0" y="201168"/>
            <a:ext cx="56692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第027期  ·  2026年10月18日  ·  星期日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201168"/>
            <a:ext cx="1280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57200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98348"/>
            <a:ext cx="11277295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658368"/>
            <a:ext cx="5413248" cy="5742432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804672"/>
            <a:ext cx="4901184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02　出访 · 杜尚别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115568"/>
            <a:ext cx="4901184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Noto Serif CJK SC"/>
                <a:cs typeface="Microsoft YaHei"/>
              </a:rPr>
              <a:t>人到了，会还在前头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322576"/>
            <a:ext cx="4901184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来源：新华社 / 中国政府网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633472"/>
            <a:ext cx="4901184" cy="187451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Microsoft YaHei"/>
                <a:cs typeface="Microsoft YaHei"/>
              </a:rPr>
              <a:t>当地时间18日中午，李强结束访乌后抵杜尚别，拉苏尔佐达举行欢迎仪式。李强称中塔是好邻居，愿落实5月元首会晤蓝图；期待落实比什凯克峰会成果，推动上合组织总理理事会第二十五次会议圆满成功。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4663440"/>
            <a:ext cx="4901184" cy="9525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4718304"/>
            <a:ext cx="4901184" cy="14081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为何重要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15日只是行程。18日可核验的是人到了杜尚别，上合总理会被写成下一句，而不是已经开完的公报。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658368"/>
            <a:ext cx="5413248" cy="5742432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65392" y="804672"/>
            <a:ext cx="4901184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03　双边 · 中塔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5392" y="1115568"/>
            <a:ext cx="4901184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Noto Serif CJK SC"/>
                <a:cs typeface="Microsoft YaHei"/>
              </a:rPr>
              <a:t>总理会谈签下基建账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5392" y="2322576"/>
            <a:ext cx="4901184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来源：新华社 / 外交部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2633472"/>
            <a:ext cx="4901184" cy="187451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Microsoft YaHei"/>
                <a:cs typeface="Microsoft YaHei"/>
              </a:rPr>
              <a:t>18日下午李强同拉苏尔佐达会谈，谈共建「一带一路」、绿色矿产、互联互通、清洁能源与人工智能。会后见证签署基建、教育、反腐、标准化等文件。双方称明年迎建交35周年。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65392" y="4663440"/>
            <a:ext cx="4901184" cy="9525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65392" y="4718304"/>
            <a:ext cx="4901184" cy="14081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为何重要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抵达稿只写欢迎仪式。真正入账的是矿产、能源、人工智能被写进同一张合作菜单，并有文件可核验。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3291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Cambria"/>
                <a:ea typeface="Noto Serif CJK SC"/>
                <a:cs typeface="Microsoft YaHei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0" y="201168"/>
            <a:ext cx="56692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第027期  ·  2026年10月18日  ·  星期日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201168"/>
            <a:ext cx="1280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57200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98348"/>
            <a:ext cx="11277295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21792"/>
            <a:ext cx="1124712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Noto Serif CJK SC"/>
                <a:cs typeface="Microsoft YaHei"/>
              </a:rPr>
              <a:t>黑山与名古屋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78992"/>
            <a:ext cx="11247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王毅把一座电影里的桥写成建交二十年。名古屋把亚残运会主火炬写成18日晚的公共事务。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36192"/>
            <a:ext cx="5413248" cy="4864608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664208"/>
            <a:ext cx="49011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04　外交 · 波德戈里察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901952"/>
            <a:ext cx="4901184" cy="960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Noto Serif CJK SC"/>
                <a:cs typeface="Microsoft YaHei"/>
              </a:rPr>
              <a:t>外长首次踏上黑山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907792"/>
            <a:ext cx="4901184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来源：外交部　外长会谈 · 总统会见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218688"/>
            <a:ext cx="4901184" cy="1600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Microsoft YaHei"/>
                <a:cs typeface="Microsoft YaHei"/>
              </a:rPr>
              <a:t>王毅18日同黑山副总理兼外长伊布拉希莫维奇会谈，称建交20年可探讨提升关系定位，支持黑方入盟努力。黑方重申一个中国，欢迎中企参与高速、电站与港口。总统17日会见详稿同日14:34见报。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4919472"/>
            <a:ext cx="4901184" cy="9525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4974336"/>
            <a:ext cx="4901184" cy="12252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为何重要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17日刊写明黑山详稿未见。18日才把一中表态、南北高速二期和塔拉河大桥写成可引用的会谈稿。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536192"/>
            <a:ext cx="5413248" cy="4864608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65392" y="1664208"/>
            <a:ext cx="49011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05　公共事务 · 名古屋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1901952"/>
            <a:ext cx="4901184" cy="960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Noto Serif CJK SC"/>
                <a:cs typeface="Microsoft YaHei"/>
              </a:rPr>
              <a:t>亚残运会主火炬点燃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5392" y="2907792"/>
            <a:ext cx="4901184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来源：新华社 / 国际残奥委会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3218688"/>
            <a:ext cx="4901184" cy="1600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Microsoft YaHei"/>
                <a:cs typeface="Microsoft YaHei"/>
              </a:rPr>
              <a:t>第五届亚残运会18日晚在名古屋开幕。新华社称45个国家和地区近3000名运动员参赛，设18个大项。中国代表团500人、运动员312人，旗手为闫盼盼、李羽洁。赛事至24日。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65392" y="4919472"/>
            <a:ext cx="4901184" cy="9525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65392" y="4974336"/>
            <a:ext cx="4901184" cy="12252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为何重要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这是中国第五次参赛、境外规模最大的一届。开幕式把残健融合写成可核验的公共外交现场，而不是口号。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3291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Cambria"/>
                <a:ea typeface="Noto Serif CJK SC"/>
                <a:cs typeface="Microsoft YaHei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0" y="201168"/>
            <a:ext cx="56692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第027期  ·  2026年10月18日  ·  星期日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201168"/>
            <a:ext cx="1280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57200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98348"/>
            <a:ext cx="11277295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658368"/>
            <a:ext cx="11277295" cy="461772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841248"/>
            <a:ext cx="192024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C41E3A"/>
                </a:solidFill>
                <a:latin typeface="Cambria"/>
                <a:ea typeface="Noto Serif CJK SC"/>
                <a:cs typeface="Microsoft YaHei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1627632"/>
            <a:ext cx="19202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中东 · 华盛顿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841248"/>
            <a:ext cx="84124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Truth Social / CBS / 伊通社  ·  18日见报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1152144"/>
            <a:ext cx="841248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Noto Serif CJK SC"/>
                <a:cs typeface="Microsoft YaHei"/>
              </a:rPr>
              <a:t>背书写成对伊战争的下一句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029968"/>
            <a:ext cx="84124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来源：中央社 / CBS    cna.com.tw · cbsnews.com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359152"/>
            <a:ext cx="8412480" cy="12344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Calibri"/>
                <a:ea typeface="Microsoft YaHei"/>
                <a:cs typeface="Microsoft YaHei"/>
              </a:rPr>
              <a:t>特朗普18日发公开信，全力支持内塔尼亚胡竞选连任，称其为「战士总理」，并警告伊朗若不改弦更张将很快「完成相关行动」。阿拉格齐同日称七日重开霍尔木兹方案仍有效。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3703320"/>
            <a:ext cx="8412480" cy="9525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80" y="3758184"/>
            <a:ext cx="8412480" cy="127101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为何重要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16日是镐山，17日是控制权对质。18日新的一句是：以色列选票被写成继续打伊朗的条件，而德黑兰把海峡重开仍挂在九月那份七日稿上。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413248"/>
            <a:ext cx="11277295" cy="1024128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5504688"/>
            <a:ext cx="1069848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对照 · 不重写前刊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5742432"/>
            <a:ext cx="1069848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7F4EF"/>
                </a:solidFill>
                <a:latin typeface="Calibri"/>
                <a:ea typeface="Microsoft YaHei"/>
                <a:cs typeface="Microsoft YaHei"/>
              </a:rPr>
              <a:t>传统医药大会、抵塔什干、扶贫日、格雷厄姆豁免、霍尔木兹对质已入17日刊。铁路车次、供热方案、第48号目录、国常会为16日。王毅见黑山总理折入19日。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3291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Cambria"/>
                <a:ea typeface="Noto Serif CJK SC"/>
                <a:cs typeface="Microsoft YaHei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0" y="201168"/>
            <a:ext cx="56692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第027期  ·  2026年10月18日  ·  星期日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201168"/>
            <a:ext cx="1280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57200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98348"/>
            <a:ext cx="11277295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21792"/>
            <a:ext cx="201168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C41E3A"/>
                </a:solidFill>
                <a:latin typeface="Cambria"/>
                <a:ea typeface="Noto Serif CJK SC"/>
                <a:cs typeface="Microsoft YaHe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713232"/>
            <a:ext cx="978408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Noto Serif CJK SC"/>
                <a:cs typeface="Microsoft YaHei"/>
              </a:rPr>
              <a:t>科技开篇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298448"/>
            <a:ext cx="978408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问天舱把第二代稻种写进培养盒。深圳把十万卡机器写成十张应用账。伦敦把一座脚手架场地写成电网要等到三十年代。首尔把三星和台积电写成同一块基底晶圆上的对手。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21408"/>
            <a:ext cx="2627299" cy="4279392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2304288"/>
            <a:ext cx="2334691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C41E3A"/>
                </a:solidFill>
                <a:latin typeface="Cambria"/>
                <a:ea typeface="Noto Serif CJK SC"/>
                <a:cs typeface="Microsoft YaHei"/>
              </a:rPr>
              <a:t>两代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3108960"/>
            <a:ext cx="2334691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Calibri"/>
                <a:ea typeface="Microsoft YaHei"/>
                <a:cs typeface="Microsoft YaHei"/>
              </a:rPr>
              <a:t>在轨水稻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" y="3639312"/>
            <a:ext cx="2334691" cy="23774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神舟二十三号完成采集、播种、存储，样品待下行。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40531" y="2121408"/>
            <a:ext cx="2627299" cy="4279392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86835" y="2304288"/>
            <a:ext cx="2334691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C41E3A"/>
                </a:solidFill>
                <a:latin typeface="Cambria"/>
                <a:ea typeface="Noto Serif CJK SC"/>
                <a:cs typeface="Microsoft YaHei"/>
              </a:rPr>
              <a:t>4万亿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86835" y="3108960"/>
            <a:ext cx="2334691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Calibri"/>
                <a:ea typeface="Microsoft YaHei"/>
                <a:cs typeface="Microsoft YaHei"/>
              </a:rPr>
              <a:t>暗物质粒子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86835" y="3639312"/>
            <a:ext cx="2334691" cy="23774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曙光8000「千衍」模拟被写成数值宇宙学的新极限。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3863" y="2121408"/>
            <a:ext cx="2627299" cy="4279392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0167" y="2304288"/>
            <a:ext cx="2334691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C41E3A"/>
                </a:solidFill>
                <a:latin typeface="Cambria"/>
                <a:ea typeface="Noto Serif CJK SC"/>
                <a:cs typeface="Microsoft YaHei"/>
              </a:rPr>
              <a:t>2.3万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3108960"/>
            <a:ext cx="2334691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Calibri"/>
                <a:ea typeface="Microsoft YaHei"/>
                <a:cs typeface="Microsoft YaHei"/>
              </a:rPr>
              <a:t>块英伟达卡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0167" y="3639312"/>
            <a:ext cx="2334691" cy="23774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微软退出洛顿，英国「主权」数据中心失去锚租户。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07195" y="2121408"/>
            <a:ext cx="2627299" cy="4279392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3499" y="2304288"/>
            <a:ext cx="2334691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C41E3A"/>
                </a:solidFill>
                <a:latin typeface="Cambria"/>
                <a:ea typeface="Noto Serif CJK SC"/>
                <a:cs typeface="Microsoft YaHei"/>
              </a:rPr>
              <a:t>1.4%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3499" y="3108960"/>
            <a:ext cx="2334691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Calibri"/>
                <a:ea typeface="Microsoft YaHei"/>
                <a:cs typeface="Microsoft YaHei"/>
              </a:rPr>
              <a:t>Console用户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3499" y="3639312"/>
            <a:ext cx="2334691" cy="23774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OpenCode称蒸馏攻击波及已绑定外部密钥的子集。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3291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Cambria"/>
                <a:ea typeface="Noto Serif CJK SC"/>
                <a:cs typeface="Microsoft YaHei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0" y="201168"/>
            <a:ext cx="56692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第027期  ·  2026年10月18日  ·  星期日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201168"/>
            <a:ext cx="1280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57200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98348"/>
            <a:ext cx="11277295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658368"/>
            <a:ext cx="11277295" cy="5742432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841248"/>
            <a:ext cx="192024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C41E3A"/>
                </a:solidFill>
                <a:latin typeface="Cambria"/>
                <a:ea typeface="Noto Serif CJK SC"/>
                <a:cs typeface="Microsoft YaHei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1627632"/>
            <a:ext cx="19202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航天 · 空间站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841248"/>
            <a:ext cx="84124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央视 / 载人航天工程办公室  ·  18日 12:23 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1152144"/>
            <a:ext cx="841248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Noto Serif CJK SC"/>
                <a:cs typeface="Microsoft YaHei"/>
              </a:rPr>
              <a:t>第二代稻种写进培养盒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029968"/>
            <a:ext cx="841248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来源：央视新闻 / 京报网    tv.cctv.com · bjd.com.cn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432304"/>
            <a:ext cx="8412480" cy="1554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Calibri"/>
                <a:ea typeface="Microsoft YaHei"/>
                <a:cs typeface="Microsoft YaHei"/>
              </a:rPr>
              <a:t>神舟二十三号乘组完成新一批水稻样品采集、播种与存储。问天舱实验旨在微重力下连续培育两代。稻种5月随船入轨，含普通种子与2022年太空种子后代。样品将随返回舱下行。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4160520"/>
            <a:ext cx="8412480" cy="9525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80" y="4215384"/>
            <a:ext cx="8412480" cy="16824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为何重要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2022年完成「从种子到种子」。这次要看的是第二代会不会退化。地外原位产粮的前提，是品种在天上站得住。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3291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Cambria"/>
                <a:ea typeface="Noto Serif CJK SC"/>
                <a:cs typeface="Microsoft YaHei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0" y="201168"/>
            <a:ext cx="56692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第027期  ·  2026年10月18日  ·  星期日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201168"/>
            <a:ext cx="1280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57200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98348"/>
            <a:ext cx="11277295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658368"/>
            <a:ext cx="5413248" cy="5742432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804672"/>
            <a:ext cx="4901184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08　超算 · 深圳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115568"/>
            <a:ext cx="4901184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Noto Serif CJK SC"/>
                <a:cs typeface="Microsoft YaHei"/>
              </a:rPr>
              <a:t>十万卡交出十张应用账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322576"/>
            <a:ext cx="4901184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来源：IT之家 / 环球时报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633472"/>
            <a:ext cx="4901184" cy="187451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Microsoft YaHei"/>
                <a:cs typeface="Microsoft YaHei"/>
              </a:rPr>
              <a:t>曙光18日在CCF HPC 2026发布8000十大应用：4万亿暗物质粒子宇宙模拟、万亿原子材料模拟、千亿神经元数字孪生脑等，数万卡弱扩展效率最高99%。机器本身已见3日刊，不重写首发。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4663440"/>
            <a:ext cx="4901184" cy="9525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4718304"/>
            <a:ext cx="4901184" cy="14081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为何重要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3日刊报过机器和6.77万亿网格。18日新的是应用包：宇宙、材料、数字脑被写成可引用的规模数字。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658368"/>
            <a:ext cx="5413248" cy="5742432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65392" y="804672"/>
            <a:ext cx="4901184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09　芯片 · 首尔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5392" y="1115568"/>
            <a:ext cx="4901184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Noto Serif CJK SC"/>
                <a:cs typeface="Microsoft YaHei"/>
              </a:rPr>
              <a:t>NVHBM要过台积电3纳米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5392" y="2322576"/>
            <a:ext cx="4901184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来源：首尔经济 / 路透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2633472"/>
            <a:ext cx="4901184" cy="187451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Microsoft YaHei"/>
                <a:cs typeface="Microsoft YaHei"/>
              </a:rPr>
              <a:t>《首尔经济》18日称，英伟达要求三星、SK海力士、美光以台积电3纳米工艺做NVHBM基底晶圆。三星内部审议后接受，标准HBM仍自产。五家公司均未发官方确认。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65392" y="4663440"/>
            <a:ext cx="4901184" cy="9525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65392" y="4718304"/>
            <a:ext cx="4901184" cy="14081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为何重要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存储三巨头若共用同一块逻辑底，英伟达就能在供应商之间挪单。这是报道，不是五家联合声明。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3291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Cambria"/>
                <a:ea typeface="Noto Serif CJK SC"/>
                <a:cs typeface="Microsoft YaHei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0" y="201168"/>
            <a:ext cx="56692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第027期  ·  2026年10月18日  ·  星期日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201168"/>
            <a:ext cx="1280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57200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98348"/>
            <a:ext cx="11277295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658368"/>
            <a:ext cx="5413248" cy="5742432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804672"/>
            <a:ext cx="4901184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10　算力基建 · 埃塞克斯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115568"/>
            <a:ext cx="4901184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Noto Serif CJK SC"/>
                <a:cs typeface="Microsoft YaHei"/>
              </a:rPr>
              <a:t>微软退出洛顿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322576"/>
            <a:ext cx="4901184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来源：电讯报 / 卫报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633472"/>
            <a:ext cx="4901184" cy="187451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Microsoft YaHei"/>
                <a:cs typeface="Microsoft YaHei"/>
              </a:rPr>
              <a:t>微软退出Nscale埃塞克斯洛顿数据中心协议。原计划租用约2.3万块英伟达芯片，作英国「主权」最大AI中心锚租户。电网接入或拖至2030年代。Nscale称其他微软合同不受影响。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4663440"/>
            <a:ext cx="4901184" cy="9525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4718304"/>
            <a:ext cx="4901184" cy="14081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为何重要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英国把这座中心写成AI产业政策样板。锚租户一撤，剩下的是场地、债务和一张要等到三十年代的电表。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658368"/>
            <a:ext cx="5413248" cy="5742432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65392" y="804672"/>
            <a:ext cx="4901184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11　安全 · 编码代理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5392" y="1115568"/>
            <a:ext cx="4901184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Noto Serif CJK SC"/>
                <a:cs typeface="Microsoft YaHei"/>
              </a:rPr>
              <a:t>蒸馏攻击拿走密钥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5392" y="2322576"/>
            <a:ext cx="4901184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来源：OpenCode / On The Wire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2633472"/>
            <a:ext cx="4901184" cy="187451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Microsoft YaHei"/>
                <a:cs typeface="Microsoft YaHei"/>
              </a:rPr>
              <a:t>OpenCode称大规模蒸馏攻击波及1.4% Console用户，限于已绑定外部模型商的子集。邮件指即将退役的遗留系统遭未授权访问，工作区中的OpenAI、Anthropic等密钥或已暴露。事件仍在处置。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65392" y="4663440"/>
            <a:ext cx="4901184" cy="9525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65392" y="4718304"/>
            <a:ext cx="4901184" cy="14081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为何重要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编码代理把第三方密钥存在托管层。蒸馏攻击一旦得手，账单和模型能力会一起被转走。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3291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Cambria"/>
                <a:ea typeface="Noto Serif CJK SC"/>
                <a:cs typeface="Microsoft YaHei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0" y="201168"/>
            <a:ext cx="56692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第027期  ·  2026年10月18日  ·  星期日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201168"/>
            <a:ext cx="1280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57200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98348"/>
            <a:ext cx="11277295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658368"/>
            <a:ext cx="11277295" cy="5742432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658368"/>
            <a:ext cx="109728" cy="574243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822960"/>
            <a:ext cx="10515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信息不足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115568"/>
            <a:ext cx="10515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Noto Serif CJK SC"/>
                <a:cs typeface="Microsoft YaHei"/>
              </a:rPr>
              <a:t>周日无例会，轨道发射窗口在明天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874519"/>
            <a:ext cx="10424160" cy="4206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·  外交部周日无例会。王毅会见黑山总理斯帕伊奇新华社19日03:02见报，入19日刊。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·  未见18日国内航天发射。Bandwagon-5、H3火星卫星探测窗口均排在19日。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·  无《自然》《科学》级18日首发。Nature Physics五比特并行门、GaP-on-diamond为15日；Willow已入16日刊。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·  RISC-V中国峰会18日仅为会员日，正式开幕在19日。DeepSeek Search API为17日上线。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·  Anthropic公益基金官方博客16:49 UTC，折沪时19日00:49，不入本日。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4A5568"/>
                </a:solidFill>
                <a:latin typeface="Calibri"/>
                <a:ea typeface="Microsoft YaHei"/>
                <a:cs typeface="Microsoft YaHei"/>
              </a:rPr>
              <a:t>·  勿重刊：传统医药大会、抵塔什干、扶贫日、格雷厄姆豁免、乌兰察布、国常会AI+、镐山、RTX Spark、Willow、曙光8000机器本身（3日）。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3291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7F4EF"/>
                </a:solidFill>
                <a:latin typeface="Cambria"/>
                <a:ea typeface="Noto Serif CJK SC"/>
                <a:cs typeface="Microsoft YaHei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0" y="201168"/>
            <a:ext cx="56692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2B6"/>
                </a:solidFill>
                <a:latin typeface="Calibri"/>
                <a:ea typeface="Microsoft YaHei"/>
                <a:cs typeface="Microsoft YaHei"/>
              </a:rPr>
              <a:t>第027期  ·  2026年10月18日  ·  星期日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201168"/>
            <a:ext cx="1280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57200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98348"/>
            <a:ext cx="11277295" cy="9525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5943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2B6"/>
                </a:solidFill>
                <a:latin typeface="Calibri"/>
                <a:ea typeface="Microsoft YaHei"/>
                <a:cs typeface="Microsoft YaHei"/>
              </a:rPr>
              <a:t>THE EVENING LEDGER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8368"/>
            <a:ext cx="39319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2B6"/>
                </a:solidFill>
                <a:latin typeface="Calibri"/>
                <a:ea typeface="Microsoft YaHei"/>
                <a:cs typeface="Microsoft YaHei"/>
              </a:rPr>
              <a:t>第027期 · 收束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950976"/>
            <a:ext cx="11277295" cy="279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078992"/>
            <a:ext cx="11247120" cy="8412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7F4EF"/>
                </a:solidFill>
                <a:latin typeface="Cambria"/>
                <a:ea typeface="Noto Serif CJK SC"/>
                <a:cs typeface="Microsoft YaHei"/>
              </a:rPr>
              <a:t>塔什干写完文件，杜尚别写下抵达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75104"/>
            <a:ext cx="11247120" cy="8961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9C2B6"/>
                </a:solidFill>
                <a:latin typeface="Calibri"/>
                <a:ea typeface="Microsoft YaHei"/>
                <a:cs typeface="Microsoft YaHei"/>
              </a:rPr>
              <a:t>访乌详稿在凌晨见报，人在中午落到杜尚别，下午把矿产和人工智能写进中塔菜单。王毅首次访黑山。特朗普把以色列选票写成对伊战争的下一句。问天舱播下第二代稻种。十万卡交出应用账。微软在埃塞克斯把电表写成三十年代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999232"/>
            <a:ext cx="5413248" cy="2331720"/>
          </a:xfrm>
          <a:prstGeom prst="roundRect">
            <a:avLst>
              <a:gd name="adj" fmla="val 8000"/>
            </a:avLst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3108960"/>
            <a:ext cx="4956048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时政六条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419856"/>
            <a:ext cx="4956048" cy="1783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  <a:ea typeface="Microsoft YaHei"/>
                <a:cs typeface="Microsoft YaHei"/>
              </a:rPr>
              <a:t>1.  访乌收官写成铁路与文件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  <a:ea typeface="Microsoft YaHei"/>
                <a:cs typeface="Microsoft YaHei"/>
              </a:rPr>
              <a:t>2.  人到了，会还在前头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  <a:ea typeface="Microsoft YaHei"/>
                <a:cs typeface="Microsoft YaHei"/>
              </a:rPr>
              <a:t>3.  总理会谈签下基建账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  <a:ea typeface="Microsoft YaHei"/>
                <a:cs typeface="Microsoft YaHei"/>
              </a:rPr>
              <a:t>4.  外长首次踏上黑山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  <a:ea typeface="Microsoft YaHei"/>
                <a:cs typeface="Microsoft YaHei"/>
              </a:rPr>
              <a:t>5.  亚残运会主火炬点燃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  <a:ea typeface="Microsoft YaHei"/>
                <a:cs typeface="Microsoft YaHei"/>
              </a:rPr>
              <a:t>6.  背书写成对伊战争的下一句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999232"/>
            <a:ext cx="5413248" cy="2331720"/>
          </a:xfrm>
          <a:prstGeom prst="roundRect">
            <a:avLst>
              <a:gd name="adj" fmla="val 8000"/>
            </a:avLst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5392" y="3108960"/>
            <a:ext cx="4956048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Microsoft YaHei"/>
              </a:rPr>
              <a:t>科技五条 · 缺口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5392" y="3419856"/>
            <a:ext cx="4956048" cy="1783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  <a:ea typeface="Microsoft YaHei"/>
                <a:cs typeface="Microsoft YaHei"/>
              </a:rPr>
              <a:t>1.  第二代稻种写进培养盒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  <a:ea typeface="Microsoft YaHei"/>
                <a:cs typeface="Microsoft YaHei"/>
              </a:rPr>
              <a:t>2.  十万卡交出十张应用账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  <a:ea typeface="Microsoft YaHei"/>
                <a:cs typeface="Microsoft YaHei"/>
              </a:rPr>
              <a:t>3.  NVHBM要过台积电3纳米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  <a:ea typeface="Microsoft YaHei"/>
                <a:cs typeface="Microsoft YaHei"/>
              </a:rPr>
              <a:t>4.  微软退出洛顿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  <a:ea typeface="Microsoft YaHei"/>
                <a:cs typeface="Microsoft YaHei"/>
              </a:rPr>
              <a:t>5.  蒸馏攻击拿走密钥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486400"/>
            <a:ext cx="11247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2B6"/>
                </a:solidFill>
                <a:latin typeface="Calibri"/>
                <a:ea typeface="Microsoft YaHei"/>
                <a:cs typeface="Microsoft YaHei"/>
              </a:rPr>
              <a:t>日期窗口：Asia/Shanghai 2026-10-18 00:00 至 2026-10-19 00:00。交叉来源：新华社/外交部、CBS/中央社、国际残奥委会、央视、IT之家/环球时报、首尔经济/路透、卫报/电讯报、OpenCode。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126480"/>
            <a:ext cx="112471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mbria"/>
                <a:ea typeface="Noto Serif CJK SC"/>
                <a:cs typeface="Microsoft YaHei"/>
              </a:rPr>
              <a:t>每日时政科技简报 · 第027期 · 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