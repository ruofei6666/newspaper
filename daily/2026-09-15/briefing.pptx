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92608"/>
          </a:xfrm>
          <a:prstGeom prst="rect">
            <a:avLst/>
          </a:prstGeom>
          <a:noFill/>
        </p:spPr>
        <p:txBody>
          <a:bodyPr wrap="square" anchor="t"/>
          <a:lstStyle/>
          <a:p>
            <a:pPr algn="l"/>
            <a:r>
              <a:rPr sz="1400" b="1">
                <a:solidFill>
                  <a:srgbClr val="F7F4EF"/>
                </a:solidFill>
                <a:latin typeface="Cambria"/>
                <a:ea typeface="Cambria"/>
              </a:rPr>
              <a:t>每日时政科技简报</a:t>
            </a:r>
          </a:p>
        </p:txBody>
      </p:sp>
      <p:sp>
        <p:nvSpPr>
          <p:cNvPr id="4" name="TextBox 3"/>
          <p:cNvSpPr txBox="1"/>
          <p:nvPr/>
        </p:nvSpPr>
        <p:spPr>
          <a:xfrm>
            <a:off x="4297680" y="274320"/>
            <a:ext cx="5120640" cy="274320"/>
          </a:xfrm>
          <a:prstGeom prst="rect">
            <a:avLst/>
          </a:prstGeom>
          <a:noFill/>
        </p:spPr>
        <p:txBody>
          <a:bodyPr wrap="square" anchor="t"/>
          <a:lstStyle/>
          <a:p>
            <a:pPr algn="ctr"/>
            <a:r>
              <a:rPr sz="1100" b="0">
                <a:solidFill>
                  <a:srgbClr val="B8B0A4"/>
                </a:solidFill>
                <a:latin typeface="Calibri"/>
                <a:ea typeface="Calibri"/>
              </a:rPr>
              <a:t>第258期  ·  2026年9月15日  ·  星期二</a:t>
            </a:r>
          </a:p>
        </p:txBody>
      </p:sp>
      <p:sp>
        <p:nvSpPr>
          <p:cNvPr id="5" name="TextBox 4"/>
          <p:cNvSpPr txBox="1"/>
          <p:nvPr/>
        </p:nvSpPr>
        <p:spPr>
          <a:xfrm>
            <a:off x="9692640" y="274320"/>
            <a:ext cx="1965960" cy="274320"/>
          </a:xfrm>
          <a:prstGeom prst="rect">
            <a:avLst/>
          </a:prstGeom>
          <a:noFill/>
        </p:spPr>
        <p:txBody>
          <a:bodyPr wrap="square" anchor="t"/>
          <a:lstStyle/>
          <a:p>
            <a:pPr algn="r"/>
            <a:r>
              <a:rPr sz="1200" b="1">
                <a:solidFill>
                  <a:srgbClr val="C41E3A"/>
                </a:solidFill>
                <a:latin typeface="Calibri"/>
                <a:ea typeface="Calibri"/>
              </a:rPr>
              <a:t>晨刊</a:t>
            </a:r>
          </a:p>
        </p:txBody>
      </p:sp>
      <p:sp>
        <p:nvSpPr>
          <p:cNvPr id="6" name="Rectangle 5"/>
          <p:cNvSpPr/>
          <p:nvPr/>
        </p:nvSpPr>
        <p:spPr>
          <a:xfrm>
            <a:off x="502920" y="566928"/>
            <a:ext cx="1118311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21792"/>
            <a:ext cx="11183112" cy="9525"/>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804672"/>
            <a:ext cx="164592" cy="164592"/>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768096"/>
            <a:ext cx="5029200" cy="256032"/>
          </a:xfrm>
          <a:prstGeom prst="rect">
            <a:avLst/>
          </a:prstGeom>
          <a:noFill/>
        </p:spPr>
        <p:txBody>
          <a:bodyPr wrap="square" anchor="t"/>
          <a:lstStyle/>
          <a:p>
            <a:pPr algn="l"/>
            <a:r>
              <a:rPr sz="1100" b="1">
                <a:solidFill>
                  <a:srgbClr val="C9C2B6"/>
                </a:solidFill>
                <a:latin typeface="Calibri"/>
                <a:ea typeface="Calibri"/>
              </a:rPr>
              <a:t>THE MORNING DISPATCH</a:t>
            </a:r>
          </a:p>
        </p:txBody>
      </p:sp>
      <p:sp>
        <p:nvSpPr>
          <p:cNvPr id="10" name="TextBox 9"/>
          <p:cNvSpPr txBox="1"/>
          <p:nvPr/>
        </p:nvSpPr>
        <p:spPr>
          <a:xfrm>
            <a:off x="6766560" y="768096"/>
            <a:ext cx="4937760" cy="256032"/>
          </a:xfrm>
          <a:prstGeom prst="rect">
            <a:avLst/>
          </a:prstGeom>
          <a:noFill/>
        </p:spPr>
        <p:txBody>
          <a:bodyPr wrap="square" anchor="t"/>
          <a:lstStyle/>
          <a:p>
            <a:pPr algn="r"/>
            <a:r>
              <a:rPr sz="1100" b="0">
                <a:solidFill>
                  <a:srgbClr val="C9C2B6"/>
                </a:solidFill>
                <a:latin typeface="Calibri"/>
                <a:ea typeface="Calibri"/>
              </a:rPr>
              <a:t>ASIA / SHANGHAI　昨日新闻</a:t>
            </a:r>
          </a:p>
        </p:txBody>
      </p:sp>
      <p:sp>
        <p:nvSpPr>
          <p:cNvPr id="11" name="Rectangle 10"/>
          <p:cNvSpPr/>
          <p:nvPr/>
        </p:nvSpPr>
        <p:spPr>
          <a:xfrm>
            <a:off x="502920" y="1115568"/>
            <a:ext cx="11183112" cy="2794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188720"/>
            <a:ext cx="11183112" cy="1143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353312"/>
            <a:ext cx="11155680" cy="329184"/>
          </a:xfrm>
          <a:prstGeom prst="rect">
            <a:avLst/>
          </a:prstGeom>
          <a:noFill/>
        </p:spPr>
        <p:txBody>
          <a:bodyPr wrap="square" anchor="t"/>
          <a:lstStyle/>
          <a:p>
            <a:pPr algn="l"/>
            <a:r>
              <a:rPr sz="1500" b="1">
                <a:solidFill>
                  <a:srgbClr val="C41E3A"/>
                </a:solidFill>
                <a:latin typeface="Calibri"/>
                <a:ea typeface="Calibri"/>
              </a:rPr>
              <a:t>第贰伍捌期  ·  二零二六年九月十五日  ·  星期二</a:t>
            </a:r>
          </a:p>
        </p:txBody>
      </p:sp>
      <p:sp>
        <p:nvSpPr>
          <p:cNvPr id="14" name="TextBox 13"/>
          <p:cNvSpPr txBox="1"/>
          <p:nvPr/>
        </p:nvSpPr>
        <p:spPr>
          <a:xfrm>
            <a:off x="502920" y="1755648"/>
            <a:ext cx="11155680" cy="1051560"/>
          </a:xfrm>
          <a:prstGeom prst="rect">
            <a:avLst/>
          </a:prstGeom>
          <a:noFill/>
        </p:spPr>
        <p:txBody>
          <a:bodyPr wrap="square" anchor="t"/>
          <a:lstStyle/>
          <a:p>
            <a:pPr algn="l"/>
            <a:r>
              <a:rPr sz="4800" b="1">
                <a:solidFill>
                  <a:srgbClr val="F7F4EF"/>
                </a:solidFill>
                <a:latin typeface="Cambria"/>
                <a:ea typeface="Cambria"/>
              </a:rPr>
              <a:t>每日时政科技简报</a:t>
            </a:r>
          </a:p>
        </p:txBody>
      </p:sp>
      <p:sp>
        <p:nvSpPr>
          <p:cNvPr id="15" name="TextBox 14"/>
          <p:cNvSpPr txBox="1"/>
          <p:nvPr/>
        </p:nvSpPr>
        <p:spPr>
          <a:xfrm>
            <a:off x="502920" y="2852928"/>
            <a:ext cx="11155680" cy="329184"/>
          </a:xfrm>
          <a:prstGeom prst="rect">
            <a:avLst/>
          </a:prstGeom>
          <a:noFill/>
        </p:spPr>
        <p:txBody>
          <a:bodyPr wrap="square" anchor="t"/>
          <a:lstStyle/>
          <a:p>
            <a:pPr algn="l"/>
            <a:r>
              <a:rPr sz="1600" b="0">
                <a:solidFill>
                  <a:srgbClr val="C9C2B6"/>
                </a:solidFill>
                <a:latin typeface="Calibri"/>
                <a:ea typeface="Calibri"/>
              </a:rPr>
              <a:t>只收录该日发生或该日首发的稿件，拒绝转载拼盘。</a:t>
            </a:r>
          </a:p>
        </p:txBody>
      </p:sp>
      <p:sp>
        <p:nvSpPr>
          <p:cNvPr id="16" name="Rectangle 15"/>
          <p:cNvSpPr/>
          <p:nvPr/>
        </p:nvSpPr>
        <p:spPr>
          <a:xfrm>
            <a:off x="502920" y="3328416"/>
            <a:ext cx="3611880" cy="14173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3401568"/>
            <a:ext cx="3200400" cy="713232"/>
          </a:xfrm>
          <a:prstGeom prst="rect">
            <a:avLst/>
          </a:prstGeom>
          <a:noFill/>
        </p:spPr>
        <p:txBody>
          <a:bodyPr wrap="square" anchor="t"/>
          <a:lstStyle/>
          <a:p>
            <a:pPr algn="l"/>
            <a:r>
              <a:rPr sz="4400" b="1">
                <a:solidFill>
                  <a:srgbClr val="C41E3A"/>
                </a:solidFill>
                <a:latin typeface="Cambria"/>
                <a:ea typeface="Cambria"/>
              </a:rPr>
              <a:t>06</a:t>
            </a:r>
          </a:p>
        </p:txBody>
      </p:sp>
      <p:sp>
        <p:nvSpPr>
          <p:cNvPr id="18" name="TextBox 17"/>
          <p:cNvSpPr txBox="1"/>
          <p:nvPr/>
        </p:nvSpPr>
        <p:spPr>
          <a:xfrm>
            <a:off x="704088" y="4078224"/>
            <a:ext cx="3200400" cy="256032"/>
          </a:xfrm>
          <a:prstGeom prst="rect">
            <a:avLst/>
          </a:prstGeom>
          <a:noFill/>
        </p:spPr>
        <p:txBody>
          <a:bodyPr wrap="square" anchor="t"/>
          <a:lstStyle/>
          <a:p>
            <a:pPr algn="l"/>
            <a:r>
              <a:rPr sz="1600" b="1">
                <a:solidFill>
                  <a:srgbClr val="F7F4EF"/>
                </a:solidFill>
                <a:latin typeface="Calibri"/>
                <a:ea typeface="Calibri"/>
              </a:rPr>
              <a:t>时政</a:t>
            </a:r>
          </a:p>
        </p:txBody>
      </p:sp>
      <p:sp>
        <p:nvSpPr>
          <p:cNvPr id="19" name="TextBox 18"/>
          <p:cNvSpPr txBox="1"/>
          <p:nvPr/>
        </p:nvSpPr>
        <p:spPr>
          <a:xfrm>
            <a:off x="704088" y="4334256"/>
            <a:ext cx="3200400" cy="274320"/>
          </a:xfrm>
          <a:prstGeom prst="rect">
            <a:avLst/>
          </a:prstGeom>
          <a:noFill/>
        </p:spPr>
        <p:txBody>
          <a:bodyPr wrap="square" anchor="t"/>
          <a:lstStyle/>
          <a:p>
            <a:pPr algn="l"/>
            <a:r>
              <a:rPr sz="1200" b="0">
                <a:solidFill>
                  <a:srgbClr val="B8B0A4"/>
                </a:solidFill>
                <a:latin typeface="Calibri"/>
                <a:ea typeface="Calibri"/>
              </a:rPr>
              <a:t>记者会 · 海湾 · 能源停火</a:t>
            </a:r>
          </a:p>
        </p:txBody>
      </p:sp>
      <p:sp>
        <p:nvSpPr>
          <p:cNvPr id="20" name="Rectangle 19"/>
          <p:cNvSpPr/>
          <p:nvPr/>
        </p:nvSpPr>
        <p:spPr>
          <a:xfrm>
            <a:off x="4297680" y="3328416"/>
            <a:ext cx="3611880" cy="14173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8" y="3401568"/>
            <a:ext cx="3200400" cy="713232"/>
          </a:xfrm>
          <a:prstGeom prst="rect">
            <a:avLst/>
          </a:prstGeom>
          <a:noFill/>
        </p:spPr>
        <p:txBody>
          <a:bodyPr wrap="square" anchor="t"/>
          <a:lstStyle/>
          <a:p>
            <a:pPr algn="l"/>
            <a:r>
              <a:rPr sz="4400" b="1">
                <a:solidFill>
                  <a:srgbClr val="C41E3A"/>
                </a:solidFill>
                <a:latin typeface="Cambria"/>
                <a:ea typeface="Cambria"/>
              </a:rPr>
              <a:t>05</a:t>
            </a:r>
          </a:p>
        </p:txBody>
      </p:sp>
      <p:sp>
        <p:nvSpPr>
          <p:cNvPr id="22" name="TextBox 21"/>
          <p:cNvSpPr txBox="1"/>
          <p:nvPr/>
        </p:nvSpPr>
        <p:spPr>
          <a:xfrm>
            <a:off x="4498848" y="4078224"/>
            <a:ext cx="3200400" cy="256032"/>
          </a:xfrm>
          <a:prstGeom prst="rect">
            <a:avLst/>
          </a:prstGeom>
          <a:noFill/>
        </p:spPr>
        <p:txBody>
          <a:bodyPr wrap="square" anchor="t"/>
          <a:lstStyle/>
          <a:p>
            <a:pPr algn="l"/>
            <a:r>
              <a:rPr sz="1600" b="1">
                <a:solidFill>
                  <a:srgbClr val="F7F4EF"/>
                </a:solidFill>
                <a:latin typeface="Calibri"/>
                <a:ea typeface="Calibri"/>
              </a:rPr>
              <a:t>科技</a:t>
            </a:r>
          </a:p>
        </p:txBody>
      </p:sp>
      <p:sp>
        <p:nvSpPr>
          <p:cNvPr id="23" name="TextBox 22"/>
          <p:cNvSpPr txBox="1"/>
          <p:nvPr/>
        </p:nvSpPr>
        <p:spPr>
          <a:xfrm>
            <a:off x="4498848" y="4334256"/>
            <a:ext cx="3200400" cy="274320"/>
          </a:xfrm>
          <a:prstGeom prst="rect">
            <a:avLst/>
          </a:prstGeom>
          <a:noFill/>
        </p:spPr>
        <p:txBody>
          <a:bodyPr wrap="square" anchor="t"/>
          <a:lstStyle/>
          <a:p>
            <a:pPr algn="l"/>
            <a:r>
              <a:rPr sz="1200" b="0">
                <a:solidFill>
                  <a:srgbClr val="B8B0A4"/>
                </a:solidFill>
                <a:latin typeface="Calibri"/>
                <a:ea typeface="Calibri"/>
              </a:rPr>
              <a:t>Siri · 3D机房 · 组网星</a:t>
            </a:r>
          </a:p>
        </p:txBody>
      </p:sp>
      <p:sp>
        <p:nvSpPr>
          <p:cNvPr id="24" name="Rectangle 23"/>
          <p:cNvSpPr/>
          <p:nvPr/>
        </p:nvSpPr>
        <p:spPr>
          <a:xfrm>
            <a:off x="8092440" y="3328416"/>
            <a:ext cx="3611880" cy="14173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93608" y="3401568"/>
            <a:ext cx="3200400" cy="713232"/>
          </a:xfrm>
          <a:prstGeom prst="rect">
            <a:avLst/>
          </a:prstGeom>
          <a:noFill/>
        </p:spPr>
        <p:txBody>
          <a:bodyPr wrap="square" anchor="t"/>
          <a:lstStyle/>
          <a:p>
            <a:pPr algn="l"/>
            <a:r>
              <a:rPr sz="4400" b="1">
                <a:solidFill>
                  <a:srgbClr val="C41E3A"/>
                </a:solidFill>
                <a:latin typeface="Cambria"/>
                <a:ea typeface="Cambria"/>
              </a:rPr>
              <a:t>11</a:t>
            </a:r>
          </a:p>
        </p:txBody>
      </p:sp>
      <p:sp>
        <p:nvSpPr>
          <p:cNvPr id="26" name="TextBox 25"/>
          <p:cNvSpPr txBox="1"/>
          <p:nvPr/>
        </p:nvSpPr>
        <p:spPr>
          <a:xfrm>
            <a:off x="8293608" y="4078224"/>
            <a:ext cx="3200400" cy="256032"/>
          </a:xfrm>
          <a:prstGeom prst="rect">
            <a:avLst/>
          </a:prstGeom>
          <a:noFill/>
        </p:spPr>
        <p:txBody>
          <a:bodyPr wrap="square" anchor="t"/>
          <a:lstStyle/>
          <a:p>
            <a:pPr algn="l"/>
            <a:r>
              <a:rPr sz="1600" b="1">
                <a:solidFill>
                  <a:srgbClr val="F7F4EF"/>
                </a:solidFill>
                <a:latin typeface="Calibri"/>
                <a:ea typeface="Calibri"/>
              </a:rPr>
              <a:t>合计</a:t>
            </a:r>
          </a:p>
        </p:txBody>
      </p:sp>
      <p:sp>
        <p:nvSpPr>
          <p:cNvPr id="27" name="TextBox 26"/>
          <p:cNvSpPr txBox="1"/>
          <p:nvPr/>
        </p:nvSpPr>
        <p:spPr>
          <a:xfrm>
            <a:off x="8293608" y="4334256"/>
            <a:ext cx="3200400" cy="274320"/>
          </a:xfrm>
          <a:prstGeom prst="rect">
            <a:avLst/>
          </a:prstGeom>
          <a:noFill/>
        </p:spPr>
        <p:txBody>
          <a:bodyPr wrap="square" anchor="t"/>
          <a:lstStyle/>
          <a:p>
            <a:pPr algn="l"/>
            <a:r>
              <a:rPr sz="1200" b="0">
                <a:solidFill>
                  <a:srgbClr val="B8B0A4"/>
                </a:solidFill>
                <a:latin typeface="Calibri"/>
                <a:ea typeface="Calibri"/>
              </a:rPr>
              <a:t>周二首发可核验</a:t>
            </a:r>
          </a:p>
        </p:txBody>
      </p:sp>
      <p:sp>
        <p:nvSpPr>
          <p:cNvPr id="28" name="TextBox 27"/>
          <p:cNvSpPr txBox="1"/>
          <p:nvPr/>
        </p:nvSpPr>
        <p:spPr>
          <a:xfrm>
            <a:off x="502920" y="4937760"/>
            <a:ext cx="11183112" cy="1554480"/>
          </a:xfrm>
          <a:prstGeom prst="rect">
            <a:avLst/>
          </a:prstGeom>
          <a:noFill/>
        </p:spPr>
        <p:txBody>
          <a:bodyPr wrap="square" anchor="t"/>
          <a:lstStyle/>
          <a:p>
            <a:pPr algn="l"/>
            <a:r>
              <a:rPr sz="1400" b="0">
                <a:solidFill>
                  <a:srgbClr val="F7F4EF"/>
                </a:solidFill>
                <a:latin typeface="Calibri"/>
                <a:ea typeface="Calibri"/>
              </a:rPr>
              <a:t>今日主线：外交部预告阿莫林访华并驳菲南海主张；特朗普称伊方急于达成协议，阿拉格齐赴北京；乌俄「能源互不打击」口头宣布后当夜仍互袭。新华社刊发金砖纪实与先进制造业综述；嫦娥月壤捐赠入账。科技栏交出 iOS 27、3D 数据中心、三家安全磋商、朱雀组网与硅光量子处理器。吉隆/尼泊尔无新官方伤亡数字；国产互联网平台与海外芯片流片首发不足。</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92608"/>
          </a:xfrm>
          <a:prstGeom prst="rect">
            <a:avLst/>
          </a:prstGeom>
          <a:noFill/>
        </p:spPr>
        <p:txBody>
          <a:bodyPr wrap="square" anchor="t"/>
          <a:lstStyle/>
          <a:p>
            <a:pPr algn="l"/>
            <a:r>
              <a:rPr sz="1400" b="1">
                <a:solidFill>
                  <a:srgbClr val="1A1A1A"/>
                </a:solidFill>
                <a:latin typeface="Cambria"/>
                <a:ea typeface="Cambria"/>
              </a:rPr>
              <a:t>每日时政科技简报</a:t>
            </a:r>
          </a:p>
        </p:txBody>
      </p:sp>
      <p:sp>
        <p:nvSpPr>
          <p:cNvPr id="4" name="TextBox 3"/>
          <p:cNvSpPr txBox="1"/>
          <p:nvPr/>
        </p:nvSpPr>
        <p:spPr>
          <a:xfrm>
            <a:off x="4297680" y="274320"/>
            <a:ext cx="5120640" cy="274320"/>
          </a:xfrm>
          <a:prstGeom prst="rect">
            <a:avLst/>
          </a:prstGeom>
          <a:noFill/>
        </p:spPr>
        <p:txBody>
          <a:bodyPr wrap="square" anchor="t"/>
          <a:lstStyle/>
          <a:p>
            <a:pPr algn="ctr"/>
            <a:r>
              <a:rPr sz="1100" b="0">
                <a:solidFill>
                  <a:srgbClr val="4A5568"/>
                </a:solidFill>
                <a:latin typeface="Calibri"/>
                <a:ea typeface="Calibri"/>
              </a:rPr>
              <a:t>第258期  ·  2026年9月15日  ·  星期二</a:t>
            </a:r>
          </a:p>
        </p:txBody>
      </p:sp>
      <p:sp>
        <p:nvSpPr>
          <p:cNvPr id="5" name="TextBox 4"/>
          <p:cNvSpPr txBox="1"/>
          <p:nvPr/>
        </p:nvSpPr>
        <p:spPr>
          <a:xfrm>
            <a:off x="9692640" y="274320"/>
            <a:ext cx="1965960" cy="274320"/>
          </a:xfrm>
          <a:prstGeom prst="rect">
            <a:avLst/>
          </a:prstGeom>
          <a:noFill/>
        </p:spPr>
        <p:txBody>
          <a:bodyPr wrap="square" anchor="t"/>
          <a:lstStyle/>
          <a:p>
            <a:pPr algn="r"/>
            <a:r>
              <a:rPr sz="1200" b="1">
                <a:solidFill>
                  <a:srgbClr val="C41E3A"/>
                </a:solidFill>
                <a:latin typeface="Calibri"/>
                <a:ea typeface="Calibri"/>
              </a:rPr>
              <a:t>晨刊</a:t>
            </a:r>
          </a:p>
        </p:txBody>
      </p:sp>
      <p:sp>
        <p:nvSpPr>
          <p:cNvPr id="6" name="Rectangle 5"/>
          <p:cNvSpPr/>
          <p:nvPr/>
        </p:nvSpPr>
        <p:spPr>
          <a:xfrm>
            <a:off x="502920" y="566928"/>
            <a:ext cx="1118311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21792"/>
            <a:ext cx="1118311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04672"/>
            <a:ext cx="2011680" cy="777240"/>
          </a:xfrm>
          <a:prstGeom prst="rect">
            <a:avLst/>
          </a:prstGeom>
          <a:noFill/>
        </p:spPr>
        <p:txBody>
          <a:bodyPr wrap="square" anchor="t"/>
          <a:lstStyle/>
          <a:p>
            <a:pPr algn="l"/>
            <a:r>
              <a:rPr sz="5600" b="1">
                <a:solidFill>
                  <a:srgbClr val="C41E3A"/>
                </a:solidFill>
                <a:latin typeface="Cambria"/>
                <a:ea typeface="Cambria"/>
              </a:rPr>
              <a:t>01</a:t>
            </a:r>
          </a:p>
        </p:txBody>
      </p:sp>
      <p:sp>
        <p:nvSpPr>
          <p:cNvPr id="9" name="TextBox 8"/>
          <p:cNvSpPr txBox="1"/>
          <p:nvPr/>
        </p:nvSpPr>
        <p:spPr>
          <a:xfrm>
            <a:off x="2377440" y="960120"/>
            <a:ext cx="9235440" cy="566928"/>
          </a:xfrm>
          <a:prstGeom prst="rect">
            <a:avLst/>
          </a:prstGeom>
          <a:noFill/>
        </p:spPr>
        <p:txBody>
          <a:bodyPr wrap="square" anchor="t"/>
          <a:lstStyle/>
          <a:p>
            <a:pPr algn="l"/>
            <a:r>
              <a:rPr sz="3600" b="1">
                <a:solidFill>
                  <a:srgbClr val="1A1A1A"/>
                </a:solidFill>
                <a:latin typeface="Cambria"/>
                <a:ea typeface="Cambria"/>
              </a:rPr>
              <a:t>时政开篇</a:t>
            </a:r>
          </a:p>
        </p:txBody>
      </p:sp>
      <p:sp>
        <p:nvSpPr>
          <p:cNvPr id="10" name="TextBox 9"/>
          <p:cNvSpPr txBox="1"/>
          <p:nvPr/>
        </p:nvSpPr>
        <p:spPr>
          <a:xfrm>
            <a:off x="2377440" y="1554480"/>
            <a:ext cx="9235440" cy="640080"/>
          </a:xfrm>
          <a:prstGeom prst="rect">
            <a:avLst/>
          </a:prstGeom>
          <a:noFill/>
        </p:spPr>
        <p:txBody>
          <a:bodyPr wrap="square" anchor="t"/>
          <a:lstStyle/>
          <a:p>
            <a:pPr algn="l"/>
            <a:r>
              <a:rPr sz="1500" b="0">
                <a:solidFill>
                  <a:srgbClr val="4A5568"/>
                </a:solidFill>
                <a:latin typeface="Calibri"/>
                <a:ea typeface="Calibri"/>
              </a:rPr>
              <a:t>星期二把一场记者会、两场即将到来的北京会晤和一次未落地的能源停火叠在同一张版面上。</a:t>
            </a:r>
          </a:p>
        </p:txBody>
      </p:sp>
      <p:sp>
        <p:nvSpPr>
          <p:cNvPr id="11" name="Rectangle 10"/>
          <p:cNvSpPr/>
          <p:nvPr/>
        </p:nvSpPr>
        <p:spPr>
          <a:xfrm>
            <a:off x="502920" y="2286000"/>
            <a:ext cx="11183112" cy="12344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377440"/>
            <a:ext cx="1828800" cy="219456"/>
          </a:xfrm>
          <a:prstGeom prst="rect">
            <a:avLst/>
          </a:prstGeom>
          <a:noFill/>
        </p:spPr>
        <p:txBody>
          <a:bodyPr wrap="square" anchor="t"/>
          <a:lstStyle/>
          <a:p>
            <a:pPr algn="l"/>
            <a:r>
              <a:rPr sz="1100" b="1">
                <a:solidFill>
                  <a:srgbClr val="C41E3A"/>
                </a:solidFill>
                <a:latin typeface="Calibri"/>
                <a:ea typeface="Calibri"/>
              </a:rPr>
              <a:t>引　言</a:t>
            </a:r>
          </a:p>
        </p:txBody>
      </p:sp>
      <p:sp>
        <p:nvSpPr>
          <p:cNvPr id="13" name="TextBox 12"/>
          <p:cNvSpPr txBox="1"/>
          <p:nvPr/>
        </p:nvSpPr>
        <p:spPr>
          <a:xfrm>
            <a:off x="713232" y="2633472"/>
            <a:ext cx="10789920" cy="731520"/>
          </a:xfrm>
          <a:prstGeom prst="rect">
            <a:avLst/>
          </a:prstGeom>
          <a:noFill/>
        </p:spPr>
        <p:txBody>
          <a:bodyPr wrap="square" anchor="t"/>
          <a:lstStyle/>
          <a:p>
            <a:pPr algn="l"/>
            <a:r>
              <a:rPr sz="1600" b="1">
                <a:solidFill>
                  <a:srgbClr val="1A1A1A"/>
                </a:solidFill>
                <a:latin typeface="Cambria"/>
                <a:ea typeface="Cambria"/>
              </a:rPr>
              <a:t>「人工智能技术发展越是一日千里，向上向善、造福人类的方向越要正确锚定。」——郭嘉昆15日就美企呼吁放缓前沿模型答问。</a:t>
            </a:r>
          </a:p>
        </p:txBody>
      </p:sp>
      <p:sp>
        <p:nvSpPr>
          <p:cNvPr id="14" name="Rectangle 13"/>
          <p:cNvSpPr/>
          <p:nvPr/>
        </p:nvSpPr>
        <p:spPr>
          <a:xfrm>
            <a:off x="502920" y="3730752"/>
            <a:ext cx="3611880" cy="26060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858768"/>
            <a:ext cx="3200400" cy="658368"/>
          </a:xfrm>
          <a:prstGeom prst="rect">
            <a:avLst/>
          </a:prstGeom>
          <a:noFill/>
        </p:spPr>
        <p:txBody>
          <a:bodyPr wrap="square" anchor="t"/>
          <a:lstStyle/>
          <a:p>
            <a:pPr algn="l"/>
            <a:r>
              <a:rPr sz="3200" b="1">
                <a:solidFill>
                  <a:srgbClr val="C41E3A"/>
                </a:solidFill>
                <a:latin typeface="Cambria"/>
                <a:ea typeface="Cambria"/>
              </a:rPr>
              <a:t>16–17</a:t>
            </a:r>
          </a:p>
        </p:txBody>
      </p:sp>
      <p:sp>
        <p:nvSpPr>
          <p:cNvPr id="16" name="TextBox 15"/>
          <p:cNvSpPr txBox="1"/>
          <p:nvPr/>
        </p:nvSpPr>
        <p:spPr>
          <a:xfrm>
            <a:off x="704088" y="4553712"/>
            <a:ext cx="3200400" cy="329184"/>
          </a:xfrm>
          <a:prstGeom prst="rect">
            <a:avLst/>
          </a:prstGeom>
          <a:noFill/>
        </p:spPr>
        <p:txBody>
          <a:bodyPr wrap="square" anchor="t"/>
          <a:lstStyle/>
          <a:p>
            <a:pPr algn="l"/>
            <a:r>
              <a:rPr sz="1500" b="1">
                <a:solidFill>
                  <a:srgbClr val="1A1A1A"/>
                </a:solidFill>
                <a:latin typeface="Calibri"/>
                <a:ea typeface="Calibri"/>
              </a:rPr>
              <a:t>阿莫林访华</a:t>
            </a:r>
          </a:p>
        </p:txBody>
      </p:sp>
      <p:sp>
        <p:nvSpPr>
          <p:cNvPr id="17" name="TextBox 16"/>
          <p:cNvSpPr txBox="1"/>
          <p:nvPr/>
        </p:nvSpPr>
        <p:spPr>
          <a:xfrm>
            <a:off x="704088" y="4919472"/>
            <a:ext cx="3200400" cy="1188720"/>
          </a:xfrm>
          <a:prstGeom prst="rect">
            <a:avLst/>
          </a:prstGeom>
          <a:noFill/>
        </p:spPr>
        <p:txBody>
          <a:bodyPr wrap="square" anchor="t"/>
          <a:lstStyle/>
          <a:p>
            <a:pPr algn="l"/>
            <a:r>
              <a:rPr sz="1300" b="0">
                <a:solidFill>
                  <a:srgbClr val="4A5568"/>
                </a:solidFill>
                <a:latin typeface="Calibri"/>
                <a:ea typeface="Calibri"/>
              </a:rPr>
              <a:t>巴西总统首席特别顾问抵京，王毅将会见。</a:t>
            </a:r>
          </a:p>
        </p:txBody>
      </p:sp>
      <p:sp>
        <p:nvSpPr>
          <p:cNvPr id="18" name="Rectangle 17"/>
          <p:cNvSpPr/>
          <p:nvPr/>
        </p:nvSpPr>
        <p:spPr>
          <a:xfrm>
            <a:off x="4297680" y="3730752"/>
            <a:ext cx="3611880" cy="26060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98848" y="3858768"/>
            <a:ext cx="3200400" cy="658368"/>
          </a:xfrm>
          <a:prstGeom prst="rect">
            <a:avLst/>
          </a:prstGeom>
          <a:noFill/>
        </p:spPr>
        <p:txBody>
          <a:bodyPr wrap="square" anchor="t"/>
          <a:lstStyle/>
          <a:p>
            <a:pPr algn="l"/>
            <a:r>
              <a:rPr sz="3200" b="1">
                <a:solidFill>
                  <a:srgbClr val="C41E3A"/>
                </a:solidFill>
                <a:latin typeface="Cambria"/>
                <a:ea typeface="Cambria"/>
              </a:rPr>
              <a:t>4艘</a:t>
            </a:r>
          </a:p>
        </p:txBody>
      </p:sp>
      <p:sp>
        <p:nvSpPr>
          <p:cNvPr id="20" name="TextBox 19"/>
          <p:cNvSpPr txBox="1"/>
          <p:nvPr/>
        </p:nvSpPr>
        <p:spPr>
          <a:xfrm>
            <a:off x="4498848" y="4553712"/>
            <a:ext cx="3200400" cy="329184"/>
          </a:xfrm>
          <a:prstGeom prst="rect">
            <a:avLst/>
          </a:prstGeom>
          <a:noFill/>
        </p:spPr>
        <p:txBody>
          <a:bodyPr wrap="square" anchor="t"/>
          <a:lstStyle/>
          <a:p>
            <a:pPr algn="l"/>
            <a:r>
              <a:rPr sz="1500" b="1">
                <a:solidFill>
                  <a:srgbClr val="1A1A1A"/>
                </a:solidFill>
                <a:latin typeface="Calibri"/>
                <a:ea typeface="Calibri"/>
              </a:rPr>
              <a:t>霍尔木兹过境</a:t>
            </a:r>
          </a:p>
        </p:txBody>
      </p:sp>
      <p:sp>
        <p:nvSpPr>
          <p:cNvPr id="21" name="TextBox 20"/>
          <p:cNvSpPr txBox="1"/>
          <p:nvPr/>
        </p:nvSpPr>
        <p:spPr>
          <a:xfrm>
            <a:off x="4498848" y="4919472"/>
            <a:ext cx="3200400" cy="1188720"/>
          </a:xfrm>
          <a:prstGeom prst="rect">
            <a:avLst/>
          </a:prstGeom>
          <a:noFill/>
        </p:spPr>
        <p:txBody>
          <a:bodyPr wrap="square" anchor="t"/>
          <a:lstStyle/>
          <a:p>
            <a:pPr algn="l"/>
            <a:r>
              <a:rPr sz="1300" b="0">
                <a:solidFill>
                  <a:srgbClr val="4A5568"/>
                </a:solidFill>
                <a:latin typeface="Calibri"/>
                <a:ea typeface="Calibri"/>
              </a:rPr>
              <a:t>当日仅约四艘商品船过峡，布伦特处107美元一带。</a:t>
            </a:r>
          </a:p>
        </p:txBody>
      </p:sp>
      <p:sp>
        <p:nvSpPr>
          <p:cNvPr id="22" name="Rectangle 21"/>
          <p:cNvSpPr/>
          <p:nvPr/>
        </p:nvSpPr>
        <p:spPr>
          <a:xfrm>
            <a:off x="8092440" y="3730752"/>
            <a:ext cx="3611880" cy="26060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3608" y="3858768"/>
            <a:ext cx="3200400" cy="658368"/>
          </a:xfrm>
          <a:prstGeom prst="rect">
            <a:avLst/>
          </a:prstGeom>
          <a:noFill/>
        </p:spPr>
        <p:txBody>
          <a:bodyPr wrap="square" anchor="t"/>
          <a:lstStyle/>
          <a:p>
            <a:pPr algn="l"/>
            <a:r>
              <a:rPr sz="3200" b="1">
                <a:solidFill>
                  <a:srgbClr val="C41E3A"/>
                </a:solidFill>
                <a:latin typeface="Cambria"/>
                <a:ea typeface="Cambria"/>
              </a:rPr>
              <a:t>200</a:t>
            </a:r>
          </a:p>
        </p:txBody>
      </p:sp>
      <p:sp>
        <p:nvSpPr>
          <p:cNvPr id="24" name="TextBox 23"/>
          <p:cNvSpPr txBox="1"/>
          <p:nvPr/>
        </p:nvSpPr>
        <p:spPr>
          <a:xfrm>
            <a:off x="8293608" y="4553712"/>
            <a:ext cx="3200400" cy="329184"/>
          </a:xfrm>
          <a:prstGeom prst="rect">
            <a:avLst/>
          </a:prstGeom>
          <a:noFill/>
        </p:spPr>
        <p:txBody>
          <a:bodyPr wrap="square" anchor="t"/>
          <a:lstStyle/>
          <a:p>
            <a:pPr algn="l"/>
            <a:r>
              <a:rPr sz="1500" b="1">
                <a:solidFill>
                  <a:srgbClr val="1A1A1A"/>
                </a:solidFill>
                <a:latin typeface="Calibri"/>
                <a:ea typeface="Calibri"/>
              </a:rPr>
              <a:t>架无人机</a:t>
            </a:r>
          </a:p>
        </p:txBody>
      </p:sp>
      <p:sp>
        <p:nvSpPr>
          <p:cNvPr id="25" name="TextBox 24"/>
          <p:cNvSpPr txBox="1"/>
          <p:nvPr/>
        </p:nvSpPr>
        <p:spPr>
          <a:xfrm>
            <a:off x="8293608" y="4919472"/>
            <a:ext cx="3200400" cy="1188720"/>
          </a:xfrm>
          <a:prstGeom prst="rect">
            <a:avLst/>
          </a:prstGeom>
          <a:noFill/>
        </p:spPr>
        <p:txBody>
          <a:bodyPr wrap="square" anchor="t"/>
          <a:lstStyle/>
          <a:p>
            <a:pPr algn="l"/>
            <a:r>
              <a:rPr sz="1300" b="0">
                <a:solidFill>
                  <a:srgbClr val="4A5568"/>
                </a:solidFill>
                <a:latin typeface="Calibri"/>
                <a:ea typeface="Calibri"/>
              </a:rPr>
              <a:t>口头停火后，俄方当夜再袭乌克兰能源与港口。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92608"/>
          </a:xfrm>
          <a:prstGeom prst="rect">
            <a:avLst/>
          </a:prstGeom>
          <a:noFill/>
        </p:spPr>
        <p:txBody>
          <a:bodyPr wrap="square" anchor="t"/>
          <a:lstStyle/>
          <a:p>
            <a:pPr algn="l"/>
            <a:r>
              <a:rPr sz="1400" b="1">
                <a:solidFill>
                  <a:srgbClr val="1A1A1A"/>
                </a:solidFill>
                <a:latin typeface="Cambria"/>
                <a:ea typeface="Cambria"/>
              </a:rPr>
              <a:t>每日时政科技简报</a:t>
            </a:r>
          </a:p>
        </p:txBody>
      </p:sp>
      <p:sp>
        <p:nvSpPr>
          <p:cNvPr id="4" name="TextBox 3"/>
          <p:cNvSpPr txBox="1"/>
          <p:nvPr/>
        </p:nvSpPr>
        <p:spPr>
          <a:xfrm>
            <a:off x="4297680" y="274320"/>
            <a:ext cx="5120640" cy="274320"/>
          </a:xfrm>
          <a:prstGeom prst="rect">
            <a:avLst/>
          </a:prstGeom>
          <a:noFill/>
        </p:spPr>
        <p:txBody>
          <a:bodyPr wrap="square" anchor="t"/>
          <a:lstStyle/>
          <a:p>
            <a:pPr algn="ctr"/>
            <a:r>
              <a:rPr sz="1100" b="0">
                <a:solidFill>
                  <a:srgbClr val="4A5568"/>
                </a:solidFill>
                <a:latin typeface="Calibri"/>
                <a:ea typeface="Calibri"/>
              </a:rPr>
              <a:t>第258期  ·  2026年9月15日  ·  星期二</a:t>
            </a:r>
          </a:p>
        </p:txBody>
      </p:sp>
      <p:sp>
        <p:nvSpPr>
          <p:cNvPr id="5" name="TextBox 4"/>
          <p:cNvSpPr txBox="1"/>
          <p:nvPr/>
        </p:nvSpPr>
        <p:spPr>
          <a:xfrm>
            <a:off x="9692640" y="274320"/>
            <a:ext cx="1965960" cy="274320"/>
          </a:xfrm>
          <a:prstGeom prst="rect">
            <a:avLst/>
          </a:prstGeom>
          <a:noFill/>
        </p:spPr>
        <p:txBody>
          <a:bodyPr wrap="square" anchor="t"/>
          <a:lstStyle/>
          <a:p>
            <a:pPr algn="r"/>
            <a:r>
              <a:rPr sz="1200" b="1">
                <a:solidFill>
                  <a:srgbClr val="C41E3A"/>
                </a:solidFill>
                <a:latin typeface="Calibri"/>
                <a:ea typeface="Calibri"/>
              </a:rPr>
              <a:t>晨刊</a:t>
            </a:r>
          </a:p>
        </p:txBody>
      </p:sp>
      <p:sp>
        <p:nvSpPr>
          <p:cNvPr id="6" name="Rectangle 5"/>
          <p:cNvSpPr/>
          <p:nvPr/>
        </p:nvSpPr>
        <p:spPr>
          <a:xfrm>
            <a:off x="502920" y="566928"/>
            <a:ext cx="1118311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21792"/>
            <a:ext cx="1118311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04672"/>
            <a:ext cx="11155680" cy="502920"/>
          </a:xfrm>
          <a:prstGeom prst="rect">
            <a:avLst/>
          </a:prstGeom>
          <a:noFill/>
        </p:spPr>
        <p:txBody>
          <a:bodyPr wrap="square" anchor="t"/>
          <a:lstStyle/>
          <a:p>
            <a:pPr algn="l"/>
            <a:r>
              <a:rPr sz="3600" b="1">
                <a:solidFill>
                  <a:srgbClr val="1A1A1A"/>
                </a:solidFill>
                <a:latin typeface="Cambria"/>
                <a:ea typeface="Cambria"/>
              </a:rPr>
              <a:t>记者会与北京日程</a:t>
            </a:r>
          </a:p>
        </p:txBody>
      </p:sp>
      <p:sp>
        <p:nvSpPr>
          <p:cNvPr id="9" name="TextBox 8"/>
          <p:cNvSpPr txBox="1"/>
          <p:nvPr/>
        </p:nvSpPr>
        <p:spPr>
          <a:xfrm>
            <a:off x="502920" y="1335024"/>
            <a:ext cx="11155680" cy="292608"/>
          </a:xfrm>
          <a:prstGeom prst="rect">
            <a:avLst/>
          </a:prstGeom>
          <a:noFill/>
        </p:spPr>
        <p:txBody>
          <a:bodyPr wrap="square" anchor="t"/>
          <a:lstStyle/>
          <a:p>
            <a:pPr algn="l"/>
            <a:r>
              <a:rPr sz="1400" b="0">
                <a:solidFill>
                  <a:srgbClr val="4A5568"/>
                </a:solidFill>
                <a:latin typeface="Calibri"/>
                <a:ea typeface="Calibri"/>
              </a:rPr>
              <a:t>一条预告南美顾问；一条把海湾停火的下一站写到北京。</a:t>
            </a:r>
          </a:p>
        </p:txBody>
      </p:sp>
      <p:sp>
        <p:nvSpPr>
          <p:cNvPr id="10" name="Rectangle 9"/>
          <p:cNvSpPr/>
          <p:nvPr/>
        </p:nvSpPr>
        <p:spPr>
          <a:xfrm>
            <a:off x="502920" y="1700784"/>
            <a:ext cx="5623560" cy="46634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810512"/>
            <a:ext cx="5294376" cy="237744"/>
          </a:xfrm>
          <a:prstGeom prst="rect">
            <a:avLst/>
          </a:prstGeom>
          <a:noFill/>
        </p:spPr>
        <p:txBody>
          <a:bodyPr wrap="square" anchor="t"/>
          <a:lstStyle/>
          <a:p>
            <a:pPr algn="l"/>
            <a:r>
              <a:rPr sz="1100" b="1">
                <a:solidFill>
                  <a:srgbClr val="C41E3A"/>
                </a:solidFill>
                <a:latin typeface="Calibri"/>
                <a:ea typeface="Calibri"/>
              </a:rPr>
              <a:t>01　外交 · 北京</a:t>
            </a:r>
          </a:p>
        </p:txBody>
      </p:sp>
      <p:sp>
        <p:nvSpPr>
          <p:cNvPr id="12" name="TextBox 11"/>
          <p:cNvSpPr txBox="1"/>
          <p:nvPr/>
        </p:nvSpPr>
        <p:spPr>
          <a:xfrm>
            <a:off x="667512" y="2048256"/>
            <a:ext cx="5294376" cy="713232"/>
          </a:xfrm>
          <a:prstGeom prst="rect">
            <a:avLst/>
          </a:prstGeom>
          <a:noFill/>
        </p:spPr>
        <p:txBody>
          <a:bodyPr wrap="square" anchor="t"/>
          <a:lstStyle/>
          <a:p>
            <a:pPr algn="l"/>
            <a:r>
              <a:rPr sz="1600" b="1">
                <a:solidFill>
                  <a:srgbClr val="1A1A1A"/>
                </a:solidFill>
                <a:latin typeface="Cambria"/>
                <a:ea typeface="Cambria"/>
              </a:rPr>
              <a:t>郭嘉昆通报阿莫林访华，驳菲南海主张并评美外空部署</a:t>
            </a:r>
          </a:p>
        </p:txBody>
      </p:sp>
      <p:sp>
        <p:nvSpPr>
          <p:cNvPr id="13" name="TextBox 12"/>
          <p:cNvSpPr txBox="1"/>
          <p:nvPr/>
        </p:nvSpPr>
        <p:spPr>
          <a:xfrm>
            <a:off x="667512" y="2743199"/>
            <a:ext cx="5294376" cy="256032"/>
          </a:xfrm>
          <a:prstGeom prst="rect">
            <a:avLst/>
          </a:prstGeom>
          <a:noFill/>
        </p:spPr>
        <p:txBody>
          <a:bodyPr wrap="square" anchor="t"/>
          <a:lstStyle/>
          <a:p>
            <a:pPr algn="l"/>
            <a:r>
              <a:rPr sz="1100" b="0">
                <a:solidFill>
                  <a:srgbClr val="4A5568"/>
                </a:solidFill>
                <a:latin typeface="Calibri"/>
                <a:ea typeface="Calibri"/>
              </a:rPr>
              <a:t>来源：外交部　·　mfa.gov.cn</a:t>
            </a:r>
          </a:p>
        </p:txBody>
      </p:sp>
      <p:sp>
        <p:nvSpPr>
          <p:cNvPr id="14" name="TextBox 13"/>
          <p:cNvSpPr txBox="1"/>
          <p:nvPr/>
        </p:nvSpPr>
        <p:spPr>
          <a:xfrm>
            <a:off x="667512" y="2999232"/>
            <a:ext cx="5294376" cy="960120"/>
          </a:xfrm>
          <a:prstGeom prst="rect">
            <a:avLst/>
          </a:prstGeom>
          <a:noFill/>
        </p:spPr>
        <p:txBody>
          <a:bodyPr wrap="square" anchor="t"/>
          <a:lstStyle/>
          <a:p>
            <a:pPr algn="l"/>
            <a:r>
              <a:rPr sz="1300" b="0">
                <a:solidFill>
                  <a:srgbClr val="1A1A1A"/>
                </a:solidFill>
                <a:latin typeface="Calibri"/>
                <a:ea typeface="Calibri"/>
              </a:rPr>
              <a:t>15日例行记者会宣布，巴西总统首席特别顾问阿莫林将于16–17日访华，王毅将会见。郭嘉昆重申美济礁、渚碧礁、中业岛属中国领土，指菲方声明前后不一；并敦促美方停止在外空扩军备战。</a:t>
            </a:r>
          </a:p>
        </p:txBody>
      </p:sp>
      <p:sp>
        <p:nvSpPr>
          <p:cNvPr id="15" name="Rectangle 14"/>
          <p:cNvSpPr/>
          <p:nvPr/>
        </p:nvSpPr>
        <p:spPr>
          <a:xfrm>
            <a:off x="667512" y="5522976"/>
            <a:ext cx="5294376"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5577840"/>
            <a:ext cx="5294376" cy="201168"/>
          </a:xfrm>
          <a:prstGeom prst="rect">
            <a:avLst/>
          </a:prstGeom>
          <a:noFill/>
        </p:spPr>
        <p:txBody>
          <a:bodyPr wrap="square" anchor="t"/>
          <a:lstStyle/>
          <a:p>
            <a:pPr algn="l"/>
            <a:r>
              <a:rPr sz="1100" b="1">
                <a:solidFill>
                  <a:srgbClr val="C41E3A"/>
                </a:solidFill>
                <a:latin typeface="Calibri"/>
                <a:ea typeface="Calibri"/>
              </a:rPr>
              <a:t>为何重要</a:t>
            </a:r>
          </a:p>
        </p:txBody>
      </p:sp>
      <p:sp>
        <p:nvSpPr>
          <p:cNvPr id="17" name="TextBox 16"/>
          <p:cNvSpPr txBox="1"/>
          <p:nvPr/>
        </p:nvSpPr>
        <p:spPr>
          <a:xfrm>
            <a:off x="667512" y="5779008"/>
            <a:ext cx="5294376" cy="475488"/>
          </a:xfrm>
          <a:prstGeom prst="rect">
            <a:avLst/>
          </a:prstGeom>
          <a:noFill/>
        </p:spPr>
        <p:txBody>
          <a:bodyPr wrap="square" anchor="t"/>
          <a:lstStyle/>
          <a:p>
            <a:pPr algn="l"/>
            <a:r>
              <a:rPr sz="1200" b="0">
                <a:solidFill>
                  <a:srgbClr val="4A5568"/>
                </a:solidFill>
                <a:latin typeface="Calibri"/>
                <a:ea typeface="Calibri"/>
              </a:rPr>
              <a:t>金砖主席国交接前夕密集安排南美高层接触，同时划出南海与外空两条红线。</a:t>
            </a:r>
          </a:p>
        </p:txBody>
      </p:sp>
      <p:sp>
        <p:nvSpPr>
          <p:cNvPr id="18" name="Rectangle 17"/>
          <p:cNvSpPr/>
          <p:nvPr/>
        </p:nvSpPr>
        <p:spPr>
          <a:xfrm>
            <a:off x="6309359" y="1700784"/>
            <a:ext cx="5623560" cy="46634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1" y="1810512"/>
            <a:ext cx="5294376" cy="237744"/>
          </a:xfrm>
          <a:prstGeom prst="rect">
            <a:avLst/>
          </a:prstGeom>
          <a:noFill/>
        </p:spPr>
        <p:txBody>
          <a:bodyPr wrap="square" anchor="t"/>
          <a:lstStyle/>
          <a:p>
            <a:pPr algn="l"/>
            <a:r>
              <a:rPr sz="1100" b="1">
                <a:solidFill>
                  <a:srgbClr val="C41E3A"/>
                </a:solidFill>
                <a:latin typeface="Calibri"/>
                <a:ea typeface="Calibri"/>
              </a:rPr>
              <a:t>02　海湾 · 北京 / 德黑兰</a:t>
            </a:r>
          </a:p>
        </p:txBody>
      </p:sp>
      <p:sp>
        <p:nvSpPr>
          <p:cNvPr id="20" name="TextBox 19"/>
          <p:cNvSpPr txBox="1"/>
          <p:nvPr/>
        </p:nvSpPr>
        <p:spPr>
          <a:xfrm>
            <a:off x="6473951" y="2048256"/>
            <a:ext cx="5294376" cy="713232"/>
          </a:xfrm>
          <a:prstGeom prst="rect">
            <a:avLst/>
          </a:prstGeom>
          <a:noFill/>
        </p:spPr>
        <p:txBody>
          <a:bodyPr wrap="square" anchor="t"/>
          <a:lstStyle/>
          <a:p>
            <a:pPr algn="l"/>
            <a:r>
              <a:rPr sz="1600" b="1">
                <a:solidFill>
                  <a:srgbClr val="1A1A1A"/>
                </a:solidFill>
                <a:latin typeface="Cambria"/>
                <a:ea typeface="Cambria"/>
              </a:rPr>
              <a:t>特朗普称伊方急于达成协议，阿拉格齐赴北京见王毅</a:t>
            </a:r>
          </a:p>
        </p:txBody>
      </p:sp>
      <p:sp>
        <p:nvSpPr>
          <p:cNvPr id="21" name="TextBox 20"/>
          <p:cNvSpPr txBox="1"/>
          <p:nvPr/>
        </p:nvSpPr>
        <p:spPr>
          <a:xfrm>
            <a:off x="6473951" y="2743199"/>
            <a:ext cx="5294376" cy="256032"/>
          </a:xfrm>
          <a:prstGeom prst="rect">
            <a:avLst/>
          </a:prstGeom>
          <a:noFill/>
        </p:spPr>
        <p:txBody>
          <a:bodyPr wrap="square" anchor="t"/>
          <a:lstStyle/>
          <a:p>
            <a:pPr algn="l"/>
            <a:r>
              <a:rPr sz="1100" b="0">
                <a:solidFill>
                  <a:srgbClr val="4A5568"/>
                </a:solidFill>
                <a:latin typeface="Calibri"/>
                <a:ea typeface="Calibri"/>
              </a:rPr>
              <a:t>来源：The National / 路透 / 南华早报</a:t>
            </a:r>
          </a:p>
        </p:txBody>
      </p:sp>
      <p:sp>
        <p:nvSpPr>
          <p:cNvPr id="22" name="TextBox 21"/>
          <p:cNvSpPr txBox="1"/>
          <p:nvPr/>
        </p:nvSpPr>
        <p:spPr>
          <a:xfrm>
            <a:off x="6473951" y="2999232"/>
            <a:ext cx="5294376" cy="960120"/>
          </a:xfrm>
          <a:prstGeom prst="rect">
            <a:avLst/>
          </a:prstGeom>
          <a:noFill/>
        </p:spPr>
        <p:txBody>
          <a:bodyPr wrap="square" anchor="t"/>
          <a:lstStyle/>
          <a:p>
            <a:pPr algn="l"/>
            <a:r>
              <a:rPr sz="1300" b="0">
                <a:solidFill>
                  <a:srgbClr val="1A1A1A"/>
                </a:solidFill>
                <a:latin typeface="Calibri"/>
                <a:ea typeface="Calibri"/>
              </a:rPr>
              <a:t>特朗普15日称伊朗「急于且急切」达成协议，伊方拒绝在美方停止军事行动、解除制裁前开谈。伊外长阿拉格齐将于16日在北京会见王毅。霍尔木兹通行仍严重受阻。</a:t>
            </a:r>
          </a:p>
        </p:txBody>
      </p:sp>
      <p:sp>
        <p:nvSpPr>
          <p:cNvPr id="23" name="Rectangle 22"/>
          <p:cNvSpPr/>
          <p:nvPr/>
        </p:nvSpPr>
        <p:spPr>
          <a:xfrm>
            <a:off x="6473951" y="5522976"/>
            <a:ext cx="5294376"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3951" y="5577840"/>
            <a:ext cx="5294376" cy="201168"/>
          </a:xfrm>
          <a:prstGeom prst="rect">
            <a:avLst/>
          </a:prstGeom>
          <a:noFill/>
        </p:spPr>
        <p:txBody>
          <a:bodyPr wrap="square" anchor="t"/>
          <a:lstStyle/>
          <a:p>
            <a:pPr algn="l"/>
            <a:r>
              <a:rPr sz="1100" b="1">
                <a:solidFill>
                  <a:srgbClr val="C41E3A"/>
                </a:solidFill>
                <a:latin typeface="Calibri"/>
                <a:ea typeface="Calibri"/>
              </a:rPr>
              <a:t>为何重要</a:t>
            </a:r>
          </a:p>
        </p:txBody>
      </p:sp>
      <p:sp>
        <p:nvSpPr>
          <p:cNvPr id="25" name="TextBox 24"/>
          <p:cNvSpPr txBox="1"/>
          <p:nvPr/>
        </p:nvSpPr>
        <p:spPr>
          <a:xfrm>
            <a:off x="6473951" y="5779008"/>
            <a:ext cx="5294376" cy="475488"/>
          </a:xfrm>
          <a:prstGeom prst="rect">
            <a:avLst/>
          </a:prstGeom>
          <a:noFill/>
        </p:spPr>
        <p:txBody>
          <a:bodyPr wrap="square" anchor="t"/>
          <a:lstStyle/>
          <a:p>
            <a:pPr algn="l"/>
            <a:r>
              <a:rPr sz="1200" b="0">
                <a:solidFill>
                  <a:srgbClr val="4A5568"/>
                </a:solidFill>
                <a:latin typeface="Calibri"/>
                <a:ea typeface="Calibri"/>
              </a:rPr>
              <a:t>中美元首会晤前，北京成为海湾停火与能源通道的关键外交场。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92608"/>
          </a:xfrm>
          <a:prstGeom prst="rect">
            <a:avLst/>
          </a:prstGeom>
          <a:noFill/>
        </p:spPr>
        <p:txBody>
          <a:bodyPr wrap="square" anchor="t"/>
          <a:lstStyle/>
          <a:p>
            <a:pPr algn="l"/>
            <a:r>
              <a:rPr sz="1400" b="1">
                <a:solidFill>
                  <a:srgbClr val="1A1A1A"/>
                </a:solidFill>
                <a:latin typeface="Cambria"/>
                <a:ea typeface="Cambria"/>
              </a:rPr>
              <a:t>每日时政科技简报</a:t>
            </a:r>
          </a:p>
        </p:txBody>
      </p:sp>
      <p:sp>
        <p:nvSpPr>
          <p:cNvPr id="4" name="TextBox 3"/>
          <p:cNvSpPr txBox="1"/>
          <p:nvPr/>
        </p:nvSpPr>
        <p:spPr>
          <a:xfrm>
            <a:off x="4297680" y="274320"/>
            <a:ext cx="5120640" cy="274320"/>
          </a:xfrm>
          <a:prstGeom prst="rect">
            <a:avLst/>
          </a:prstGeom>
          <a:noFill/>
        </p:spPr>
        <p:txBody>
          <a:bodyPr wrap="square" anchor="t"/>
          <a:lstStyle/>
          <a:p>
            <a:pPr algn="ctr"/>
            <a:r>
              <a:rPr sz="1100" b="0">
                <a:solidFill>
                  <a:srgbClr val="4A5568"/>
                </a:solidFill>
                <a:latin typeface="Calibri"/>
                <a:ea typeface="Calibri"/>
              </a:rPr>
              <a:t>第258期  ·  2026年9月15日  ·  星期二</a:t>
            </a:r>
          </a:p>
        </p:txBody>
      </p:sp>
      <p:sp>
        <p:nvSpPr>
          <p:cNvPr id="5" name="TextBox 4"/>
          <p:cNvSpPr txBox="1"/>
          <p:nvPr/>
        </p:nvSpPr>
        <p:spPr>
          <a:xfrm>
            <a:off x="9692640" y="274320"/>
            <a:ext cx="1965960" cy="274320"/>
          </a:xfrm>
          <a:prstGeom prst="rect">
            <a:avLst/>
          </a:prstGeom>
          <a:noFill/>
        </p:spPr>
        <p:txBody>
          <a:bodyPr wrap="square" anchor="t"/>
          <a:lstStyle/>
          <a:p>
            <a:pPr algn="r"/>
            <a:r>
              <a:rPr sz="1200" b="1">
                <a:solidFill>
                  <a:srgbClr val="C41E3A"/>
                </a:solidFill>
                <a:latin typeface="Calibri"/>
                <a:ea typeface="Calibri"/>
              </a:rPr>
              <a:t>晨刊</a:t>
            </a:r>
          </a:p>
        </p:txBody>
      </p:sp>
      <p:sp>
        <p:nvSpPr>
          <p:cNvPr id="6" name="Rectangle 5"/>
          <p:cNvSpPr/>
          <p:nvPr/>
        </p:nvSpPr>
        <p:spPr>
          <a:xfrm>
            <a:off x="502920" y="566928"/>
            <a:ext cx="1118311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21792"/>
            <a:ext cx="1118311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04672"/>
            <a:ext cx="11155680" cy="502920"/>
          </a:xfrm>
          <a:prstGeom prst="rect">
            <a:avLst/>
          </a:prstGeom>
          <a:noFill/>
        </p:spPr>
        <p:txBody>
          <a:bodyPr wrap="square" anchor="t"/>
          <a:lstStyle/>
          <a:p>
            <a:pPr algn="l"/>
            <a:r>
              <a:rPr sz="3600" b="1">
                <a:solidFill>
                  <a:srgbClr val="1A1A1A"/>
                </a:solidFill>
                <a:latin typeface="Cambria"/>
                <a:ea typeface="Cambria"/>
              </a:rPr>
              <a:t>口头停火与未落地的夜</a:t>
            </a:r>
          </a:p>
        </p:txBody>
      </p:sp>
      <p:sp>
        <p:nvSpPr>
          <p:cNvPr id="9" name="TextBox 8"/>
          <p:cNvSpPr txBox="1"/>
          <p:nvPr/>
        </p:nvSpPr>
        <p:spPr>
          <a:xfrm>
            <a:off x="502920" y="1335024"/>
            <a:ext cx="11155680" cy="292608"/>
          </a:xfrm>
          <a:prstGeom prst="rect">
            <a:avLst/>
          </a:prstGeom>
          <a:noFill/>
        </p:spPr>
        <p:txBody>
          <a:bodyPr wrap="square" anchor="t"/>
          <a:lstStyle/>
          <a:p>
            <a:pPr algn="l"/>
            <a:r>
              <a:rPr sz="1400" b="0">
                <a:solidFill>
                  <a:srgbClr val="4A5568"/>
                </a:solidFill>
                <a:latin typeface="Calibri"/>
                <a:ea typeface="Calibri"/>
              </a:rPr>
              <a:t>沪时零点过后三分钟，协议被写出；同一夜，加油站再被打中。</a:t>
            </a:r>
          </a:p>
        </p:txBody>
      </p:sp>
      <p:sp>
        <p:nvSpPr>
          <p:cNvPr id="10" name="Rectangle 9"/>
          <p:cNvSpPr/>
          <p:nvPr/>
        </p:nvSpPr>
        <p:spPr>
          <a:xfrm>
            <a:off x="502920" y="1700784"/>
            <a:ext cx="5623560" cy="46634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810512"/>
            <a:ext cx="5294376" cy="237744"/>
          </a:xfrm>
          <a:prstGeom prst="rect">
            <a:avLst/>
          </a:prstGeom>
          <a:noFill/>
        </p:spPr>
        <p:txBody>
          <a:bodyPr wrap="square" anchor="t"/>
          <a:lstStyle/>
          <a:p>
            <a:pPr algn="l"/>
            <a:r>
              <a:rPr sz="1100" b="1">
                <a:solidFill>
                  <a:srgbClr val="C41E3A"/>
                </a:solidFill>
                <a:latin typeface="Calibri"/>
                <a:ea typeface="Calibri"/>
              </a:rPr>
              <a:t>03　安全 · 基辅 / 华盛顿</a:t>
            </a:r>
          </a:p>
        </p:txBody>
      </p:sp>
      <p:sp>
        <p:nvSpPr>
          <p:cNvPr id="12" name="TextBox 11"/>
          <p:cNvSpPr txBox="1"/>
          <p:nvPr/>
        </p:nvSpPr>
        <p:spPr>
          <a:xfrm>
            <a:off x="667512" y="2048256"/>
            <a:ext cx="5294376" cy="713232"/>
          </a:xfrm>
          <a:prstGeom prst="rect">
            <a:avLst/>
          </a:prstGeom>
          <a:noFill/>
        </p:spPr>
        <p:txBody>
          <a:bodyPr wrap="square" anchor="t"/>
          <a:lstStyle/>
          <a:p>
            <a:pPr algn="l"/>
            <a:r>
              <a:rPr sz="1600" b="1">
                <a:solidFill>
                  <a:srgbClr val="1A1A1A"/>
                </a:solidFill>
                <a:latin typeface="Cambria"/>
                <a:ea typeface="Cambria"/>
              </a:rPr>
              <a:t>特朗普宣布乌俄能源互不打击，双方当夜仍互袭</a:t>
            </a:r>
          </a:p>
        </p:txBody>
      </p:sp>
      <p:sp>
        <p:nvSpPr>
          <p:cNvPr id="13" name="TextBox 12"/>
          <p:cNvSpPr txBox="1"/>
          <p:nvPr/>
        </p:nvSpPr>
        <p:spPr>
          <a:xfrm>
            <a:off x="667512" y="2743199"/>
            <a:ext cx="5294376" cy="256032"/>
          </a:xfrm>
          <a:prstGeom prst="rect">
            <a:avLst/>
          </a:prstGeom>
          <a:noFill/>
        </p:spPr>
        <p:txBody>
          <a:bodyPr wrap="square" anchor="t"/>
          <a:lstStyle/>
          <a:p>
            <a:pPr algn="l"/>
            <a:r>
              <a:rPr sz="1100" b="0">
                <a:solidFill>
                  <a:srgbClr val="4A5568"/>
                </a:solidFill>
                <a:latin typeface="Calibri"/>
                <a:ea typeface="Calibri"/>
              </a:rPr>
              <a:t>来源：卫报 / NBC / WSJ</a:t>
            </a:r>
          </a:p>
        </p:txBody>
      </p:sp>
      <p:sp>
        <p:nvSpPr>
          <p:cNvPr id="14" name="TextBox 13"/>
          <p:cNvSpPr txBox="1"/>
          <p:nvPr/>
        </p:nvSpPr>
        <p:spPr>
          <a:xfrm>
            <a:off x="667512" y="2999232"/>
            <a:ext cx="5294376" cy="960120"/>
          </a:xfrm>
          <a:prstGeom prst="rect">
            <a:avLst/>
          </a:prstGeom>
          <a:noFill/>
        </p:spPr>
        <p:txBody>
          <a:bodyPr wrap="square" anchor="t"/>
          <a:lstStyle/>
          <a:p>
            <a:pPr algn="l"/>
            <a:r>
              <a:rPr sz="1300" b="0">
                <a:solidFill>
                  <a:srgbClr val="1A1A1A"/>
                </a:solidFill>
                <a:latin typeface="Calibri"/>
                <a:ea typeface="Calibri"/>
              </a:rPr>
              <a:t>特朗普于14日16:03 UTC（沪时15日0:03）称双方已同意停止互打能源设施。泽连斯基要求俄方先停且美方担保；克宫称其为「好倡议」。当夜俄方约200架无人机袭乌。</a:t>
            </a:r>
          </a:p>
        </p:txBody>
      </p:sp>
      <p:sp>
        <p:nvSpPr>
          <p:cNvPr id="15" name="Rectangle 14"/>
          <p:cNvSpPr/>
          <p:nvPr/>
        </p:nvSpPr>
        <p:spPr>
          <a:xfrm>
            <a:off x="667512" y="5522976"/>
            <a:ext cx="5294376"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5577840"/>
            <a:ext cx="5294376" cy="201168"/>
          </a:xfrm>
          <a:prstGeom prst="rect">
            <a:avLst/>
          </a:prstGeom>
          <a:noFill/>
        </p:spPr>
        <p:txBody>
          <a:bodyPr wrap="square" anchor="t"/>
          <a:lstStyle/>
          <a:p>
            <a:pPr algn="l"/>
            <a:r>
              <a:rPr sz="1100" b="1">
                <a:solidFill>
                  <a:srgbClr val="C41E3A"/>
                </a:solidFill>
                <a:latin typeface="Calibri"/>
                <a:ea typeface="Calibri"/>
              </a:rPr>
              <a:t>为何重要</a:t>
            </a:r>
          </a:p>
        </p:txBody>
      </p:sp>
      <p:sp>
        <p:nvSpPr>
          <p:cNvPr id="17" name="TextBox 16"/>
          <p:cNvSpPr txBox="1"/>
          <p:nvPr/>
        </p:nvSpPr>
        <p:spPr>
          <a:xfrm>
            <a:off x="667512" y="5779008"/>
            <a:ext cx="5294376" cy="475488"/>
          </a:xfrm>
          <a:prstGeom prst="rect">
            <a:avLst/>
          </a:prstGeom>
          <a:noFill/>
        </p:spPr>
        <p:txBody>
          <a:bodyPr wrap="square" anchor="t"/>
          <a:lstStyle/>
          <a:p>
            <a:pPr algn="l"/>
            <a:r>
              <a:rPr sz="1200" b="0">
                <a:solidFill>
                  <a:srgbClr val="4A5568"/>
                </a:solidFill>
                <a:latin typeface="Calibri"/>
                <a:ea typeface="Calibri"/>
              </a:rPr>
              <a:t>全球柴油短缺背景下，「口头停火」未能落地，能源战仍是油价主驱动。</a:t>
            </a:r>
          </a:p>
        </p:txBody>
      </p:sp>
      <p:sp>
        <p:nvSpPr>
          <p:cNvPr id="18" name="Rectangle 17"/>
          <p:cNvSpPr/>
          <p:nvPr/>
        </p:nvSpPr>
        <p:spPr>
          <a:xfrm>
            <a:off x="6309359" y="1700784"/>
            <a:ext cx="5623560" cy="46634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1" y="1810512"/>
            <a:ext cx="5294376" cy="237744"/>
          </a:xfrm>
          <a:prstGeom prst="rect">
            <a:avLst/>
          </a:prstGeom>
          <a:noFill/>
        </p:spPr>
        <p:txBody>
          <a:bodyPr wrap="square" anchor="t"/>
          <a:lstStyle/>
          <a:p>
            <a:pPr algn="l"/>
            <a:r>
              <a:rPr sz="1100" b="1">
                <a:solidFill>
                  <a:srgbClr val="C41E3A"/>
                </a:solidFill>
                <a:latin typeface="Calibri"/>
                <a:ea typeface="Calibri"/>
              </a:rPr>
              <a:t>04　外交 · 新德里纪实</a:t>
            </a:r>
          </a:p>
        </p:txBody>
      </p:sp>
      <p:sp>
        <p:nvSpPr>
          <p:cNvPr id="20" name="TextBox 19"/>
          <p:cNvSpPr txBox="1"/>
          <p:nvPr/>
        </p:nvSpPr>
        <p:spPr>
          <a:xfrm>
            <a:off x="6473951" y="2048256"/>
            <a:ext cx="5294376" cy="713232"/>
          </a:xfrm>
          <a:prstGeom prst="rect">
            <a:avLst/>
          </a:prstGeom>
          <a:noFill/>
        </p:spPr>
        <p:txBody>
          <a:bodyPr wrap="square" anchor="t"/>
          <a:lstStyle/>
          <a:p>
            <a:pPr algn="l"/>
            <a:r>
              <a:rPr sz="1600" b="1">
                <a:solidFill>
                  <a:srgbClr val="1A1A1A"/>
                </a:solidFill>
                <a:latin typeface="Cambria"/>
                <a:ea typeface="Cambria"/>
              </a:rPr>
              <a:t>新华社刊发金砖新德里会晤纪实</a:t>
            </a:r>
          </a:p>
        </p:txBody>
      </p:sp>
      <p:sp>
        <p:nvSpPr>
          <p:cNvPr id="21" name="TextBox 20"/>
          <p:cNvSpPr txBox="1"/>
          <p:nvPr/>
        </p:nvSpPr>
        <p:spPr>
          <a:xfrm>
            <a:off x="6473951" y="2743199"/>
            <a:ext cx="5294376" cy="256032"/>
          </a:xfrm>
          <a:prstGeom prst="rect">
            <a:avLst/>
          </a:prstGeom>
          <a:noFill/>
        </p:spPr>
        <p:txBody>
          <a:bodyPr wrap="square" anchor="t"/>
          <a:lstStyle/>
          <a:p>
            <a:pPr algn="l"/>
            <a:r>
              <a:rPr sz="1100" b="0">
                <a:solidFill>
                  <a:srgbClr val="4A5568"/>
                </a:solidFill>
                <a:latin typeface="Calibri"/>
                <a:ea typeface="Calibri"/>
              </a:rPr>
              <a:t>来源：新华社　·　news.cn</a:t>
            </a:r>
          </a:p>
        </p:txBody>
      </p:sp>
      <p:sp>
        <p:nvSpPr>
          <p:cNvPr id="22" name="TextBox 21"/>
          <p:cNvSpPr txBox="1"/>
          <p:nvPr/>
        </p:nvSpPr>
        <p:spPr>
          <a:xfrm>
            <a:off x="6473951" y="2999232"/>
            <a:ext cx="5294376" cy="960120"/>
          </a:xfrm>
          <a:prstGeom prst="rect">
            <a:avLst/>
          </a:prstGeom>
          <a:noFill/>
        </p:spPr>
        <p:txBody>
          <a:bodyPr wrap="square" anchor="t"/>
          <a:lstStyle/>
          <a:p>
            <a:pPr algn="l"/>
            <a:r>
              <a:rPr sz="1300" b="0">
                <a:solidFill>
                  <a:srgbClr val="1A1A1A"/>
                </a:solidFill>
                <a:latin typeface="Calibri"/>
                <a:ea typeface="Calibri"/>
              </a:rPr>
              <a:t>新华社15日1:21刊发长篇纪实，回顾习近平12–13日在新德里出席金砖第十八次会晤、宣布中方明年任主席国，以及与莫迪达成「做伙伴」共识。电头标14日，按沪时首发日入账。</a:t>
            </a:r>
          </a:p>
        </p:txBody>
      </p:sp>
      <p:sp>
        <p:nvSpPr>
          <p:cNvPr id="23" name="Rectangle 22"/>
          <p:cNvSpPr/>
          <p:nvPr/>
        </p:nvSpPr>
        <p:spPr>
          <a:xfrm>
            <a:off x="6473951" y="5522976"/>
            <a:ext cx="5294376"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3951" y="5577840"/>
            <a:ext cx="5294376" cy="201168"/>
          </a:xfrm>
          <a:prstGeom prst="rect">
            <a:avLst/>
          </a:prstGeom>
          <a:noFill/>
        </p:spPr>
        <p:txBody>
          <a:bodyPr wrap="square" anchor="t"/>
          <a:lstStyle/>
          <a:p>
            <a:pPr algn="l"/>
            <a:r>
              <a:rPr sz="1100" b="1">
                <a:solidFill>
                  <a:srgbClr val="C41E3A"/>
                </a:solidFill>
                <a:latin typeface="Calibri"/>
                <a:ea typeface="Calibri"/>
              </a:rPr>
              <a:t>为何重要</a:t>
            </a:r>
          </a:p>
        </p:txBody>
      </p:sp>
      <p:sp>
        <p:nvSpPr>
          <p:cNvPr id="25" name="TextBox 24"/>
          <p:cNvSpPr txBox="1"/>
          <p:nvPr/>
        </p:nvSpPr>
        <p:spPr>
          <a:xfrm>
            <a:off x="6473951" y="5779008"/>
            <a:ext cx="5294376" cy="475488"/>
          </a:xfrm>
          <a:prstGeom prst="rect">
            <a:avLst/>
          </a:prstGeom>
          <a:noFill/>
        </p:spPr>
        <p:txBody>
          <a:bodyPr wrap="square" anchor="t"/>
          <a:lstStyle/>
          <a:p>
            <a:pPr algn="l"/>
            <a:r>
              <a:rPr sz="1200" b="0">
                <a:solidFill>
                  <a:srgbClr val="4A5568"/>
                </a:solidFill>
                <a:latin typeface="Calibri"/>
                <a:ea typeface="Calibri"/>
              </a:rPr>
              <a:t>这是官方对南亚之行的完整叙事定稿，为后续主席国议程定调。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92608"/>
          </a:xfrm>
          <a:prstGeom prst="rect">
            <a:avLst/>
          </a:prstGeom>
          <a:noFill/>
        </p:spPr>
        <p:txBody>
          <a:bodyPr wrap="square" anchor="t"/>
          <a:lstStyle/>
          <a:p>
            <a:pPr algn="l"/>
            <a:r>
              <a:rPr sz="1400" b="1">
                <a:solidFill>
                  <a:srgbClr val="1A1A1A"/>
                </a:solidFill>
                <a:latin typeface="Cambria"/>
                <a:ea typeface="Cambria"/>
              </a:rPr>
              <a:t>每日时政科技简报</a:t>
            </a:r>
          </a:p>
        </p:txBody>
      </p:sp>
      <p:sp>
        <p:nvSpPr>
          <p:cNvPr id="4" name="TextBox 3"/>
          <p:cNvSpPr txBox="1"/>
          <p:nvPr/>
        </p:nvSpPr>
        <p:spPr>
          <a:xfrm>
            <a:off x="4297680" y="274320"/>
            <a:ext cx="5120640" cy="274320"/>
          </a:xfrm>
          <a:prstGeom prst="rect">
            <a:avLst/>
          </a:prstGeom>
          <a:noFill/>
        </p:spPr>
        <p:txBody>
          <a:bodyPr wrap="square" anchor="t"/>
          <a:lstStyle/>
          <a:p>
            <a:pPr algn="ctr"/>
            <a:r>
              <a:rPr sz="1100" b="0">
                <a:solidFill>
                  <a:srgbClr val="4A5568"/>
                </a:solidFill>
                <a:latin typeface="Calibri"/>
                <a:ea typeface="Calibri"/>
              </a:rPr>
              <a:t>第258期  ·  2026年9月15日  ·  星期二</a:t>
            </a:r>
          </a:p>
        </p:txBody>
      </p:sp>
      <p:sp>
        <p:nvSpPr>
          <p:cNvPr id="5" name="TextBox 4"/>
          <p:cNvSpPr txBox="1"/>
          <p:nvPr/>
        </p:nvSpPr>
        <p:spPr>
          <a:xfrm>
            <a:off x="9692640" y="274320"/>
            <a:ext cx="1965960" cy="274320"/>
          </a:xfrm>
          <a:prstGeom prst="rect">
            <a:avLst/>
          </a:prstGeom>
          <a:noFill/>
        </p:spPr>
        <p:txBody>
          <a:bodyPr wrap="square" anchor="t"/>
          <a:lstStyle/>
          <a:p>
            <a:pPr algn="r"/>
            <a:r>
              <a:rPr sz="1200" b="1">
                <a:solidFill>
                  <a:srgbClr val="C41E3A"/>
                </a:solidFill>
                <a:latin typeface="Calibri"/>
                <a:ea typeface="Calibri"/>
              </a:rPr>
              <a:t>晨刊</a:t>
            </a:r>
          </a:p>
        </p:txBody>
      </p:sp>
      <p:sp>
        <p:nvSpPr>
          <p:cNvPr id="6" name="Rectangle 5"/>
          <p:cNvSpPr/>
          <p:nvPr/>
        </p:nvSpPr>
        <p:spPr>
          <a:xfrm>
            <a:off x="502920" y="566928"/>
            <a:ext cx="1118311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21792"/>
            <a:ext cx="1118311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04672"/>
            <a:ext cx="11155680" cy="502920"/>
          </a:xfrm>
          <a:prstGeom prst="rect">
            <a:avLst/>
          </a:prstGeom>
          <a:noFill/>
        </p:spPr>
        <p:txBody>
          <a:bodyPr wrap="square" anchor="t"/>
          <a:lstStyle/>
          <a:p>
            <a:pPr algn="l"/>
            <a:r>
              <a:rPr sz="3600" b="1">
                <a:solidFill>
                  <a:srgbClr val="1A1A1A"/>
                </a:solidFill>
                <a:latin typeface="Cambria"/>
                <a:ea typeface="Cambria"/>
              </a:rPr>
              <a:t>制造总纲与月壤赠礼</a:t>
            </a:r>
          </a:p>
        </p:txBody>
      </p:sp>
      <p:sp>
        <p:nvSpPr>
          <p:cNvPr id="9" name="TextBox 8"/>
          <p:cNvSpPr txBox="1"/>
          <p:nvPr/>
        </p:nvSpPr>
        <p:spPr>
          <a:xfrm>
            <a:off x="502920" y="1335024"/>
            <a:ext cx="11155680" cy="292608"/>
          </a:xfrm>
          <a:prstGeom prst="rect">
            <a:avLst/>
          </a:prstGeom>
          <a:noFill/>
        </p:spPr>
        <p:txBody>
          <a:bodyPr wrap="square" anchor="t"/>
          <a:lstStyle/>
          <a:p>
            <a:pPr algn="l"/>
            <a:r>
              <a:rPr sz="1400" b="0">
                <a:solidFill>
                  <a:srgbClr val="4A5568"/>
                </a:solidFill>
                <a:latin typeface="Calibri"/>
                <a:ea typeface="Calibri"/>
              </a:rPr>
              <a:t>一篇把先进制造写成脊梁；一份月背样品被送进联合国展柜。</a:t>
            </a:r>
          </a:p>
        </p:txBody>
      </p:sp>
      <p:sp>
        <p:nvSpPr>
          <p:cNvPr id="10" name="Rectangle 9"/>
          <p:cNvSpPr/>
          <p:nvPr/>
        </p:nvSpPr>
        <p:spPr>
          <a:xfrm>
            <a:off x="502920" y="1700784"/>
            <a:ext cx="5623560" cy="46634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810512"/>
            <a:ext cx="5294376" cy="237744"/>
          </a:xfrm>
          <a:prstGeom prst="rect">
            <a:avLst/>
          </a:prstGeom>
          <a:noFill/>
        </p:spPr>
        <p:txBody>
          <a:bodyPr wrap="square" anchor="t"/>
          <a:lstStyle/>
          <a:p>
            <a:pPr algn="l"/>
            <a:r>
              <a:rPr sz="1100" b="1">
                <a:solidFill>
                  <a:srgbClr val="C41E3A"/>
                </a:solidFill>
                <a:latin typeface="Calibri"/>
                <a:ea typeface="Calibri"/>
              </a:rPr>
              <a:t>05　产业 · 北京</a:t>
            </a:r>
          </a:p>
        </p:txBody>
      </p:sp>
      <p:sp>
        <p:nvSpPr>
          <p:cNvPr id="12" name="TextBox 11"/>
          <p:cNvSpPr txBox="1"/>
          <p:nvPr/>
        </p:nvSpPr>
        <p:spPr>
          <a:xfrm>
            <a:off x="667512" y="2048256"/>
            <a:ext cx="5294376" cy="713232"/>
          </a:xfrm>
          <a:prstGeom prst="rect">
            <a:avLst/>
          </a:prstGeom>
          <a:noFill/>
        </p:spPr>
        <p:txBody>
          <a:bodyPr wrap="square" anchor="t"/>
          <a:lstStyle/>
          <a:p>
            <a:pPr algn="l"/>
            <a:r>
              <a:rPr sz="1600" b="1">
                <a:solidFill>
                  <a:srgbClr val="1A1A1A"/>
                </a:solidFill>
                <a:latin typeface="Cambria"/>
                <a:ea typeface="Cambria"/>
              </a:rPr>
              <a:t>新华社刊发「扎实推进先进制造业高质量发展」</a:t>
            </a:r>
          </a:p>
        </p:txBody>
      </p:sp>
      <p:sp>
        <p:nvSpPr>
          <p:cNvPr id="13" name="TextBox 12"/>
          <p:cNvSpPr txBox="1"/>
          <p:nvPr/>
        </p:nvSpPr>
        <p:spPr>
          <a:xfrm>
            <a:off x="667512" y="2743199"/>
            <a:ext cx="5294376" cy="256032"/>
          </a:xfrm>
          <a:prstGeom prst="rect">
            <a:avLst/>
          </a:prstGeom>
          <a:noFill/>
        </p:spPr>
        <p:txBody>
          <a:bodyPr wrap="square" anchor="t"/>
          <a:lstStyle/>
          <a:p>
            <a:pPr algn="l"/>
            <a:r>
              <a:rPr sz="1100" b="0">
                <a:solidFill>
                  <a:srgbClr val="4A5568"/>
                </a:solidFill>
                <a:latin typeface="Calibri"/>
                <a:ea typeface="Calibri"/>
              </a:rPr>
              <a:t>来源：新华社　·　news.cn</a:t>
            </a:r>
          </a:p>
        </p:txBody>
      </p:sp>
      <p:sp>
        <p:nvSpPr>
          <p:cNvPr id="14" name="TextBox 13"/>
          <p:cNvSpPr txBox="1"/>
          <p:nvPr/>
        </p:nvSpPr>
        <p:spPr>
          <a:xfrm>
            <a:off x="667512" y="2999232"/>
            <a:ext cx="5294376" cy="960120"/>
          </a:xfrm>
          <a:prstGeom prst="rect">
            <a:avLst/>
          </a:prstGeom>
          <a:noFill/>
        </p:spPr>
        <p:txBody>
          <a:bodyPr wrap="square" anchor="t"/>
          <a:lstStyle/>
          <a:p>
            <a:pPr algn="l"/>
            <a:r>
              <a:rPr sz="1300" b="0">
                <a:solidFill>
                  <a:srgbClr val="1A1A1A"/>
                </a:solidFill>
                <a:latin typeface="Calibri"/>
                <a:ea typeface="Calibri"/>
              </a:rPr>
              <a:t>新华社15日14:50播发综述，重申以先进制造业为骨干建设现代化产业体系，点出制造业增加值占全球近三成、连续16年居首，并强调突破卡脖子技术、保持制造业合理比重。</a:t>
            </a:r>
          </a:p>
        </p:txBody>
      </p:sp>
      <p:sp>
        <p:nvSpPr>
          <p:cNvPr id="15" name="Rectangle 14"/>
          <p:cNvSpPr/>
          <p:nvPr/>
        </p:nvSpPr>
        <p:spPr>
          <a:xfrm>
            <a:off x="667512" y="5522976"/>
            <a:ext cx="5294376"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5577840"/>
            <a:ext cx="5294376" cy="201168"/>
          </a:xfrm>
          <a:prstGeom prst="rect">
            <a:avLst/>
          </a:prstGeom>
          <a:noFill/>
        </p:spPr>
        <p:txBody>
          <a:bodyPr wrap="square" anchor="t"/>
          <a:lstStyle/>
          <a:p>
            <a:pPr algn="l"/>
            <a:r>
              <a:rPr sz="1100" b="1">
                <a:solidFill>
                  <a:srgbClr val="C41E3A"/>
                </a:solidFill>
                <a:latin typeface="Calibri"/>
                <a:ea typeface="Calibri"/>
              </a:rPr>
              <a:t>为何重要</a:t>
            </a:r>
          </a:p>
        </p:txBody>
      </p:sp>
      <p:sp>
        <p:nvSpPr>
          <p:cNvPr id="17" name="TextBox 16"/>
          <p:cNvSpPr txBox="1"/>
          <p:nvPr/>
        </p:nvSpPr>
        <p:spPr>
          <a:xfrm>
            <a:off x="667512" y="5779008"/>
            <a:ext cx="5294376" cy="475488"/>
          </a:xfrm>
          <a:prstGeom prst="rect">
            <a:avLst/>
          </a:prstGeom>
          <a:noFill/>
        </p:spPr>
        <p:txBody>
          <a:bodyPr wrap="square" anchor="t"/>
          <a:lstStyle/>
          <a:p>
            <a:pPr algn="l"/>
            <a:r>
              <a:rPr sz="1200" b="0">
                <a:solidFill>
                  <a:srgbClr val="4A5568"/>
                </a:solidFill>
                <a:latin typeface="Calibri"/>
                <a:ea typeface="Calibri"/>
              </a:rPr>
              <a:t>「十五五」开局年把先进制造写成对内改革与对外竞争的总纲。</a:t>
            </a:r>
          </a:p>
        </p:txBody>
      </p:sp>
      <p:sp>
        <p:nvSpPr>
          <p:cNvPr id="18" name="Rectangle 17"/>
          <p:cNvSpPr/>
          <p:nvPr/>
        </p:nvSpPr>
        <p:spPr>
          <a:xfrm>
            <a:off x="6309359" y="1700784"/>
            <a:ext cx="5623560" cy="46634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1" y="1810512"/>
            <a:ext cx="5294376" cy="237744"/>
          </a:xfrm>
          <a:prstGeom prst="rect">
            <a:avLst/>
          </a:prstGeom>
          <a:noFill/>
        </p:spPr>
        <p:txBody>
          <a:bodyPr wrap="square" anchor="t"/>
          <a:lstStyle/>
          <a:p>
            <a:pPr algn="l"/>
            <a:r>
              <a:rPr sz="1100" b="1">
                <a:solidFill>
                  <a:srgbClr val="C41E3A"/>
                </a:solidFill>
                <a:latin typeface="Calibri"/>
                <a:ea typeface="Calibri"/>
              </a:rPr>
              <a:t>06　外空 · 维也纳</a:t>
            </a:r>
          </a:p>
        </p:txBody>
      </p:sp>
      <p:sp>
        <p:nvSpPr>
          <p:cNvPr id="20" name="TextBox 19"/>
          <p:cNvSpPr txBox="1"/>
          <p:nvPr/>
        </p:nvSpPr>
        <p:spPr>
          <a:xfrm>
            <a:off x="6473951" y="2048256"/>
            <a:ext cx="5294376" cy="713232"/>
          </a:xfrm>
          <a:prstGeom prst="rect">
            <a:avLst/>
          </a:prstGeom>
          <a:noFill/>
        </p:spPr>
        <p:txBody>
          <a:bodyPr wrap="square" anchor="t"/>
          <a:lstStyle/>
          <a:p>
            <a:pPr algn="l"/>
            <a:r>
              <a:rPr sz="1600" b="1">
                <a:solidFill>
                  <a:srgbClr val="1A1A1A"/>
                </a:solidFill>
                <a:latin typeface="Cambria"/>
                <a:ea typeface="Cambria"/>
              </a:rPr>
              <a:t>嫦娥六号月背月壤样品赠送联合国并永久展出</a:t>
            </a:r>
          </a:p>
        </p:txBody>
      </p:sp>
      <p:sp>
        <p:nvSpPr>
          <p:cNvPr id="21" name="TextBox 20"/>
          <p:cNvSpPr txBox="1"/>
          <p:nvPr/>
        </p:nvSpPr>
        <p:spPr>
          <a:xfrm>
            <a:off x="6473951" y="2743199"/>
            <a:ext cx="5294376" cy="256032"/>
          </a:xfrm>
          <a:prstGeom prst="rect">
            <a:avLst/>
          </a:prstGeom>
          <a:noFill/>
        </p:spPr>
        <p:txBody>
          <a:bodyPr wrap="square" anchor="t"/>
          <a:lstStyle/>
          <a:p>
            <a:pPr algn="l"/>
            <a:r>
              <a:rPr sz="1100" b="0">
                <a:solidFill>
                  <a:srgbClr val="4A5568"/>
                </a:solidFill>
                <a:latin typeface="Calibri"/>
                <a:ea typeface="Calibri"/>
              </a:rPr>
              <a:t>来源：新华社 / 科技日报 / 外交部</a:t>
            </a:r>
          </a:p>
        </p:txBody>
      </p:sp>
      <p:sp>
        <p:nvSpPr>
          <p:cNvPr id="22" name="TextBox 21"/>
          <p:cNvSpPr txBox="1"/>
          <p:nvPr/>
        </p:nvSpPr>
        <p:spPr>
          <a:xfrm>
            <a:off x="6473951" y="2999232"/>
            <a:ext cx="5294376" cy="960120"/>
          </a:xfrm>
          <a:prstGeom prst="rect">
            <a:avLst/>
          </a:prstGeom>
          <a:noFill/>
        </p:spPr>
        <p:txBody>
          <a:bodyPr wrap="square" anchor="t"/>
          <a:lstStyle/>
          <a:p>
            <a:pPr algn="l"/>
            <a:r>
              <a:rPr sz="1300" b="0">
                <a:solidFill>
                  <a:srgbClr val="1A1A1A"/>
                </a:solidFill>
                <a:latin typeface="Calibri"/>
                <a:ea typeface="Calibri"/>
              </a:rPr>
              <a:t>维也纳联合国总部14日举行交接仪式，单忠德与联合国官员为人类首批月背月壤揭幕，样品将永久展出。新华社、国家航天局15日通报；郭嘉昆称此举反对外空武器化。</a:t>
            </a:r>
          </a:p>
        </p:txBody>
      </p:sp>
      <p:sp>
        <p:nvSpPr>
          <p:cNvPr id="23" name="Rectangle 22"/>
          <p:cNvSpPr/>
          <p:nvPr/>
        </p:nvSpPr>
        <p:spPr>
          <a:xfrm>
            <a:off x="6473951" y="5522976"/>
            <a:ext cx="5294376"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3951" y="5577840"/>
            <a:ext cx="5294376" cy="201168"/>
          </a:xfrm>
          <a:prstGeom prst="rect">
            <a:avLst/>
          </a:prstGeom>
          <a:noFill/>
        </p:spPr>
        <p:txBody>
          <a:bodyPr wrap="square" anchor="t"/>
          <a:lstStyle/>
          <a:p>
            <a:pPr algn="l"/>
            <a:r>
              <a:rPr sz="1100" b="1">
                <a:solidFill>
                  <a:srgbClr val="C41E3A"/>
                </a:solidFill>
                <a:latin typeface="Calibri"/>
                <a:ea typeface="Calibri"/>
              </a:rPr>
              <a:t>为何重要</a:t>
            </a:r>
          </a:p>
        </p:txBody>
      </p:sp>
      <p:sp>
        <p:nvSpPr>
          <p:cNvPr id="25" name="TextBox 24"/>
          <p:cNvSpPr txBox="1"/>
          <p:nvPr/>
        </p:nvSpPr>
        <p:spPr>
          <a:xfrm>
            <a:off x="6473951" y="5779008"/>
            <a:ext cx="5294376" cy="475488"/>
          </a:xfrm>
          <a:prstGeom prst="rect">
            <a:avLst/>
          </a:prstGeom>
          <a:noFill/>
        </p:spPr>
        <p:txBody>
          <a:bodyPr wrap="square" anchor="t"/>
          <a:lstStyle/>
          <a:p>
            <a:pPr algn="l"/>
            <a:r>
              <a:rPr sz="1200" b="0">
                <a:solidFill>
                  <a:srgbClr val="4A5568"/>
                </a:solidFill>
                <a:latin typeface="Calibri"/>
                <a:ea typeface="Calibri"/>
              </a:rPr>
              <a:t>在美方宣称已部署太空武器的同一新闻日，中方用共享月壤对冲外空军事化叙事。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92608"/>
          </a:xfrm>
          <a:prstGeom prst="rect">
            <a:avLst/>
          </a:prstGeom>
          <a:noFill/>
        </p:spPr>
        <p:txBody>
          <a:bodyPr wrap="square" anchor="t"/>
          <a:lstStyle/>
          <a:p>
            <a:pPr algn="l"/>
            <a:r>
              <a:rPr sz="1400" b="1">
                <a:solidFill>
                  <a:srgbClr val="1A1A1A"/>
                </a:solidFill>
                <a:latin typeface="Cambria"/>
                <a:ea typeface="Cambria"/>
              </a:rPr>
              <a:t>每日时政科技简报</a:t>
            </a:r>
          </a:p>
        </p:txBody>
      </p:sp>
      <p:sp>
        <p:nvSpPr>
          <p:cNvPr id="4" name="TextBox 3"/>
          <p:cNvSpPr txBox="1"/>
          <p:nvPr/>
        </p:nvSpPr>
        <p:spPr>
          <a:xfrm>
            <a:off x="4297680" y="274320"/>
            <a:ext cx="5120640" cy="274320"/>
          </a:xfrm>
          <a:prstGeom prst="rect">
            <a:avLst/>
          </a:prstGeom>
          <a:noFill/>
        </p:spPr>
        <p:txBody>
          <a:bodyPr wrap="square" anchor="t"/>
          <a:lstStyle/>
          <a:p>
            <a:pPr algn="ctr"/>
            <a:r>
              <a:rPr sz="1100" b="0">
                <a:solidFill>
                  <a:srgbClr val="4A5568"/>
                </a:solidFill>
                <a:latin typeface="Calibri"/>
                <a:ea typeface="Calibri"/>
              </a:rPr>
              <a:t>第258期  ·  2026年9月15日  ·  星期二</a:t>
            </a:r>
          </a:p>
        </p:txBody>
      </p:sp>
      <p:sp>
        <p:nvSpPr>
          <p:cNvPr id="5" name="TextBox 4"/>
          <p:cNvSpPr txBox="1"/>
          <p:nvPr/>
        </p:nvSpPr>
        <p:spPr>
          <a:xfrm>
            <a:off x="9692640" y="274320"/>
            <a:ext cx="1965960" cy="274320"/>
          </a:xfrm>
          <a:prstGeom prst="rect">
            <a:avLst/>
          </a:prstGeom>
          <a:noFill/>
        </p:spPr>
        <p:txBody>
          <a:bodyPr wrap="square" anchor="t"/>
          <a:lstStyle/>
          <a:p>
            <a:pPr algn="r"/>
            <a:r>
              <a:rPr sz="1200" b="1">
                <a:solidFill>
                  <a:srgbClr val="C41E3A"/>
                </a:solidFill>
                <a:latin typeface="Calibri"/>
                <a:ea typeface="Calibri"/>
              </a:rPr>
              <a:t>晨刊</a:t>
            </a:r>
          </a:p>
        </p:txBody>
      </p:sp>
      <p:sp>
        <p:nvSpPr>
          <p:cNvPr id="6" name="Rectangle 5"/>
          <p:cNvSpPr/>
          <p:nvPr/>
        </p:nvSpPr>
        <p:spPr>
          <a:xfrm>
            <a:off x="502920" y="566928"/>
            <a:ext cx="1118311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21792"/>
            <a:ext cx="1118311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04672"/>
            <a:ext cx="2011680" cy="777240"/>
          </a:xfrm>
          <a:prstGeom prst="rect">
            <a:avLst/>
          </a:prstGeom>
          <a:noFill/>
        </p:spPr>
        <p:txBody>
          <a:bodyPr wrap="square" anchor="t"/>
          <a:lstStyle/>
          <a:p>
            <a:pPr algn="l"/>
            <a:r>
              <a:rPr sz="5600" b="1">
                <a:solidFill>
                  <a:srgbClr val="C41E3A"/>
                </a:solidFill>
                <a:latin typeface="Cambria"/>
                <a:ea typeface="Cambria"/>
              </a:rPr>
              <a:t>02</a:t>
            </a:r>
          </a:p>
        </p:txBody>
      </p:sp>
      <p:sp>
        <p:nvSpPr>
          <p:cNvPr id="9" name="TextBox 8"/>
          <p:cNvSpPr txBox="1"/>
          <p:nvPr/>
        </p:nvSpPr>
        <p:spPr>
          <a:xfrm>
            <a:off x="2377440" y="960120"/>
            <a:ext cx="9235440" cy="566928"/>
          </a:xfrm>
          <a:prstGeom prst="rect">
            <a:avLst/>
          </a:prstGeom>
          <a:noFill/>
        </p:spPr>
        <p:txBody>
          <a:bodyPr wrap="square" anchor="t"/>
          <a:lstStyle/>
          <a:p>
            <a:pPr algn="l"/>
            <a:r>
              <a:rPr sz="3600" b="1">
                <a:solidFill>
                  <a:srgbClr val="1A1A1A"/>
                </a:solidFill>
                <a:latin typeface="Cambria"/>
                <a:ea typeface="Cambria"/>
              </a:rPr>
              <a:t>科技开篇</a:t>
            </a:r>
          </a:p>
        </p:txBody>
      </p:sp>
      <p:sp>
        <p:nvSpPr>
          <p:cNvPr id="10" name="TextBox 9"/>
          <p:cNvSpPr txBox="1"/>
          <p:nvPr/>
        </p:nvSpPr>
        <p:spPr>
          <a:xfrm>
            <a:off x="2377440" y="1554480"/>
            <a:ext cx="9235440" cy="640080"/>
          </a:xfrm>
          <a:prstGeom prst="rect">
            <a:avLst/>
          </a:prstGeom>
          <a:noFill/>
        </p:spPr>
        <p:txBody>
          <a:bodyPr wrap="square" anchor="t"/>
          <a:lstStyle/>
          <a:p>
            <a:pPr algn="l"/>
            <a:r>
              <a:rPr sz="1500" b="0">
                <a:solidFill>
                  <a:srgbClr val="4A5568"/>
                </a:solidFill>
                <a:latin typeface="Calibri"/>
                <a:ea typeface="Calibri"/>
              </a:rPr>
              <a:t>沪时凌晨一套系统落地，白天一栋机房被竖起，对手开始谈测试桌，民营火箭第一次扛起星座。</a:t>
            </a:r>
          </a:p>
        </p:txBody>
      </p:sp>
      <p:sp>
        <p:nvSpPr>
          <p:cNvPr id="11" name="Rectangle 10"/>
          <p:cNvSpPr/>
          <p:nvPr/>
        </p:nvSpPr>
        <p:spPr>
          <a:xfrm>
            <a:off x="502920" y="2331720"/>
            <a:ext cx="2706624" cy="1874519"/>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414016"/>
            <a:ext cx="2450592" cy="530352"/>
          </a:xfrm>
          <a:prstGeom prst="rect">
            <a:avLst/>
          </a:prstGeom>
          <a:noFill/>
        </p:spPr>
        <p:txBody>
          <a:bodyPr wrap="square" anchor="t"/>
          <a:lstStyle/>
          <a:p>
            <a:pPr algn="l"/>
            <a:r>
              <a:rPr sz="2400" b="1">
                <a:solidFill>
                  <a:srgbClr val="C41E3A"/>
                </a:solidFill>
                <a:latin typeface="Cambria"/>
                <a:ea typeface="Cambria"/>
              </a:rPr>
              <a:t>01:08</a:t>
            </a:r>
          </a:p>
        </p:txBody>
      </p:sp>
      <p:sp>
        <p:nvSpPr>
          <p:cNvPr id="13" name="TextBox 12"/>
          <p:cNvSpPr txBox="1"/>
          <p:nvPr/>
        </p:nvSpPr>
        <p:spPr>
          <a:xfrm>
            <a:off x="630936" y="2962656"/>
            <a:ext cx="2450592" cy="274320"/>
          </a:xfrm>
          <a:prstGeom prst="rect">
            <a:avLst/>
          </a:prstGeom>
          <a:noFill/>
        </p:spPr>
        <p:txBody>
          <a:bodyPr wrap="square" anchor="t"/>
          <a:lstStyle/>
          <a:p>
            <a:pPr algn="l"/>
            <a:r>
              <a:rPr sz="1300" b="1">
                <a:solidFill>
                  <a:srgbClr val="1A1A1A"/>
                </a:solidFill>
                <a:latin typeface="Calibri"/>
                <a:ea typeface="Calibri"/>
              </a:rPr>
              <a:t>沪时入账</a:t>
            </a:r>
          </a:p>
        </p:txBody>
      </p:sp>
      <p:sp>
        <p:nvSpPr>
          <p:cNvPr id="14" name="TextBox 13"/>
          <p:cNvSpPr txBox="1"/>
          <p:nvPr/>
        </p:nvSpPr>
        <p:spPr>
          <a:xfrm>
            <a:off x="630936" y="3255264"/>
            <a:ext cx="2450592" cy="731520"/>
          </a:xfrm>
          <a:prstGeom prst="rect">
            <a:avLst/>
          </a:prstGeom>
          <a:noFill/>
        </p:spPr>
        <p:txBody>
          <a:bodyPr wrap="square" anchor="t"/>
          <a:lstStyle/>
          <a:p>
            <a:pPr algn="l"/>
            <a:r>
              <a:rPr sz="1200" b="0">
                <a:solidFill>
                  <a:srgbClr val="4A5568"/>
                </a:solidFill>
                <a:latin typeface="Calibri"/>
                <a:ea typeface="Calibri"/>
              </a:rPr>
              <a:t>iOS 27 / Siri AI 正式推送</a:t>
            </a:r>
          </a:p>
        </p:txBody>
      </p:sp>
      <p:sp>
        <p:nvSpPr>
          <p:cNvPr id="15" name="Rectangle 14"/>
          <p:cNvSpPr/>
          <p:nvPr/>
        </p:nvSpPr>
        <p:spPr>
          <a:xfrm>
            <a:off x="3355848" y="2331720"/>
            <a:ext cx="2706624" cy="1874519"/>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83864" y="2414016"/>
            <a:ext cx="2450592" cy="530352"/>
          </a:xfrm>
          <a:prstGeom prst="rect">
            <a:avLst/>
          </a:prstGeom>
          <a:noFill/>
        </p:spPr>
        <p:txBody>
          <a:bodyPr wrap="square" anchor="t"/>
          <a:lstStyle/>
          <a:p>
            <a:pPr algn="l"/>
            <a:r>
              <a:rPr sz="2400" b="1">
                <a:solidFill>
                  <a:srgbClr val="C41E3A"/>
                </a:solidFill>
                <a:latin typeface="Cambria"/>
                <a:ea typeface="Cambria"/>
              </a:rPr>
              <a:t>3D</a:t>
            </a:r>
          </a:p>
        </p:txBody>
      </p:sp>
      <p:sp>
        <p:nvSpPr>
          <p:cNvPr id="17" name="TextBox 16"/>
          <p:cNvSpPr txBox="1"/>
          <p:nvPr/>
        </p:nvSpPr>
        <p:spPr>
          <a:xfrm>
            <a:off x="3483864" y="2962656"/>
            <a:ext cx="2450592" cy="274320"/>
          </a:xfrm>
          <a:prstGeom prst="rect">
            <a:avLst/>
          </a:prstGeom>
          <a:noFill/>
        </p:spPr>
        <p:txBody>
          <a:bodyPr wrap="square" anchor="t"/>
          <a:lstStyle/>
          <a:p>
            <a:pPr algn="l"/>
            <a:r>
              <a:rPr sz="1300" b="1">
                <a:solidFill>
                  <a:srgbClr val="1A1A1A"/>
                </a:solidFill>
                <a:latin typeface="Calibri"/>
                <a:ea typeface="Calibri"/>
              </a:rPr>
              <a:t>机房分层</a:t>
            </a:r>
          </a:p>
        </p:txBody>
      </p:sp>
      <p:sp>
        <p:nvSpPr>
          <p:cNvPr id="18" name="TextBox 17"/>
          <p:cNvSpPr txBox="1"/>
          <p:nvPr/>
        </p:nvSpPr>
        <p:spPr>
          <a:xfrm>
            <a:off x="3483864" y="3255264"/>
            <a:ext cx="2450592" cy="731520"/>
          </a:xfrm>
          <a:prstGeom prst="rect">
            <a:avLst/>
          </a:prstGeom>
          <a:noFill/>
        </p:spPr>
        <p:txBody>
          <a:bodyPr wrap="square" anchor="t"/>
          <a:lstStyle/>
          <a:p>
            <a:pPr algn="l"/>
            <a:r>
              <a:rPr sz="1200" b="0">
                <a:solidFill>
                  <a:srgbClr val="4A5568"/>
                </a:solidFill>
                <a:latin typeface="Calibri"/>
                <a:ea typeface="Calibri"/>
              </a:rPr>
              <a:t>供冷 / IT / 供电 / 备电</a:t>
            </a:r>
          </a:p>
        </p:txBody>
      </p:sp>
      <p:sp>
        <p:nvSpPr>
          <p:cNvPr id="19" name="Rectangle 18"/>
          <p:cNvSpPr/>
          <p:nvPr/>
        </p:nvSpPr>
        <p:spPr>
          <a:xfrm>
            <a:off x="6208776" y="2331720"/>
            <a:ext cx="2706624" cy="1874519"/>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6792" y="2414016"/>
            <a:ext cx="2450592" cy="530352"/>
          </a:xfrm>
          <a:prstGeom prst="rect">
            <a:avLst/>
          </a:prstGeom>
          <a:noFill/>
        </p:spPr>
        <p:txBody>
          <a:bodyPr wrap="square" anchor="t"/>
          <a:lstStyle/>
          <a:p>
            <a:pPr algn="l"/>
            <a:r>
              <a:rPr sz="2400" b="1">
                <a:solidFill>
                  <a:srgbClr val="C41E3A"/>
                </a:solidFill>
                <a:latin typeface="Cambria"/>
                <a:ea typeface="Cambria"/>
              </a:rPr>
              <a:t>10星</a:t>
            </a:r>
          </a:p>
        </p:txBody>
      </p:sp>
      <p:sp>
        <p:nvSpPr>
          <p:cNvPr id="21" name="TextBox 20"/>
          <p:cNvSpPr txBox="1"/>
          <p:nvPr/>
        </p:nvSpPr>
        <p:spPr>
          <a:xfrm>
            <a:off x="6336792" y="2962656"/>
            <a:ext cx="2450592" cy="274320"/>
          </a:xfrm>
          <a:prstGeom prst="rect">
            <a:avLst/>
          </a:prstGeom>
          <a:noFill/>
        </p:spPr>
        <p:txBody>
          <a:bodyPr wrap="square" anchor="t"/>
          <a:lstStyle/>
          <a:p>
            <a:pPr algn="l"/>
            <a:r>
              <a:rPr sz="1300" b="1">
                <a:solidFill>
                  <a:srgbClr val="1A1A1A"/>
                </a:solidFill>
                <a:latin typeface="Calibri"/>
                <a:ea typeface="Calibri"/>
              </a:rPr>
              <a:t>一箭组网</a:t>
            </a:r>
          </a:p>
        </p:txBody>
      </p:sp>
      <p:sp>
        <p:nvSpPr>
          <p:cNvPr id="22" name="TextBox 21"/>
          <p:cNvSpPr txBox="1"/>
          <p:nvPr/>
        </p:nvSpPr>
        <p:spPr>
          <a:xfrm>
            <a:off x="6336792" y="3255264"/>
            <a:ext cx="2450592" cy="731520"/>
          </a:xfrm>
          <a:prstGeom prst="rect">
            <a:avLst/>
          </a:prstGeom>
          <a:noFill/>
        </p:spPr>
        <p:txBody>
          <a:bodyPr wrap="square" anchor="t"/>
          <a:lstStyle/>
          <a:p>
            <a:pPr algn="l"/>
            <a:r>
              <a:rPr sz="1200" b="0">
                <a:solidFill>
                  <a:srgbClr val="4A5568"/>
                </a:solidFill>
                <a:latin typeface="Calibri"/>
                <a:ea typeface="Calibri"/>
              </a:rPr>
              <a:t>朱雀二号遥七 · 14:26</a:t>
            </a:r>
          </a:p>
        </p:txBody>
      </p:sp>
      <p:sp>
        <p:nvSpPr>
          <p:cNvPr id="23" name="Rectangle 22"/>
          <p:cNvSpPr/>
          <p:nvPr/>
        </p:nvSpPr>
        <p:spPr>
          <a:xfrm>
            <a:off x="9061704" y="2331720"/>
            <a:ext cx="2706624" cy="1874519"/>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89720" y="2414016"/>
            <a:ext cx="2450592" cy="530352"/>
          </a:xfrm>
          <a:prstGeom prst="rect">
            <a:avLst/>
          </a:prstGeom>
          <a:noFill/>
        </p:spPr>
        <p:txBody>
          <a:bodyPr wrap="square" anchor="t"/>
          <a:lstStyle/>
          <a:p>
            <a:pPr algn="l"/>
            <a:r>
              <a:rPr sz="2400" b="1">
                <a:solidFill>
                  <a:srgbClr val="C41E3A"/>
                </a:solidFill>
                <a:latin typeface="Cambria"/>
                <a:ea typeface="Cambria"/>
              </a:rPr>
              <a:t>95.7%</a:t>
            </a:r>
          </a:p>
        </p:txBody>
      </p:sp>
      <p:sp>
        <p:nvSpPr>
          <p:cNvPr id="25" name="TextBox 24"/>
          <p:cNvSpPr txBox="1"/>
          <p:nvPr/>
        </p:nvSpPr>
        <p:spPr>
          <a:xfrm>
            <a:off x="9189720" y="2962656"/>
            <a:ext cx="2450592" cy="274320"/>
          </a:xfrm>
          <a:prstGeom prst="rect">
            <a:avLst/>
          </a:prstGeom>
          <a:noFill/>
        </p:spPr>
        <p:txBody>
          <a:bodyPr wrap="square" anchor="t"/>
          <a:lstStyle/>
          <a:p>
            <a:pPr algn="l"/>
            <a:r>
              <a:rPr sz="1300" b="1">
                <a:solidFill>
                  <a:srgbClr val="1A1A1A"/>
                </a:solidFill>
                <a:latin typeface="Calibri"/>
                <a:ea typeface="Calibri"/>
              </a:rPr>
              <a:t>Bell保真度</a:t>
            </a:r>
          </a:p>
        </p:txBody>
      </p:sp>
      <p:sp>
        <p:nvSpPr>
          <p:cNvPr id="26" name="TextBox 25"/>
          <p:cNvSpPr txBox="1"/>
          <p:nvPr/>
        </p:nvSpPr>
        <p:spPr>
          <a:xfrm>
            <a:off x="9189720" y="3255264"/>
            <a:ext cx="2450592" cy="731520"/>
          </a:xfrm>
          <a:prstGeom prst="rect">
            <a:avLst/>
          </a:prstGeom>
          <a:noFill/>
        </p:spPr>
        <p:txBody>
          <a:bodyPr wrap="square" anchor="t"/>
          <a:lstStyle/>
          <a:p>
            <a:pPr algn="l"/>
            <a:r>
              <a:rPr sz="1200" b="0">
                <a:solidFill>
                  <a:srgbClr val="4A5568"/>
                </a:solidFill>
                <a:latin typeface="Calibri"/>
                <a:ea typeface="Calibri"/>
              </a:rPr>
              <a:t>硅光频率处理器片上层析</a:t>
            </a:r>
          </a:p>
        </p:txBody>
      </p:sp>
      <p:sp>
        <p:nvSpPr>
          <p:cNvPr id="27" name="Rectangle 26"/>
          <p:cNvSpPr/>
          <p:nvPr/>
        </p:nvSpPr>
        <p:spPr>
          <a:xfrm>
            <a:off x="502920" y="4389120"/>
            <a:ext cx="11183112" cy="19659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4498848"/>
            <a:ext cx="10789920" cy="237744"/>
          </a:xfrm>
          <a:prstGeom prst="rect">
            <a:avLst/>
          </a:prstGeom>
          <a:noFill/>
        </p:spPr>
        <p:txBody>
          <a:bodyPr wrap="square" anchor="t"/>
          <a:lstStyle/>
          <a:p>
            <a:pPr algn="l"/>
            <a:r>
              <a:rPr sz="1200" b="1">
                <a:solidFill>
                  <a:srgbClr val="C41E3A"/>
                </a:solidFill>
                <a:latin typeface="Calibri"/>
                <a:ea typeface="Calibri"/>
              </a:rPr>
              <a:t>编辑观察 · 排除清单与缺口</a:t>
            </a:r>
          </a:p>
        </p:txBody>
      </p:sp>
      <p:sp>
        <p:nvSpPr>
          <p:cNvPr id="29" name="TextBox 28"/>
          <p:cNvSpPr txBox="1"/>
          <p:nvPr/>
        </p:nvSpPr>
        <p:spPr>
          <a:xfrm>
            <a:off x="713232" y="4773168"/>
            <a:ext cx="10789920" cy="1417320"/>
          </a:xfrm>
          <a:prstGeom prst="rect">
            <a:avLst/>
          </a:prstGeom>
          <a:noFill/>
        </p:spPr>
        <p:txBody>
          <a:bodyPr wrap="square" anchor="t"/>
          <a:lstStyle/>
          <a:p>
            <a:pPr algn="l"/>
            <a:r>
              <a:rPr sz="1300" b="0">
                <a:solidFill>
                  <a:srgbClr val="F7F4EF"/>
                </a:solidFill>
                <a:latin typeface="Calibri"/>
                <a:ea typeface="Calibri"/>
              </a:rPr>
              <a:t>未混入14日郭嘉昆「再确认」、回款难吹风会、布伦特盘中108.85、吉隆DNA办法、尼方1392、Anthropic盈利、富士通MONAKA、框架3.0，以及13日金砖二阶、12日第一阶段讲话、10日iPhone Duo、9月3日收购Hugging Face、8月Jalapeño。吉隆与尼泊尔无15日新官方伤亡数字。国产互联网平台、海外芯片流片首发不足。Firecrawl 未安装鉴权。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92608"/>
          </a:xfrm>
          <a:prstGeom prst="rect">
            <a:avLst/>
          </a:prstGeom>
          <a:noFill/>
        </p:spPr>
        <p:txBody>
          <a:bodyPr wrap="square" anchor="t"/>
          <a:lstStyle/>
          <a:p>
            <a:pPr algn="l"/>
            <a:r>
              <a:rPr sz="1400" b="1">
                <a:solidFill>
                  <a:srgbClr val="1A1A1A"/>
                </a:solidFill>
                <a:latin typeface="Cambria"/>
                <a:ea typeface="Cambria"/>
              </a:rPr>
              <a:t>每日时政科技简报</a:t>
            </a:r>
          </a:p>
        </p:txBody>
      </p:sp>
      <p:sp>
        <p:nvSpPr>
          <p:cNvPr id="4" name="TextBox 3"/>
          <p:cNvSpPr txBox="1"/>
          <p:nvPr/>
        </p:nvSpPr>
        <p:spPr>
          <a:xfrm>
            <a:off x="4297680" y="274320"/>
            <a:ext cx="5120640" cy="274320"/>
          </a:xfrm>
          <a:prstGeom prst="rect">
            <a:avLst/>
          </a:prstGeom>
          <a:noFill/>
        </p:spPr>
        <p:txBody>
          <a:bodyPr wrap="square" anchor="t"/>
          <a:lstStyle/>
          <a:p>
            <a:pPr algn="ctr"/>
            <a:r>
              <a:rPr sz="1100" b="0">
                <a:solidFill>
                  <a:srgbClr val="4A5568"/>
                </a:solidFill>
                <a:latin typeface="Calibri"/>
                <a:ea typeface="Calibri"/>
              </a:rPr>
              <a:t>第258期  ·  2026年9月15日  ·  星期二</a:t>
            </a:r>
          </a:p>
        </p:txBody>
      </p:sp>
      <p:sp>
        <p:nvSpPr>
          <p:cNvPr id="5" name="TextBox 4"/>
          <p:cNvSpPr txBox="1"/>
          <p:nvPr/>
        </p:nvSpPr>
        <p:spPr>
          <a:xfrm>
            <a:off x="9692640" y="274320"/>
            <a:ext cx="1965960" cy="274320"/>
          </a:xfrm>
          <a:prstGeom prst="rect">
            <a:avLst/>
          </a:prstGeom>
          <a:noFill/>
        </p:spPr>
        <p:txBody>
          <a:bodyPr wrap="square" anchor="t"/>
          <a:lstStyle/>
          <a:p>
            <a:pPr algn="r"/>
            <a:r>
              <a:rPr sz="1200" b="1">
                <a:solidFill>
                  <a:srgbClr val="C41E3A"/>
                </a:solidFill>
                <a:latin typeface="Calibri"/>
                <a:ea typeface="Calibri"/>
              </a:rPr>
              <a:t>晨刊</a:t>
            </a:r>
          </a:p>
        </p:txBody>
      </p:sp>
      <p:sp>
        <p:nvSpPr>
          <p:cNvPr id="6" name="Rectangle 5"/>
          <p:cNvSpPr/>
          <p:nvPr/>
        </p:nvSpPr>
        <p:spPr>
          <a:xfrm>
            <a:off x="502920" y="566928"/>
            <a:ext cx="1118311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21792"/>
            <a:ext cx="1118311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04672"/>
            <a:ext cx="11155680" cy="502920"/>
          </a:xfrm>
          <a:prstGeom prst="rect">
            <a:avLst/>
          </a:prstGeom>
          <a:noFill/>
        </p:spPr>
        <p:txBody>
          <a:bodyPr wrap="square" anchor="t"/>
          <a:lstStyle/>
          <a:p>
            <a:pPr algn="l"/>
            <a:r>
              <a:rPr sz="3600" b="1">
                <a:solidFill>
                  <a:srgbClr val="1A1A1A"/>
                </a:solidFill>
                <a:latin typeface="Cambria"/>
                <a:ea typeface="Cambria"/>
              </a:rPr>
              <a:t>助手上线与立体机房</a:t>
            </a:r>
          </a:p>
        </p:txBody>
      </p:sp>
      <p:sp>
        <p:nvSpPr>
          <p:cNvPr id="9" name="TextBox 8"/>
          <p:cNvSpPr txBox="1"/>
          <p:nvPr/>
        </p:nvSpPr>
        <p:spPr>
          <a:xfrm>
            <a:off x="502920" y="1335024"/>
            <a:ext cx="11155680" cy="292608"/>
          </a:xfrm>
          <a:prstGeom prst="rect">
            <a:avLst/>
          </a:prstGeom>
          <a:noFill/>
        </p:spPr>
        <p:txBody>
          <a:bodyPr wrap="square" anchor="t"/>
          <a:lstStyle/>
          <a:p>
            <a:pPr algn="l"/>
            <a:r>
              <a:rPr sz="1400" b="0">
                <a:solidFill>
                  <a:srgbClr val="4A5568"/>
                </a:solidFill>
                <a:latin typeface="Calibri"/>
                <a:ea typeface="Calibri"/>
              </a:rPr>
              <a:t>一套英文测试版在监管门外停下；一栋机房被竖成可换代的工厂。</a:t>
            </a:r>
          </a:p>
        </p:txBody>
      </p:sp>
      <p:sp>
        <p:nvSpPr>
          <p:cNvPr id="10" name="Rectangle 9"/>
          <p:cNvSpPr/>
          <p:nvPr/>
        </p:nvSpPr>
        <p:spPr>
          <a:xfrm>
            <a:off x="502920" y="1700784"/>
            <a:ext cx="5623560" cy="46634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810512"/>
            <a:ext cx="5294376" cy="237744"/>
          </a:xfrm>
          <a:prstGeom prst="rect">
            <a:avLst/>
          </a:prstGeom>
          <a:noFill/>
        </p:spPr>
        <p:txBody>
          <a:bodyPr wrap="square" anchor="t"/>
          <a:lstStyle/>
          <a:p>
            <a:pPr algn="l"/>
            <a:r>
              <a:rPr sz="1100" b="1">
                <a:solidFill>
                  <a:srgbClr val="C41E3A"/>
                </a:solidFill>
                <a:latin typeface="Calibri"/>
                <a:ea typeface="Calibri"/>
              </a:rPr>
              <a:t>07　平台 · 库比蒂诺</a:t>
            </a:r>
          </a:p>
        </p:txBody>
      </p:sp>
      <p:sp>
        <p:nvSpPr>
          <p:cNvPr id="12" name="TextBox 11"/>
          <p:cNvSpPr txBox="1"/>
          <p:nvPr/>
        </p:nvSpPr>
        <p:spPr>
          <a:xfrm>
            <a:off x="667512" y="2048256"/>
            <a:ext cx="5294376" cy="713232"/>
          </a:xfrm>
          <a:prstGeom prst="rect">
            <a:avLst/>
          </a:prstGeom>
          <a:noFill/>
        </p:spPr>
        <p:txBody>
          <a:bodyPr wrap="square" anchor="t"/>
          <a:lstStyle/>
          <a:p>
            <a:pPr algn="l"/>
            <a:r>
              <a:rPr sz="1600" b="1">
                <a:solidFill>
                  <a:srgbClr val="1A1A1A"/>
                </a:solidFill>
                <a:latin typeface="Cambria"/>
                <a:ea typeface="Cambria"/>
              </a:rPr>
              <a:t>iOS 27正式推送，Siri AI英文测试版上线</a:t>
            </a:r>
          </a:p>
        </p:txBody>
      </p:sp>
      <p:sp>
        <p:nvSpPr>
          <p:cNvPr id="13" name="TextBox 12"/>
          <p:cNvSpPr txBox="1"/>
          <p:nvPr/>
        </p:nvSpPr>
        <p:spPr>
          <a:xfrm>
            <a:off x="667512" y="2743199"/>
            <a:ext cx="5294376" cy="256032"/>
          </a:xfrm>
          <a:prstGeom prst="rect">
            <a:avLst/>
          </a:prstGeom>
          <a:noFill/>
        </p:spPr>
        <p:txBody>
          <a:bodyPr wrap="square" anchor="t"/>
          <a:lstStyle/>
          <a:p>
            <a:pPr algn="l"/>
            <a:r>
              <a:rPr sz="1100" b="0">
                <a:solidFill>
                  <a:srgbClr val="4A5568"/>
                </a:solidFill>
                <a:latin typeface="Calibri"/>
                <a:ea typeface="Calibri"/>
              </a:rPr>
              <a:t>来源：Apple Newsroom / The Verge</a:t>
            </a:r>
          </a:p>
        </p:txBody>
      </p:sp>
      <p:sp>
        <p:nvSpPr>
          <p:cNvPr id="14" name="TextBox 13"/>
          <p:cNvSpPr txBox="1"/>
          <p:nvPr/>
        </p:nvSpPr>
        <p:spPr>
          <a:xfrm>
            <a:off x="667512" y="2999232"/>
            <a:ext cx="5294376" cy="960120"/>
          </a:xfrm>
          <a:prstGeom prst="rect">
            <a:avLst/>
          </a:prstGeom>
          <a:noFill/>
        </p:spPr>
        <p:txBody>
          <a:bodyPr wrap="square" anchor="t"/>
          <a:lstStyle/>
          <a:p>
            <a:pPr algn="l"/>
            <a:r>
              <a:rPr sz="1300" b="0">
                <a:solidFill>
                  <a:srgbClr val="1A1A1A"/>
                </a:solidFill>
                <a:latin typeface="Calibri"/>
                <a:ea typeface="Calibri"/>
              </a:rPr>
              <a:t>苹果于14日17:08 UTC（沪时15日1:08）推送iOS 27等系统，重构版Siri AI以英文测试版登场，具备读屏、个人语境与系统级操作。欧盟手机平板手表暂缺，中国因监管暂不可用。</a:t>
            </a:r>
          </a:p>
        </p:txBody>
      </p:sp>
      <p:sp>
        <p:nvSpPr>
          <p:cNvPr id="15" name="Rectangle 14"/>
          <p:cNvSpPr/>
          <p:nvPr/>
        </p:nvSpPr>
        <p:spPr>
          <a:xfrm>
            <a:off x="667512" y="5522976"/>
            <a:ext cx="5294376"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5577840"/>
            <a:ext cx="5294376" cy="201168"/>
          </a:xfrm>
          <a:prstGeom prst="rect">
            <a:avLst/>
          </a:prstGeom>
          <a:noFill/>
        </p:spPr>
        <p:txBody>
          <a:bodyPr wrap="square" anchor="t"/>
          <a:lstStyle/>
          <a:p>
            <a:pPr algn="l"/>
            <a:r>
              <a:rPr sz="1100" b="1">
                <a:solidFill>
                  <a:srgbClr val="C41E3A"/>
                </a:solidFill>
                <a:latin typeface="Calibri"/>
                <a:ea typeface="Calibri"/>
              </a:rPr>
              <a:t>为何重要</a:t>
            </a:r>
          </a:p>
        </p:txBody>
      </p:sp>
      <p:sp>
        <p:nvSpPr>
          <p:cNvPr id="17" name="TextBox 16"/>
          <p:cNvSpPr txBox="1"/>
          <p:nvPr/>
        </p:nvSpPr>
        <p:spPr>
          <a:xfrm>
            <a:off x="667512" y="5779008"/>
            <a:ext cx="5294376" cy="475488"/>
          </a:xfrm>
          <a:prstGeom prst="rect">
            <a:avLst/>
          </a:prstGeom>
          <a:noFill/>
        </p:spPr>
        <p:txBody>
          <a:bodyPr wrap="square" anchor="t"/>
          <a:lstStyle/>
          <a:p>
            <a:pPr algn="l"/>
            <a:r>
              <a:rPr sz="1200" b="0">
                <a:solidFill>
                  <a:srgbClr val="4A5568"/>
                </a:solidFill>
                <a:latin typeface="Calibri"/>
                <a:ea typeface="Calibri"/>
              </a:rPr>
              <a:t>端侧助手大战正式开闸，但全球两大市场被监管挡住，落地并不均衡。</a:t>
            </a:r>
          </a:p>
        </p:txBody>
      </p:sp>
      <p:sp>
        <p:nvSpPr>
          <p:cNvPr id="18" name="Rectangle 17"/>
          <p:cNvSpPr/>
          <p:nvPr/>
        </p:nvSpPr>
        <p:spPr>
          <a:xfrm>
            <a:off x="6309359" y="1700784"/>
            <a:ext cx="5623560" cy="46634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1" y="1810512"/>
            <a:ext cx="5294376" cy="237744"/>
          </a:xfrm>
          <a:prstGeom prst="rect">
            <a:avLst/>
          </a:prstGeom>
          <a:noFill/>
        </p:spPr>
        <p:txBody>
          <a:bodyPr wrap="square" anchor="t"/>
          <a:lstStyle/>
          <a:p>
            <a:pPr algn="l"/>
            <a:r>
              <a:rPr sz="1100" b="1">
                <a:solidFill>
                  <a:srgbClr val="C41E3A"/>
                </a:solidFill>
                <a:latin typeface="Calibri"/>
                <a:ea typeface="Calibri"/>
              </a:rPr>
              <a:t>08　算力 · 芜湖</a:t>
            </a:r>
          </a:p>
        </p:txBody>
      </p:sp>
      <p:sp>
        <p:nvSpPr>
          <p:cNvPr id="20" name="TextBox 19"/>
          <p:cNvSpPr txBox="1"/>
          <p:nvPr/>
        </p:nvSpPr>
        <p:spPr>
          <a:xfrm>
            <a:off x="6473951" y="2048256"/>
            <a:ext cx="5294376" cy="713232"/>
          </a:xfrm>
          <a:prstGeom prst="rect">
            <a:avLst/>
          </a:prstGeom>
          <a:noFill/>
        </p:spPr>
        <p:txBody>
          <a:bodyPr wrap="square" anchor="t"/>
          <a:lstStyle/>
          <a:p>
            <a:pPr algn="l"/>
            <a:r>
              <a:rPr sz="1600" b="1">
                <a:solidFill>
                  <a:srgbClr val="1A1A1A"/>
                </a:solidFill>
                <a:latin typeface="Cambria"/>
                <a:ea typeface="Cambria"/>
              </a:rPr>
              <a:t>华为在芜湖发布全球首个3D数据中心架构</a:t>
            </a:r>
          </a:p>
        </p:txBody>
      </p:sp>
      <p:sp>
        <p:nvSpPr>
          <p:cNvPr id="21" name="TextBox 20"/>
          <p:cNvSpPr txBox="1"/>
          <p:nvPr/>
        </p:nvSpPr>
        <p:spPr>
          <a:xfrm>
            <a:off x="6473951" y="2743199"/>
            <a:ext cx="5294376" cy="256032"/>
          </a:xfrm>
          <a:prstGeom prst="rect">
            <a:avLst/>
          </a:prstGeom>
          <a:noFill/>
        </p:spPr>
        <p:txBody>
          <a:bodyPr wrap="square" anchor="t"/>
          <a:lstStyle/>
          <a:p>
            <a:pPr algn="l"/>
            <a:r>
              <a:rPr sz="1100" b="0">
                <a:solidFill>
                  <a:srgbClr val="4A5568"/>
                </a:solidFill>
                <a:latin typeface="Calibri"/>
                <a:ea typeface="Calibri"/>
              </a:rPr>
              <a:t>来源：中国新闻网 / 经济参考报</a:t>
            </a:r>
          </a:p>
        </p:txBody>
      </p:sp>
      <p:sp>
        <p:nvSpPr>
          <p:cNvPr id="22" name="TextBox 21"/>
          <p:cNvSpPr txBox="1"/>
          <p:nvPr/>
        </p:nvSpPr>
        <p:spPr>
          <a:xfrm>
            <a:off x="6473951" y="2999232"/>
            <a:ext cx="5294376" cy="960120"/>
          </a:xfrm>
          <a:prstGeom prst="rect">
            <a:avLst/>
          </a:prstGeom>
          <a:noFill/>
        </p:spPr>
        <p:txBody>
          <a:bodyPr wrap="square" anchor="t"/>
          <a:lstStyle/>
          <a:p>
            <a:pPr algn="l"/>
            <a:r>
              <a:rPr sz="1300" b="0">
                <a:solidFill>
                  <a:srgbClr val="1A1A1A"/>
                </a:solidFill>
                <a:latin typeface="Calibri"/>
                <a:ea typeface="Calibri"/>
              </a:rPr>
              <a:t>15日AIDC大会上，华为发布垂直分层的3D数据中心：自下而上为供冷、IT、供电、备电，机电预制化率超90%，交付周期约减半。汪涛称可支撑十万卡昇腾超节点。</a:t>
            </a:r>
          </a:p>
        </p:txBody>
      </p:sp>
      <p:sp>
        <p:nvSpPr>
          <p:cNvPr id="23" name="Rectangle 22"/>
          <p:cNvSpPr/>
          <p:nvPr/>
        </p:nvSpPr>
        <p:spPr>
          <a:xfrm>
            <a:off x="6473951" y="5522976"/>
            <a:ext cx="5294376"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3951" y="5577840"/>
            <a:ext cx="5294376" cy="201168"/>
          </a:xfrm>
          <a:prstGeom prst="rect">
            <a:avLst/>
          </a:prstGeom>
          <a:noFill/>
        </p:spPr>
        <p:txBody>
          <a:bodyPr wrap="square" anchor="t"/>
          <a:lstStyle/>
          <a:p>
            <a:pPr algn="l"/>
            <a:r>
              <a:rPr sz="1100" b="1">
                <a:solidFill>
                  <a:srgbClr val="C41E3A"/>
                </a:solidFill>
                <a:latin typeface="Calibri"/>
                <a:ea typeface="Calibri"/>
              </a:rPr>
              <a:t>为何重要</a:t>
            </a:r>
          </a:p>
        </p:txBody>
      </p:sp>
      <p:sp>
        <p:nvSpPr>
          <p:cNvPr id="25" name="TextBox 24"/>
          <p:cNvSpPr txBox="1"/>
          <p:nvPr/>
        </p:nvSpPr>
        <p:spPr>
          <a:xfrm>
            <a:off x="6473951" y="5779008"/>
            <a:ext cx="5294376" cy="475488"/>
          </a:xfrm>
          <a:prstGeom prst="rect">
            <a:avLst/>
          </a:prstGeom>
          <a:noFill/>
        </p:spPr>
        <p:txBody>
          <a:bodyPr wrap="square" anchor="t"/>
          <a:lstStyle/>
          <a:p>
            <a:pPr algn="l"/>
            <a:r>
              <a:rPr sz="1200" b="0">
                <a:solidFill>
                  <a:srgbClr val="4A5568"/>
                </a:solidFill>
                <a:latin typeface="Calibri"/>
                <a:ea typeface="Calibri"/>
              </a:rPr>
              <a:t>把机房做成可替换芯片代际的「算力工厂」，是国产超节点落地的基建答案。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92608"/>
          </a:xfrm>
          <a:prstGeom prst="rect">
            <a:avLst/>
          </a:prstGeom>
          <a:noFill/>
        </p:spPr>
        <p:txBody>
          <a:bodyPr wrap="square" anchor="t"/>
          <a:lstStyle/>
          <a:p>
            <a:pPr algn="l"/>
            <a:r>
              <a:rPr sz="1400" b="1">
                <a:solidFill>
                  <a:srgbClr val="1A1A1A"/>
                </a:solidFill>
                <a:latin typeface="Cambria"/>
                <a:ea typeface="Cambria"/>
              </a:rPr>
              <a:t>每日时政科技简报</a:t>
            </a:r>
          </a:p>
        </p:txBody>
      </p:sp>
      <p:sp>
        <p:nvSpPr>
          <p:cNvPr id="4" name="TextBox 3"/>
          <p:cNvSpPr txBox="1"/>
          <p:nvPr/>
        </p:nvSpPr>
        <p:spPr>
          <a:xfrm>
            <a:off x="4297680" y="274320"/>
            <a:ext cx="5120640" cy="274320"/>
          </a:xfrm>
          <a:prstGeom prst="rect">
            <a:avLst/>
          </a:prstGeom>
          <a:noFill/>
        </p:spPr>
        <p:txBody>
          <a:bodyPr wrap="square" anchor="t"/>
          <a:lstStyle/>
          <a:p>
            <a:pPr algn="ctr"/>
            <a:r>
              <a:rPr sz="1100" b="0">
                <a:solidFill>
                  <a:srgbClr val="4A5568"/>
                </a:solidFill>
                <a:latin typeface="Calibri"/>
                <a:ea typeface="Calibri"/>
              </a:rPr>
              <a:t>第258期  ·  2026年9月15日  ·  星期二</a:t>
            </a:r>
          </a:p>
        </p:txBody>
      </p:sp>
      <p:sp>
        <p:nvSpPr>
          <p:cNvPr id="5" name="TextBox 4"/>
          <p:cNvSpPr txBox="1"/>
          <p:nvPr/>
        </p:nvSpPr>
        <p:spPr>
          <a:xfrm>
            <a:off x="9692640" y="274320"/>
            <a:ext cx="1965960" cy="274320"/>
          </a:xfrm>
          <a:prstGeom prst="rect">
            <a:avLst/>
          </a:prstGeom>
          <a:noFill/>
        </p:spPr>
        <p:txBody>
          <a:bodyPr wrap="square" anchor="t"/>
          <a:lstStyle/>
          <a:p>
            <a:pPr algn="r"/>
            <a:r>
              <a:rPr sz="1200" b="1">
                <a:solidFill>
                  <a:srgbClr val="C41E3A"/>
                </a:solidFill>
                <a:latin typeface="Calibri"/>
                <a:ea typeface="Calibri"/>
              </a:rPr>
              <a:t>晨刊</a:t>
            </a:r>
          </a:p>
        </p:txBody>
      </p:sp>
      <p:sp>
        <p:nvSpPr>
          <p:cNvPr id="6" name="Rectangle 5"/>
          <p:cNvSpPr/>
          <p:nvPr/>
        </p:nvSpPr>
        <p:spPr>
          <a:xfrm>
            <a:off x="502920" y="566928"/>
            <a:ext cx="1118311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21792"/>
            <a:ext cx="1118311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04672"/>
            <a:ext cx="11155680" cy="502920"/>
          </a:xfrm>
          <a:prstGeom prst="rect">
            <a:avLst/>
          </a:prstGeom>
          <a:noFill/>
        </p:spPr>
        <p:txBody>
          <a:bodyPr wrap="square" anchor="t"/>
          <a:lstStyle/>
          <a:p>
            <a:pPr algn="l"/>
            <a:r>
              <a:rPr sz="3600" b="1">
                <a:solidFill>
                  <a:srgbClr val="1A1A1A"/>
                </a:solidFill>
                <a:latin typeface="Cambria"/>
                <a:ea typeface="Cambria"/>
              </a:rPr>
              <a:t>对手同席与民营组网</a:t>
            </a:r>
          </a:p>
        </p:txBody>
      </p:sp>
      <p:sp>
        <p:nvSpPr>
          <p:cNvPr id="9" name="TextBox 8"/>
          <p:cNvSpPr txBox="1"/>
          <p:nvPr/>
        </p:nvSpPr>
        <p:spPr>
          <a:xfrm>
            <a:off x="502920" y="1335024"/>
            <a:ext cx="11155680" cy="292608"/>
          </a:xfrm>
          <a:prstGeom prst="rect">
            <a:avLst/>
          </a:prstGeom>
          <a:noFill/>
        </p:spPr>
        <p:txBody>
          <a:bodyPr wrap="square" anchor="t"/>
          <a:lstStyle/>
          <a:p>
            <a:pPr algn="l"/>
            <a:r>
              <a:rPr sz="1400" b="0">
                <a:solidFill>
                  <a:srgbClr val="4A5568"/>
                </a:solidFill>
                <a:latin typeface="Calibri"/>
                <a:ea typeface="Calibri"/>
              </a:rPr>
              <a:t>三家实验室开始谈一套类FINRA的测试桌；一枚液氧甲烷火箭第一次扛起星座。</a:t>
            </a:r>
          </a:p>
        </p:txBody>
      </p:sp>
      <p:sp>
        <p:nvSpPr>
          <p:cNvPr id="10" name="Rectangle 9"/>
          <p:cNvSpPr/>
          <p:nvPr/>
        </p:nvSpPr>
        <p:spPr>
          <a:xfrm>
            <a:off x="502920" y="1700784"/>
            <a:ext cx="5623560" cy="46634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810512"/>
            <a:ext cx="5294376" cy="237744"/>
          </a:xfrm>
          <a:prstGeom prst="rect">
            <a:avLst/>
          </a:prstGeom>
          <a:noFill/>
        </p:spPr>
        <p:txBody>
          <a:bodyPr wrap="square" anchor="t"/>
          <a:lstStyle/>
          <a:p>
            <a:pPr algn="l"/>
            <a:r>
              <a:rPr sz="1100" b="1">
                <a:solidFill>
                  <a:srgbClr val="C41E3A"/>
                </a:solidFill>
                <a:latin typeface="Calibri"/>
                <a:ea typeface="Calibri"/>
              </a:rPr>
              <a:t>09　治理 · 旧金山</a:t>
            </a:r>
          </a:p>
        </p:txBody>
      </p:sp>
      <p:sp>
        <p:nvSpPr>
          <p:cNvPr id="12" name="TextBox 11"/>
          <p:cNvSpPr txBox="1"/>
          <p:nvPr/>
        </p:nvSpPr>
        <p:spPr>
          <a:xfrm>
            <a:off x="667512" y="2048256"/>
            <a:ext cx="5294376" cy="713232"/>
          </a:xfrm>
          <a:prstGeom prst="rect">
            <a:avLst/>
          </a:prstGeom>
          <a:noFill/>
        </p:spPr>
        <p:txBody>
          <a:bodyPr wrap="square" anchor="t"/>
          <a:lstStyle/>
          <a:p>
            <a:pPr algn="l"/>
            <a:r>
              <a:rPr sz="1600" b="1">
                <a:solidFill>
                  <a:srgbClr val="1A1A1A"/>
                </a:solidFill>
                <a:latin typeface="Cambria"/>
                <a:ea typeface="Cambria"/>
              </a:rPr>
              <a:t>OpenAI确认与Anthropic、谷歌磋商成立安全标准机构</a:t>
            </a:r>
          </a:p>
        </p:txBody>
      </p:sp>
      <p:sp>
        <p:nvSpPr>
          <p:cNvPr id="13" name="TextBox 12"/>
          <p:cNvSpPr txBox="1"/>
          <p:nvPr/>
        </p:nvSpPr>
        <p:spPr>
          <a:xfrm>
            <a:off x="667512" y="2743199"/>
            <a:ext cx="5294376" cy="256032"/>
          </a:xfrm>
          <a:prstGeom prst="rect">
            <a:avLst/>
          </a:prstGeom>
          <a:noFill/>
        </p:spPr>
        <p:txBody>
          <a:bodyPr wrap="square" anchor="t"/>
          <a:lstStyle/>
          <a:p>
            <a:pPr algn="l"/>
            <a:r>
              <a:rPr sz="1100" b="0">
                <a:solidFill>
                  <a:srgbClr val="4A5568"/>
                </a:solidFill>
                <a:latin typeface="Calibri"/>
                <a:ea typeface="Calibri"/>
              </a:rPr>
              <a:t>来源：CNBC / Bloomberg</a:t>
            </a:r>
          </a:p>
        </p:txBody>
      </p:sp>
      <p:sp>
        <p:nvSpPr>
          <p:cNvPr id="14" name="TextBox 13"/>
          <p:cNvSpPr txBox="1"/>
          <p:nvPr/>
        </p:nvSpPr>
        <p:spPr>
          <a:xfrm>
            <a:off x="667512" y="2999232"/>
            <a:ext cx="5294376" cy="960120"/>
          </a:xfrm>
          <a:prstGeom prst="rect">
            <a:avLst/>
          </a:prstGeom>
          <a:noFill/>
        </p:spPr>
        <p:txBody>
          <a:bodyPr wrap="square" anchor="t"/>
          <a:lstStyle/>
          <a:p>
            <a:pPr algn="l"/>
            <a:r>
              <a:rPr sz="1300" b="0">
                <a:solidFill>
                  <a:srgbClr val="1A1A1A"/>
                </a:solidFill>
                <a:latin typeface="Calibri"/>
                <a:ea typeface="Calibri"/>
              </a:rPr>
              <a:t>OpenAI全球政策负责人莱哈尼15日证实，公司已与Anthropic、谷歌就人工智能安全合作数周，讨论参照FINRA设立测试前沿模型的行业标准机构。三家称无需反垄断豁免即可协调安全。</a:t>
            </a:r>
          </a:p>
        </p:txBody>
      </p:sp>
      <p:sp>
        <p:nvSpPr>
          <p:cNvPr id="15" name="Rectangle 14"/>
          <p:cNvSpPr/>
          <p:nvPr/>
        </p:nvSpPr>
        <p:spPr>
          <a:xfrm>
            <a:off x="667512" y="5522976"/>
            <a:ext cx="5294376"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5577840"/>
            <a:ext cx="5294376" cy="201168"/>
          </a:xfrm>
          <a:prstGeom prst="rect">
            <a:avLst/>
          </a:prstGeom>
          <a:noFill/>
        </p:spPr>
        <p:txBody>
          <a:bodyPr wrap="square" anchor="t"/>
          <a:lstStyle/>
          <a:p>
            <a:pPr algn="l"/>
            <a:r>
              <a:rPr sz="1100" b="1">
                <a:solidFill>
                  <a:srgbClr val="C41E3A"/>
                </a:solidFill>
                <a:latin typeface="Calibri"/>
                <a:ea typeface="Calibri"/>
              </a:rPr>
              <a:t>为何重要</a:t>
            </a:r>
          </a:p>
        </p:txBody>
      </p:sp>
      <p:sp>
        <p:nvSpPr>
          <p:cNvPr id="17" name="TextBox 16"/>
          <p:cNvSpPr txBox="1"/>
          <p:nvPr/>
        </p:nvSpPr>
        <p:spPr>
          <a:xfrm>
            <a:off x="667512" y="5779008"/>
            <a:ext cx="5294376" cy="475488"/>
          </a:xfrm>
          <a:prstGeom prst="rect">
            <a:avLst/>
          </a:prstGeom>
          <a:noFill/>
        </p:spPr>
        <p:txBody>
          <a:bodyPr wrap="square" anchor="t"/>
          <a:lstStyle/>
          <a:p>
            <a:pPr algn="l"/>
            <a:r>
              <a:rPr sz="1200" b="0">
                <a:solidFill>
                  <a:srgbClr val="4A5568"/>
                </a:solidFill>
                <a:latin typeface="Calibri"/>
                <a:ea typeface="Calibri"/>
              </a:rPr>
              <a:t>阿莫迪呼吁放缓后的首个跨公司制度动作，自监管能否补上政府缺口仍未知。</a:t>
            </a:r>
          </a:p>
        </p:txBody>
      </p:sp>
      <p:sp>
        <p:nvSpPr>
          <p:cNvPr id="18" name="Rectangle 17"/>
          <p:cNvSpPr/>
          <p:nvPr/>
        </p:nvSpPr>
        <p:spPr>
          <a:xfrm>
            <a:off x="6309359" y="1700784"/>
            <a:ext cx="5623560" cy="46634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1" y="1810512"/>
            <a:ext cx="5294376" cy="237744"/>
          </a:xfrm>
          <a:prstGeom prst="rect">
            <a:avLst/>
          </a:prstGeom>
          <a:noFill/>
        </p:spPr>
        <p:txBody>
          <a:bodyPr wrap="square" anchor="t"/>
          <a:lstStyle/>
          <a:p>
            <a:pPr algn="l"/>
            <a:r>
              <a:rPr sz="1100" b="1">
                <a:solidFill>
                  <a:srgbClr val="C41E3A"/>
                </a:solidFill>
                <a:latin typeface="Calibri"/>
                <a:ea typeface="Calibri"/>
              </a:rPr>
              <a:t>10　航天 · 东风</a:t>
            </a:r>
          </a:p>
        </p:txBody>
      </p:sp>
      <p:sp>
        <p:nvSpPr>
          <p:cNvPr id="20" name="TextBox 19"/>
          <p:cNvSpPr txBox="1"/>
          <p:nvPr/>
        </p:nvSpPr>
        <p:spPr>
          <a:xfrm>
            <a:off x="6473951" y="2048256"/>
            <a:ext cx="5294376" cy="713232"/>
          </a:xfrm>
          <a:prstGeom prst="rect">
            <a:avLst/>
          </a:prstGeom>
          <a:noFill/>
        </p:spPr>
        <p:txBody>
          <a:bodyPr wrap="square" anchor="t"/>
          <a:lstStyle/>
          <a:p>
            <a:pPr algn="l"/>
            <a:r>
              <a:rPr sz="1600" b="1">
                <a:solidFill>
                  <a:srgbClr val="1A1A1A"/>
                </a:solidFill>
                <a:latin typeface="Cambria"/>
                <a:ea typeface="Cambria"/>
              </a:rPr>
              <a:t>朱雀二号改进型遥七一箭十星发射千帆组网星</a:t>
            </a:r>
          </a:p>
        </p:txBody>
      </p:sp>
      <p:sp>
        <p:nvSpPr>
          <p:cNvPr id="21" name="TextBox 20"/>
          <p:cNvSpPr txBox="1"/>
          <p:nvPr/>
        </p:nvSpPr>
        <p:spPr>
          <a:xfrm>
            <a:off x="6473951" y="2743199"/>
            <a:ext cx="5294376" cy="256032"/>
          </a:xfrm>
          <a:prstGeom prst="rect">
            <a:avLst/>
          </a:prstGeom>
          <a:noFill/>
        </p:spPr>
        <p:txBody>
          <a:bodyPr wrap="square" anchor="t"/>
          <a:lstStyle/>
          <a:p>
            <a:pPr algn="l"/>
            <a:r>
              <a:rPr sz="1100" b="0">
                <a:solidFill>
                  <a:srgbClr val="4A5568"/>
                </a:solidFill>
                <a:latin typeface="Calibri"/>
                <a:ea typeface="Calibri"/>
              </a:rPr>
              <a:t>来源：新华社　·　news.cn</a:t>
            </a:r>
          </a:p>
        </p:txBody>
      </p:sp>
      <p:sp>
        <p:nvSpPr>
          <p:cNvPr id="22" name="TextBox 21"/>
          <p:cNvSpPr txBox="1"/>
          <p:nvPr/>
        </p:nvSpPr>
        <p:spPr>
          <a:xfrm>
            <a:off x="6473951" y="2999232"/>
            <a:ext cx="5294376" cy="960120"/>
          </a:xfrm>
          <a:prstGeom prst="rect">
            <a:avLst/>
          </a:prstGeom>
          <a:noFill/>
        </p:spPr>
        <p:txBody>
          <a:bodyPr wrap="square" anchor="t"/>
          <a:lstStyle/>
          <a:p>
            <a:pPr algn="l"/>
            <a:r>
              <a:rPr sz="1300" b="0">
                <a:solidFill>
                  <a:srgbClr val="1A1A1A"/>
                </a:solidFill>
                <a:latin typeface="Calibri"/>
                <a:ea typeface="Calibri"/>
              </a:rPr>
              <a:t>15日14时26分，蓝箭航天朱雀二号改进型遥七在东风商业航天创新试验区升空，将千帆极轨19组10颗卫星送入预定轨道。这是民营火箭首次执行规模化卫星互联网组网。</a:t>
            </a:r>
          </a:p>
        </p:txBody>
      </p:sp>
      <p:sp>
        <p:nvSpPr>
          <p:cNvPr id="23" name="Rectangle 22"/>
          <p:cNvSpPr/>
          <p:nvPr/>
        </p:nvSpPr>
        <p:spPr>
          <a:xfrm>
            <a:off x="6473951" y="5522976"/>
            <a:ext cx="5294376"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3951" y="5577840"/>
            <a:ext cx="5294376" cy="201168"/>
          </a:xfrm>
          <a:prstGeom prst="rect">
            <a:avLst/>
          </a:prstGeom>
          <a:noFill/>
        </p:spPr>
        <p:txBody>
          <a:bodyPr wrap="square" anchor="t"/>
          <a:lstStyle/>
          <a:p>
            <a:pPr algn="l"/>
            <a:r>
              <a:rPr sz="1100" b="1">
                <a:solidFill>
                  <a:srgbClr val="C41E3A"/>
                </a:solidFill>
                <a:latin typeface="Calibri"/>
                <a:ea typeface="Calibri"/>
              </a:rPr>
              <a:t>为何重要</a:t>
            </a:r>
          </a:p>
        </p:txBody>
      </p:sp>
      <p:sp>
        <p:nvSpPr>
          <p:cNvPr id="25" name="TextBox 24"/>
          <p:cNvSpPr txBox="1"/>
          <p:nvPr/>
        </p:nvSpPr>
        <p:spPr>
          <a:xfrm>
            <a:off x="6473951" y="5779008"/>
            <a:ext cx="5294376" cy="475488"/>
          </a:xfrm>
          <a:prstGeom prst="rect">
            <a:avLst/>
          </a:prstGeom>
          <a:noFill/>
        </p:spPr>
        <p:txBody>
          <a:bodyPr wrap="square" anchor="t"/>
          <a:lstStyle/>
          <a:p>
            <a:pPr algn="l"/>
            <a:r>
              <a:rPr sz="1200" b="0">
                <a:solidFill>
                  <a:srgbClr val="4A5568"/>
                </a:solidFill>
                <a:latin typeface="Calibri"/>
                <a:ea typeface="Calibri"/>
              </a:rPr>
              <a:t>民营运力开始承接国家级星座批量部署，商业航天从验证转向规模运营。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92608"/>
          </a:xfrm>
          <a:prstGeom prst="rect">
            <a:avLst/>
          </a:prstGeom>
          <a:noFill/>
        </p:spPr>
        <p:txBody>
          <a:bodyPr wrap="square" anchor="t"/>
          <a:lstStyle/>
          <a:p>
            <a:pPr algn="l"/>
            <a:r>
              <a:rPr sz="1400" b="1">
                <a:solidFill>
                  <a:srgbClr val="1A1A1A"/>
                </a:solidFill>
                <a:latin typeface="Cambria"/>
                <a:ea typeface="Cambria"/>
              </a:rPr>
              <a:t>每日时政科技简报</a:t>
            </a:r>
          </a:p>
        </p:txBody>
      </p:sp>
      <p:sp>
        <p:nvSpPr>
          <p:cNvPr id="4" name="TextBox 3"/>
          <p:cNvSpPr txBox="1"/>
          <p:nvPr/>
        </p:nvSpPr>
        <p:spPr>
          <a:xfrm>
            <a:off x="4297680" y="274320"/>
            <a:ext cx="5120640" cy="274320"/>
          </a:xfrm>
          <a:prstGeom prst="rect">
            <a:avLst/>
          </a:prstGeom>
          <a:noFill/>
        </p:spPr>
        <p:txBody>
          <a:bodyPr wrap="square" anchor="t"/>
          <a:lstStyle/>
          <a:p>
            <a:pPr algn="ctr"/>
            <a:r>
              <a:rPr sz="1100" b="0">
                <a:solidFill>
                  <a:srgbClr val="4A5568"/>
                </a:solidFill>
                <a:latin typeface="Calibri"/>
                <a:ea typeface="Calibri"/>
              </a:rPr>
              <a:t>第258期  ·  2026年9月15日  ·  星期二</a:t>
            </a:r>
          </a:p>
        </p:txBody>
      </p:sp>
      <p:sp>
        <p:nvSpPr>
          <p:cNvPr id="5" name="TextBox 4"/>
          <p:cNvSpPr txBox="1"/>
          <p:nvPr/>
        </p:nvSpPr>
        <p:spPr>
          <a:xfrm>
            <a:off x="9692640" y="274320"/>
            <a:ext cx="1965960" cy="274320"/>
          </a:xfrm>
          <a:prstGeom prst="rect">
            <a:avLst/>
          </a:prstGeom>
          <a:noFill/>
        </p:spPr>
        <p:txBody>
          <a:bodyPr wrap="square" anchor="t"/>
          <a:lstStyle/>
          <a:p>
            <a:pPr algn="r"/>
            <a:r>
              <a:rPr sz="1200" b="1">
                <a:solidFill>
                  <a:srgbClr val="C41E3A"/>
                </a:solidFill>
                <a:latin typeface="Calibri"/>
                <a:ea typeface="Calibri"/>
              </a:rPr>
              <a:t>晨刊</a:t>
            </a:r>
          </a:p>
        </p:txBody>
      </p:sp>
      <p:sp>
        <p:nvSpPr>
          <p:cNvPr id="6" name="Rectangle 5"/>
          <p:cNvSpPr/>
          <p:nvPr/>
        </p:nvSpPr>
        <p:spPr>
          <a:xfrm>
            <a:off x="502920" y="566928"/>
            <a:ext cx="1118311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21792"/>
            <a:ext cx="1118311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04672"/>
            <a:ext cx="11155680" cy="502920"/>
          </a:xfrm>
          <a:prstGeom prst="rect">
            <a:avLst/>
          </a:prstGeom>
          <a:noFill/>
        </p:spPr>
        <p:txBody>
          <a:bodyPr wrap="square" anchor="t"/>
          <a:lstStyle/>
          <a:p>
            <a:pPr algn="l"/>
            <a:r>
              <a:rPr sz="3600" b="1">
                <a:solidFill>
                  <a:srgbClr val="1A1A1A"/>
                </a:solidFill>
                <a:latin typeface="Cambria"/>
                <a:ea typeface="Cambria"/>
              </a:rPr>
              <a:t>一块4×7毫米的频率门</a:t>
            </a:r>
          </a:p>
        </p:txBody>
      </p:sp>
      <p:sp>
        <p:nvSpPr>
          <p:cNvPr id="9" name="TextBox 8"/>
          <p:cNvSpPr txBox="1"/>
          <p:nvPr/>
        </p:nvSpPr>
        <p:spPr>
          <a:xfrm>
            <a:off x="502920" y="1335024"/>
            <a:ext cx="11155680" cy="292608"/>
          </a:xfrm>
          <a:prstGeom prst="rect">
            <a:avLst/>
          </a:prstGeom>
          <a:noFill/>
        </p:spPr>
        <p:txBody>
          <a:bodyPr wrap="square" anchor="t"/>
          <a:lstStyle/>
          <a:p>
            <a:pPr algn="l"/>
            <a:r>
              <a:rPr sz="1400" b="0">
                <a:solidFill>
                  <a:srgbClr val="4A5568"/>
                </a:solidFill>
                <a:latin typeface="Calibri"/>
                <a:ea typeface="Calibri"/>
              </a:rPr>
              <a:t>量子计算第一次把光源、滤波、调制和整形焊在同一块电信波段硅片上。</a:t>
            </a:r>
          </a:p>
        </p:txBody>
      </p:sp>
      <p:sp>
        <p:nvSpPr>
          <p:cNvPr id="10" name="Rectangle 9"/>
          <p:cNvSpPr/>
          <p:nvPr/>
        </p:nvSpPr>
        <p:spPr>
          <a:xfrm>
            <a:off x="502920" y="1700784"/>
            <a:ext cx="6903720" cy="46634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810512"/>
            <a:ext cx="6574536" cy="237744"/>
          </a:xfrm>
          <a:prstGeom prst="rect">
            <a:avLst/>
          </a:prstGeom>
          <a:noFill/>
        </p:spPr>
        <p:txBody>
          <a:bodyPr wrap="square" anchor="t"/>
          <a:lstStyle/>
          <a:p>
            <a:pPr algn="l"/>
            <a:r>
              <a:rPr sz="1100" b="1">
                <a:solidFill>
                  <a:srgbClr val="C41E3A"/>
                </a:solidFill>
                <a:latin typeface="Calibri"/>
                <a:ea typeface="Calibri"/>
              </a:rPr>
              <a:t>11　科学 · 帕维亚 / 格勒诺布尔</a:t>
            </a:r>
          </a:p>
        </p:txBody>
      </p:sp>
      <p:sp>
        <p:nvSpPr>
          <p:cNvPr id="12" name="TextBox 11"/>
          <p:cNvSpPr txBox="1"/>
          <p:nvPr/>
        </p:nvSpPr>
        <p:spPr>
          <a:xfrm>
            <a:off x="667512" y="2048256"/>
            <a:ext cx="6574536" cy="713232"/>
          </a:xfrm>
          <a:prstGeom prst="rect">
            <a:avLst/>
          </a:prstGeom>
          <a:noFill/>
        </p:spPr>
        <p:txBody>
          <a:bodyPr wrap="square" anchor="t"/>
          <a:lstStyle/>
          <a:p>
            <a:pPr algn="l"/>
            <a:r>
              <a:rPr sz="1600" b="1">
                <a:solidFill>
                  <a:srgbClr val="1A1A1A"/>
                </a:solidFill>
                <a:latin typeface="Cambria"/>
                <a:ea typeface="Cambria"/>
              </a:rPr>
              <a:t>硅光芯片集成量子频率处理器，《自然·通讯》发表</a:t>
            </a:r>
          </a:p>
        </p:txBody>
      </p:sp>
      <p:sp>
        <p:nvSpPr>
          <p:cNvPr id="13" name="TextBox 12"/>
          <p:cNvSpPr txBox="1"/>
          <p:nvPr/>
        </p:nvSpPr>
        <p:spPr>
          <a:xfrm>
            <a:off x="667512" y="2743199"/>
            <a:ext cx="6574536" cy="256032"/>
          </a:xfrm>
          <a:prstGeom prst="rect">
            <a:avLst/>
          </a:prstGeom>
          <a:noFill/>
        </p:spPr>
        <p:txBody>
          <a:bodyPr wrap="square" anchor="t"/>
          <a:lstStyle/>
          <a:p>
            <a:pPr algn="l"/>
            <a:r>
              <a:rPr sz="1100" b="0">
                <a:solidFill>
                  <a:srgbClr val="4A5568"/>
                </a:solidFill>
                <a:latin typeface="Calibri"/>
                <a:ea typeface="Calibri"/>
              </a:rPr>
              <a:t>来源：Nature Communications　·　nature.com</a:t>
            </a:r>
          </a:p>
        </p:txBody>
      </p:sp>
      <p:sp>
        <p:nvSpPr>
          <p:cNvPr id="14" name="TextBox 13"/>
          <p:cNvSpPr txBox="1"/>
          <p:nvPr/>
        </p:nvSpPr>
        <p:spPr>
          <a:xfrm>
            <a:off x="667512" y="2999232"/>
            <a:ext cx="6574536" cy="960120"/>
          </a:xfrm>
          <a:prstGeom prst="rect">
            <a:avLst/>
          </a:prstGeom>
          <a:noFill/>
        </p:spPr>
        <p:txBody>
          <a:bodyPr wrap="square" anchor="t"/>
          <a:lstStyle/>
          <a:p>
            <a:pPr algn="l"/>
            <a:r>
              <a:rPr sz="1300" b="0">
                <a:solidFill>
                  <a:srgbClr val="1A1A1A"/>
                </a:solidFill>
                <a:latin typeface="Calibri"/>
                <a:ea typeface="Calibri"/>
              </a:rPr>
              <a:t>帕维亚大学与CEA-Leti团队15日发表论文，在4×7毫米硅芯片上集成量子频率梳、滤波、高速相位调制与四通道脉冲整形，频率分束成功率超94%、保真度超99.9%，片上Bell态层析保真度95.7%。</a:t>
            </a:r>
          </a:p>
        </p:txBody>
      </p:sp>
      <p:sp>
        <p:nvSpPr>
          <p:cNvPr id="15" name="Rectangle 14"/>
          <p:cNvSpPr/>
          <p:nvPr/>
        </p:nvSpPr>
        <p:spPr>
          <a:xfrm>
            <a:off x="667512" y="5522976"/>
            <a:ext cx="6574536"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5577840"/>
            <a:ext cx="6574536" cy="201168"/>
          </a:xfrm>
          <a:prstGeom prst="rect">
            <a:avLst/>
          </a:prstGeom>
          <a:noFill/>
        </p:spPr>
        <p:txBody>
          <a:bodyPr wrap="square" anchor="t"/>
          <a:lstStyle/>
          <a:p>
            <a:pPr algn="l"/>
            <a:r>
              <a:rPr sz="1100" b="1">
                <a:solidFill>
                  <a:srgbClr val="C41E3A"/>
                </a:solidFill>
                <a:latin typeface="Calibri"/>
                <a:ea typeface="Calibri"/>
              </a:rPr>
              <a:t>为何重要</a:t>
            </a:r>
          </a:p>
        </p:txBody>
      </p:sp>
      <p:sp>
        <p:nvSpPr>
          <p:cNvPr id="17" name="TextBox 16"/>
          <p:cNvSpPr txBox="1"/>
          <p:nvPr/>
        </p:nvSpPr>
        <p:spPr>
          <a:xfrm>
            <a:off x="667512" y="5779008"/>
            <a:ext cx="6574536" cy="475488"/>
          </a:xfrm>
          <a:prstGeom prst="rect">
            <a:avLst/>
          </a:prstGeom>
          <a:noFill/>
        </p:spPr>
        <p:txBody>
          <a:bodyPr wrap="square" anchor="t"/>
          <a:lstStyle/>
          <a:p>
            <a:pPr algn="l"/>
            <a:r>
              <a:rPr sz="1200" b="0">
                <a:solidFill>
                  <a:srgbClr val="4A5568"/>
                </a:solidFill>
                <a:latin typeface="Calibri"/>
                <a:ea typeface="Calibri"/>
              </a:rPr>
              <a:t>频率编码量子计算首次在单一硅片上走通，兼容现有电信波段。</a:t>
            </a:r>
          </a:p>
        </p:txBody>
      </p:sp>
      <p:sp>
        <p:nvSpPr>
          <p:cNvPr id="18" name="Rectangle 17"/>
          <p:cNvSpPr/>
          <p:nvPr/>
        </p:nvSpPr>
        <p:spPr>
          <a:xfrm>
            <a:off x="7589520" y="1700784"/>
            <a:ext cx="4096512" cy="466344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90688" y="1901952"/>
            <a:ext cx="3730752" cy="256032"/>
          </a:xfrm>
          <a:prstGeom prst="rect">
            <a:avLst/>
          </a:prstGeom>
          <a:noFill/>
        </p:spPr>
        <p:txBody>
          <a:bodyPr wrap="square" anchor="t"/>
          <a:lstStyle/>
          <a:p>
            <a:pPr algn="l"/>
            <a:r>
              <a:rPr sz="1200" b="1">
                <a:solidFill>
                  <a:srgbClr val="C41E3A"/>
                </a:solidFill>
                <a:latin typeface="Calibri"/>
                <a:ea typeface="Calibri"/>
              </a:rPr>
              <a:t>信息不足</a:t>
            </a:r>
          </a:p>
        </p:txBody>
      </p:sp>
      <p:sp>
        <p:nvSpPr>
          <p:cNvPr id="20" name="TextBox 19"/>
          <p:cNvSpPr txBox="1"/>
          <p:nvPr/>
        </p:nvSpPr>
        <p:spPr>
          <a:xfrm>
            <a:off x="7790688" y="2212848"/>
            <a:ext cx="3730752" cy="731520"/>
          </a:xfrm>
          <a:prstGeom prst="rect">
            <a:avLst/>
          </a:prstGeom>
          <a:noFill/>
        </p:spPr>
        <p:txBody>
          <a:bodyPr wrap="square" anchor="t"/>
          <a:lstStyle/>
          <a:p>
            <a:pPr algn="l"/>
            <a:r>
              <a:rPr sz="2000" b="1">
                <a:solidFill>
                  <a:srgbClr val="F7F4EF"/>
                </a:solidFill>
                <a:latin typeface="Cambria"/>
                <a:ea typeface="Cambria"/>
              </a:rPr>
              <a:t>芯片流片与互联网平台</a:t>
            </a:r>
          </a:p>
        </p:txBody>
      </p:sp>
      <p:sp>
        <p:nvSpPr>
          <p:cNvPr id="21" name="TextBox 20"/>
          <p:cNvSpPr txBox="1"/>
          <p:nvPr/>
        </p:nvSpPr>
        <p:spPr>
          <a:xfrm>
            <a:off x="7790688" y="3017520"/>
            <a:ext cx="3730752" cy="3017520"/>
          </a:xfrm>
          <a:prstGeom prst="rect">
            <a:avLst/>
          </a:prstGeom>
          <a:noFill/>
        </p:spPr>
        <p:txBody>
          <a:bodyPr wrap="square" anchor="t"/>
          <a:lstStyle/>
          <a:p>
            <a:pPr algn="l"/>
            <a:r>
              <a:rPr sz="1400" b="0">
                <a:solidFill>
                  <a:srgbClr val="F7F4EF"/>
                </a:solidFill>
                <a:latin typeface="Calibri"/>
                <a:ea typeface="Calibri"/>
              </a:rPr>
              <a:t>15日未见可交叉核验的海外芯片流片或量产公告，亦无国产互联网平台新产品上线。不以Jalapeño、Hugging Face收购、韬定律、麒麟9050 Pro或iPhone Duo复述凑数。吉隆与尼泊尔亦无15日新官方伤亡数字。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92608"/>
          </a:xfrm>
          <a:prstGeom prst="rect">
            <a:avLst/>
          </a:prstGeom>
          <a:noFill/>
        </p:spPr>
        <p:txBody>
          <a:bodyPr wrap="square" anchor="t"/>
          <a:lstStyle/>
          <a:p>
            <a:pPr algn="l"/>
            <a:r>
              <a:rPr sz="1400" b="1">
                <a:solidFill>
                  <a:srgbClr val="F7F4EF"/>
                </a:solidFill>
                <a:latin typeface="Cambria"/>
                <a:ea typeface="Cambria"/>
              </a:rPr>
              <a:t>每日时政科技简报</a:t>
            </a:r>
          </a:p>
        </p:txBody>
      </p:sp>
      <p:sp>
        <p:nvSpPr>
          <p:cNvPr id="4" name="TextBox 3"/>
          <p:cNvSpPr txBox="1"/>
          <p:nvPr/>
        </p:nvSpPr>
        <p:spPr>
          <a:xfrm>
            <a:off x="4297680" y="274320"/>
            <a:ext cx="5120640" cy="274320"/>
          </a:xfrm>
          <a:prstGeom prst="rect">
            <a:avLst/>
          </a:prstGeom>
          <a:noFill/>
        </p:spPr>
        <p:txBody>
          <a:bodyPr wrap="square" anchor="t"/>
          <a:lstStyle/>
          <a:p>
            <a:pPr algn="ctr"/>
            <a:r>
              <a:rPr sz="1100" b="0">
                <a:solidFill>
                  <a:srgbClr val="B8B0A4"/>
                </a:solidFill>
                <a:latin typeface="Calibri"/>
                <a:ea typeface="Calibri"/>
              </a:rPr>
              <a:t>第258期  ·  2026年9月15日  ·  星期二</a:t>
            </a:r>
          </a:p>
        </p:txBody>
      </p:sp>
      <p:sp>
        <p:nvSpPr>
          <p:cNvPr id="5" name="TextBox 4"/>
          <p:cNvSpPr txBox="1"/>
          <p:nvPr/>
        </p:nvSpPr>
        <p:spPr>
          <a:xfrm>
            <a:off x="9692640" y="274320"/>
            <a:ext cx="1965960" cy="274320"/>
          </a:xfrm>
          <a:prstGeom prst="rect">
            <a:avLst/>
          </a:prstGeom>
          <a:noFill/>
        </p:spPr>
        <p:txBody>
          <a:bodyPr wrap="square" anchor="t"/>
          <a:lstStyle/>
          <a:p>
            <a:pPr algn="r"/>
            <a:r>
              <a:rPr sz="1200" b="1">
                <a:solidFill>
                  <a:srgbClr val="C41E3A"/>
                </a:solidFill>
                <a:latin typeface="Calibri"/>
                <a:ea typeface="Calibri"/>
              </a:rPr>
              <a:t>晨刊</a:t>
            </a:r>
          </a:p>
        </p:txBody>
      </p:sp>
      <p:sp>
        <p:nvSpPr>
          <p:cNvPr id="6" name="Rectangle 5"/>
          <p:cNvSpPr/>
          <p:nvPr/>
        </p:nvSpPr>
        <p:spPr>
          <a:xfrm>
            <a:off x="502920" y="566928"/>
            <a:ext cx="1118311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21792"/>
            <a:ext cx="11183112" cy="9525"/>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04672"/>
            <a:ext cx="11155680" cy="502920"/>
          </a:xfrm>
          <a:prstGeom prst="rect">
            <a:avLst/>
          </a:prstGeom>
          <a:noFill/>
        </p:spPr>
        <p:txBody>
          <a:bodyPr wrap="square" anchor="t"/>
          <a:lstStyle/>
          <a:p>
            <a:pPr algn="l"/>
            <a:r>
              <a:rPr sz="3600" b="1">
                <a:solidFill>
                  <a:srgbClr val="F7F4EF"/>
                </a:solidFill>
                <a:latin typeface="Cambria"/>
                <a:ea typeface="Cambria"/>
              </a:rPr>
              <a:t>本日判断</a:t>
            </a:r>
          </a:p>
        </p:txBody>
      </p:sp>
      <p:sp>
        <p:nvSpPr>
          <p:cNvPr id="9" name="TextBox 8"/>
          <p:cNvSpPr txBox="1"/>
          <p:nvPr/>
        </p:nvSpPr>
        <p:spPr>
          <a:xfrm>
            <a:off x="502920" y="1371600"/>
            <a:ext cx="11183112" cy="1417320"/>
          </a:xfrm>
          <a:prstGeom prst="rect">
            <a:avLst/>
          </a:prstGeom>
          <a:noFill/>
        </p:spPr>
        <p:txBody>
          <a:bodyPr wrap="square" anchor="t"/>
          <a:lstStyle/>
          <a:p>
            <a:pPr algn="l"/>
            <a:r>
              <a:rPr sz="1500" b="1">
                <a:solidFill>
                  <a:srgbClr val="F7F4EF"/>
                </a:solidFill>
                <a:latin typeface="Cambria"/>
                <a:ea typeface="Cambria"/>
              </a:rPr>
              <a:t>星期二不是星期一的复述：阿莫林被写进日程，特朗普把「急于达成协议」与「能源互不打击」一并说出，后者当夜就被无人机拆掉。新华社用纪实收束新德里，又用综述把先进制造写成脊梁。科技栏交出Siri英文测试版、3D机房、三家安全磋商、民营组网火箭和一块硅光量子芯片。芯片流片与国产互联网平台首发不足，不拿转载稿补页。</a:t>
            </a:r>
          </a:p>
        </p:txBody>
      </p:sp>
      <p:sp>
        <p:nvSpPr>
          <p:cNvPr id="10" name="Rectangle 9"/>
          <p:cNvSpPr/>
          <p:nvPr/>
        </p:nvSpPr>
        <p:spPr>
          <a:xfrm>
            <a:off x="502920" y="2926080"/>
            <a:ext cx="5532120" cy="269748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926080"/>
            <a:ext cx="5468112" cy="269748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035808"/>
            <a:ext cx="5166360" cy="256032"/>
          </a:xfrm>
          <a:prstGeom prst="rect">
            <a:avLst/>
          </a:prstGeom>
          <a:noFill/>
        </p:spPr>
        <p:txBody>
          <a:bodyPr wrap="square" anchor="t"/>
          <a:lstStyle/>
          <a:p>
            <a:pPr algn="l"/>
            <a:r>
              <a:rPr sz="1200" b="1">
                <a:solidFill>
                  <a:srgbClr val="C41E3A"/>
                </a:solidFill>
                <a:latin typeface="Calibri"/>
                <a:ea typeface="Calibri"/>
              </a:rPr>
              <a:t>时政六条</a:t>
            </a:r>
          </a:p>
        </p:txBody>
      </p:sp>
      <p:sp>
        <p:nvSpPr>
          <p:cNvPr id="13" name="TextBox 12"/>
          <p:cNvSpPr txBox="1"/>
          <p:nvPr/>
        </p:nvSpPr>
        <p:spPr>
          <a:xfrm>
            <a:off x="685800" y="3328416"/>
            <a:ext cx="5166360" cy="2148840"/>
          </a:xfrm>
          <a:prstGeom prst="rect">
            <a:avLst/>
          </a:prstGeom>
          <a:noFill/>
        </p:spPr>
        <p:txBody>
          <a:bodyPr wrap="square" anchor="t"/>
          <a:lstStyle/>
          <a:p>
            <a:pPr algn="l"/>
            <a:r>
              <a:rPr sz="1300" b="0">
                <a:solidFill>
                  <a:srgbClr val="F7F4EF"/>
                </a:solidFill>
                <a:latin typeface="Calibri"/>
                <a:ea typeface="Calibri"/>
              </a:rPr>
              <a:t>1  郭嘉昆通报阿莫林访华，驳菲南海主张
2  特朗普称伊方急于达成协议，阿拉格齐赴华
3  乌俄能源互不打击口头宣布后当夜仍互袭
4  新华社刊发金砖新德里会晤纪实
5  「扎实推进先进制造业高质量发展」
6  嫦娥六号月背月壤赠送联合国</a:t>
            </a:r>
          </a:p>
        </p:txBody>
      </p:sp>
      <p:sp>
        <p:nvSpPr>
          <p:cNvPr id="14" name="TextBox 13"/>
          <p:cNvSpPr txBox="1"/>
          <p:nvPr/>
        </p:nvSpPr>
        <p:spPr>
          <a:xfrm>
            <a:off x="6400800" y="3035808"/>
            <a:ext cx="5102352" cy="256032"/>
          </a:xfrm>
          <a:prstGeom prst="rect">
            <a:avLst/>
          </a:prstGeom>
          <a:noFill/>
        </p:spPr>
        <p:txBody>
          <a:bodyPr wrap="square" anchor="t"/>
          <a:lstStyle/>
          <a:p>
            <a:pPr algn="l"/>
            <a:r>
              <a:rPr sz="1200" b="1">
                <a:solidFill>
                  <a:srgbClr val="C41E3A"/>
                </a:solidFill>
                <a:latin typeface="Calibri"/>
                <a:ea typeface="Calibri"/>
              </a:rPr>
              <a:t>科技五条</a:t>
            </a:r>
          </a:p>
        </p:txBody>
      </p:sp>
      <p:sp>
        <p:nvSpPr>
          <p:cNvPr id="15" name="TextBox 14"/>
          <p:cNvSpPr txBox="1"/>
          <p:nvPr/>
        </p:nvSpPr>
        <p:spPr>
          <a:xfrm>
            <a:off x="6400800" y="3328416"/>
            <a:ext cx="5102352" cy="2148840"/>
          </a:xfrm>
          <a:prstGeom prst="rect">
            <a:avLst/>
          </a:prstGeom>
          <a:noFill/>
        </p:spPr>
        <p:txBody>
          <a:bodyPr wrap="square" anchor="t"/>
          <a:lstStyle/>
          <a:p>
            <a:pPr algn="l"/>
            <a:r>
              <a:rPr sz="1300" b="0">
                <a:solidFill>
                  <a:srgbClr val="F7F4EF"/>
                </a:solidFill>
                <a:latin typeface="Calibri"/>
                <a:ea typeface="Calibri"/>
              </a:rPr>
              <a:t>7  iOS 27正式推送，Siri AI英文测试版上线
8  华为发布全球首个3D数据中心架构
9  OpenAI确认与对手磋商安全标准机构
10 朱雀二号遥七一箭十星发射千帆
11 硅光芯片集成量子频率处理器见刊</a:t>
            </a:r>
          </a:p>
        </p:txBody>
      </p:sp>
      <p:sp>
        <p:nvSpPr>
          <p:cNvPr id="16" name="TextBox 15"/>
          <p:cNvSpPr txBox="1"/>
          <p:nvPr/>
        </p:nvSpPr>
        <p:spPr>
          <a:xfrm>
            <a:off x="502920" y="5742432"/>
            <a:ext cx="11183112" cy="777240"/>
          </a:xfrm>
          <a:prstGeom prst="rect">
            <a:avLst/>
          </a:prstGeom>
          <a:noFill/>
        </p:spPr>
        <p:txBody>
          <a:bodyPr wrap="square" anchor="t"/>
          <a:lstStyle/>
          <a:p>
            <a:pPr algn="l"/>
            <a:r>
              <a:rPr sz="1200" b="0">
                <a:solidFill>
                  <a:srgbClr val="C9C2B6"/>
                </a:solidFill>
                <a:latin typeface="Calibri"/>
                <a:ea typeface="Calibri"/>
              </a:rPr>
              <a:t>方法：Asia/Shanghai 昨天 2026-09-15。iOS 27 为 14日17:08 UTC=沪时15日1:08；能源停火表态为 14日16:03 UTC=沪时15日0:03；金砖纪实 15日1:21 首发。未混入14日旧稿与更早复述。11条。Firecrawl 未安装鉴权。完 · 非投资建议。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