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F7F4EF"/>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C9C2B6"/>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8368"/>
            <a:ext cx="5669280" cy="256032"/>
          </a:xfrm>
          <a:prstGeom prst="rect">
            <a:avLst/>
          </a:prstGeom>
          <a:noFill/>
        </p:spPr>
        <p:txBody>
          <a:bodyPr wrap="square"/>
          <a:lstStyle/>
          <a:p>
            <a:pPr algn="l"/>
            <a:r>
              <a:rPr sz="1100" b="1" i="0">
                <a:solidFill>
                  <a:srgbClr val="C9C2B6"/>
                </a:solidFill>
                <a:latin typeface="Calibri"/>
                <a:ea typeface="Microsoft YaHei"/>
              </a:rPr>
              <a:t>●  THE MORNING DISPATCH</a:t>
            </a:r>
          </a:p>
        </p:txBody>
      </p:sp>
      <p:sp>
        <p:nvSpPr>
          <p:cNvPr id="9" name="TextBox 8"/>
          <p:cNvSpPr txBox="1"/>
          <p:nvPr/>
        </p:nvSpPr>
        <p:spPr>
          <a:xfrm>
            <a:off x="6766560" y="658368"/>
            <a:ext cx="4892040" cy="256032"/>
          </a:xfrm>
          <a:prstGeom prst="rect">
            <a:avLst/>
          </a:prstGeom>
          <a:noFill/>
        </p:spPr>
        <p:txBody>
          <a:bodyPr wrap="square"/>
          <a:lstStyle/>
          <a:p>
            <a:pPr algn="r"/>
            <a:r>
              <a:rPr sz="1100" b="0" i="0">
                <a:solidFill>
                  <a:srgbClr val="C9C2B6"/>
                </a:solidFill>
                <a:latin typeface="Calibri"/>
                <a:ea typeface="Microsoft YaHei"/>
              </a:rPr>
              <a:t>ASIA / SHANGHAI　昨日新闻</a:t>
            </a:r>
          </a:p>
        </p:txBody>
      </p:sp>
      <p:sp>
        <p:nvSpPr>
          <p:cNvPr id="10" name="Rectangle 9"/>
          <p:cNvSpPr/>
          <p:nvPr/>
        </p:nvSpPr>
        <p:spPr>
          <a:xfrm>
            <a:off x="502920" y="950976"/>
            <a:ext cx="11185855"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005840"/>
            <a:ext cx="1118585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115568"/>
            <a:ext cx="11155680" cy="292608"/>
          </a:xfrm>
          <a:prstGeom prst="rect">
            <a:avLst/>
          </a:prstGeom>
          <a:noFill/>
        </p:spPr>
        <p:txBody>
          <a:bodyPr wrap="square"/>
          <a:lstStyle/>
          <a:p>
            <a:pPr algn="l"/>
            <a:r>
              <a:rPr sz="1400" b="1" i="0">
                <a:solidFill>
                  <a:srgbClr val="C41E3A"/>
                </a:solidFill>
                <a:latin typeface="Cambria"/>
                <a:ea typeface="Microsoft YaHei"/>
              </a:rPr>
              <a:t>第零贰零期  ·  二零二六年十月十一日  ·  星期日</a:t>
            </a:r>
          </a:p>
        </p:txBody>
      </p:sp>
      <p:sp>
        <p:nvSpPr>
          <p:cNvPr id="13" name="TextBox 12"/>
          <p:cNvSpPr txBox="1"/>
          <p:nvPr/>
        </p:nvSpPr>
        <p:spPr>
          <a:xfrm>
            <a:off x="502920" y="1408176"/>
            <a:ext cx="11155680" cy="1051560"/>
          </a:xfrm>
          <a:prstGeom prst="rect">
            <a:avLst/>
          </a:prstGeom>
          <a:noFill/>
        </p:spPr>
        <p:txBody>
          <a:bodyPr wrap="square"/>
          <a:lstStyle/>
          <a:p>
            <a:pPr algn="l"/>
            <a:r>
              <a:rPr sz="4800" b="1" i="0">
                <a:solidFill>
                  <a:srgbClr val="F7F4EF"/>
                </a:solidFill>
                <a:latin typeface="Cambria"/>
                <a:ea typeface="Microsoft YaHei"/>
              </a:rPr>
              <a:t>每日时政科技简报</a:t>
            </a:r>
          </a:p>
        </p:txBody>
      </p:sp>
      <p:sp>
        <p:nvSpPr>
          <p:cNvPr id="14" name="TextBox 13"/>
          <p:cNvSpPr txBox="1"/>
          <p:nvPr/>
        </p:nvSpPr>
        <p:spPr>
          <a:xfrm>
            <a:off x="502920" y="2487168"/>
            <a:ext cx="11155680" cy="777240"/>
          </a:xfrm>
          <a:prstGeom prst="rect">
            <a:avLst/>
          </a:prstGeom>
          <a:noFill/>
        </p:spPr>
        <p:txBody>
          <a:bodyPr wrap="square"/>
          <a:lstStyle/>
          <a:p>
            <a:pPr algn="l"/>
            <a:r>
              <a:rPr sz="1600" b="0" i="0">
                <a:solidFill>
                  <a:srgbClr val="C9C2B6"/>
                </a:solidFill>
                <a:latin typeface="Calibri"/>
                <a:ea typeface="Microsoft YaHei"/>
              </a:rPr>
              <a:t>只收录该日发生或该日首发的稿件。政协写下中越议会对表，利雅得核出十二死，德黑兰否决霍尔木兹回信。科学栏用亚纳米电极和一步组装补上芯片留白。</a:t>
            </a:r>
          </a:p>
        </p:txBody>
      </p:sp>
      <p:sp>
        <p:nvSpPr>
          <p:cNvPr id="15" name="Rounded Rectangle 14"/>
          <p:cNvSpPr/>
          <p:nvPr/>
        </p:nvSpPr>
        <p:spPr>
          <a:xfrm>
            <a:off x="502920" y="3383280"/>
            <a:ext cx="3520440" cy="1572768"/>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493008"/>
            <a:ext cx="3154680" cy="777240"/>
          </a:xfrm>
          <a:prstGeom prst="rect">
            <a:avLst/>
          </a:prstGeom>
          <a:noFill/>
        </p:spPr>
        <p:txBody>
          <a:bodyPr wrap="square"/>
          <a:lstStyle/>
          <a:p>
            <a:pPr algn="l"/>
            <a:r>
              <a:rPr sz="4400" b="1" i="0">
                <a:solidFill>
                  <a:srgbClr val="C41E3A"/>
                </a:solidFill>
                <a:latin typeface="Cambria"/>
                <a:ea typeface="Microsoft YaHei"/>
              </a:rPr>
              <a:t>05</a:t>
            </a:r>
          </a:p>
        </p:txBody>
      </p:sp>
      <p:sp>
        <p:nvSpPr>
          <p:cNvPr id="17" name="TextBox 16"/>
          <p:cNvSpPr txBox="1"/>
          <p:nvPr/>
        </p:nvSpPr>
        <p:spPr>
          <a:xfrm>
            <a:off x="704088" y="4261104"/>
            <a:ext cx="3154680" cy="292608"/>
          </a:xfrm>
          <a:prstGeom prst="rect">
            <a:avLst/>
          </a:prstGeom>
          <a:noFill/>
        </p:spPr>
        <p:txBody>
          <a:bodyPr wrap="square"/>
          <a:lstStyle/>
          <a:p>
            <a:pPr algn="l"/>
            <a:r>
              <a:rPr sz="1800" b="1" i="0">
                <a:solidFill>
                  <a:srgbClr val="F7F4EF"/>
                </a:solidFill>
                <a:latin typeface="Calibri"/>
                <a:ea typeface="Microsoft YaHei"/>
              </a:rPr>
              <a:t>时政</a:t>
            </a:r>
          </a:p>
        </p:txBody>
      </p:sp>
      <p:sp>
        <p:nvSpPr>
          <p:cNvPr id="18" name="TextBox 17"/>
          <p:cNvSpPr txBox="1"/>
          <p:nvPr/>
        </p:nvSpPr>
        <p:spPr>
          <a:xfrm>
            <a:off x="704088" y="4553712"/>
            <a:ext cx="3154680" cy="274320"/>
          </a:xfrm>
          <a:prstGeom prst="rect">
            <a:avLst/>
          </a:prstGeom>
          <a:noFill/>
        </p:spPr>
        <p:txBody>
          <a:bodyPr wrap="square"/>
          <a:lstStyle/>
          <a:p>
            <a:pPr algn="l"/>
            <a:r>
              <a:rPr sz="1200" b="0" i="0">
                <a:solidFill>
                  <a:srgbClr val="8A847A"/>
                </a:solidFill>
                <a:latin typeface="Calibri"/>
                <a:ea typeface="Microsoft YaHei"/>
              </a:rPr>
              <a:t>议会 · 中东 · 海难</a:t>
            </a:r>
          </a:p>
        </p:txBody>
      </p:sp>
      <p:sp>
        <p:nvSpPr>
          <p:cNvPr id="19" name="Rounded Rectangle 18"/>
          <p:cNvSpPr/>
          <p:nvPr/>
        </p:nvSpPr>
        <p:spPr>
          <a:xfrm>
            <a:off x="4315968" y="3383280"/>
            <a:ext cx="3520440" cy="1572768"/>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17136" y="3493008"/>
            <a:ext cx="3154680" cy="777240"/>
          </a:xfrm>
          <a:prstGeom prst="rect">
            <a:avLst/>
          </a:prstGeom>
          <a:noFill/>
        </p:spPr>
        <p:txBody>
          <a:bodyPr wrap="square"/>
          <a:lstStyle/>
          <a:p>
            <a:pPr algn="l"/>
            <a:r>
              <a:rPr sz="4400" b="1" i="0">
                <a:solidFill>
                  <a:srgbClr val="C41E3A"/>
                </a:solidFill>
                <a:latin typeface="Cambria"/>
                <a:ea typeface="Microsoft YaHei"/>
              </a:rPr>
              <a:t>05</a:t>
            </a:r>
          </a:p>
        </p:txBody>
      </p:sp>
      <p:sp>
        <p:nvSpPr>
          <p:cNvPr id="21" name="TextBox 20"/>
          <p:cNvSpPr txBox="1"/>
          <p:nvPr/>
        </p:nvSpPr>
        <p:spPr>
          <a:xfrm>
            <a:off x="4517136" y="4261104"/>
            <a:ext cx="3154680" cy="292608"/>
          </a:xfrm>
          <a:prstGeom prst="rect">
            <a:avLst/>
          </a:prstGeom>
          <a:noFill/>
        </p:spPr>
        <p:txBody>
          <a:bodyPr wrap="square"/>
          <a:lstStyle/>
          <a:p>
            <a:pPr algn="l"/>
            <a:r>
              <a:rPr sz="1800" b="1" i="0">
                <a:solidFill>
                  <a:srgbClr val="F7F4EF"/>
                </a:solidFill>
                <a:latin typeface="Calibri"/>
                <a:ea typeface="Microsoft YaHei"/>
              </a:rPr>
              <a:t>科技</a:t>
            </a:r>
          </a:p>
        </p:txBody>
      </p:sp>
      <p:sp>
        <p:nvSpPr>
          <p:cNvPr id="22" name="TextBox 21"/>
          <p:cNvSpPr txBox="1"/>
          <p:nvPr/>
        </p:nvSpPr>
        <p:spPr>
          <a:xfrm>
            <a:off x="4517136" y="4553712"/>
            <a:ext cx="3154680" cy="274320"/>
          </a:xfrm>
          <a:prstGeom prst="rect">
            <a:avLst/>
          </a:prstGeom>
          <a:noFill/>
        </p:spPr>
        <p:txBody>
          <a:bodyPr wrap="square"/>
          <a:lstStyle/>
          <a:p>
            <a:pPr algn="l"/>
            <a:r>
              <a:rPr sz="1200" b="0" i="0">
                <a:solidFill>
                  <a:srgbClr val="8A847A"/>
                </a:solidFill>
                <a:latin typeface="Calibri"/>
                <a:ea typeface="Microsoft YaHei"/>
              </a:rPr>
              <a:t>材料 · 合成生物 · 治理</a:t>
            </a:r>
          </a:p>
        </p:txBody>
      </p:sp>
      <p:sp>
        <p:nvSpPr>
          <p:cNvPr id="23" name="Rounded Rectangle 22"/>
          <p:cNvSpPr/>
          <p:nvPr/>
        </p:nvSpPr>
        <p:spPr>
          <a:xfrm>
            <a:off x="8129016" y="3383280"/>
            <a:ext cx="3520440" cy="1572768"/>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0184" y="3493008"/>
            <a:ext cx="3154680" cy="777240"/>
          </a:xfrm>
          <a:prstGeom prst="rect">
            <a:avLst/>
          </a:prstGeom>
          <a:noFill/>
        </p:spPr>
        <p:txBody>
          <a:bodyPr wrap="square"/>
          <a:lstStyle/>
          <a:p>
            <a:pPr algn="l"/>
            <a:r>
              <a:rPr sz="4400" b="1" i="0">
                <a:solidFill>
                  <a:srgbClr val="C41E3A"/>
                </a:solidFill>
                <a:latin typeface="Cambria"/>
                <a:ea typeface="Microsoft YaHei"/>
              </a:rPr>
              <a:t>10</a:t>
            </a:r>
          </a:p>
        </p:txBody>
      </p:sp>
      <p:sp>
        <p:nvSpPr>
          <p:cNvPr id="25" name="TextBox 24"/>
          <p:cNvSpPr txBox="1"/>
          <p:nvPr/>
        </p:nvSpPr>
        <p:spPr>
          <a:xfrm>
            <a:off x="8330184" y="4261104"/>
            <a:ext cx="3154680" cy="292608"/>
          </a:xfrm>
          <a:prstGeom prst="rect">
            <a:avLst/>
          </a:prstGeom>
          <a:noFill/>
        </p:spPr>
        <p:txBody>
          <a:bodyPr wrap="square"/>
          <a:lstStyle/>
          <a:p>
            <a:pPr algn="l"/>
            <a:r>
              <a:rPr sz="1800" b="1" i="0">
                <a:solidFill>
                  <a:srgbClr val="F7F4EF"/>
                </a:solidFill>
                <a:latin typeface="Calibri"/>
                <a:ea typeface="Microsoft YaHei"/>
              </a:rPr>
              <a:t>合计</a:t>
            </a:r>
          </a:p>
        </p:txBody>
      </p:sp>
      <p:sp>
        <p:nvSpPr>
          <p:cNvPr id="26" name="TextBox 25"/>
          <p:cNvSpPr txBox="1"/>
          <p:nvPr/>
        </p:nvSpPr>
        <p:spPr>
          <a:xfrm>
            <a:off x="8330184" y="4553712"/>
            <a:ext cx="3154680" cy="274320"/>
          </a:xfrm>
          <a:prstGeom prst="rect">
            <a:avLst/>
          </a:prstGeom>
          <a:noFill/>
        </p:spPr>
        <p:txBody>
          <a:bodyPr wrap="square"/>
          <a:lstStyle/>
          <a:p>
            <a:pPr algn="l"/>
            <a:r>
              <a:rPr sz="1200" b="0" i="0">
                <a:solidFill>
                  <a:srgbClr val="8A847A"/>
                </a:solidFill>
                <a:latin typeface="Calibri"/>
                <a:ea typeface="Microsoft YaHei"/>
              </a:rPr>
              <a:t>周日沪时首发可核验</a:t>
            </a:r>
          </a:p>
        </p:txBody>
      </p:sp>
      <p:sp>
        <p:nvSpPr>
          <p:cNvPr id="27" name="TextBox 26"/>
          <p:cNvSpPr txBox="1"/>
          <p:nvPr/>
        </p:nvSpPr>
        <p:spPr>
          <a:xfrm>
            <a:off x="502920" y="5138928"/>
            <a:ext cx="11155680" cy="1051560"/>
          </a:xfrm>
          <a:prstGeom prst="rect">
            <a:avLst/>
          </a:prstGeom>
          <a:noFill/>
        </p:spPr>
        <p:txBody>
          <a:bodyPr wrap="square"/>
          <a:lstStyle/>
          <a:p>
            <a:pPr algn="l"/>
            <a:r>
              <a:rPr sz="1500" b="0" i="0">
                <a:solidFill>
                  <a:srgbClr val="F7F4EF"/>
                </a:solidFill>
                <a:latin typeface="Calibri"/>
                <a:ea typeface="Microsoft YaHei"/>
              </a:rPr>
              <a:t>今日主线：王沪宁会见陈青敏。沙特民航总局核出12死309伤。特朗普称将审视是否加入沙特打击。礼萨伊称美方霍尔木兹回应不足。清华把电解水过电位压到14毫伏。</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1792"/>
            <a:ext cx="2011680" cy="777240"/>
          </a:xfrm>
          <a:prstGeom prst="rect">
            <a:avLst/>
          </a:prstGeom>
          <a:noFill/>
        </p:spPr>
        <p:txBody>
          <a:bodyPr wrap="square"/>
          <a:lstStyle/>
          <a:p>
            <a:pPr algn="l"/>
            <a:r>
              <a:rPr sz="5600" b="1" i="0">
                <a:solidFill>
                  <a:srgbClr val="C41E3A"/>
                </a:solidFill>
                <a:latin typeface="Cambria"/>
                <a:ea typeface="Microsoft YaHei"/>
              </a:rPr>
              <a:t>01</a:t>
            </a:r>
          </a:p>
        </p:txBody>
      </p:sp>
      <p:sp>
        <p:nvSpPr>
          <p:cNvPr id="9" name="TextBox 8"/>
          <p:cNvSpPr txBox="1"/>
          <p:nvPr/>
        </p:nvSpPr>
        <p:spPr>
          <a:xfrm>
            <a:off x="2194560" y="713232"/>
            <a:ext cx="9418320" cy="566928"/>
          </a:xfrm>
          <a:prstGeom prst="rect">
            <a:avLst/>
          </a:prstGeom>
          <a:noFill/>
        </p:spPr>
        <p:txBody>
          <a:bodyPr wrap="square"/>
          <a:lstStyle/>
          <a:p>
            <a:pPr algn="l"/>
            <a:r>
              <a:rPr sz="4000" b="1" i="0">
                <a:solidFill>
                  <a:srgbClr val="1A1A1A"/>
                </a:solidFill>
                <a:latin typeface="Cambria"/>
                <a:ea typeface="Microsoft YaHei"/>
              </a:rPr>
              <a:t>时政开篇</a:t>
            </a:r>
          </a:p>
        </p:txBody>
      </p:sp>
      <p:sp>
        <p:nvSpPr>
          <p:cNvPr id="10" name="TextBox 9"/>
          <p:cNvSpPr txBox="1"/>
          <p:nvPr/>
        </p:nvSpPr>
        <p:spPr>
          <a:xfrm>
            <a:off x="2194560" y="1298448"/>
            <a:ext cx="9418320" cy="502920"/>
          </a:xfrm>
          <a:prstGeom prst="rect">
            <a:avLst/>
          </a:prstGeom>
          <a:noFill/>
        </p:spPr>
        <p:txBody>
          <a:bodyPr wrap="square"/>
          <a:lstStyle/>
          <a:p>
            <a:pPr algn="l"/>
            <a:r>
              <a:rPr sz="1500" b="0" i="0">
                <a:solidFill>
                  <a:srgbClr val="4A5568"/>
                </a:solidFill>
                <a:latin typeface="Calibri"/>
                <a:ea typeface="Microsoft YaHei"/>
              </a:rPr>
              <a:t>周日没有例会全文，也未见习近平、李强新会见。议会栏把8日预告写成抵京现场。中东把伤亡名单和回信否决同一天摊开。</a:t>
            </a:r>
          </a:p>
        </p:txBody>
      </p:sp>
      <p:sp>
        <p:nvSpPr>
          <p:cNvPr id="11" name="Rounded Rectangle 10"/>
          <p:cNvSpPr/>
          <p:nvPr/>
        </p:nvSpPr>
        <p:spPr>
          <a:xfrm>
            <a:off x="502920" y="1920240"/>
            <a:ext cx="11185855" cy="14173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011680"/>
            <a:ext cx="10607040" cy="237744"/>
          </a:xfrm>
          <a:prstGeom prst="rect">
            <a:avLst/>
          </a:prstGeom>
          <a:noFill/>
        </p:spPr>
        <p:txBody>
          <a:bodyPr wrap="square"/>
          <a:lstStyle/>
          <a:p>
            <a:pPr algn="l"/>
            <a:r>
              <a:rPr sz="1100" b="1" i="0">
                <a:solidFill>
                  <a:srgbClr val="C41E3A"/>
                </a:solidFill>
                <a:latin typeface="Calibri"/>
                <a:ea typeface="Microsoft YaHei"/>
              </a:rPr>
              <a:t>现场摘句 · 王沪宁 / 北京</a:t>
            </a:r>
          </a:p>
        </p:txBody>
      </p:sp>
      <p:sp>
        <p:nvSpPr>
          <p:cNvPr id="13" name="TextBox 12"/>
          <p:cNvSpPr txBox="1"/>
          <p:nvPr/>
        </p:nvSpPr>
        <p:spPr>
          <a:xfrm>
            <a:off x="758952" y="2286000"/>
            <a:ext cx="10607040" cy="868680"/>
          </a:xfrm>
          <a:prstGeom prst="rect">
            <a:avLst/>
          </a:prstGeom>
          <a:noFill/>
        </p:spPr>
        <p:txBody>
          <a:bodyPr wrap="square"/>
          <a:lstStyle/>
          <a:p>
            <a:pPr algn="l"/>
            <a:r>
              <a:rPr sz="1800" b="1" i="0">
                <a:solidFill>
                  <a:srgbClr val="1A1A1A"/>
                </a:solidFill>
                <a:latin typeface="Cambria"/>
                <a:ea typeface="Microsoft YaHei"/>
              </a:rPr>
              <a:t>中方愿同越方遵循两党两国最高领导人战略指引，按照「六个更」总体目标，高质量推进各领域互利合作，推进中越命运共同体建设。</a:t>
            </a:r>
          </a:p>
        </p:txBody>
      </p:sp>
      <p:sp>
        <p:nvSpPr>
          <p:cNvPr id="14" name="Rounded Rectangle 13"/>
          <p:cNvSpPr/>
          <p:nvPr/>
        </p:nvSpPr>
        <p:spPr>
          <a:xfrm>
            <a:off x="502920" y="3520440"/>
            <a:ext cx="3520440" cy="23317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666744"/>
            <a:ext cx="3154680" cy="658368"/>
          </a:xfrm>
          <a:prstGeom prst="rect">
            <a:avLst/>
          </a:prstGeom>
          <a:noFill/>
        </p:spPr>
        <p:txBody>
          <a:bodyPr wrap="square"/>
          <a:lstStyle/>
          <a:p>
            <a:pPr algn="l"/>
            <a:r>
              <a:rPr sz="3200" b="1" i="0">
                <a:solidFill>
                  <a:srgbClr val="C41E3A"/>
                </a:solidFill>
                <a:latin typeface="Cambria"/>
                <a:ea typeface="Microsoft YaHei"/>
              </a:rPr>
              <a:t>11–15</a:t>
            </a:r>
          </a:p>
        </p:txBody>
      </p:sp>
      <p:sp>
        <p:nvSpPr>
          <p:cNvPr id="16" name="TextBox 15"/>
          <p:cNvSpPr txBox="1"/>
          <p:nvPr/>
        </p:nvSpPr>
        <p:spPr>
          <a:xfrm>
            <a:off x="704088" y="4343400"/>
            <a:ext cx="3154680" cy="292608"/>
          </a:xfrm>
          <a:prstGeom prst="rect">
            <a:avLst/>
          </a:prstGeom>
          <a:noFill/>
        </p:spPr>
        <p:txBody>
          <a:bodyPr wrap="square"/>
          <a:lstStyle/>
          <a:p>
            <a:pPr algn="l"/>
            <a:r>
              <a:rPr sz="1400" b="1" i="0">
                <a:solidFill>
                  <a:srgbClr val="4A5568"/>
                </a:solidFill>
                <a:latin typeface="Calibri"/>
                <a:ea typeface="Microsoft YaHei"/>
              </a:rPr>
              <a:t>访华窗口</a:t>
            </a:r>
          </a:p>
        </p:txBody>
      </p:sp>
      <p:sp>
        <p:nvSpPr>
          <p:cNvPr id="17" name="TextBox 16"/>
          <p:cNvSpPr txBox="1"/>
          <p:nvPr/>
        </p:nvSpPr>
        <p:spPr>
          <a:xfrm>
            <a:off x="704088" y="4672584"/>
            <a:ext cx="3154680" cy="1005840"/>
          </a:xfrm>
          <a:prstGeom prst="rect">
            <a:avLst/>
          </a:prstGeom>
          <a:noFill/>
        </p:spPr>
        <p:txBody>
          <a:bodyPr wrap="square"/>
          <a:lstStyle/>
          <a:p>
            <a:pPr algn="l"/>
            <a:r>
              <a:rPr sz="1300" b="0" i="0">
                <a:solidFill>
                  <a:srgbClr val="1A1A1A"/>
                </a:solidFill>
                <a:latin typeface="Calibri"/>
                <a:ea typeface="Microsoft YaHei"/>
              </a:rPr>
              <a:t>陈青敏以国会主席身份首次访华，并将与赵乐际共主立法机构联委会。</a:t>
            </a:r>
          </a:p>
        </p:txBody>
      </p:sp>
      <p:sp>
        <p:nvSpPr>
          <p:cNvPr id="18" name="Rounded Rectangle 17"/>
          <p:cNvSpPr/>
          <p:nvPr/>
        </p:nvSpPr>
        <p:spPr>
          <a:xfrm>
            <a:off x="4315968" y="3520440"/>
            <a:ext cx="3520440" cy="23317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17136" y="3666744"/>
            <a:ext cx="3154680" cy="658368"/>
          </a:xfrm>
          <a:prstGeom prst="rect">
            <a:avLst/>
          </a:prstGeom>
          <a:noFill/>
        </p:spPr>
        <p:txBody>
          <a:bodyPr wrap="square"/>
          <a:lstStyle/>
          <a:p>
            <a:pPr algn="l"/>
            <a:r>
              <a:rPr sz="3200" b="1" i="0">
                <a:solidFill>
                  <a:srgbClr val="C41E3A"/>
                </a:solidFill>
                <a:latin typeface="Cambria"/>
                <a:ea typeface="Microsoft YaHei"/>
              </a:rPr>
              <a:t>12</a:t>
            </a:r>
          </a:p>
        </p:txBody>
      </p:sp>
      <p:sp>
        <p:nvSpPr>
          <p:cNvPr id="20" name="TextBox 19"/>
          <p:cNvSpPr txBox="1"/>
          <p:nvPr/>
        </p:nvSpPr>
        <p:spPr>
          <a:xfrm>
            <a:off x="4517136" y="4343400"/>
            <a:ext cx="3154680" cy="292608"/>
          </a:xfrm>
          <a:prstGeom prst="rect">
            <a:avLst/>
          </a:prstGeom>
          <a:noFill/>
        </p:spPr>
        <p:txBody>
          <a:bodyPr wrap="square"/>
          <a:lstStyle/>
          <a:p>
            <a:pPr algn="l"/>
            <a:r>
              <a:rPr sz="1400" b="1" i="0">
                <a:solidFill>
                  <a:srgbClr val="4A5568"/>
                </a:solidFill>
                <a:latin typeface="Calibri"/>
                <a:ea typeface="Microsoft YaHei"/>
              </a:rPr>
              <a:t>官方死亡</a:t>
            </a:r>
          </a:p>
        </p:txBody>
      </p:sp>
      <p:sp>
        <p:nvSpPr>
          <p:cNvPr id="21" name="TextBox 20"/>
          <p:cNvSpPr txBox="1"/>
          <p:nvPr/>
        </p:nvSpPr>
        <p:spPr>
          <a:xfrm>
            <a:off x="4517136" y="4672584"/>
            <a:ext cx="3154680" cy="1005840"/>
          </a:xfrm>
          <a:prstGeom prst="rect">
            <a:avLst/>
          </a:prstGeom>
          <a:noFill/>
        </p:spPr>
        <p:txBody>
          <a:bodyPr wrap="square"/>
          <a:lstStyle/>
          <a:p>
            <a:pPr algn="l"/>
            <a:r>
              <a:rPr sz="1300" b="0" i="0">
                <a:solidFill>
                  <a:srgbClr val="1A1A1A"/>
                </a:solidFill>
                <a:latin typeface="Calibri"/>
                <a:ea typeface="Microsoft YaHei"/>
              </a:rPr>
              <a:t>沙特民航总局清晨核出周六机场遇袭死亡人数，伤者309人。</a:t>
            </a:r>
          </a:p>
        </p:txBody>
      </p:sp>
      <p:sp>
        <p:nvSpPr>
          <p:cNvPr id="22" name="Rounded Rectangle 21"/>
          <p:cNvSpPr/>
          <p:nvPr/>
        </p:nvSpPr>
        <p:spPr>
          <a:xfrm>
            <a:off x="8129016" y="3520440"/>
            <a:ext cx="3520440" cy="23317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0184" y="3666744"/>
            <a:ext cx="3154680" cy="658368"/>
          </a:xfrm>
          <a:prstGeom prst="rect">
            <a:avLst/>
          </a:prstGeom>
          <a:noFill/>
        </p:spPr>
        <p:txBody>
          <a:bodyPr wrap="square"/>
          <a:lstStyle/>
          <a:p>
            <a:pPr algn="l"/>
            <a:r>
              <a:rPr sz="3200" b="1" i="0">
                <a:solidFill>
                  <a:srgbClr val="C41E3A"/>
                </a:solidFill>
                <a:latin typeface="Cambria"/>
                <a:ea typeface="Microsoft YaHei"/>
              </a:rPr>
              <a:t>139</a:t>
            </a:r>
          </a:p>
        </p:txBody>
      </p:sp>
      <p:sp>
        <p:nvSpPr>
          <p:cNvPr id="24" name="TextBox 23"/>
          <p:cNvSpPr txBox="1"/>
          <p:nvPr/>
        </p:nvSpPr>
        <p:spPr>
          <a:xfrm>
            <a:off x="8330184" y="4343400"/>
            <a:ext cx="3154680" cy="292608"/>
          </a:xfrm>
          <a:prstGeom prst="rect">
            <a:avLst/>
          </a:prstGeom>
          <a:noFill/>
        </p:spPr>
        <p:txBody>
          <a:bodyPr wrap="square"/>
          <a:lstStyle/>
          <a:p>
            <a:pPr algn="l"/>
            <a:r>
              <a:rPr sz="1400" b="1" i="0">
                <a:solidFill>
                  <a:srgbClr val="4A5568"/>
                </a:solidFill>
                <a:latin typeface="Calibri"/>
                <a:ea typeface="Microsoft YaHei"/>
              </a:rPr>
              <a:t>吉布提海难</a:t>
            </a:r>
          </a:p>
        </p:txBody>
      </p:sp>
      <p:sp>
        <p:nvSpPr>
          <p:cNvPr id="25" name="TextBox 24"/>
          <p:cNvSpPr txBox="1"/>
          <p:nvPr/>
        </p:nvSpPr>
        <p:spPr>
          <a:xfrm>
            <a:off x="8330184" y="4672584"/>
            <a:ext cx="3154680" cy="1005840"/>
          </a:xfrm>
          <a:prstGeom prst="rect">
            <a:avLst/>
          </a:prstGeom>
          <a:noFill/>
        </p:spPr>
        <p:txBody>
          <a:bodyPr wrap="square"/>
          <a:lstStyle/>
          <a:p>
            <a:pPr algn="l"/>
            <a:r>
              <a:rPr sz="1300" b="0" i="0">
                <a:solidFill>
                  <a:srgbClr val="1A1A1A"/>
                </a:solidFill>
                <a:latin typeface="Calibri"/>
                <a:ea typeface="Microsoft YaHei"/>
              </a:rPr>
              <a:t>国际移民组织同日把死亡数字从109改写成至少139。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640080"/>
            <a:ext cx="544068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896112"/>
            <a:ext cx="109728" cy="10972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841248"/>
            <a:ext cx="4754880" cy="237744"/>
          </a:xfrm>
          <a:prstGeom prst="rect">
            <a:avLst/>
          </a:prstGeom>
          <a:noFill/>
        </p:spPr>
        <p:txBody>
          <a:bodyPr wrap="square"/>
          <a:lstStyle/>
          <a:p>
            <a:pPr algn="l"/>
            <a:r>
              <a:rPr sz="1100" b="1" i="0">
                <a:solidFill>
                  <a:srgbClr val="C41E3A"/>
                </a:solidFill>
                <a:latin typeface="Calibri"/>
                <a:ea typeface="Microsoft YaHei"/>
              </a:rPr>
              <a:t>时政 01 · 议会</a:t>
            </a:r>
          </a:p>
        </p:txBody>
      </p:sp>
      <p:sp>
        <p:nvSpPr>
          <p:cNvPr id="11" name="TextBox 10"/>
          <p:cNvSpPr txBox="1"/>
          <p:nvPr/>
        </p:nvSpPr>
        <p:spPr>
          <a:xfrm>
            <a:off x="758952" y="1170432"/>
            <a:ext cx="4928616" cy="1234440"/>
          </a:xfrm>
          <a:prstGeom prst="rect">
            <a:avLst/>
          </a:prstGeom>
          <a:noFill/>
        </p:spPr>
        <p:txBody>
          <a:bodyPr wrap="square"/>
          <a:lstStyle/>
          <a:p>
            <a:pPr algn="l"/>
            <a:r>
              <a:rPr sz="3000" b="1" i="0">
                <a:solidFill>
                  <a:srgbClr val="1A1A1A"/>
                </a:solidFill>
                <a:latin typeface="Cambria"/>
                <a:ea typeface="Microsoft YaHei"/>
              </a:rPr>
              <a:t>王沪宁会见陈青敏</a:t>
            </a:r>
          </a:p>
        </p:txBody>
      </p:sp>
      <p:sp>
        <p:nvSpPr>
          <p:cNvPr id="12" name="TextBox 11"/>
          <p:cNvSpPr txBox="1"/>
          <p:nvPr/>
        </p:nvSpPr>
        <p:spPr>
          <a:xfrm>
            <a:off x="758952" y="2468880"/>
            <a:ext cx="4928616" cy="292608"/>
          </a:xfrm>
          <a:prstGeom prst="rect">
            <a:avLst/>
          </a:prstGeom>
          <a:noFill/>
        </p:spPr>
        <p:txBody>
          <a:bodyPr wrap="square"/>
          <a:lstStyle/>
          <a:p>
            <a:pPr algn="l"/>
            <a:r>
              <a:rPr sz="1200" b="0" i="1">
                <a:solidFill>
                  <a:srgbClr val="4A5568"/>
                </a:solidFill>
                <a:latin typeface="Calibri"/>
                <a:ea typeface="Microsoft YaHei"/>
              </a:rPr>
              <a:t>来源：新华社 / 越通社</a:t>
            </a:r>
          </a:p>
        </p:txBody>
      </p:sp>
      <p:sp>
        <p:nvSpPr>
          <p:cNvPr id="13" name="TextBox 12"/>
          <p:cNvSpPr txBox="1"/>
          <p:nvPr/>
        </p:nvSpPr>
        <p:spPr>
          <a:xfrm>
            <a:off x="758952" y="2834640"/>
            <a:ext cx="4928616" cy="2148840"/>
          </a:xfrm>
          <a:prstGeom prst="rect">
            <a:avLst/>
          </a:prstGeom>
          <a:noFill/>
        </p:spPr>
        <p:txBody>
          <a:bodyPr wrap="square"/>
          <a:lstStyle/>
          <a:p>
            <a:pPr algn="l"/>
            <a:r>
              <a:rPr sz="1500" b="0" i="0">
                <a:solidFill>
                  <a:srgbClr val="1A1A1A"/>
                </a:solidFill>
                <a:latin typeface="Calibri"/>
                <a:ea typeface="Microsoft YaHei"/>
              </a:rPr>
              <a:t>11日中午，越南国会主席陈青敏率团抵京，开始11–15日正式访问，并将与赵乐际共主中越立法机构联委会第二次会议。王沪宁当晚会见，强调按「六个更」推进中越命运共同体；陈青敏重申一个中国政策。赵乐际会见详稿未见。</a:t>
            </a:r>
          </a:p>
        </p:txBody>
      </p:sp>
      <p:sp>
        <p:nvSpPr>
          <p:cNvPr id="14" name="Rectangle 13"/>
          <p:cNvSpPr/>
          <p:nvPr/>
        </p:nvSpPr>
        <p:spPr>
          <a:xfrm>
            <a:off x="758952" y="5120640"/>
            <a:ext cx="492861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5193792"/>
            <a:ext cx="4928616"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16" name="TextBox 15"/>
          <p:cNvSpPr txBox="1"/>
          <p:nvPr/>
        </p:nvSpPr>
        <p:spPr>
          <a:xfrm>
            <a:off x="758952" y="5358384"/>
            <a:ext cx="4928616" cy="502920"/>
          </a:xfrm>
          <a:prstGeom prst="rect">
            <a:avLst/>
          </a:prstGeom>
          <a:noFill/>
        </p:spPr>
        <p:txBody>
          <a:bodyPr wrap="square"/>
          <a:lstStyle/>
          <a:p>
            <a:pPr algn="l"/>
            <a:r>
              <a:rPr sz="1200" b="0" i="0">
                <a:solidFill>
                  <a:srgbClr val="4A5568"/>
                </a:solidFill>
                <a:latin typeface="Calibri"/>
                <a:ea typeface="Microsoft YaHei"/>
              </a:rPr>
              <a:t>把8日预告写成可核验的访华首日现场，议会合作从日程改成政协对表。</a:t>
            </a:r>
          </a:p>
        </p:txBody>
      </p:sp>
      <p:sp>
        <p:nvSpPr>
          <p:cNvPr id="17" name="Rounded Rectangle 16"/>
          <p:cNvSpPr/>
          <p:nvPr/>
        </p:nvSpPr>
        <p:spPr>
          <a:xfrm>
            <a:off x="6291072" y="640080"/>
            <a:ext cx="544068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47104" y="896112"/>
            <a:ext cx="109728" cy="109728"/>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48272" y="841248"/>
            <a:ext cx="4754880" cy="237744"/>
          </a:xfrm>
          <a:prstGeom prst="rect">
            <a:avLst/>
          </a:prstGeom>
          <a:noFill/>
        </p:spPr>
        <p:txBody>
          <a:bodyPr wrap="square"/>
          <a:lstStyle/>
          <a:p>
            <a:pPr algn="l"/>
            <a:r>
              <a:rPr sz="1100" b="1" i="0">
                <a:solidFill>
                  <a:srgbClr val="C41E3A"/>
                </a:solidFill>
                <a:latin typeface="Calibri"/>
                <a:ea typeface="Microsoft YaHei"/>
              </a:rPr>
              <a:t>时政 02 · 中东</a:t>
            </a:r>
          </a:p>
        </p:txBody>
      </p:sp>
      <p:sp>
        <p:nvSpPr>
          <p:cNvPr id="20" name="TextBox 19"/>
          <p:cNvSpPr txBox="1"/>
          <p:nvPr/>
        </p:nvSpPr>
        <p:spPr>
          <a:xfrm>
            <a:off x="6547104" y="1170432"/>
            <a:ext cx="4928616" cy="1234440"/>
          </a:xfrm>
          <a:prstGeom prst="rect">
            <a:avLst/>
          </a:prstGeom>
          <a:noFill/>
        </p:spPr>
        <p:txBody>
          <a:bodyPr wrap="square"/>
          <a:lstStyle/>
          <a:p>
            <a:pPr algn="l"/>
            <a:r>
              <a:rPr sz="3000" b="1" i="0">
                <a:solidFill>
                  <a:srgbClr val="1A1A1A"/>
                </a:solidFill>
                <a:latin typeface="Cambria"/>
                <a:ea typeface="Microsoft YaHei"/>
              </a:rPr>
              <a:t>利雅得核出十二死</a:t>
            </a:r>
          </a:p>
        </p:txBody>
      </p:sp>
      <p:sp>
        <p:nvSpPr>
          <p:cNvPr id="21" name="TextBox 20"/>
          <p:cNvSpPr txBox="1"/>
          <p:nvPr/>
        </p:nvSpPr>
        <p:spPr>
          <a:xfrm>
            <a:off x="6547104" y="2468880"/>
            <a:ext cx="4928616" cy="292608"/>
          </a:xfrm>
          <a:prstGeom prst="rect">
            <a:avLst/>
          </a:prstGeom>
          <a:noFill/>
        </p:spPr>
        <p:txBody>
          <a:bodyPr wrap="square"/>
          <a:lstStyle/>
          <a:p>
            <a:pPr algn="l"/>
            <a:r>
              <a:rPr sz="1200" b="0" i="1">
                <a:solidFill>
                  <a:srgbClr val="4A5568"/>
                </a:solidFill>
                <a:latin typeface="Calibri"/>
                <a:ea typeface="Microsoft YaHei"/>
              </a:rPr>
              <a:t>来源：新华社 / 沙特民航总局</a:t>
            </a:r>
          </a:p>
        </p:txBody>
      </p:sp>
      <p:sp>
        <p:nvSpPr>
          <p:cNvPr id="22" name="TextBox 21"/>
          <p:cNvSpPr txBox="1"/>
          <p:nvPr/>
        </p:nvSpPr>
        <p:spPr>
          <a:xfrm>
            <a:off x="6547104" y="2834640"/>
            <a:ext cx="4928616" cy="2148840"/>
          </a:xfrm>
          <a:prstGeom prst="rect">
            <a:avLst/>
          </a:prstGeom>
          <a:noFill/>
        </p:spPr>
        <p:txBody>
          <a:bodyPr wrap="square"/>
          <a:lstStyle/>
          <a:p>
            <a:pPr algn="l"/>
            <a:r>
              <a:rPr sz="1500" b="0" i="0">
                <a:solidFill>
                  <a:srgbClr val="1A1A1A"/>
                </a:solidFill>
                <a:latin typeface="Calibri"/>
                <a:ea typeface="Microsoft YaHei"/>
              </a:rPr>
              <a:t>沙特民航总局周日清晨通报，周六哈立德国王国际机场遇袭造成12人死亡、309人受伤，死者含4名沙特公民及美、埃、约、叙、巴勒斯坦、苏丹和2名孟加拉国公民。机场继续关闭。美联社称周日再有投射物击中同一客运航站楼。</a:t>
            </a:r>
          </a:p>
        </p:txBody>
      </p:sp>
      <p:sp>
        <p:nvSpPr>
          <p:cNvPr id="23" name="Rectangle 22"/>
          <p:cNvSpPr/>
          <p:nvPr/>
        </p:nvSpPr>
        <p:spPr>
          <a:xfrm>
            <a:off x="6547104" y="5120640"/>
            <a:ext cx="4928616"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47104" y="5193792"/>
            <a:ext cx="4928616"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25" name="TextBox 24"/>
          <p:cNvSpPr txBox="1"/>
          <p:nvPr/>
        </p:nvSpPr>
        <p:spPr>
          <a:xfrm>
            <a:off x="6547104" y="5358384"/>
            <a:ext cx="4928616" cy="502920"/>
          </a:xfrm>
          <a:prstGeom prst="rect">
            <a:avLst/>
          </a:prstGeom>
          <a:noFill/>
        </p:spPr>
        <p:txBody>
          <a:bodyPr wrap="square"/>
          <a:lstStyle/>
          <a:p>
            <a:pPr algn="l"/>
            <a:r>
              <a:rPr sz="1200" b="0" i="0">
                <a:solidFill>
                  <a:srgbClr val="4A5568"/>
                </a:solidFill>
                <a:latin typeface="Calibri"/>
                <a:ea typeface="Microsoft YaHei"/>
              </a:rPr>
              <a:t>把10日「数十伤」改写成可追责的官方死亡名单，并标出首都机场连续两日遇袭。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1792"/>
            <a:ext cx="11155680" cy="502920"/>
          </a:xfrm>
          <a:prstGeom prst="rect">
            <a:avLst/>
          </a:prstGeom>
          <a:noFill/>
        </p:spPr>
        <p:txBody>
          <a:bodyPr wrap="square"/>
          <a:lstStyle/>
          <a:p>
            <a:pPr algn="l"/>
            <a:r>
              <a:rPr sz="3600" b="1" i="0">
                <a:solidFill>
                  <a:srgbClr val="1A1A1A"/>
                </a:solidFill>
                <a:latin typeface="Cambria"/>
                <a:ea typeface="Microsoft YaHei"/>
              </a:rPr>
              <a:t>双栏对照</a:t>
            </a:r>
          </a:p>
        </p:txBody>
      </p:sp>
      <p:sp>
        <p:nvSpPr>
          <p:cNvPr id="9" name="TextBox 8"/>
          <p:cNvSpPr txBox="1"/>
          <p:nvPr/>
        </p:nvSpPr>
        <p:spPr>
          <a:xfrm>
            <a:off x="502920" y="1115568"/>
            <a:ext cx="11155680" cy="365760"/>
          </a:xfrm>
          <a:prstGeom prst="rect">
            <a:avLst/>
          </a:prstGeom>
          <a:noFill/>
        </p:spPr>
        <p:txBody>
          <a:bodyPr wrap="square"/>
          <a:lstStyle/>
          <a:p>
            <a:pPr algn="l"/>
            <a:r>
              <a:rPr sz="1400" b="0" i="0">
                <a:solidFill>
                  <a:srgbClr val="4A5568"/>
                </a:solidFill>
                <a:latin typeface="Calibri"/>
                <a:ea typeface="Microsoft YaHei"/>
              </a:rPr>
              <a:t>一条写华盛顿要不要下场，一条写德黑兰把回信退回。战争同时出现在也门第二战线和霍尔木兹谈判桌上。</a:t>
            </a:r>
          </a:p>
        </p:txBody>
      </p:sp>
      <p:sp>
        <p:nvSpPr>
          <p:cNvPr id="10" name="Rounded Rectangle 9"/>
          <p:cNvSpPr/>
          <p:nvPr/>
        </p:nvSpPr>
        <p:spPr>
          <a:xfrm>
            <a:off x="502920" y="1572768"/>
            <a:ext cx="5440680" cy="47091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1737360"/>
            <a:ext cx="4983480" cy="237744"/>
          </a:xfrm>
          <a:prstGeom prst="rect">
            <a:avLst/>
          </a:prstGeom>
          <a:noFill/>
        </p:spPr>
        <p:txBody>
          <a:bodyPr wrap="square"/>
          <a:lstStyle/>
          <a:p>
            <a:pPr algn="l"/>
            <a:r>
              <a:rPr sz="1100" b="1" i="0">
                <a:solidFill>
                  <a:srgbClr val="C41E3A"/>
                </a:solidFill>
                <a:latin typeface="Calibri"/>
                <a:ea typeface="Microsoft YaHei"/>
              </a:rPr>
              <a:t>时政 03 · 华盛顿</a:t>
            </a:r>
          </a:p>
        </p:txBody>
      </p:sp>
      <p:sp>
        <p:nvSpPr>
          <p:cNvPr id="12" name="TextBox 11"/>
          <p:cNvSpPr txBox="1"/>
          <p:nvPr/>
        </p:nvSpPr>
        <p:spPr>
          <a:xfrm>
            <a:off x="740664" y="2011680"/>
            <a:ext cx="4983480" cy="1005840"/>
          </a:xfrm>
          <a:prstGeom prst="rect">
            <a:avLst/>
          </a:prstGeom>
          <a:noFill/>
        </p:spPr>
        <p:txBody>
          <a:bodyPr wrap="square"/>
          <a:lstStyle/>
          <a:p>
            <a:pPr algn="l"/>
            <a:r>
              <a:rPr sz="2800" b="1" i="0">
                <a:solidFill>
                  <a:srgbClr val="1A1A1A"/>
                </a:solidFill>
                <a:latin typeface="Cambria"/>
                <a:ea typeface="Microsoft YaHei"/>
              </a:rPr>
              <a:t>特朗普要看沙特战场</a:t>
            </a:r>
          </a:p>
        </p:txBody>
      </p:sp>
      <p:sp>
        <p:nvSpPr>
          <p:cNvPr id="13" name="TextBox 12"/>
          <p:cNvSpPr txBox="1"/>
          <p:nvPr/>
        </p:nvSpPr>
        <p:spPr>
          <a:xfrm>
            <a:off x="740664" y="3035808"/>
            <a:ext cx="4983480" cy="256032"/>
          </a:xfrm>
          <a:prstGeom prst="rect">
            <a:avLst/>
          </a:prstGeom>
          <a:noFill/>
        </p:spPr>
        <p:txBody>
          <a:bodyPr wrap="square"/>
          <a:lstStyle/>
          <a:p>
            <a:pPr algn="l"/>
            <a:r>
              <a:rPr sz="1200" b="0" i="1">
                <a:solidFill>
                  <a:srgbClr val="4A5568"/>
                </a:solidFill>
                <a:latin typeface="Calibri"/>
                <a:ea typeface="Microsoft YaHei"/>
              </a:rPr>
              <a:t>来源：CNBC / 美联社</a:t>
            </a:r>
          </a:p>
        </p:txBody>
      </p:sp>
      <p:sp>
        <p:nvSpPr>
          <p:cNvPr id="14" name="TextBox 13"/>
          <p:cNvSpPr txBox="1"/>
          <p:nvPr/>
        </p:nvSpPr>
        <p:spPr>
          <a:xfrm>
            <a:off x="740664" y="3355848"/>
            <a:ext cx="4983480" cy="1691640"/>
          </a:xfrm>
          <a:prstGeom prst="rect">
            <a:avLst/>
          </a:prstGeom>
          <a:noFill/>
        </p:spPr>
        <p:txBody>
          <a:bodyPr wrap="square"/>
          <a:lstStyle/>
          <a:p>
            <a:pPr algn="l"/>
            <a:r>
              <a:rPr sz="1400" b="0" i="0">
                <a:solidFill>
                  <a:srgbClr val="1A1A1A"/>
                </a:solidFill>
                <a:latin typeface="Calibri"/>
                <a:ea typeface="Microsoft YaHei"/>
              </a:rPr>
              <a:t>特朗普白宫外称「我们可能会」加入沙特反击胡塞，「会很快决定」。沙特官员向美方求紧急防务支持。英防相斯特里廷周日称已与沙特沟通、现阶段不参与进攻。机场附近的世界石油大会仍如期举行。</a:t>
            </a:r>
          </a:p>
        </p:txBody>
      </p:sp>
      <p:sp>
        <p:nvSpPr>
          <p:cNvPr id="15" name="Rectangle 14"/>
          <p:cNvSpPr/>
          <p:nvPr/>
        </p:nvSpPr>
        <p:spPr>
          <a:xfrm>
            <a:off x="740664" y="5184648"/>
            <a:ext cx="4983480"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5257800"/>
            <a:ext cx="4983480"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17" name="TextBox 16"/>
          <p:cNvSpPr txBox="1"/>
          <p:nvPr/>
        </p:nvSpPr>
        <p:spPr>
          <a:xfrm>
            <a:off x="740664" y="5422392"/>
            <a:ext cx="4983480" cy="502920"/>
          </a:xfrm>
          <a:prstGeom prst="rect">
            <a:avLst/>
          </a:prstGeom>
          <a:noFill/>
        </p:spPr>
        <p:txBody>
          <a:bodyPr wrap="square"/>
          <a:lstStyle/>
          <a:p>
            <a:pPr algn="l"/>
            <a:r>
              <a:rPr sz="1200" b="0" i="0">
                <a:solidFill>
                  <a:srgbClr val="4A5568"/>
                </a:solidFill>
                <a:latin typeface="Calibri"/>
                <a:ea typeface="Microsoft YaHei"/>
              </a:rPr>
              <a:t>把利雅得遇袭从民航事故改写成美英是否开辟也门第二战线的决策窗口。</a:t>
            </a:r>
          </a:p>
        </p:txBody>
      </p:sp>
      <p:sp>
        <p:nvSpPr>
          <p:cNvPr id="18" name="Rounded Rectangle 17"/>
          <p:cNvSpPr/>
          <p:nvPr/>
        </p:nvSpPr>
        <p:spPr>
          <a:xfrm>
            <a:off x="6291072" y="1572768"/>
            <a:ext cx="5440680" cy="47091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8816" y="1737360"/>
            <a:ext cx="4983480" cy="237744"/>
          </a:xfrm>
          <a:prstGeom prst="rect">
            <a:avLst/>
          </a:prstGeom>
          <a:noFill/>
        </p:spPr>
        <p:txBody>
          <a:bodyPr wrap="square"/>
          <a:lstStyle/>
          <a:p>
            <a:pPr algn="l"/>
            <a:r>
              <a:rPr sz="1100" b="1" i="0">
                <a:solidFill>
                  <a:srgbClr val="C41E3A"/>
                </a:solidFill>
                <a:latin typeface="Calibri"/>
                <a:ea typeface="Microsoft YaHei"/>
              </a:rPr>
              <a:t>时政 04 · 海峡</a:t>
            </a:r>
          </a:p>
        </p:txBody>
      </p:sp>
      <p:sp>
        <p:nvSpPr>
          <p:cNvPr id="20" name="TextBox 19"/>
          <p:cNvSpPr txBox="1"/>
          <p:nvPr/>
        </p:nvSpPr>
        <p:spPr>
          <a:xfrm>
            <a:off x="6528816" y="2011680"/>
            <a:ext cx="4983480" cy="1005840"/>
          </a:xfrm>
          <a:prstGeom prst="rect">
            <a:avLst/>
          </a:prstGeom>
          <a:noFill/>
        </p:spPr>
        <p:txBody>
          <a:bodyPr wrap="square"/>
          <a:lstStyle/>
          <a:p>
            <a:pPr algn="l"/>
            <a:r>
              <a:rPr sz="2800" b="1" i="0">
                <a:solidFill>
                  <a:srgbClr val="1A1A1A"/>
                </a:solidFill>
                <a:latin typeface="Cambria"/>
                <a:ea typeface="Microsoft YaHei"/>
              </a:rPr>
              <a:t>霍尔木兹回信不足</a:t>
            </a:r>
          </a:p>
        </p:txBody>
      </p:sp>
      <p:sp>
        <p:nvSpPr>
          <p:cNvPr id="21" name="TextBox 20"/>
          <p:cNvSpPr txBox="1"/>
          <p:nvPr/>
        </p:nvSpPr>
        <p:spPr>
          <a:xfrm>
            <a:off x="6528816" y="3035808"/>
            <a:ext cx="4983480" cy="256032"/>
          </a:xfrm>
          <a:prstGeom prst="rect">
            <a:avLst/>
          </a:prstGeom>
          <a:noFill/>
        </p:spPr>
        <p:txBody>
          <a:bodyPr wrap="square"/>
          <a:lstStyle/>
          <a:p>
            <a:pPr algn="l"/>
            <a:r>
              <a:rPr sz="1200" b="0" i="1">
                <a:solidFill>
                  <a:srgbClr val="4A5568"/>
                </a:solidFill>
                <a:latin typeface="Calibri"/>
                <a:ea typeface="Microsoft YaHei"/>
              </a:rPr>
              <a:t>来源：路透 / 阿拉比亚</a:t>
            </a:r>
          </a:p>
        </p:txBody>
      </p:sp>
      <p:sp>
        <p:nvSpPr>
          <p:cNvPr id="22" name="TextBox 21"/>
          <p:cNvSpPr txBox="1"/>
          <p:nvPr/>
        </p:nvSpPr>
        <p:spPr>
          <a:xfrm>
            <a:off x="6528816" y="3355848"/>
            <a:ext cx="4983480" cy="1691640"/>
          </a:xfrm>
          <a:prstGeom prst="rect">
            <a:avLst/>
          </a:prstGeom>
          <a:noFill/>
        </p:spPr>
        <p:txBody>
          <a:bodyPr wrap="square"/>
          <a:lstStyle/>
          <a:p>
            <a:pPr algn="l"/>
            <a:r>
              <a:rPr sz="1400" b="0" i="0">
                <a:solidFill>
                  <a:srgbClr val="1A1A1A"/>
                </a:solidFill>
                <a:latin typeface="Calibri"/>
                <a:ea typeface="Microsoft YaHei"/>
              </a:rPr>
              <a:t>伊朗最高国家安全委员会秘书礼萨伊周日说，美方经卡塔尔转达的霍尔木兹「七日方案」七条件回应「不足」，部分已接受、部分仍不清楚；在条件满足前不重开海峡、不谈判。他称「伊朗外交已改变，不会回到原状」。</a:t>
            </a:r>
          </a:p>
        </p:txBody>
      </p:sp>
      <p:sp>
        <p:nvSpPr>
          <p:cNvPr id="23" name="Rectangle 22"/>
          <p:cNvSpPr/>
          <p:nvPr/>
        </p:nvSpPr>
        <p:spPr>
          <a:xfrm>
            <a:off x="6528816" y="5184648"/>
            <a:ext cx="4983480"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8816" y="5257800"/>
            <a:ext cx="4983480"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25" name="TextBox 24"/>
          <p:cNvSpPr txBox="1"/>
          <p:nvPr/>
        </p:nvSpPr>
        <p:spPr>
          <a:xfrm>
            <a:off x="6528816" y="5422392"/>
            <a:ext cx="4983480" cy="502920"/>
          </a:xfrm>
          <a:prstGeom prst="rect">
            <a:avLst/>
          </a:prstGeom>
          <a:noFill/>
        </p:spPr>
        <p:txBody>
          <a:bodyPr wrap="square"/>
          <a:lstStyle/>
          <a:p>
            <a:pPr algn="l"/>
            <a:r>
              <a:rPr sz="1200" b="0" i="0">
                <a:solidFill>
                  <a:srgbClr val="4A5568"/>
                </a:solidFill>
                <a:latin typeface="Calibri"/>
                <a:ea typeface="Microsoft YaHei"/>
              </a:rPr>
              <a:t>把佩斯科夫10日「已转达构想」改写成德黑兰对美方回信的第一次公开否决。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658368"/>
            <a:ext cx="288036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960120"/>
            <a:ext cx="2468880" cy="1234440"/>
          </a:xfrm>
          <a:prstGeom prst="rect">
            <a:avLst/>
          </a:prstGeom>
          <a:noFill/>
        </p:spPr>
        <p:txBody>
          <a:bodyPr wrap="square"/>
          <a:lstStyle/>
          <a:p>
            <a:pPr algn="ctr"/>
            <a:r>
              <a:rPr sz="6400" b="1" i="0">
                <a:solidFill>
                  <a:srgbClr val="C41E3A"/>
                </a:solidFill>
                <a:latin typeface="Cambria"/>
                <a:ea typeface="Microsoft YaHei"/>
              </a:rPr>
              <a:t>139</a:t>
            </a:r>
          </a:p>
        </p:txBody>
      </p:sp>
      <p:sp>
        <p:nvSpPr>
          <p:cNvPr id="10" name="TextBox 9"/>
          <p:cNvSpPr txBox="1"/>
          <p:nvPr/>
        </p:nvSpPr>
        <p:spPr>
          <a:xfrm>
            <a:off x="704088" y="2194560"/>
            <a:ext cx="2468880" cy="365760"/>
          </a:xfrm>
          <a:prstGeom prst="rect">
            <a:avLst/>
          </a:prstGeom>
          <a:noFill/>
        </p:spPr>
        <p:txBody>
          <a:bodyPr wrap="square"/>
          <a:lstStyle/>
          <a:p>
            <a:pPr algn="ctr"/>
            <a:r>
              <a:rPr sz="1600" b="1" i="0">
                <a:solidFill>
                  <a:srgbClr val="4A5568"/>
                </a:solidFill>
                <a:latin typeface="Calibri"/>
                <a:ea typeface="Microsoft YaHei"/>
              </a:rPr>
              <a:t>官方死亡</a:t>
            </a:r>
          </a:p>
        </p:txBody>
      </p:sp>
      <p:sp>
        <p:nvSpPr>
          <p:cNvPr id="11" name="TextBox 10"/>
          <p:cNvSpPr txBox="1"/>
          <p:nvPr/>
        </p:nvSpPr>
        <p:spPr>
          <a:xfrm>
            <a:off x="704088" y="2651760"/>
            <a:ext cx="2468880" cy="329184"/>
          </a:xfrm>
          <a:prstGeom prst="rect">
            <a:avLst/>
          </a:prstGeom>
          <a:noFill/>
        </p:spPr>
        <p:txBody>
          <a:bodyPr wrap="square"/>
          <a:lstStyle/>
          <a:p>
            <a:pPr algn="ctr"/>
            <a:r>
              <a:rPr sz="1400" b="0" i="0">
                <a:solidFill>
                  <a:srgbClr val="1A1A1A"/>
                </a:solidFill>
                <a:latin typeface="Calibri"/>
                <a:ea typeface="Microsoft YaHei"/>
              </a:rPr>
              <a:t>84 人仍失踪</a:t>
            </a:r>
          </a:p>
        </p:txBody>
      </p:sp>
      <p:sp>
        <p:nvSpPr>
          <p:cNvPr id="12" name="TextBox 11"/>
          <p:cNvSpPr txBox="1"/>
          <p:nvPr/>
        </p:nvSpPr>
        <p:spPr>
          <a:xfrm>
            <a:off x="704088" y="3035808"/>
            <a:ext cx="2468880" cy="329184"/>
          </a:xfrm>
          <a:prstGeom prst="rect">
            <a:avLst/>
          </a:prstGeom>
          <a:noFill/>
        </p:spPr>
        <p:txBody>
          <a:bodyPr wrap="square"/>
          <a:lstStyle/>
          <a:p>
            <a:pPr algn="ctr"/>
            <a:r>
              <a:rPr sz="1400" b="0" i="0">
                <a:solidFill>
                  <a:srgbClr val="1A1A1A"/>
                </a:solidFill>
                <a:latin typeface="Calibri"/>
                <a:ea typeface="Microsoft YaHei"/>
              </a:rPr>
              <a:t>约 82 人获救</a:t>
            </a:r>
          </a:p>
        </p:txBody>
      </p:sp>
      <p:sp>
        <p:nvSpPr>
          <p:cNvPr id="13" name="TextBox 12"/>
          <p:cNvSpPr txBox="1"/>
          <p:nvPr/>
        </p:nvSpPr>
        <p:spPr>
          <a:xfrm>
            <a:off x="704088" y="3474720"/>
            <a:ext cx="2468880" cy="329184"/>
          </a:xfrm>
          <a:prstGeom prst="rect">
            <a:avLst/>
          </a:prstGeom>
          <a:noFill/>
        </p:spPr>
        <p:txBody>
          <a:bodyPr wrap="square"/>
          <a:lstStyle/>
          <a:p>
            <a:pPr algn="ctr"/>
            <a:r>
              <a:rPr sz="1400" b="0" i="0">
                <a:solidFill>
                  <a:srgbClr val="1A1A1A"/>
                </a:solidFill>
                <a:latin typeface="Calibri"/>
                <a:ea typeface="Microsoft YaHei"/>
              </a:rPr>
              <a:t>载约 305 人</a:t>
            </a:r>
          </a:p>
        </p:txBody>
      </p:sp>
      <p:sp>
        <p:nvSpPr>
          <p:cNvPr id="14" name="TextBox 13"/>
          <p:cNvSpPr txBox="1"/>
          <p:nvPr/>
        </p:nvSpPr>
        <p:spPr>
          <a:xfrm>
            <a:off x="704088" y="3931920"/>
            <a:ext cx="2468880" cy="1645920"/>
          </a:xfrm>
          <a:prstGeom prst="rect">
            <a:avLst/>
          </a:prstGeom>
          <a:noFill/>
        </p:spPr>
        <p:txBody>
          <a:bodyPr wrap="square"/>
          <a:lstStyle/>
          <a:p>
            <a:pPr algn="l"/>
            <a:r>
              <a:rPr sz="1300" b="0" i="0">
                <a:solidFill>
                  <a:srgbClr val="4A5568"/>
                </a:solidFill>
                <a:latin typeface="Calibri"/>
                <a:ea typeface="Microsoft YaHei"/>
              </a:rPr>
              <a:t>8–9日夜倾覆于 Obock 以北 Guehere。先报109，同日上修。</a:t>
            </a:r>
          </a:p>
        </p:txBody>
      </p:sp>
      <p:sp>
        <p:nvSpPr>
          <p:cNvPr id="15" name="Rounded Rectangle 14"/>
          <p:cNvSpPr/>
          <p:nvPr/>
        </p:nvSpPr>
        <p:spPr>
          <a:xfrm>
            <a:off x="3611880" y="658368"/>
            <a:ext cx="804672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822960"/>
            <a:ext cx="7498079" cy="237744"/>
          </a:xfrm>
          <a:prstGeom prst="rect">
            <a:avLst/>
          </a:prstGeom>
          <a:noFill/>
        </p:spPr>
        <p:txBody>
          <a:bodyPr wrap="square"/>
          <a:lstStyle/>
          <a:p>
            <a:pPr algn="l"/>
            <a:r>
              <a:rPr sz="1100" b="1" i="0">
                <a:solidFill>
                  <a:srgbClr val="C41E3A"/>
                </a:solidFill>
                <a:latin typeface="Calibri"/>
                <a:ea typeface="Microsoft YaHei"/>
              </a:rPr>
              <a:t>时政 05 · 海难</a:t>
            </a:r>
          </a:p>
        </p:txBody>
      </p:sp>
      <p:sp>
        <p:nvSpPr>
          <p:cNvPr id="17" name="TextBox 16"/>
          <p:cNvSpPr txBox="1"/>
          <p:nvPr/>
        </p:nvSpPr>
        <p:spPr>
          <a:xfrm>
            <a:off x="3886200" y="1115568"/>
            <a:ext cx="7498079" cy="777240"/>
          </a:xfrm>
          <a:prstGeom prst="rect">
            <a:avLst/>
          </a:prstGeom>
          <a:noFill/>
        </p:spPr>
        <p:txBody>
          <a:bodyPr wrap="square"/>
          <a:lstStyle/>
          <a:p>
            <a:pPr algn="l"/>
            <a:r>
              <a:rPr sz="3400" b="1" i="0">
                <a:solidFill>
                  <a:srgbClr val="1A1A1A"/>
                </a:solidFill>
                <a:latin typeface="Cambria"/>
                <a:ea typeface="Microsoft YaHei"/>
              </a:rPr>
              <a:t>吉布提沉船再改数字</a:t>
            </a:r>
          </a:p>
        </p:txBody>
      </p:sp>
      <p:sp>
        <p:nvSpPr>
          <p:cNvPr id="18" name="TextBox 17"/>
          <p:cNvSpPr txBox="1"/>
          <p:nvPr/>
        </p:nvSpPr>
        <p:spPr>
          <a:xfrm>
            <a:off x="3886200" y="1938528"/>
            <a:ext cx="7498079" cy="274320"/>
          </a:xfrm>
          <a:prstGeom prst="rect">
            <a:avLst/>
          </a:prstGeom>
          <a:noFill/>
        </p:spPr>
        <p:txBody>
          <a:bodyPr wrap="square"/>
          <a:lstStyle/>
          <a:p>
            <a:pPr algn="l"/>
            <a:r>
              <a:rPr sz="1300" b="0" i="1">
                <a:solidFill>
                  <a:srgbClr val="4A5568"/>
                </a:solidFill>
                <a:latin typeface="Calibri"/>
                <a:ea typeface="Microsoft YaHei"/>
              </a:rPr>
              <a:t>来源：国际移民组织 / 新华社</a:t>
            </a:r>
          </a:p>
        </p:txBody>
      </p:sp>
      <p:sp>
        <p:nvSpPr>
          <p:cNvPr id="19" name="TextBox 18"/>
          <p:cNvSpPr txBox="1"/>
          <p:nvPr/>
        </p:nvSpPr>
        <p:spPr>
          <a:xfrm>
            <a:off x="3886200" y="2304288"/>
            <a:ext cx="7498079" cy="1965960"/>
          </a:xfrm>
          <a:prstGeom prst="rect">
            <a:avLst/>
          </a:prstGeom>
          <a:noFill/>
        </p:spPr>
        <p:txBody>
          <a:bodyPr wrap="square"/>
          <a:lstStyle/>
          <a:p>
            <a:pPr algn="l"/>
            <a:r>
              <a:rPr sz="1500" b="0" i="0">
                <a:solidFill>
                  <a:srgbClr val="1A1A1A"/>
                </a:solidFill>
                <a:latin typeface="Calibri"/>
                <a:ea typeface="Microsoft YaHei"/>
              </a:rPr>
              <a:t>国际移民组织周日通报，一艘载约305人、自吉布提驶往也门的船只于8–9日夜在Obock以北Guehere倾覆。该组织先报109死，同日更新为至少139死、84人仍失踪，约82名埃塞俄比亚籍幸存者获救。</a:t>
            </a:r>
          </a:p>
        </p:txBody>
      </p:sp>
      <p:sp>
        <p:nvSpPr>
          <p:cNvPr id="20" name="Rectangle 19"/>
          <p:cNvSpPr/>
          <p:nvPr/>
        </p:nvSpPr>
        <p:spPr>
          <a:xfrm>
            <a:off x="3886200" y="4480560"/>
            <a:ext cx="7498079"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86200" y="4553712"/>
            <a:ext cx="7498079"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22" name="TextBox 21"/>
          <p:cNvSpPr txBox="1"/>
          <p:nvPr/>
        </p:nvSpPr>
        <p:spPr>
          <a:xfrm>
            <a:off x="3886200" y="4718304"/>
            <a:ext cx="7498079" cy="502920"/>
          </a:xfrm>
          <a:prstGeom prst="rect">
            <a:avLst/>
          </a:prstGeom>
          <a:noFill/>
        </p:spPr>
        <p:txBody>
          <a:bodyPr wrap="square"/>
          <a:lstStyle/>
          <a:p>
            <a:pPr algn="l"/>
            <a:r>
              <a:rPr sz="1200" b="0" i="0">
                <a:solidFill>
                  <a:srgbClr val="4A5568"/>
                </a:solidFill>
                <a:latin typeface="Calibri"/>
                <a:ea typeface="Microsoft YaHei"/>
              </a:rPr>
              <a:t>把东线偷渡从背景数字写成周日可核验的年度最严重海难之一，并标出数字同日上修。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21792"/>
            <a:ext cx="2011680" cy="777240"/>
          </a:xfrm>
          <a:prstGeom prst="rect">
            <a:avLst/>
          </a:prstGeom>
          <a:noFill/>
        </p:spPr>
        <p:txBody>
          <a:bodyPr wrap="square"/>
          <a:lstStyle/>
          <a:p>
            <a:pPr algn="l"/>
            <a:r>
              <a:rPr sz="5600" b="1" i="0">
                <a:solidFill>
                  <a:srgbClr val="C41E3A"/>
                </a:solidFill>
                <a:latin typeface="Cambria"/>
                <a:ea typeface="Microsoft YaHei"/>
              </a:rPr>
              <a:t>02</a:t>
            </a:r>
          </a:p>
        </p:txBody>
      </p:sp>
      <p:sp>
        <p:nvSpPr>
          <p:cNvPr id="9" name="TextBox 8"/>
          <p:cNvSpPr txBox="1"/>
          <p:nvPr/>
        </p:nvSpPr>
        <p:spPr>
          <a:xfrm>
            <a:off x="2194560" y="713232"/>
            <a:ext cx="9418320" cy="566928"/>
          </a:xfrm>
          <a:prstGeom prst="rect">
            <a:avLst/>
          </a:prstGeom>
          <a:noFill/>
        </p:spPr>
        <p:txBody>
          <a:bodyPr wrap="square"/>
          <a:lstStyle/>
          <a:p>
            <a:pPr algn="l"/>
            <a:r>
              <a:rPr sz="4000" b="1" i="0">
                <a:solidFill>
                  <a:srgbClr val="1A1A1A"/>
                </a:solidFill>
                <a:latin typeface="Cambria"/>
                <a:ea typeface="Microsoft YaHei"/>
              </a:rPr>
              <a:t>科技开篇</a:t>
            </a:r>
          </a:p>
        </p:txBody>
      </p:sp>
      <p:sp>
        <p:nvSpPr>
          <p:cNvPr id="10" name="TextBox 9"/>
          <p:cNvSpPr txBox="1"/>
          <p:nvPr/>
        </p:nvSpPr>
        <p:spPr>
          <a:xfrm>
            <a:off x="2194560" y="1298448"/>
            <a:ext cx="9418320" cy="457200"/>
          </a:xfrm>
          <a:prstGeom prst="rect">
            <a:avLst/>
          </a:prstGeom>
          <a:noFill/>
        </p:spPr>
        <p:txBody>
          <a:bodyPr wrap="square"/>
          <a:lstStyle/>
          <a:p>
            <a:pPr algn="l"/>
            <a:r>
              <a:rPr sz="1500" b="0" i="0">
                <a:solidFill>
                  <a:srgbClr val="4A5568"/>
                </a:solidFill>
                <a:latin typeface="Calibri"/>
                <a:ea typeface="Microsoft YaHei"/>
              </a:rPr>
              <a:t>国内没有发射，芯片没有流片。北美栏靠两条沪时已入周日的治理与并购传闻。科学栏用电极、菌群和洋流补上。</a:t>
            </a:r>
          </a:p>
        </p:txBody>
      </p:sp>
      <p:sp>
        <p:nvSpPr>
          <p:cNvPr id="11" name="Rounded Rectangle 10"/>
          <p:cNvSpPr/>
          <p:nvPr/>
        </p:nvSpPr>
        <p:spPr>
          <a:xfrm>
            <a:off x="502920" y="1874519"/>
            <a:ext cx="11185855" cy="1170432"/>
          </a:xfrm>
          <a:prstGeom prst="roundRect">
            <a:avLst>
              <a:gd name="adj" fmla="val 8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1956816"/>
            <a:ext cx="10607040" cy="219456"/>
          </a:xfrm>
          <a:prstGeom prst="rect">
            <a:avLst/>
          </a:prstGeom>
          <a:noFill/>
        </p:spPr>
        <p:txBody>
          <a:bodyPr wrap="square"/>
          <a:lstStyle/>
          <a:p>
            <a:pPr algn="l"/>
            <a:r>
              <a:rPr sz="1100" b="1" i="0">
                <a:solidFill>
                  <a:srgbClr val="C41E3A"/>
                </a:solidFill>
                <a:latin typeface="Calibri"/>
                <a:ea typeface="Microsoft YaHei"/>
              </a:rPr>
              <a:t>实验室首发 · 清华化学</a:t>
            </a:r>
          </a:p>
        </p:txBody>
      </p:sp>
      <p:sp>
        <p:nvSpPr>
          <p:cNvPr id="13" name="TextBox 12"/>
          <p:cNvSpPr txBox="1"/>
          <p:nvPr/>
        </p:nvSpPr>
        <p:spPr>
          <a:xfrm>
            <a:off x="758952" y="2212848"/>
            <a:ext cx="10607040" cy="658368"/>
          </a:xfrm>
          <a:prstGeom prst="rect">
            <a:avLst/>
          </a:prstGeom>
          <a:noFill/>
        </p:spPr>
        <p:txBody>
          <a:bodyPr wrap="square"/>
          <a:lstStyle/>
          <a:p>
            <a:pPr algn="l"/>
            <a:r>
              <a:rPr sz="1600" b="0" i="0">
                <a:solidFill>
                  <a:srgbClr val="F7F4EF"/>
                </a:solidFill>
                <a:latin typeface="Calibri"/>
                <a:ea typeface="Microsoft YaHei"/>
              </a:rPr>
              <a:t>油胺配体把亚纳米线上的镍就地还原。过电位掉到14.4毫伏，电解槽在1.62伏吐出2安培每平方厘米，室温跑过2200小时。</a:t>
            </a:r>
          </a:p>
        </p:txBody>
      </p:sp>
      <p:sp>
        <p:nvSpPr>
          <p:cNvPr id="14" name="Rounded Rectangle 13"/>
          <p:cNvSpPr/>
          <p:nvPr/>
        </p:nvSpPr>
        <p:spPr>
          <a:xfrm>
            <a:off x="502920" y="3246120"/>
            <a:ext cx="2606040" cy="23317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3374136"/>
            <a:ext cx="2350008" cy="640080"/>
          </a:xfrm>
          <a:prstGeom prst="rect">
            <a:avLst/>
          </a:prstGeom>
          <a:noFill/>
        </p:spPr>
        <p:txBody>
          <a:bodyPr wrap="square"/>
          <a:lstStyle/>
          <a:p>
            <a:pPr algn="l"/>
            <a:r>
              <a:rPr sz="2600" b="1" i="0">
                <a:solidFill>
                  <a:srgbClr val="C41E3A"/>
                </a:solidFill>
                <a:latin typeface="Cambria"/>
                <a:ea typeface="Microsoft YaHei"/>
              </a:rPr>
              <a:t>14.4</a:t>
            </a:r>
          </a:p>
        </p:txBody>
      </p:sp>
      <p:sp>
        <p:nvSpPr>
          <p:cNvPr id="16" name="TextBox 15"/>
          <p:cNvSpPr txBox="1"/>
          <p:nvPr/>
        </p:nvSpPr>
        <p:spPr>
          <a:xfrm>
            <a:off x="630936" y="4050792"/>
            <a:ext cx="2350008" cy="365760"/>
          </a:xfrm>
          <a:prstGeom prst="rect">
            <a:avLst/>
          </a:prstGeom>
          <a:noFill/>
        </p:spPr>
        <p:txBody>
          <a:bodyPr wrap="square"/>
          <a:lstStyle/>
          <a:p>
            <a:pPr algn="l"/>
            <a:r>
              <a:rPr sz="1300" b="1" i="0">
                <a:solidFill>
                  <a:srgbClr val="1A1A1A"/>
                </a:solidFill>
                <a:latin typeface="Calibri"/>
                <a:ea typeface="Microsoft YaHei"/>
              </a:rPr>
              <a:t>毫伏过电位</a:t>
            </a:r>
          </a:p>
        </p:txBody>
      </p:sp>
      <p:sp>
        <p:nvSpPr>
          <p:cNvPr id="17" name="TextBox 16"/>
          <p:cNvSpPr txBox="1"/>
          <p:nvPr/>
        </p:nvSpPr>
        <p:spPr>
          <a:xfrm>
            <a:off x="630936" y="4453128"/>
            <a:ext cx="2350008" cy="914400"/>
          </a:xfrm>
          <a:prstGeom prst="rect">
            <a:avLst/>
          </a:prstGeom>
          <a:noFill/>
        </p:spPr>
        <p:txBody>
          <a:bodyPr wrap="square"/>
          <a:lstStyle/>
          <a:p>
            <a:pPr algn="l"/>
            <a:r>
              <a:rPr sz="1200" b="0" i="0">
                <a:solidFill>
                  <a:srgbClr val="4A5568"/>
                </a:solidFill>
                <a:latin typeface="Calibri"/>
                <a:ea typeface="Microsoft YaHei"/>
              </a:rPr>
              <a:t>1 M KOH中达到10 mA cm⁻²所需过电位。</a:t>
            </a:r>
          </a:p>
        </p:txBody>
      </p:sp>
      <p:sp>
        <p:nvSpPr>
          <p:cNvPr id="18" name="Rounded Rectangle 17"/>
          <p:cNvSpPr/>
          <p:nvPr/>
        </p:nvSpPr>
        <p:spPr>
          <a:xfrm>
            <a:off x="3346704" y="3246120"/>
            <a:ext cx="2606040" cy="23317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3374136"/>
            <a:ext cx="2350008" cy="640080"/>
          </a:xfrm>
          <a:prstGeom prst="rect">
            <a:avLst/>
          </a:prstGeom>
          <a:noFill/>
        </p:spPr>
        <p:txBody>
          <a:bodyPr wrap="square"/>
          <a:lstStyle/>
          <a:p>
            <a:pPr algn="l"/>
            <a:r>
              <a:rPr sz="2600" b="1" i="0">
                <a:solidFill>
                  <a:srgbClr val="C41E3A"/>
                </a:solidFill>
                <a:latin typeface="Cambria"/>
                <a:ea typeface="Microsoft YaHei"/>
              </a:rPr>
              <a:t>31/34</a:t>
            </a:r>
          </a:p>
        </p:txBody>
      </p:sp>
      <p:sp>
        <p:nvSpPr>
          <p:cNvPr id="20" name="TextBox 19"/>
          <p:cNvSpPr txBox="1"/>
          <p:nvPr/>
        </p:nvSpPr>
        <p:spPr>
          <a:xfrm>
            <a:off x="3474720" y="4050792"/>
            <a:ext cx="2350008" cy="365760"/>
          </a:xfrm>
          <a:prstGeom prst="rect">
            <a:avLst/>
          </a:prstGeom>
          <a:noFill/>
        </p:spPr>
        <p:txBody>
          <a:bodyPr wrap="square"/>
          <a:lstStyle/>
          <a:p>
            <a:pPr algn="l"/>
            <a:r>
              <a:rPr sz="1300" b="1" i="0">
                <a:solidFill>
                  <a:srgbClr val="1A1A1A"/>
                </a:solidFill>
                <a:latin typeface="Calibri"/>
                <a:ea typeface="Microsoft YaHei"/>
              </a:rPr>
              <a:t>簇组装成功</a:t>
            </a:r>
          </a:p>
        </p:txBody>
      </p:sp>
      <p:sp>
        <p:nvSpPr>
          <p:cNvPr id="21" name="TextBox 20"/>
          <p:cNvSpPr txBox="1"/>
          <p:nvPr/>
        </p:nvSpPr>
        <p:spPr>
          <a:xfrm>
            <a:off x="3474720" y="4453128"/>
            <a:ext cx="2350008" cy="914400"/>
          </a:xfrm>
          <a:prstGeom prst="rect">
            <a:avLst/>
          </a:prstGeom>
          <a:noFill/>
        </p:spPr>
        <p:txBody>
          <a:bodyPr wrap="square"/>
          <a:lstStyle/>
          <a:p>
            <a:pPr algn="l"/>
            <a:r>
              <a:rPr sz="1200" b="0" i="0">
                <a:solidFill>
                  <a:srgbClr val="4A5568"/>
                </a:solidFill>
                <a:latin typeface="Calibri"/>
                <a:ea typeface="Microsoft YaHei"/>
              </a:rPr>
              <a:t>OSAR一步重构7–78 kb的NRPS基因簇。</a:t>
            </a:r>
          </a:p>
        </p:txBody>
      </p:sp>
      <p:sp>
        <p:nvSpPr>
          <p:cNvPr id="22" name="Rounded Rectangle 21"/>
          <p:cNvSpPr/>
          <p:nvPr/>
        </p:nvSpPr>
        <p:spPr>
          <a:xfrm>
            <a:off x="6190488" y="3246120"/>
            <a:ext cx="2606040" cy="23317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3374136"/>
            <a:ext cx="2350008" cy="640080"/>
          </a:xfrm>
          <a:prstGeom prst="rect">
            <a:avLst/>
          </a:prstGeom>
          <a:noFill/>
        </p:spPr>
        <p:txBody>
          <a:bodyPr wrap="square"/>
          <a:lstStyle/>
          <a:p>
            <a:pPr algn="l"/>
            <a:r>
              <a:rPr sz="2600" b="1" i="0">
                <a:solidFill>
                  <a:srgbClr val="C41E3A"/>
                </a:solidFill>
                <a:latin typeface="Cambria"/>
                <a:ea typeface="Microsoft YaHei"/>
              </a:rPr>
              <a:t>3.8%</a:t>
            </a:r>
          </a:p>
        </p:txBody>
      </p:sp>
      <p:sp>
        <p:nvSpPr>
          <p:cNvPr id="24" name="TextBox 23"/>
          <p:cNvSpPr txBox="1"/>
          <p:nvPr/>
        </p:nvSpPr>
        <p:spPr>
          <a:xfrm>
            <a:off x="6318504" y="4050792"/>
            <a:ext cx="2350008" cy="365760"/>
          </a:xfrm>
          <a:prstGeom prst="rect">
            <a:avLst/>
          </a:prstGeom>
          <a:noFill/>
        </p:spPr>
        <p:txBody>
          <a:bodyPr wrap="square"/>
          <a:lstStyle/>
          <a:p>
            <a:pPr algn="l"/>
            <a:r>
              <a:rPr sz="1300" b="1" i="0">
                <a:solidFill>
                  <a:srgbClr val="1A1A1A"/>
                </a:solidFill>
                <a:latin typeface="Calibri"/>
                <a:ea typeface="Microsoft YaHei"/>
              </a:rPr>
              <a:t>十年增幅</a:t>
            </a:r>
          </a:p>
        </p:txBody>
      </p:sp>
      <p:sp>
        <p:nvSpPr>
          <p:cNvPr id="25" name="TextBox 24"/>
          <p:cNvSpPr txBox="1"/>
          <p:nvPr/>
        </p:nvSpPr>
        <p:spPr>
          <a:xfrm>
            <a:off x="6318504" y="4453128"/>
            <a:ext cx="2350008" cy="914400"/>
          </a:xfrm>
          <a:prstGeom prst="rect">
            <a:avLst/>
          </a:prstGeom>
          <a:noFill/>
        </p:spPr>
        <p:txBody>
          <a:bodyPr wrap="square"/>
          <a:lstStyle/>
          <a:p>
            <a:pPr algn="l"/>
            <a:r>
              <a:rPr sz="1200" b="0" i="0">
                <a:solidFill>
                  <a:srgbClr val="4A5568"/>
                </a:solidFill>
                <a:latin typeface="Calibri"/>
                <a:ea typeface="Microsoft YaHei"/>
              </a:rPr>
              <a:t>大西洋海表近惯性流盆均强度的观测趋势。</a:t>
            </a:r>
          </a:p>
        </p:txBody>
      </p:sp>
      <p:sp>
        <p:nvSpPr>
          <p:cNvPr id="26" name="Rounded Rectangle 25"/>
          <p:cNvSpPr/>
          <p:nvPr/>
        </p:nvSpPr>
        <p:spPr>
          <a:xfrm>
            <a:off x="9034272" y="3246120"/>
            <a:ext cx="2606040" cy="233172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62288" y="3374136"/>
            <a:ext cx="2350008" cy="640080"/>
          </a:xfrm>
          <a:prstGeom prst="rect">
            <a:avLst/>
          </a:prstGeom>
          <a:noFill/>
        </p:spPr>
        <p:txBody>
          <a:bodyPr wrap="square"/>
          <a:lstStyle/>
          <a:p>
            <a:pPr algn="l"/>
            <a:r>
              <a:rPr sz="2600" b="1" i="0">
                <a:solidFill>
                  <a:srgbClr val="C41E3A"/>
                </a:solidFill>
                <a:latin typeface="Cambria"/>
                <a:ea typeface="Microsoft YaHei"/>
              </a:rPr>
              <a:t>02:14</a:t>
            </a:r>
          </a:p>
        </p:txBody>
      </p:sp>
      <p:sp>
        <p:nvSpPr>
          <p:cNvPr id="28" name="TextBox 27"/>
          <p:cNvSpPr txBox="1"/>
          <p:nvPr/>
        </p:nvSpPr>
        <p:spPr>
          <a:xfrm>
            <a:off x="9162288" y="4050792"/>
            <a:ext cx="2350008" cy="365760"/>
          </a:xfrm>
          <a:prstGeom prst="rect">
            <a:avLst/>
          </a:prstGeom>
          <a:noFill/>
        </p:spPr>
        <p:txBody>
          <a:bodyPr wrap="square"/>
          <a:lstStyle/>
          <a:p>
            <a:pPr algn="l"/>
            <a:r>
              <a:rPr sz="1300" b="1" i="0">
                <a:solidFill>
                  <a:srgbClr val="1A1A1A"/>
                </a:solidFill>
                <a:latin typeface="Calibri"/>
                <a:ea typeface="Microsoft YaHei"/>
              </a:rPr>
              <a:t>沪时见报</a:t>
            </a:r>
          </a:p>
        </p:txBody>
      </p:sp>
      <p:sp>
        <p:nvSpPr>
          <p:cNvPr id="29" name="TextBox 28"/>
          <p:cNvSpPr txBox="1"/>
          <p:nvPr/>
        </p:nvSpPr>
        <p:spPr>
          <a:xfrm>
            <a:off x="9162288" y="4453128"/>
            <a:ext cx="2350008" cy="914400"/>
          </a:xfrm>
          <a:prstGeom prst="rect">
            <a:avLst/>
          </a:prstGeom>
          <a:noFill/>
        </p:spPr>
        <p:txBody>
          <a:bodyPr wrap="square"/>
          <a:lstStyle/>
          <a:p>
            <a:pPr algn="l"/>
            <a:r>
              <a:rPr sz="1200" b="0" i="0">
                <a:solidFill>
                  <a:srgbClr val="4A5568"/>
                </a:solidFill>
                <a:latin typeface="Calibri"/>
                <a:ea typeface="Microsoft YaHei"/>
              </a:rPr>
              <a:t>金融时报英伟达—Reflection稿折入周日窗口。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640080"/>
            <a:ext cx="11185855" cy="306324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804672"/>
            <a:ext cx="1920240" cy="822960"/>
          </a:xfrm>
          <a:prstGeom prst="rect">
            <a:avLst/>
          </a:prstGeom>
          <a:noFill/>
        </p:spPr>
        <p:txBody>
          <a:bodyPr wrap="square"/>
          <a:lstStyle/>
          <a:p>
            <a:pPr algn="ctr"/>
            <a:r>
              <a:rPr sz="4000" b="1" i="0">
                <a:solidFill>
                  <a:srgbClr val="C41E3A"/>
                </a:solidFill>
                <a:latin typeface="Cambria"/>
                <a:ea typeface="Microsoft YaHei"/>
              </a:rPr>
              <a:t>14.4</a:t>
            </a:r>
          </a:p>
        </p:txBody>
      </p:sp>
      <p:sp>
        <p:nvSpPr>
          <p:cNvPr id="10" name="TextBox 9"/>
          <p:cNvSpPr txBox="1"/>
          <p:nvPr/>
        </p:nvSpPr>
        <p:spPr>
          <a:xfrm>
            <a:off x="704088" y="1627632"/>
            <a:ext cx="1920240" cy="365760"/>
          </a:xfrm>
          <a:prstGeom prst="rect">
            <a:avLst/>
          </a:prstGeom>
          <a:noFill/>
        </p:spPr>
        <p:txBody>
          <a:bodyPr wrap="square"/>
          <a:lstStyle/>
          <a:p>
            <a:pPr algn="ctr"/>
            <a:r>
              <a:rPr sz="1600" b="1" i="0">
                <a:solidFill>
                  <a:srgbClr val="4A5568"/>
                </a:solidFill>
                <a:latin typeface="Calibri"/>
                <a:ea typeface="Microsoft YaHei"/>
              </a:rPr>
              <a:t>mV</a:t>
            </a:r>
          </a:p>
        </p:txBody>
      </p:sp>
      <p:sp>
        <p:nvSpPr>
          <p:cNvPr id="11" name="TextBox 10"/>
          <p:cNvSpPr txBox="1"/>
          <p:nvPr/>
        </p:nvSpPr>
        <p:spPr>
          <a:xfrm>
            <a:off x="2788920" y="749808"/>
            <a:ext cx="8686800" cy="219456"/>
          </a:xfrm>
          <a:prstGeom prst="rect">
            <a:avLst/>
          </a:prstGeom>
          <a:noFill/>
        </p:spPr>
        <p:txBody>
          <a:bodyPr wrap="square"/>
          <a:lstStyle/>
          <a:p>
            <a:pPr algn="l"/>
            <a:r>
              <a:rPr sz="1100" b="1" i="0">
                <a:solidFill>
                  <a:srgbClr val="C41E3A"/>
                </a:solidFill>
                <a:latin typeface="Calibri"/>
                <a:ea typeface="Microsoft YaHei"/>
              </a:rPr>
              <a:t>科技 01 · 材料</a:t>
            </a:r>
          </a:p>
        </p:txBody>
      </p:sp>
      <p:sp>
        <p:nvSpPr>
          <p:cNvPr id="12" name="TextBox 11"/>
          <p:cNvSpPr txBox="1"/>
          <p:nvPr/>
        </p:nvSpPr>
        <p:spPr>
          <a:xfrm>
            <a:off x="2788920" y="987552"/>
            <a:ext cx="8686800" cy="566928"/>
          </a:xfrm>
          <a:prstGeom prst="rect">
            <a:avLst/>
          </a:prstGeom>
          <a:noFill/>
        </p:spPr>
        <p:txBody>
          <a:bodyPr wrap="square"/>
          <a:lstStyle/>
          <a:p>
            <a:pPr algn="l"/>
            <a:r>
              <a:rPr sz="3000" b="1" i="0">
                <a:solidFill>
                  <a:srgbClr val="1A1A1A"/>
                </a:solidFill>
                <a:latin typeface="Cambria"/>
                <a:ea typeface="Microsoft YaHei"/>
              </a:rPr>
              <a:t>亚纳米界面做电解水</a:t>
            </a:r>
          </a:p>
        </p:txBody>
      </p:sp>
      <p:sp>
        <p:nvSpPr>
          <p:cNvPr id="13" name="TextBox 12"/>
          <p:cNvSpPr txBox="1"/>
          <p:nvPr/>
        </p:nvSpPr>
        <p:spPr>
          <a:xfrm>
            <a:off x="2788920" y="1572768"/>
            <a:ext cx="8686800" cy="237744"/>
          </a:xfrm>
          <a:prstGeom prst="rect">
            <a:avLst/>
          </a:prstGeom>
          <a:noFill/>
        </p:spPr>
        <p:txBody>
          <a:bodyPr wrap="square"/>
          <a:lstStyle/>
          <a:p>
            <a:pPr algn="l"/>
            <a:r>
              <a:rPr sz="1200" b="0" i="1">
                <a:solidFill>
                  <a:srgbClr val="4A5568"/>
                </a:solidFill>
                <a:latin typeface="Calibri"/>
                <a:ea typeface="Microsoft YaHei"/>
              </a:rPr>
              <a:t>来源：Nature Communications / 清华大学</a:t>
            </a:r>
          </a:p>
        </p:txBody>
      </p:sp>
      <p:sp>
        <p:nvSpPr>
          <p:cNvPr id="14" name="TextBox 13"/>
          <p:cNvSpPr txBox="1"/>
          <p:nvPr/>
        </p:nvSpPr>
        <p:spPr>
          <a:xfrm>
            <a:off x="2788920" y="1865376"/>
            <a:ext cx="8686800" cy="1051560"/>
          </a:xfrm>
          <a:prstGeom prst="rect">
            <a:avLst/>
          </a:prstGeom>
          <a:noFill/>
        </p:spPr>
        <p:txBody>
          <a:bodyPr wrap="square"/>
          <a:lstStyle/>
          <a:p>
            <a:pPr algn="l"/>
            <a:r>
              <a:rPr sz="1400" b="0" i="0">
                <a:solidFill>
                  <a:srgbClr val="1A1A1A"/>
                </a:solidFill>
                <a:latin typeface="Calibri"/>
                <a:ea typeface="Microsoft YaHei"/>
              </a:rPr>
              <a:t>清华王训、肖海、刘庆达团队11日报告，用油胺配体原位还原生成Ni/NiMoO₄亚纳米交替异质结。碱性电解达10 mA cm⁻²过电位仅14.4±2.9 mV；电解槽80°C下1.62 V输出2 A cm⁻²，室温稳定超2200小时。</a:t>
            </a:r>
          </a:p>
        </p:txBody>
      </p:sp>
      <p:sp>
        <p:nvSpPr>
          <p:cNvPr id="15" name="Rectangle 14"/>
          <p:cNvSpPr/>
          <p:nvPr/>
        </p:nvSpPr>
        <p:spPr>
          <a:xfrm>
            <a:off x="2788920" y="2944368"/>
            <a:ext cx="8686800"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017520"/>
            <a:ext cx="8686800"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17" name="TextBox 16"/>
          <p:cNvSpPr txBox="1"/>
          <p:nvPr/>
        </p:nvSpPr>
        <p:spPr>
          <a:xfrm>
            <a:off x="2788920" y="3182112"/>
            <a:ext cx="8686800" cy="502920"/>
          </a:xfrm>
          <a:prstGeom prst="rect">
            <a:avLst/>
          </a:prstGeom>
          <a:noFill/>
        </p:spPr>
        <p:txBody>
          <a:bodyPr wrap="square"/>
          <a:lstStyle/>
          <a:p>
            <a:pPr algn="l"/>
            <a:r>
              <a:rPr sz="1200" b="0" i="0">
                <a:solidFill>
                  <a:srgbClr val="4A5568"/>
                </a:solidFill>
                <a:latin typeface="Calibri"/>
                <a:ea typeface="Microsoft YaHei"/>
              </a:rPr>
              <a:t>把亚纳米界面从结构化学写成可长时间大电流的电解水器件，给绿氢电极一条可重复的制备路径。</a:t>
            </a:r>
          </a:p>
        </p:txBody>
      </p:sp>
      <p:sp>
        <p:nvSpPr>
          <p:cNvPr id="18" name="Rounded Rectangle 17"/>
          <p:cNvSpPr/>
          <p:nvPr/>
        </p:nvSpPr>
        <p:spPr>
          <a:xfrm>
            <a:off x="502920" y="3840480"/>
            <a:ext cx="11185855" cy="2450592"/>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950208"/>
            <a:ext cx="10972800" cy="219456"/>
          </a:xfrm>
          <a:prstGeom prst="rect">
            <a:avLst/>
          </a:prstGeom>
          <a:noFill/>
        </p:spPr>
        <p:txBody>
          <a:bodyPr wrap="square"/>
          <a:lstStyle/>
          <a:p>
            <a:pPr algn="l"/>
            <a:r>
              <a:rPr sz="1100" b="1" i="0">
                <a:solidFill>
                  <a:srgbClr val="C41E3A"/>
                </a:solidFill>
                <a:latin typeface="Calibri"/>
                <a:ea typeface="Microsoft YaHei"/>
              </a:rPr>
              <a:t>科技 02 · 合成生物</a:t>
            </a:r>
          </a:p>
        </p:txBody>
      </p:sp>
      <p:sp>
        <p:nvSpPr>
          <p:cNvPr id="20" name="TextBox 19"/>
          <p:cNvSpPr txBox="1"/>
          <p:nvPr/>
        </p:nvSpPr>
        <p:spPr>
          <a:xfrm>
            <a:off x="758952" y="4169663"/>
            <a:ext cx="10972800" cy="438912"/>
          </a:xfrm>
          <a:prstGeom prst="rect">
            <a:avLst/>
          </a:prstGeom>
          <a:noFill/>
        </p:spPr>
        <p:txBody>
          <a:bodyPr wrap="square"/>
          <a:lstStyle/>
          <a:p>
            <a:pPr algn="l"/>
            <a:r>
              <a:rPr sz="2600" b="1" i="0">
                <a:solidFill>
                  <a:srgbClr val="1A1A1A"/>
                </a:solidFill>
                <a:latin typeface="Cambria"/>
                <a:ea typeface="Microsoft YaHei"/>
              </a:rPr>
              <a:t>一步组装NRPS簇</a:t>
            </a:r>
          </a:p>
        </p:txBody>
      </p:sp>
      <p:sp>
        <p:nvSpPr>
          <p:cNvPr id="21" name="TextBox 20"/>
          <p:cNvSpPr txBox="1"/>
          <p:nvPr/>
        </p:nvSpPr>
        <p:spPr>
          <a:xfrm>
            <a:off x="758952" y="4626864"/>
            <a:ext cx="10972800" cy="219456"/>
          </a:xfrm>
          <a:prstGeom prst="rect">
            <a:avLst/>
          </a:prstGeom>
          <a:noFill/>
        </p:spPr>
        <p:txBody>
          <a:bodyPr wrap="square"/>
          <a:lstStyle/>
          <a:p>
            <a:pPr algn="l"/>
            <a:r>
              <a:rPr sz="1200" b="0" i="1">
                <a:solidFill>
                  <a:srgbClr val="4A5568"/>
                </a:solidFill>
                <a:latin typeface="Calibri"/>
                <a:ea typeface="Microsoft YaHei"/>
              </a:rPr>
              <a:t>来源：Nature Communications / 中科院深圳先进院</a:t>
            </a:r>
          </a:p>
        </p:txBody>
      </p:sp>
      <p:sp>
        <p:nvSpPr>
          <p:cNvPr id="22" name="TextBox 21"/>
          <p:cNvSpPr txBox="1"/>
          <p:nvPr/>
        </p:nvSpPr>
        <p:spPr>
          <a:xfrm>
            <a:off x="758952" y="4864608"/>
            <a:ext cx="10972800" cy="777240"/>
          </a:xfrm>
          <a:prstGeom prst="rect">
            <a:avLst/>
          </a:prstGeom>
          <a:noFill/>
        </p:spPr>
        <p:txBody>
          <a:bodyPr wrap="square"/>
          <a:lstStyle/>
          <a:p>
            <a:pPr algn="l"/>
            <a:r>
              <a:rPr sz="1400" b="0" i="0">
                <a:solidFill>
                  <a:srgbClr val="1A1A1A"/>
                </a:solidFill>
                <a:latin typeface="Calibri"/>
                <a:ea typeface="Microsoft YaHei"/>
              </a:rPr>
              <a:t>罗小舟与Keasling等11日发布OSAR平台，用算法引物设计加酵母同源重组，无需定制合成即可组装7–78 kb的NRPS基因簇：34个组装成功31个，在枯草芽孢杆菌中得到10个簇的29种肽，并观察到模块跳跃等隐秘合成行为。</a:t>
            </a:r>
          </a:p>
        </p:txBody>
      </p:sp>
      <p:sp>
        <p:nvSpPr>
          <p:cNvPr id="23" name="TextBox 22"/>
          <p:cNvSpPr txBox="1"/>
          <p:nvPr/>
        </p:nvSpPr>
        <p:spPr>
          <a:xfrm>
            <a:off x="758952" y="5669280"/>
            <a:ext cx="10972800" cy="457200"/>
          </a:xfrm>
          <a:prstGeom prst="rect">
            <a:avLst/>
          </a:prstGeom>
          <a:noFill/>
        </p:spPr>
        <p:txBody>
          <a:bodyPr wrap="square"/>
          <a:lstStyle/>
          <a:p>
            <a:pPr algn="l"/>
            <a:r>
              <a:rPr sz="1200" b="0" i="0">
                <a:solidFill>
                  <a:srgbClr val="4A5568"/>
                </a:solidFill>
                <a:latin typeface="Calibri"/>
                <a:ea typeface="Microsoft YaHei"/>
              </a:rPr>
              <a:t>为何重要　把「基因组里有药、手上没有」改写成可自动化的一步重构，降低天然产物挖掘对DNA合成的依赖。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640080"/>
            <a:ext cx="544068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841248"/>
            <a:ext cx="4983480" cy="237744"/>
          </a:xfrm>
          <a:prstGeom prst="rect">
            <a:avLst/>
          </a:prstGeom>
          <a:noFill/>
        </p:spPr>
        <p:txBody>
          <a:bodyPr wrap="square"/>
          <a:lstStyle/>
          <a:p>
            <a:pPr algn="l"/>
            <a:r>
              <a:rPr sz="1100" b="1" i="0">
                <a:solidFill>
                  <a:srgbClr val="C41E3A"/>
                </a:solidFill>
                <a:latin typeface="Calibri"/>
                <a:ea typeface="Microsoft YaHei"/>
              </a:rPr>
              <a:t>科技 03 · 治理</a:t>
            </a:r>
          </a:p>
        </p:txBody>
      </p:sp>
      <p:sp>
        <p:nvSpPr>
          <p:cNvPr id="10" name="TextBox 9"/>
          <p:cNvSpPr txBox="1"/>
          <p:nvPr/>
        </p:nvSpPr>
        <p:spPr>
          <a:xfrm>
            <a:off x="740664" y="1143000"/>
            <a:ext cx="4983480" cy="1143000"/>
          </a:xfrm>
          <a:prstGeom prst="rect">
            <a:avLst/>
          </a:prstGeom>
          <a:noFill/>
        </p:spPr>
        <p:txBody>
          <a:bodyPr wrap="square"/>
          <a:lstStyle/>
          <a:p>
            <a:pPr algn="l"/>
            <a:r>
              <a:rPr sz="2800" b="1" i="0">
                <a:solidFill>
                  <a:srgbClr val="1A1A1A"/>
                </a:solidFill>
                <a:latin typeface="Cambria"/>
                <a:ea typeface="Microsoft YaHei"/>
              </a:rPr>
              <a:t>纳德拉要紧急制动</a:t>
            </a:r>
          </a:p>
        </p:txBody>
      </p:sp>
      <p:sp>
        <p:nvSpPr>
          <p:cNvPr id="11" name="TextBox 10"/>
          <p:cNvSpPr txBox="1"/>
          <p:nvPr/>
        </p:nvSpPr>
        <p:spPr>
          <a:xfrm>
            <a:off x="740664" y="2359152"/>
            <a:ext cx="4983480" cy="256032"/>
          </a:xfrm>
          <a:prstGeom prst="rect">
            <a:avLst/>
          </a:prstGeom>
          <a:noFill/>
        </p:spPr>
        <p:txBody>
          <a:bodyPr wrap="square"/>
          <a:lstStyle/>
          <a:p>
            <a:pPr algn="l"/>
            <a:r>
              <a:rPr sz="1200" b="0" i="1">
                <a:solidFill>
                  <a:srgbClr val="4A5568"/>
                </a:solidFill>
                <a:latin typeface="Calibri"/>
                <a:ea typeface="Microsoft YaHei"/>
              </a:rPr>
              <a:t>来源：TechCrunch / CNBC</a:t>
            </a:r>
          </a:p>
        </p:txBody>
      </p:sp>
      <p:sp>
        <p:nvSpPr>
          <p:cNvPr id="12" name="TextBox 11"/>
          <p:cNvSpPr txBox="1"/>
          <p:nvPr/>
        </p:nvSpPr>
        <p:spPr>
          <a:xfrm>
            <a:off x="740664" y="2706623"/>
            <a:ext cx="4983480" cy="2011680"/>
          </a:xfrm>
          <a:prstGeom prst="rect">
            <a:avLst/>
          </a:prstGeom>
          <a:noFill/>
        </p:spPr>
        <p:txBody>
          <a:bodyPr wrap="square"/>
          <a:lstStyle/>
          <a:p>
            <a:pPr algn="l"/>
            <a:r>
              <a:rPr sz="1400" b="0" i="0">
                <a:solidFill>
                  <a:srgbClr val="1A1A1A"/>
                </a:solidFill>
                <a:latin typeface="Calibri"/>
                <a:ea typeface="Microsoft YaHei"/>
              </a:rPr>
              <a:t>微软首席执行官纳德拉周六上午在X发文，英媒首发折沪时已入11日。他要求把模型与编排层分开，关键动作留下防篡改可读日志，授权人员可在任务中途暂停或关闭模型，并「从一开始就假定模型已被攻破」。</a:t>
            </a:r>
          </a:p>
        </p:txBody>
      </p:sp>
      <p:sp>
        <p:nvSpPr>
          <p:cNvPr id="13" name="Rectangle 12"/>
          <p:cNvSpPr/>
          <p:nvPr/>
        </p:nvSpPr>
        <p:spPr>
          <a:xfrm>
            <a:off x="740664" y="4937760"/>
            <a:ext cx="4983480"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5010912"/>
            <a:ext cx="4983480"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15" name="TextBox 14"/>
          <p:cNvSpPr txBox="1"/>
          <p:nvPr/>
        </p:nvSpPr>
        <p:spPr>
          <a:xfrm>
            <a:off x="740664" y="5175504"/>
            <a:ext cx="4983480" cy="502920"/>
          </a:xfrm>
          <a:prstGeom prst="rect">
            <a:avLst/>
          </a:prstGeom>
          <a:noFill/>
        </p:spPr>
        <p:txBody>
          <a:bodyPr wrap="square"/>
          <a:lstStyle/>
          <a:p>
            <a:pPr algn="l"/>
            <a:r>
              <a:rPr sz="1200" b="0" i="0">
                <a:solidFill>
                  <a:srgbClr val="4A5568"/>
                </a:solidFill>
                <a:latin typeface="Calibri"/>
                <a:ea typeface="Microsoft YaHei"/>
              </a:rPr>
              <a:t>把超级智能安全从训练暂停改写成运行时急停与权限隔离，是周日可核验的北美云厂商口径。</a:t>
            </a:r>
          </a:p>
        </p:txBody>
      </p:sp>
      <p:sp>
        <p:nvSpPr>
          <p:cNvPr id="16" name="Rounded Rectangle 15"/>
          <p:cNvSpPr/>
          <p:nvPr/>
        </p:nvSpPr>
        <p:spPr>
          <a:xfrm>
            <a:off x="6291072" y="640080"/>
            <a:ext cx="544068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8816" y="841248"/>
            <a:ext cx="4983480" cy="237744"/>
          </a:xfrm>
          <a:prstGeom prst="rect">
            <a:avLst/>
          </a:prstGeom>
          <a:noFill/>
        </p:spPr>
        <p:txBody>
          <a:bodyPr wrap="square"/>
          <a:lstStyle/>
          <a:p>
            <a:pPr algn="l"/>
            <a:r>
              <a:rPr sz="1100" b="1" i="0">
                <a:solidFill>
                  <a:srgbClr val="C41E3A"/>
                </a:solidFill>
                <a:latin typeface="Calibri"/>
                <a:ea typeface="Microsoft YaHei"/>
              </a:rPr>
              <a:t>科技 04 · 并购</a:t>
            </a:r>
          </a:p>
        </p:txBody>
      </p:sp>
      <p:sp>
        <p:nvSpPr>
          <p:cNvPr id="18" name="TextBox 17"/>
          <p:cNvSpPr txBox="1"/>
          <p:nvPr/>
        </p:nvSpPr>
        <p:spPr>
          <a:xfrm>
            <a:off x="6528816" y="1143000"/>
            <a:ext cx="4983480" cy="1143000"/>
          </a:xfrm>
          <a:prstGeom prst="rect">
            <a:avLst/>
          </a:prstGeom>
          <a:noFill/>
        </p:spPr>
        <p:txBody>
          <a:bodyPr wrap="square"/>
          <a:lstStyle/>
          <a:p>
            <a:pPr algn="l"/>
            <a:r>
              <a:rPr sz="2800" b="1" i="0">
                <a:solidFill>
                  <a:srgbClr val="1A1A1A"/>
                </a:solidFill>
                <a:latin typeface="Cambria"/>
                <a:ea typeface="Microsoft YaHei"/>
              </a:rPr>
              <a:t>英伟达洽谈反射实验室</a:t>
            </a:r>
          </a:p>
        </p:txBody>
      </p:sp>
      <p:sp>
        <p:nvSpPr>
          <p:cNvPr id="19" name="TextBox 18"/>
          <p:cNvSpPr txBox="1"/>
          <p:nvPr/>
        </p:nvSpPr>
        <p:spPr>
          <a:xfrm>
            <a:off x="6528816" y="2359152"/>
            <a:ext cx="4983480" cy="256032"/>
          </a:xfrm>
          <a:prstGeom prst="rect">
            <a:avLst/>
          </a:prstGeom>
          <a:noFill/>
        </p:spPr>
        <p:txBody>
          <a:bodyPr wrap="square"/>
          <a:lstStyle/>
          <a:p>
            <a:pPr algn="l"/>
            <a:r>
              <a:rPr sz="1200" b="0" i="1">
                <a:solidFill>
                  <a:srgbClr val="4A5568"/>
                </a:solidFill>
                <a:latin typeface="Calibri"/>
                <a:ea typeface="Microsoft YaHei"/>
              </a:rPr>
              <a:t>来源：金融时报 / 路透</a:t>
            </a:r>
          </a:p>
        </p:txBody>
      </p:sp>
      <p:sp>
        <p:nvSpPr>
          <p:cNvPr id="20" name="TextBox 19"/>
          <p:cNvSpPr txBox="1"/>
          <p:nvPr/>
        </p:nvSpPr>
        <p:spPr>
          <a:xfrm>
            <a:off x="6528816" y="2706623"/>
            <a:ext cx="4983480" cy="2011680"/>
          </a:xfrm>
          <a:prstGeom prst="rect">
            <a:avLst/>
          </a:prstGeom>
          <a:noFill/>
        </p:spPr>
        <p:txBody>
          <a:bodyPr wrap="square"/>
          <a:lstStyle/>
          <a:p>
            <a:pPr algn="l"/>
            <a:r>
              <a:rPr sz="1400" b="0" i="0">
                <a:solidFill>
                  <a:srgbClr val="1A1A1A"/>
                </a:solidFill>
                <a:latin typeface="Calibri"/>
                <a:ea typeface="Microsoft YaHei"/>
              </a:rPr>
              <a:t>金融时报周六18:14 UTC（沪时11日02:14）报道，英伟达正洽谈收购或加码开源权重初创Reflection AI，形式或为收购、增资或「收购式雇佣」。英伟达已投资8亿美元；谈判仍早，也可能破裂。该公司本周刚发布开源权重模型Beam。</a:t>
            </a:r>
          </a:p>
        </p:txBody>
      </p:sp>
      <p:sp>
        <p:nvSpPr>
          <p:cNvPr id="21" name="Rectangle 20"/>
          <p:cNvSpPr/>
          <p:nvPr/>
        </p:nvSpPr>
        <p:spPr>
          <a:xfrm>
            <a:off x="6528816" y="4937760"/>
            <a:ext cx="4983480"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8816" y="5010912"/>
            <a:ext cx="4983480"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23" name="TextBox 22"/>
          <p:cNvSpPr txBox="1"/>
          <p:nvPr/>
        </p:nvSpPr>
        <p:spPr>
          <a:xfrm>
            <a:off x="6528816" y="5175504"/>
            <a:ext cx="4983480" cy="502920"/>
          </a:xfrm>
          <a:prstGeom prst="rect">
            <a:avLst/>
          </a:prstGeom>
          <a:noFill/>
        </p:spPr>
        <p:txBody>
          <a:bodyPr wrap="square"/>
          <a:lstStyle/>
          <a:p>
            <a:pPr algn="l"/>
            <a:r>
              <a:rPr sz="1200" b="0" i="0">
                <a:solidFill>
                  <a:srgbClr val="4A5568"/>
                </a:solidFill>
                <a:latin typeface="Calibri"/>
                <a:ea typeface="Microsoft YaHei"/>
              </a:rPr>
              <a:t>把开源权重实验室从投资组合改写成可能并入芯片商的模型团队，交易形态仍未敲定。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1A1A1A"/>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4A5568"/>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640080"/>
            <a:ext cx="553212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804672"/>
            <a:ext cx="5029200" cy="219456"/>
          </a:xfrm>
          <a:prstGeom prst="rect">
            <a:avLst/>
          </a:prstGeom>
          <a:noFill/>
        </p:spPr>
        <p:txBody>
          <a:bodyPr wrap="square"/>
          <a:lstStyle/>
          <a:p>
            <a:pPr algn="l"/>
            <a:r>
              <a:rPr sz="1100" b="1" i="0">
                <a:solidFill>
                  <a:srgbClr val="C41E3A"/>
                </a:solidFill>
                <a:latin typeface="Calibri"/>
                <a:ea typeface="Microsoft YaHei"/>
              </a:rPr>
              <a:t>科技 05 · 海洋</a:t>
            </a:r>
          </a:p>
        </p:txBody>
      </p:sp>
      <p:sp>
        <p:nvSpPr>
          <p:cNvPr id="10" name="TextBox 9"/>
          <p:cNvSpPr txBox="1"/>
          <p:nvPr/>
        </p:nvSpPr>
        <p:spPr>
          <a:xfrm>
            <a:off x="740664" y="1078992"/>
            <a:ext cx="5029200" cy="1097280"/>
          </a:xfrm>
          <a:prstGeom prst="rect">
            <a:avLst/>
          </a:prstGeom>
          <a:noFill/>
        </p:spPr>
        <p:txBody>
          <a:bodyPr wrap="square"/>
          <a:lstStyle/>
          <a:p>
            <a:pPr algn="l"/>
            <a:r>
              <a:rPr sz="2800" b="1" i="0">
                <a:solidFill>
                  <a:srgbClr val="1A1A1A"/>
                </a:solidFill>
                <a:latin typeface="Cambria"/>
                <a:ea typeface="Microsoft YaHei"/>
              </a:rPr>
              <a:t>大西洋近惯流在增强</a:t>
            </a:r>
          </a:p>
        </p:txBody>
      </p:sp>
      <p:sp>
        <p:nvSpPr>
          <p:cNvPr id="11" name="TextBox 10"/>
          <p:cNvSpPr txBox="1"/>
          <p:nvPr/>
        </p:nvSpPr>
        <p:spPr>
          <a:xfrm>
            <a:off x="740664" y="2212848"/>
            <a:ext cx="5029200" cy="256032"/>
          </a:xfrm>
          <a:prstGeom prst="rect">
            <a:avLst/>
          </a:prstGeom>
          <a:noFill/>
        </p:spPr>
        <p:txBody>
          <a:bodyPr wrap="square"/>
          <a:lstStyle/>
          <a:p>
            <a:pPr algn="l"/>
            <a:r>
              <a:rPr sz="1200" b="0" i="1">
                <a:solidFill>
                  <a:srgbClr val="4A5568"/>
                </a:solidFill>
                <a:latin typeface="Calibri"/>
                <a:ea typeface="Microsoft YaHei"/>
              </a:rPr>
              <a:t>来源：Nature Communications / 中科院南海海洋所</a:t>
            </a:r>
          </a:p>
        </p:txBody>
      </p:sp>
      <p:sp>
        <p:nvSpPr>
          <p:cNvPr id="12" name="TextBox 11"/>
          <p:cNvSpPr txBox="1"/>
          <p:nvPr/>
        </p:nvSpPr>
        <p:spPr>
          <a:xfrm>
            <a:off x="740664" y="2560320"/>
            <a:ext cx="5029200" cy="1920240"/>
          </a:xfrm>
          <a:prstGeom prst="rect">
            <a:avLst/>
          </a:prstGeom>
          <a:noFill/>
        </p:spPr>
        <p:txBody>
          <a:bodyPr wrap="square"/>
          <a:lstStyle/>
          <a:p>
            <a:pPr algn="l"/>
            <a:r>
              <a:rPr sz="1400" b="0" i="0">
                <a:solidFill>
                  <a:srgbClr val="1A1A1A"/>
                </a:solidFill>
                <a:latin typeface="Calibri"/>
                <a:ea typeface="Microsoft YaHei"/>
              </a:rPr>
              <a:t>杜岩、郑宇航等11日用漂流浮标给出观测证据：2003–2022年大西洋海表近惯性流盆均强度每十年增3.8±1.7%，南大西洋和高纬北大西洋增强、低纬北大西洋减弱，主因是中尺度天气系统的近惯性风强迫，而非混合层深度。</a:t>
            </a:r>
          </a:p>
        </p:txBody>
      </p:sp>
      <p:sp>
        <p:nvSpPr>
          <p:cNvPr id="13" name="Rectangle 12"/>
          <p:cNvSpPr/>
          <p:nvPr/>
        </p:nvSpPr>
        <p:spPr>
          <a:xfrm>
            <a:off x="740664" y="4709160"/>
            <a:ext cx="5029200" cy="9525"/>
          </a:xfrm>
          <a:prstGeom prst="rect">
            <a:avLst/>
          </a:prstGeom>
          <a:solidFill>
            <a:srgbClr val="D6C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4782312"/>
            <a:ext cx="5029200" cy="164592"/>
          </a:xfrm>
          <a:prstGeom prst="rect">
            <a:avLst/>
          </a:prstGeom>
          <a:noFill/>
        </p:spPr>
        <p:txBody>
          <a:bodyPr wrap="square"/>
          <a:lstStyle/>
          <a:p>
            <a:pPr algn="l"/>
            <a:r>
              <a:rPr sz="1000" b="1" i="0">
                <a:solidFill>
                  <a:srgbClr val="C41E3A"/>
                </a:solidFill>
                <a:latin typeface="Calibri"/>
                <a:ea typeface="Microsoft YaHei"/>
              </a:rPr>
              <a:t>为何重要</a:t>
            </a:r>
          </a:p>
        </p:txBody>
      </p:sp>
      <p:sp>
        <p:nvSpPr>
          <p:cNvPr id="15" name="TextBox 14"/>
          <p:cNvSpPr txBox="1"/>
          <p:nvPr/>
        </p:nvSpPr>
        <p:spPr>
          <a:xfrm>
            <a:off x="740664" y="4946904"/>
            <a:ext cx="5029200" cy="502920"/>
          </a:xfrm>
          <a:prstGeom prst="rect">
            <a:avLst/>
          </a:prstGeom>
          <a:noFill/>
        </p:spPr>
        <p:txBody>
          <a:bodyPr wrap="square"/>
          <a:lstStyle/>
          <a:p>
            <a:pPr algn="l"/>
            <a:r>
              <a:rPr sz="1200" b="0" i="0">
                <a:solidFill>
                  <a:srgbClr val="4A5568"/>
                </a:solidFill>
                <a:latin typeface="Calibri"/>
                <a:ea typeface="Microsoft YaHei"/>
              </a:rPr>
              <a:t>把近惯性流从天气噪声写成可进入气候模式的二十年趋势，关系到物质输运和混合。</a:t>
            </a:r>
          </a:p>
        </p:txBody>
      </p:sp>
      <p:sp>
        <p:nvSpPr>
          <p:cNvPr id="16" name="Rounded Rectangle 15"/>
          <p:cNvSpPr/>
          <p:nvPr/>
        </p:nvSpPr>
        <p:spPr>
          <a:xfrm>
            <a:off x="6263640" y="640080"/>
            <a:ext cx="5440680" cy="5623560"/>
          </a:xfrm>
          <a:prstGeom prst="roundRect">
            <a:avLst>
              <a:gd name="adj" fmla="val 8000"/>
            </a:avLst>
          </a:prstGeom>
          <a:solidFill>
            <a:srgbClr val="FFFCF7"/>
          </a:solidFill>
          <a:ln w="9525">
            <a:solidFill>
              <a:srgbClr val="D6C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804672"/>
            <a:ext cx="4983480" cy="219456"/>
          </a:xfrm>
          <a:prstGeom prst="rect">
            <a:avLst/>
          </a:prstGeom>
          <a:noFill/>
        </p:spPr>
        <p:txBody>
          <a:bodyPr wrap="square"/>
          <a:lstStyle/>
          <a:p>
            <a:pPr algn="l"/>
            <a:r>
              <a:rPr sz="1100" b="1" i="0">
                <a:solidFill>
                  <a:srgbClr val="C41E3A"/>
                </a:solidFill>
                <a:latin typeface="Calibri"/>
                <a:ea typeface="Microsoft YaHei"/>
              </a:rPr>
              <a:t>信息不足</a:t>
            </a:r>
          </a:p>
        </p:txBody>
      </p:sp>
      <p:sp>
        <p:nvSpPr>
          <p:cNvPr id="18" name="TextBox 17"/>
          <p:cNvSpPr txBox="1"/>
          <p:nvPr/>
        </p:nvSpPr>
        <p:spPr>
          <a:xfrm>
            <a:off x="6492240" y="1060704"/>
            <a:ext cx="4983480" cy="868680"/>
          </a:xfrm>
          <a:prstGeom prst="rect">
            <a:avLst/>
          </a:prstGeom>
          <a:noFill/>
        </p:spPr>
        <p:txBody>
          <a:bodyPr wrap="square"/>
          <a:lstStyle/>
          <a:p>
            <a:pPr algn="l"/>
            <a:r>
              <a:rPr sz="2400" b="1" i="0">
                <a:solidFill>
                  <a:srgbClr val="1A1A1A"/>
                </a:solidFill>
                <a:latin typeface="Cambria"/>
                <a:ea typeface="Microsoft YaHei"/>
              </a:rPr>
              <a:t>会见详稿未至，芯片栏留白</a:t>
            </a:r>
          </a:p>
        </p:txBody>
      </p:sp>
      <p:sp>
        <p:nvSpPr>
          <p:cNvPr id="19" name="TextBox 18"/>
          <p:cNvSpPr txBox="1"/>
          <p:nvPr/>
        </p:nvSpPr>
        <p:spPr>
          <a:xfrm>
            <a:off x="6492240" y="2011680"/>
            <a:ext cx="4983480" cy="4023360"/>
          </a:xfrm>
          <a:prstGeom prst="rect">
            <a:avLst/>
          </a:prstGeom>
          <a:noFill/>
        </p:spPr>
        <p:txBody>
          <a:bodyPr wrap="square">
            <a:spAutoFit/>
          </a:bodyPr>
          <a:lstStyle/>
          <a:p>
            <a:pPr>
              <a:spcAft>
                <a:spcPts val="600"/>
              </a:spcAft>
            </a:pPr>
            <a:r>
              <a:rPr sz="1200" b="0" i="0">
                <a:solidFill>
                  <a:srgbClr val="4A5568"/>
                </a:solidFill>
                <a:latin typeface="Calibri"/>
                <a:ea typeface="Microsoft YaHei"/>
              </a:rPr>
              <a:t>·  未见习近平会见福雷、王毅会见帕特鲁舍夫、赵乐际会见陈青敏详稿。</a:t>
            </a:r>
          </a:p>
          <a:p>
            <a:pPr>
              <a:spcAft>
                <a:spcPts val="600"/>
              </a:spcAft>
            </a:pPr>
            <a:r>
              <a:rPr sz="1200" b="0" i="0">
                <a:solidFill>
                  <a:srgbClr val="4A5568"/>
                </a:solidFill>
                <a:latin typeface="Calibri"/>
                <a:ea typeface="Microsoft YaHei"/>
              </a:rPr>
              <a:t>·  外交部周日无例会；金秋外交特稿、健康中国综述为盘点，不立项。</a:t>
            </a:r>
          </a:p>
          <a:p>
            <a:pPr>
              <a:spcAft>
                <a:spcPts val="600"/>
              </a:spcAft>
            </a:pPr>
            <a:r>
              <a:rPr sz="1200" b="0" i="0">
                <a:solidFill>
                  <a:srgbClr val="4A5568"/>
                </a:solidFill>
                <a:latin typeface="Calibri"/>
                <a:ea typeface="Microsoft YaHei"/>
              </a:rPr>
              <a:t>·  友协会70周年会见为2024年旧稿，已剔除。</a:t>
            </a:r>
          </a:p>
          <a:p>
            <a:pPr>
              <a:spcAft>
                <a:spcPts val="600"/>
              </a:spcAft>
            </a:pPr>
            <a:r>
              <a:rPr sz="1200" b="0" i="0">
                <a:solidFill>
                  <a:srgbClr val="4A5568"/>
                </a:solidFill>
                <a:latin typeface="Calibri"/>
                <a:ea typeface="Microsoft YaHei"/>
              </a:rPr>
              <a:t>·  无国内航天发射；长十二、猎鹰9号SDA已入10日刊。</a:t>
            </a:r>
          </a:p>
          <a:p>
            <a:pPr>
              <a:spcAft>
                <a:spcPts val="600"/>
              </a:spcAft>
            </a:pPr>
            <a:r>
              <a:rPr sz="1200" b="0" i="0">
                <a:solidFill>
                  <a:srgbClr val="4A5568"/>
                </a:solidFill>
                <a:latin typeface="Calibri"/>
                <a:ea typeface="Microsoft YaHei"/>
              </a:rPr>
              <a:t>·  产业芯片与大模型无产品首发；Jalapeño为6月24日。</a:t>
            </a:r>
          </a:p>
          <a:p>
            <a:pPr>
              <a:spcAft>
                <a:spcPts val="600"/>
              </a:spcAft>
            </a:pPr>
            <a:r>
              <a:rPr sz="1200" b="0" i="0">
                <a:solidFill>
                  <a:srgbClr val="4A5568"/>
                </a:solidFill>
                <a:latin typeface="Calibri"/>
                <a:ea typeface="Microsoft YaHei"/>
              </a:rPr>
              <a:t>·  光子图态为9月30日Nature Physics；FAST三体为9日稿。</a:t>
            </a:r>
          </a:p>
          <a:p>
            <a:pPr>
              <a:spcAft>
                <a:spcPts val="600"/>
              </a:spcAft>
            </a:pPr>
            <a:r>
              <a:rPr sz="1200" b="0" i="0">
                <a:solidFill>
                  <a:srgbClr val="4A5568"/>
                </a:solidFill>
                <a:latin typeface="Calibri"/>
                <a:ea typeface="Microsoft YaHei"/>
              </a:rPr>
              <a:t>·  发改委先行指标、海关前8月为更早首发；NS-Reasoner不可核验。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3291840" cy="256032"/>
          </a:xfrm>
          <a:prstGeom prst="rect">
            <a:avLst/>
          </a:prstGeom>
          <a:noFill/>
        </p:spPr>
        <p:txBody>
          <a:bodyPr wrap="square"/>
          <a:lstStyle/>
          <a:p>
            <a:pPr algn="l"/>
            <a:r>
              <a:rPr sz="1200" b="1" i="0">
                <a:solidFill>
                  <a:srgbClr val="F7F4EF"/>
                </a:solidFill>
                <a:latin typeface="Cambria"/>
                <a:ea typeface="Microsoft YaHei"/>
              </a:rPr>
              <a:t>每日时政科技简报</a:t>
            </a:r>
          </a:p>
        </p:txBody>
      </p:sp>
      <p:sp>
        <p:nvSpPr>
          <p:cNvPr id="4" name="TextBox 3"/>
          <p:cNvSpPr txBox="1"/>
          <p:nvPr/>
        </p:nvSpPr>
        <p:spPr>
          <a:xfrm>
            <a:off x="4023360" y="201168"/>
            <a:ext cx="5120640" cy="256032"/>
          </a:xfrm>
          <a:prstGeom prst="rect">
            <a:avLst/>
          </a:prstGeom>
          <a:noFill/>
        </p:spPr>
        <p:txBody>
          <a:bodyPr wrap="square"/>
          <a:lstStyle/>
          <a:p>
            <a:pPr algn="ctr"/>
            <a:r>
              <a:rPr sz="1100" b="0" i="0">
                <a:solidFill>
                  <a:srgbClr val="C9C2B6"/>
                </a:solidFill>
                <a:latin typeface="Calibri"/>
                <a:ea typeface="Microsoft YaHei"/>
              </a:rPr>
              <a:t>第020期  ·  2026年10月11日  ·  星期日</a:t>
            </a:r>
          </a:p>
        </p:txBody>
      </p:sp>
      <p:sp>
        <p:nvSpPr>
          <p:cNvPr id="5" name="TextBox 4"/>
          <p:cNvSpPr txBox="1"/>
          <p:nvPr/>
        </p:nvSpPr>
        <p:spPr>
          <a:xfrm>
            <a:off x="9509760" y="201168"/>
            <a:ext cx="2148840" cy="256032"/>
          </a:xfrm>
          <a:prstGeom prst="rect">
            <a:avLst/>
          </a:prstGeom>
          <a:noFill/>
        </p:spPr>
        <p:txBody>
          <a:bodyPr wrap="square"/>
          <a:lstStyle/>
          <a:p>
            <a:pPr algn="r"/>
            <a:r>
              <a:rPr sz="1100" b="1" i="0">
                <a:solidFill>
                  <a:srgbClr val="C41E3A"/>
                </a:solidFill>
                <a:latin typeface="Calibri"/>
                <a:ea typeface="Microsoft YaHei"/>
              </a:rPr>
              <a:t>晨刊 · 第020期</a:t>
            </a:r>
          </a:p>
        </p:txBody>
      </p:sp>
      <p:sp>
        <p:nvSpPr>
          <p:cNvPr id="6" name="Rectangle 5"/>
          <p:cNvSpPr/>
          <p:nvPr/>
        </p:nvSpPr>
        <p:spPr>
          <a:xfrm>
            <a:off x="502920" y="457200"/>
            <a:ext cx="11185855" cy="2032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497840"/>
            <a:ext cx="1118585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0080"/>
            <a:ext cx="5852160" cy="237744"/>
          </a:xfrm>
          <a:prstGeom prst="rect">
            <a:avLst/>
          </a:prstGeom>
          <a:noFill/>
        </p:spPr>
        <p:txBody>
          <a:bodyPr wrap="square"/>
          <a:lstStyle/>
          <a:p>
            <a:pPr algn="l"/>
            <a:r>
              <a:rPr sz="1100" b="1" i="0">
                <a:solidFill>
                  <a:srgbClr val="C9C2B6"/>
                </a:solidFill>
                <a:latin typeface="Calibri"/>
                <a:ea typeface="Microsoft YaHei"/>
              </a:rPr>
              <a:t>THE EVENING LEDGER</a:t>
            </a:r>
          </a:p>
        </p:txBody>
      </p:sp>
      <p:sp>
        <p:nvSpPr>
          <p:cNvPr id="9" name="TextBox 8"/>
          <p:cNvSpPr txBox="1"/>
          <p:nvPr/>
        </p:nvSpPr>
        <p:spPr>
          <a:xfrm>
            <a:off x="7498079" y="640080"/>
            <a:ext cx="4160520" cy="237744"/>
          </a:xfrm>
          <a:prstGeom prst="rect">
            <a:avLst/>
          </a:prstGeom>
          <a:noFill/>
        </p:spPr>
        <p:txBody>
          <a:bodyPr wrap="square"/>
          <a:lstStyle/>
          <a:p>
            <a:pPr algn="r"/>
            <a:r>
              <a:rPr sz="1100" b="0" i="0">
                <a:solidFill>
                  <a:srgbClr val="C9C2B6"/>
                </a:solidFill>
                <a:latin typeface="Calibri"/>
                <a:ea typeface="Microsoft YaHei"/>
              </a:rPr>
              <a:t>第020期 · 收束</a:t>
            </a:r>
          </a:p>
        </p:txBody>
      </p:sp>
      <p:sp>
        <p:nvSpPr>
          <p:cNvPr id="10" name="Rectangle 9"/>
          <p:cNvSpPr/>
          <p:nvPr/>
        </p:nvSpPr>
        <p:spPr>
          <a:xfrm>
            <a:off x="502920" y="914400"/>
            <a:ext cx="11185855" cy="27940"/>
          </a:xfrm>
          <a:prstGeom prst="rect">
            <a:avLst/>
          </a:prstGeom>
          <a:solidFill>
            <a:srgbClr val="C4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969264"/>
            <a:ext cx="11185855" cy="9525"/>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097280"/>
            <a:ext cx="11155680" cy="1005840"/>
          </a:xfrm>
          <a:prstGeom prst="rect">
            <a:avLst/>
          </a:prstGeom>
          <a:noFill/>
        </p:spPr>
        <p:txBody>
          <a:bodyPr wrap="square"/>
          <a:lstStyle/>
          <a:p>
            <a:pPr algn="l"/>
            <a:r>
              <a:rPr sz="3200" b="1" i="0">
                <a:solidFill>
                  <a:srgbClr val="F7F4EF"/>
                </a:solidFill>
                <a:latin typeface="Cambria"/>
                <a:ea typeface="Microsoft YaHei"/>
              </a:rPr>
              <a:t>议会对表，机场核灾，电极压到十四毫伏</a:t>
            </a:r>
          </a:p>
        </p:txBody>
      </p:sp>
      <p:sp>
        <p:nvSpPr>
          <p:cNvPr id="13" name="TextBox 12"/>
          <p:cNvSpPr txBox="1"/>
          <p:nvPr/>
        </p:nvSpPr>
        <p:spPr>
          <a:xfrm>
            <a:off x="502920" y="2148840"/>
            <a:ext cx="11155680" cy="1051560"/>
          </a:xfrm>
          <a:prstGeom prst="rect">
            <a:avLst/>
          </a:prstGeom>
          <a:noFill/>
        </p:spPr>
        <p:txBody>
          <a:bodyPr wrap="square"/>
          <a:lstStyle/>
          <a:p>
            <a:pPr algn="l"/>
            <a:r>
              <a:rPr sz="1400" b="0" i="0">
                <a:solidFill>
                  <a:srgbClr val="E8E2D8"/>
                </a:solidFill>
                <a:latin typeface="Calibri"/>
                <a:ea typeface="Microsoft YaHei"/>
              </a:rPr>
              <a:t>王沪宁把中越议会合作写成「六个更」。利雅得官方核出12死309伤，特朗普称将审视是否加入沙特打击，礼萨伊把霍尔木兹回信退回。吉布提沉船数字同日上修到139。科学栏没有芯片流片，但有亚纳米电解水、一步组装NRPS和二十年洋流趋势。</a:t>
            </a:r>
          </a:p>
        </p:txBody>
      </p:sp>
      <p:sp>
        <p:nvSpPr>
          <p:cNvPr id="14" name="Rounded Rectangle 13"/>
          <p:cNvSpPr/>
          <p:nvPr/>
        </p:nvSpPr>
        <p:spPr>
          <a:xfrm>
            <a:off x="502920" y="3310128"/>
            <a:ext cx="5440680" cy="21488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419856"/>
            <a:ext cx="5074920" cy="256032"/>
          </a:xfrm>
          <a:prstGeom prst="rect">
            <a:avLst/>
          </a:prstGeom>
          <a:noFill/>
        </p:spPr>
        <p:txBody>
          <a:bodyPr wrap="square"/>
          <a:lstStyle/>
          <a:p>
            <a:pPr algn="l"/>
            <a:r>
              <a:rPr sz="1200" b="1" i="0">
                <a:solidFill>
                  <a:srgbClr val="C41E3A"/>
                </a:solidFill>
                <a:latin typeface="Calibri"/>
                <a:ea typeface="Microsoft YaHei"/>
              </a:rPr>
              <a:t>时政五条</a:t>
            </a:r>
          </a:p>
        </p:txBody>
      </p:sp>
      <p:sp>
        <p:nvSpPr>
          <p:cNvPr id="16" name="TextBox 15"/>
          <p:cNvSpPr txBox="1"/>
          <p:nvPr/>
        </p:nvSpPr>
        <p:spPr>
          <a:xfrm>
            <a:off x="704088" y="3712464"/>
            <a:ext cx="5074920" cy="1600200"/>
          </a:xfrm>
          <a:prstGeom prst="rect">
            <a:avLst/>
          </a:prstGeom>
          <a:noFill/>
        </p:spPr>
        <p:txBody>
          <a:bodyPr wrap="square"/>
          <a:lstStyle/>
          <a:p>
            <a:pPr algn="l"/>
            <a:r>
              <a:rPr sz="1300" b="0" i="0">
                <a:solidFill>
                  <a:srgbClr val="F7F4EF"/>
                </a:solidFill>
                <a:latin typeface="Calibri"/>
                <a:ea typeface="Microsoft YaHei"/>
              </a:rPr>
              <a:t>1  王沪宁会见陈青敏
2  利雅得核出十二死
3  特朗普要看沙特战场
4  霍尔木兹回信不足
5  吉布提沉船再改数字</a:t>
            </a:r>
          </a:p>
        </p:txBody>
      </p:sp>
      <p:sp>
        <p:nvSpPr>
          <p:cNvPr id="17" name="Rounded Rectangle 16"/>
          <p:cNvSpPr/>
          <p:nvPr/>
        </p:nvSpPr>
        <p:spPr>
          <a:xfrm>
            <a:off x="6291072" y="3310128"/>
            <a:ext cx="5440680" cy="2148840"/>
          </a:xfrm>
          <a:prstGeom prst="roundRect">
            <a:avLst>
              <a:gd name="adj" fmla="val 8000"/>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419856"/>
            <a:ext cx="5074920" cy="256032"/>
          </a:xfrm>
          <a:prstGeom prst="rect">
            <a:avLst/>
          </a:prstGeom>
          <a:noFill/>
        </p:spPr>
        <p:txBody>
          <a:bodyPr wrap="square"/>
          <a:lstStyle/>
          <a:p>
            <a:pPr algn="l"/>
            <a:r>
              <a:rPr sz="1200" b="1" i="0">
                <a:solidFill>
                  <a:srgbClr val="C41E3A"/>
                </a:solidFill>
                <a:latin typeface="Calibri"/>
                <a:ea typeface="Microsoft YaHei"/>
              </a:rPr>
              <a:t>科技五条 · 缺口</a:t>
            </a:r>
          </a:p>
        </p:txBody>
      </p:sp>
      <p:sp>
        <p:nvSpPr>
          <p:cNvPr id="19" name="TextBox 18"/>
          <p:cNvSpPr txBox="1"/>
          <p:nvPr/>
        </p:nvSpPr>
        <p:spPr>
          <a:xfrm>
            <a:off x="6492240" y="3712464"/>
            <a:ext cx="5074920" cy="1600200"/>
          </a:xfrm>
          <a:prstGeom prst="rect">
            <a:avLst/>
          </a:prstGeom>
          <a:noFill/>
        </p:spPr>
        <p:txBody>
          <a:bodyPr wrap="square"/>
          <a:lstStyle/>
          <a:p>
            <a:pPr algn="l"/>
            <a:r>
              <a:rPr sz="1300" b="0" i="0">
                <a:solidFill>
                  <a:srgbClr val="F7F4EF"/>
                </a:solidFill>
                <a:latin typeface="Calibri"/>
                <a:ea typeface="Microsoft YaHei"/>
              </a:rPr>
              <a:t>1  亚纳米界面做电解水
2  一步组装NRPS簇
3  纳德拉要紧急制动
4  英伟达洽谈反射实验室
5  大西洋近惯流在增强</a:t>
            </a:r>
          </a:p>
        </p:txBody>
      </p:sp>
      <p:sp>
        <p:nvSpPr>
          <p:cNvPr id="20" name="TextBox 19"/>
          <p:cNvSpPr txBox="1"/>
          <p:nvPr/>
        </p:nvSpPr>
        <p:spPr>
          <a:xfrm>
            <a:off x="502920" y="5596128"/>
            <a:ext cx="11155680" cy="640080"/>
          </a:xfrm>
          <a:prstGeom prst="rect">
            <a:avLst/>
          </a:prstGeom>
          <a:noFill/>
        </p:spPr>
        <p:txBody>
          <a:bodyPr wrap="square"/>
          <a:lstStyle/>
          <a:p>
            <a:pPr algn="l"/>
            <a:r>
              <a:rPr sz="1100" b="0" i="0">
                <a:solidFill>
                  <a:srgbClr val="C9C2B6"/>
                </a:solidFill>
                <a:latin typeface="Calibri"/>
                <a:ea typeface="Microsoft YaHei"/>
              </a:rPr>
              <a:t>日期窗口：Asia/Shanghai 2026-10-11 00:00 至 2026-10-12 00:00。交叉来源：新华社/中新社、越通社、沙特民航总局、CNBC/美联社、路透/阿拉比亚、国际移民组织、《自然·通讯》、TechCrunch、金融时报。排除10日已入账的机场现场、长十二、佩斯科夫转话，以及2024年友协会旧稿。</a:t>
            </a:r>
          </a:p>
        </p:txBody>
      </p:sp>
      <p:sp>
        <p:nvSpPr>
          <p:cNvPr id="21" name="TextBox 20"/>
          <p:cNvSpPr txBox="1"/>
          <p:nvPr/>
        </p:nvSpPr>
        <p:spPr>
          <a:xfrm>
            <a:off x="502920" y="6291072"/>
            <a:ext cx="11155680" cy="256032"/>
          </a:xfrm>
          <a:prstGeom prst="rect">
            <a:avLst/>
          </a:prstGeom>
          <a:noFill/>
        </p:spPr>
        <p:txBody>
          <a:bodyPr wrap="square"/>
          <a:lstStyle/>
          <a:p>
            <a:pPr algn="l"/>
            <a:r>
              <a:rPr sz="1200" b="1" i="0">
                <a:solidFill>
                  <a:srgbClr val="C41E3A"/>
                </a:solidFill>
                <a:latin typeface="Calibri"/>
                <a:ea typeface="Microsoft YaHei"/>
              </a:rPr>
              <a:t>每日时政科技简报 · 第020期 · 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